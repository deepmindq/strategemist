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14350" y="4754166"/>
            <a:ext cx="585408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382717" y="4750594"/>
            <a:ext cx="235666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/ 12 · QUALITY &amp; SECURITY ENGINEERING SERVICES</a:t>
            </a:r>
            <a:endParaRPr lang="en-US" sz="600" dirty="0"/>
          </a:p>
        </p:txBody>
      </p:sp>
      <p:pic>
        <p:nvPicPr>
          <p:cNvPr id="6" name="Image 1" descr="/tmp/h2p-fit-1790839328604-tmyfp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57200"/>
            <a:ext cx="1857375" cy="30215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62998" y="571500"/>
            <a:ext cx="2280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KEFI TECH · MANUFACTURING · 2026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742950" y="1714500"/>
            <a:ext cx="653304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MANUFACTURING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742950" y="1960959"/>
            <a:ext cx="4498665" cy="1089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spc="-9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&amp; Security Engineering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742950" y="2978051"/>
            <a:ext cx="5400675" cy="51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spc="-90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Manufacturing.</a:t>
            </a:r>
            <a:endParaRPr lang="en-US" sz="3600" dirty="0"/>
          </a:p>
        </p:txBody>
      </p:sp>
      <p:sp>
        <p:nvSpPr>
          <p:cNvPr id="11" name="Text 7"/>
          <p:cNvSpPr/>
          <p:nvPr/>
        </p:nvSpPr>
        <p:spPr>
          <a:xfrm>
            <a:off x="742950" y="3658046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742950" y="3836640"/>
            <a:ext cx="4572000" cy="47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OT-aware testing. IEC 62443 security. Production-grade quality.</a:t>
            </a:r>
            <a:endParaRPr lang="en-US" sz="1238" dirty="0"/>
          </a:p>
        </p:txBody>
      </p:sp>
      <p:sp>
        <p:nvSpPr>
          <p:cNvPr id="13" name="Text 9"/>
          <p:cNvSpPr/>
          <p:nvPr/>
        </p:nvSpPr>
        <p:spPr>
          <a:xfrm>
            <a:off x="6393656" y="1643063"/>
            <a:ext cx="7144" cy="2286000"/>
          </a:xfrm>
          <a:prstGeom prst="rect">
            <a:avLst/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7146317" y="1721644"/>
            <a:ext cx="1311883" cy="2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24"/>
              </a:lnSpc>
              <a:buNone/>
            </a:pPr>
            <a:r>
              <a:rPr lang="en-US" sz="800" spc="29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 Security &amp; DevSecOps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98251" y="1721644"/>
            <a:ext cx="190917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24"/>
              </a:lnSpc>
              <a:buNone/>
            </a:pPr>
            <a:r>
              <a:rPr lang="en-US" sz="800" b="1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5860750" y="2002929"/>
            <a:ext cx="2597450" cy="153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788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CAPABILITY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967163" y="2338685"/>
            <a:ext cx="1491037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24"/>
              </a:lnSpc>
              <a:buNone/>
            </a:pPr>
            <a:r>
              <a:rPr lang="en-US" sz="800" spc="29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VAPT &amp; Risk Assessment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6898251" y="2338685"/>
            <a:ext cx="190917" cy="1239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024"/>
              </a:lnSpc>
              <a:buNone/>
            </a:pPr>
            <a:r>
              <a:rPr lang="en-US" sz="800" b="1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6525477" y="2490043"/>
            <a:ext cx="1932723" cy="153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788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CAPABILITY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6899418" y="2825800"/>
            <a:ext cx="1558782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24"/>
              </a:lnSpc>
              <a:buNone/>
            </a:pPr>
            <a:r>
              <a:rPr lang="en-US" sz="800" spc="29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Performance Engineering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38645" y="2825800"/>
            <a:ext cx="190917" cy="1239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024"/>
              </a:lnSpc>
              <a:buNone/>
            </a:pPr>
            <a:r>
              <a:rPr lang="en-US" sz="800" b="1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6448075" y="2977158"/>
            <a:ext cx="2010125" cy="153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788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CAPABILITY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3255"/>
            <a:ext cx="7382396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911033" y="314325"/>
            <a:ext cx="93114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· CONTEXT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582216"/>
            <a:ext cx="2656918" cy="129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 · MANUFACTURING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760809"/>
            <a:ext cx="8629650" cy="50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2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Manufacturing is converging physical operations with digital intelligence.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14350" y="1297930"/>
            <a:ext cx="7000875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Connected operations, predictive maintenance, supply chain visibility and quality at scale define the modern factory.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573969"/>
            <a:ext cx="4369743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4369" y="1706128"/>
            <a:ext cx="418657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MANUFACTURING NEEDS THIS NOW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67941" y="1916869"/>
            <a:ext cx="4069705" cy="493812"/>
          </a:xfrm>
          <a:prstGeom prst="roundRect">
            <a:avLst>
              <a:gd name="adj" fmla="val 1543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57238" y="198473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406" dirty="0"/>
          </a:p>
        </p:txBody>
      </p:sp>
      <p:sp>
        <p:nvSpPr>
          <p:cNvPr id="11" name="Text 9"/>
          <p:cNvSpPr/>
          <p:nvPr/>
        </p:nvSpPr>
        <p:spPr>
          <a:xfrm>
            <a:off x="1014413" y="1984735"/>
            <a:ext cx="3633936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Industry 4.0 convergence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14413" y="2115108"/>
            <a:ext cx="3633936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OT/IT convergence accelerating — ISA-95, OPC UA, MTConnect connecting factory floor to cloud.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67941" y="2474975"/>
            <a:ext cx="4069705" cy="493812"/>
          </a:xfrm>
          <a:prstGeom prst="roundRect">
            <a:avLst>
              <a:gd name="adj" fmla="val 1543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57238" y="254284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5" name="Text 13"/>
          <p:cNvSpPr/>
          <p:nvPr/>
        </p:nvSpPr>
        <p:spPr>
          <a:xfrm>
            <a:off x="1014413" y="2542840"/>
            <a:ext cx="3743664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IEC 62443 cybersecurity mandate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14413" y="2673214"/>
            <a:ext cx="3633936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 security now regulated — IEC 62443-3-3 SL2 compliance required for connected factories.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67941" y="3033080"/>
            <a:ext cx="4069705" cy="493812"/>
          </a:xfrm>
          <a:prstGeom prst="roundRect">
            <a:avLst>
              <a:gd name="adj" fmla="val 1543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57238" y="310094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6" dirty="0"/>
          </a:p>
        </p:txBody>
      </p:sp>
      <p:sp>
        <p:nvSpPr>
          <p:cNvPr id="19" name="Text 17"/>
          <p:cNvSpPr/>
          <p:nvPr/>
        </p:nvSpPr>
        <p:spPr>
          <a:xfrm>
            <a:off x="1014413" y="3100946"/>
            <a:ext cx="3743664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OEE optimisation pressure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14413" y="3231319"/>
            <a:ext cx="3633936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Overall Equipment Effectiveness targets rising — predictive maintenance and real-time quality data now baseline.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67941" y="3591185"/>
            <a:ext cx="4069705" cy="493812"/>
          </a:xfrm>
          <a:prstGeom prst="roundRect">
            <a:avLst>
              <a:gd name="adj" fmla="val 1543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57238" y="365905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406" dirty="0"/>
          </a:p>
        </p:txBody>
      </p:sp>
      <p:sp>
        <p:nvSpPr>
          <p:cNvPr id="23" name="Text 21"/>
          <p:cNvSpPr/>
          <p:nvPr/>
        </p:nvSpPr>
        <p:spPr>
          <a:xfrm>
            <a:off x="1014413" y="3659051"/>
            <a:ext cx="3633936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Supply chain resilience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14413" y="3789425"/>
            <a:ext cx="3633936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Multi-echelon visibility, supplier risk monitoring, and demand forecasting now critical for continuity.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51971" y="1573969"/>
            <a:ext cx="3574107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198418" y="1706128"/>
            <a:ext cx="32812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THIS MEANS FOR QUALITY &amp; SECURITY ENGINEERING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198418" y="1913297"/>
            <a:ext cx="3281214" cy="111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&amp; Security Engineering applied to manufacturing requires OT-aware, ISA-95 aligned, IEC 62443 compliant capability — not generic technology. The right approach connects quality &amp; security engineering to equipment protocols (OPC UA, MTConnect, Profinet), plant systems (Siemens Opcenter, SAP S/4HANA, Ignition), and the operational realities of the factory floor.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198418" y="3877828"/>
            <a:ext cx="1884387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198418" y="3877828"/>
            <a:ext cx="1884387" cy="128588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OT-AWARE · ISA-95 ALIGNED · IEC 62443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4350" y="4754166"/>
            <a:ext cx="371530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243946" y="4750594"/>
            <a:ext cx="326536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523597" y="4750594"/>
            <a:ext cx="110605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MANUFACTURING CONTEXT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94680"/>
            <a:ext cx="7082917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611554" y="285750"/>
            <a:ext cx="13191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· CAPABILITIES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539353"/>
            <a:ext cx="1034679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703659"/>
            <a:ext cx="862965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2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&amp; Security Engineering for the connected factory.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14350" y="1000795"/>
            <a:ext cx="7000875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capability pillars aligned to ISA-95 manufacturing hierarchy.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276834"/>
            <a:ext cx="1871663" cy="492919"/>
          </a:xfrm>
          <a:prstGeom prst="roundRect">
            <a:avLst>
              <a:gd name="adj" fmla="val 1545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28365" y="143756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9" name="Text 7"/>
          <p:cNvSpPr/>
          <p:nvPr/>
        </p:nvSpPr>
        <p:spPr>
          <a:xfrm>
            <a:off x="1271253" y="1448284"/>
            <a:ext cx="1000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393156" y="142328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11" name="Text 9"/>
          <p:cNvSpPr/>
          <p:nvPr/>
        </p:nvSpPr>
        <p:spPr>
          <a:xfrm>
            <a:off x="2596753" y="1276834"/>
            <a:ext cx="1871663" cy="492919"/>
          </a:xfrm>
          <a:prstGeom prst="roundRect">
            <a:avLst>
              <a:gd name="adj" fmla="val 1545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230426" y="143756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688" dirty="0"/>
          </a:p>
        </p:txBody>
      </p:sp>
      <p:sp>
        <p:nvSpPr>
          <p:cNvPr id="13" name="Text 11"/>
          <p:cNvSpPr/>
          <p:nvPr/>
        </p:nvSpPr>
        <p:spPr>
          <a:xfrm>
            <a:off x="3473314" y="1448284"/>
            <a:ext cx="87723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471988" y="142328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15" name="Text 13"/>
          <p:cNvSpPr/>
          <p:nvPr/>
        </p:nvSpPr>
        <p:spPr>
          <a:xfrm>
            <a:off x="4675584" y="1276834"/>
            <a:ext cx="1871663" cy="492919"/>
          </a:xfrm>
          <a:prstGeom prst="roundRect">
            <a:avLst>
              <a:gd name="adj" fmla="val 1545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33876" y="143756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#</a:t>
            </a:r>
            <a:endParaRPr lang="en-US" sz="1688" dirty="0"/>
          </a:p>
        </p:txBody>
      </p:sp>
      <p:sp>
        <p:nvSpPr>
          <p:cNvPr id="17" name="Text 15"/>
          <p:cNvSpPr/>
          <p:nvPr/>
        </p:nvSpPr>
        <p:spPr>
          <a:xfrm>
            <a:off x="5176763" y="1448284"/>
            <a:ext cx="12526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 (OT/IT)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550819" y="142328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19" name="Text 17"/>
          <p:cNvSpPr/>
          <p:nvPr/>
        </p:nvSpPr>
        <p:spPr>
          <a:xfrm>
            <a:off x="6754416" y="1276834"/>
            <a:ext cx="1871663" cy="492919"/>
          </a:xfrm>
          <a:prstGeom prst="roundRect">
            <a:avLst>
              <a:gd name="adj" fmla="val 1545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299796" y="143756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688" dirty="0"/>
          </a:p>
        </p:txBody>
      </p:sp>
      <p:sp>
        <p:nvSpPr>
          <p:cNvPr id="21" name="Text 19"/>
          <p:cNvSpPr/>
          <p:nvPr/>
        </p:nvSpPr>
        <p:spPr>
          <a:xfrm>
            <a:off x="7542684" y="1448284"/>
            <a:ext cx="96552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17922" y="1876909"/>
            <a:ext cx="2640732" cy="921544"/>
          </a:xfrm>
          <a:prstGeom prst="roundRect">
            <a:avLst>
              <a:gd name="adj" fmla="val 826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35794" y="198049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688" dirty="0"/>
          </a:p>
        </p:txBody>
      </p:sp>
      <p:sp>
        <p:nvSpPr>
          <p:cNvPr id="24" name="Text 22"/>
          <p:cNvSpPr/>
          <p:nvPr/>
        </p:nvSpPr>
        <p:spPr>
          <a:xfrm>
            <a:off x="2896926" y="1996567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31" dirty="0"/>
          </a:p>
        </p:txBody>
      </p:sp>
      <p:sp>
        <p:nvSpPr>
          <p:cNvPr id="25" name="Text 23"/>
          <p:cNvSpPr/>
          <p:nvPr/>
        </p:nvSpPr>
        <p:spPr>
          <a:xfrm>
            <a:off x="635794" y="2194806"/>
            <a:ext cx="25147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Security &amp; DevSecOps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35794" y="2362684"/>
            <a:ext cx="2404988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SAST for PLC logic, DAST for Ignition/MES web UIs, Claroty/Nozomi ICS vulnerability scanning.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51522" y="1876909"/>
            <a:ext cx="2640843" cy="921544"/>
          </a:xfrm>
          <a:prstGeom prst="roundRect">
            <a:avLst>
              <a:gd name="adj" fmla="val 826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369394" y="198049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688" dirty="0"/>
          </a:p>
        </p:txBody>
      </p:sp>
      <p:sp>
        <p:nvSpPr>
          <p:cNvPr id="29" name="Text 27"/>
          <p:cNvSpPr/>
          <p:nvPr/>
        </p:nvSpPr>
        <p:spPr>
          <a:xfrm>
            <a:off x="5630638" y="1996567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731" dirty="0"/>
          </a:p>
        </p:txBody>
      </p:sp>
      <p:sp>
        <p:nvSpPr>
          <p:cNvPr id="30" name="Text 28"/>
          <p:cNvSpPr/>
          <p:nvPr/>
        </p:nvSpPr>
        <p:spPr>
          <a:xfrm>
            <a:off x="3369394" y="2194806"/>
            <a:ext cx="24051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 &amp; Risk Assessment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69394" y="2362684"/>
            <a:ext cx="2405100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Purdue Model network VAPT, SCADA protocol testing (Modbus/DNP3/OPC UA), PLC security assessment.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985235" y="1876909"/>
            <a:ext cx="2640732" cy="921544"/>
          </a:xfrm>
          <a:prstGeom prst="roundRect">
            <a:avLst>
              <a:gd name="adj" fmla="val 826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103107" y="198049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1688" dirty="0"/>
          </a:p>
        </p:txBody>
      </p:sp>
      <p:sp>
        <p:nvSpPr>
          <p:cNvPr id="34" name="Text 32"/>
          <p:cNvSpPr/>
          <p:nvPr/>
        </p:nvSpPr>
        <p:spPr>
          <a:xfrm>
            <a:off x="8364238" y="1996567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731" dirty="0"/>
          </a:p>
        </p:txBody>
      </p:sp>
      <p:sp>
        <p:nvSpPr>
          <p:cNvPr id="35" name="Text 33"/>
          <p:cNvSpPr/>
          <p:nvPr/>
        </p:nvSpPr>
        <p:spPr>
          <a:xfrm>
            <a:off x="6103107" y="2194806"/>
            <a:ext cx="240498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Engineering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03107" y="2362684"/>
            <a:ext cx="2404988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MES load testing (Siemens Opcenter), Kafka IoT pipeline perf, S/4HANA MRP stress, Ignition SCADA perf.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17922" y="2891321"/>
            <a:ext cx="2640732" cy="921544"/>
          </a:xfrm>
          <a:prstGeom prst="roundRect">
            <a:avLst>
              <a:gd name="adj" fmla="val 826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35794" y="299490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688" dirty="0"/>
          </a:p>
        </p:txBody>
      </p:sp>
      <p:sp>
        <p:nvSpPr>
          <p:cNvPr id="39" name="Text 37"/>
          <p:cNvSpPr/>
          <p:nvPr/>
        </p:nvSpPr>
        <p:spPr>
          <a:xfrm>
            <a:off x="2896926" y="3010979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731" dirty="0"/>
          </a:p>
        </p:txBody>
      </p:sp>
      <p:sp>
        <p:nvSpPr>
          <p:cNvPr id="40" name="Text 38"/>
          <p:cNvSpPr/>
          <p:nvPr/>
        </p:nvSpPr>
        <p:spPr>
          <a:xfrm>
            <a:off x="635794" y="3209218"/>
            <a:ext cx="25147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Automation &amp; Continuous Testing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35794" y="3377096"/>
            <a:ext cx="2404988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MES functional automation, SAP S/4HANA regression, TrackWise QMS, OT/IT integration testing.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251522" y="2891321"/>
            <a:ext cx="2640843" cy="921544"/>
          </a:xfrm>
          <a:prstGeom prst="roundRect">
            <a:avLst>
              <a:gd name="adj" fmla="val 826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369394" y="299490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688" dirty="0"/>
          </a:p>
        </p:txBody>
      </p:sp>
      <p:sp>
        <p:nvSpPr>
          <p:cNvPr id="44" name="Text 42"/>
          <p:cNvSpPr/>
          <p:nvPr/>
        </p:nvSpPr>
        <p:spPr>
          <a:xfrm>
            <a:off x="5630638" y="3010979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731" dirty="0"/>
          </a:p>
        </p:txBody>
      </p:sp>
      <p:sp>
        <p:nvSpPr>
          <p:cNvPr id="45" name="Text 43"/>
          <p:cNvSpPr/>
          <p:nvPr/>
        </p:nvSpPr>
        <p:spPr>
          <a:xfrm>
            <a:off x="3369394" y="3209218"/>
            <a:ext cx="25148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&amp; Intelligent Systems Testing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369394" y="3377096"/>
            <a:ext cx="2405100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 model validation, YOLOv8 defect detection testing, GenAI copilot evaluation, AI safety (IEC 61508).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985235" y="2891321"/>
            <a:ext cx="2640732" cy="921544"/>
          </a:xfrm>
          <a:prstGeom prst="roundRect">
            <a:avLst>
              <a:gd name="adj" fmla="val 826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103107" y="299490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688" dirty="0"/>
          </a:p>
        </p:txBody>
      </p:sp>
      <p:sp>
        <p:nvSpPr>
          <p:cNvPr id="49" name="Text 47"/>
          <p:cNvSpPr/>
          <p:nvPr/>
        </p:nvSpPr>
        <p:spPr>
          <a:xfrm>
            <a:off x="8364238" y="3010979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731" dirty="0"/>
          </a:p>
        </p:txBody>
      </p:sp>
      <p:sp>
        <p:nvSpPr>
          <p:cNvPr id="50" name="Text 48"/>
          <p:cNvSpPr/>
          <p:nvPr/>
        </p:nvSpPr>
        <p:spPr>
          <a:xfrm>
            <a:off x="6103107" y="3209218"/>
            <a:ext cx="25147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Consulting &amp; Assurance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103107" y="3377096"/>
            <a:ext cx="2404988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IATF 16949 QA assessment, MES migration test strategy, OEE-linked quality metrics, GAMP 5 release readiness.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4350" y="4754166"/>
            <a:ext cx="399782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526459" y="4750594"/>
            <a:ext cx="35479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01137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3255"/>
            <a:ext cx="7023088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551725" y="314325"/>
            <a:ext cx="13967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· CAPABILITY 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567928"/>
            <a:ext cx="2295136" cy="129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 · MANUFACTURING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732234"/>
            <a:ext cx="862965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2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Security &amp; DevSecOps.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514350" y="1046559"/>
            <a:ext cx="7000875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SAST for PLC logic, DAST for Ignition/MES web UIs, Claroty/Nozomi ICS vulnerability scanning.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322598"/>
            <a:ext cx="4369743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8656" y="1469045"/>
            <a:ext cx="40482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78656" y="1690501"/>
            <a:ext cx="4048274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application security &amp; devsecops capability is engineered for manufacturing environments. We work with Siemens Opcenter, SAP S/4HANA, AWS IoT SiteWise, Ignition SCADA, and NVIDIA Jetson edge — not generic platforms. Every sub-service below is aligned to ISA-95 hierarchy and IEC 62443 security.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78656" y="3897920"/>
            <a:ext cx="1777901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8656" y="3897920"/>
            <a:ext cx="1777901" cy="128588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6 · MANUFACTURING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5051971" y="1322598"/>
            <a:ext cx="3574107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212705" y="1469045"/>
            <a:ext cx="32526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16277" y="1665498"/>
            <a:ext cx="3245495" cy="428625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305574" y="1719076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534174" y="171907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5762774" y="1719076"/>
            <a:ext cx="2719429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SAST for Industrial Codebases (OT-Aware)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762774" y="1840520"/>
            <a:ext cx="26097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Static analysis tuned for OT code — PLC logic (Siemens TIA Portal), SCADA scripts (Ignition), MES APIs — per IEC 62443-4-1.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216277" y="2151273"/>
            <a:ext cx="3245495" cy="428625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305574" y="2204851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534174" y="220485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2" name="Text 20"/>
          <p:cNvSpPr/>
          <p:nvPr/>
        </p:nvSpPr>
        <p:spPr>
          <a:xfrm>
            <a:off x="5762774" y="2204851"/>
            <a:ext cx="2719429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DAST for MES &amp; SCADA Web Interfaces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762774" y="2326295"/>
            <a:ext cx="26097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Dynamic testing of Ignition Perspective, Siemens Opcenter web UIs — OWASP Top 10 + ICS-specific (CWE-1214 ICS).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216277" y="2637048"/>
            <a:ext cx="3245495" cy="428625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305574" y="2690626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4174" y="269062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7" name="Text 25"/>
          <p:cNvSpPr/>
          <p:nvPr/>
        </p:nvSpPr>
        <p:spPr>
          <a:xfrm>
            <a:off x="5762774" y="2690626"/>
            <a:ext cx="2719429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Secure Code Review for PLC/SCADA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762774" y="2812070"/>
            <a:ext cx="26097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Manual review of PLC ladder logic (IEC 61131-3) and SCADA scripts — injection, authentication bypass, unsafe states.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16277" y="3122823"/>
            <a:ext cx="3245495" cy="428625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305574" y="3176401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534174" y="317640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2" name="Text 30"/>
          <p:cNvSpPr/>
          <p:nvPr/>
        </p:nvSpPr>
        <p:spPr>
          <a:xfrm>
            <a:off x="5762774" y="3176401"/>
            <a:ext cx="2719429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CI/CD Security Gates for Industrial Software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762774" y="3297845"/>
            <a:ext cx="26097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GitLab CI pipeline with SAST (SonarQube), SCA (Snyk), secrets scanning, and IEC 62443 compliance checks.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16277" y="3608598"/>
            <a:ext cx="3245495" cy="428625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305574" y="3662176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534174" y="366217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7" name="Text 35"/>
          <p:cNvSpPr/>
          <p:nvPr/>
        </p:nvSpPr>
        <p:spPr>
          <a:xfrm>
            <a:off x="5762774" y="3662176"/>
            <a:ext cx="2719429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ICS Vulnerability Scanning (Claroty / Nozomi)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62774" y="3783620"/>
            <a:ext cx="26097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passive scanning of OT network via Claroty xDome / Nozomi Guardian — ICS CVE detection without disruption.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4350" y="4754166"/>
            <a:ext cx="349083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019476" y="4750594"/>
            <a:ext cx="304100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074768" y="4750594"/>
            <a:ext cx="16481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SECURITY &amp; DEVSECOPS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3255"/>
            <a:ext cx="7023088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551725" y="314325"/>
            <a:ext cx="13967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· CAPABILITY 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567928"/>
            <a:ext cx="2295136" cy="129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 · MANUFACTURING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732234"/>
            <a:ext cx="8251031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2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 &amp; Risk Assessment.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514350" y="1046559"/>
            <a:ext cx="7000875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Purdue Model network VAPT, SCADA protocol testing (Modbus/DNP3/OPC UA), PLC security assessment.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322598"/>
            <a:ext cx="4369743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8656" y="1469045"/>
            <a:ext cx="40482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78656" y="1690501"/>
            <a:ext cx="4048274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vapt &amp; risk assessment capability is engineered for manufacturing environments. We work with Siemens Opcenter, SAP S/4HANA, AWS IoT SiteWise, Ignition SCADA, and NVIDIA Jetson edge — not generic platforms. Every sub-service below is aligned to ISA-95 hierarchy and IEC 62443 security.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78656" y="3897920"/>
            <a:ext cx="1777901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8656" y="3897920"/>
            <a:ext cx="1777901" cy="128588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6 · MANUFACTURING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5051971" y="1322598"/>
            <a:ext cx="3574107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212705" y="1469045"/>
            <a:ext cx="32526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16277" y="1665498"/>
            <a:ext cx="3245495" cy="428625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305574" y="1719076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534174" y="171907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5762774" y="1719076"/>
            <a:ext cx="2719429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Plant Network VAPT (Purdue Model)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762774" y="1840520"/>
            <a:ext cx="26097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Penetration testing across Purdue Model levels (0-5) — Level 0 (physical), Level 1 (PLC), Level 2 (SCADA), Level 3 (MES), Level 4 (ERP).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216277" y="2151273"/>
            <a:ext cx="3245495" cy="428625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305574" y="2204851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534174" y="220485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2" name="Text 20"/>
          <p:cNvSpPr/>
          <p:nvPr/>
        </p:nvSpPr>
        <p:spPr>
          <a:xfrm>
            <a:off x="5762774" y="2204851"/>
            <a:ext cx="2719429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SCADA / HMI VAPT (Modbus / DNP3 / OPC UA)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762774" y="2326295"/>
            <a:ext cx="26097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testing of SCADA protocols — Modbus TCP, DNP3, OPC UA, Profinet — per MITRE ATT&amp;CK for ICS.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216277" y="2637048"/>
            <a:ext cx="3245495" cy="428625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305574" y="2690626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4174" y="269062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7" name="Text 25"/>
          <p:cNvSpPr/>
          <p:nvPr/>
        </p:nvSpPr>
        <p:spPr>
          <a:xfrm>
            <a:off x="5762774" y="2690626"/>
            <a:ext cx="2719429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PLC Security Assessment (Siemens / Rockwell)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762774" y="2812070"/>
            <a:ext cx="26097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assessment of Siemens S7-1500, Rockwell ControlLogix — firmware, project file protection, communication security.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16277" y="3122823"/>
            <a:ext cx="3245495" cy="428625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305574" y="3176401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534174" y="317640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2" name="Text 30"/>
          <p:cNvSpPr/>
          <p:nvPr/>
        </p:nvSpPr>
        <p:spPr>
          <a:xfrm>
            <a:off x="5762774" y="3176401"/>
            <a:ext cx="2719429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IIoT Device VAPT (Edge Gateways)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762774" y="3297845"/>
            <a:ext cx="26097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 for industrial edge gateways (Siemens IoT2050, Advantech) — firmware extraction, protocol fuzzing, physical tampering.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16277" y="3608598"/>
            <a:ext cx="3245495" cy="428625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305574" y="3662176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534174" y="366217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7" name="Text 35"/>
          <p:cNvSpPr/>
          <p:nvPr/>
        </p:nvSpPr>
        <p:spPr>
          <a:xfrm>
            <a:off x="5762774" y="3662176"/>
            <a:ext cx="260970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ERP-MES Integration VAPT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62774" y="3783620"/>
            <a:ext cx="26097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testing of SAP MII / SAP Ariba integration points — API security, data integrity, access control per IEC 62443-3-3.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4350" y="4754166"/>
            <a:ext cx="373249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261135" y="4750594"/>
            <a:ext cx="328255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557976" y="4750594"/>
            <a:ext cx="107167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 &amp; RISK ASSESSMENT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3255"/>
            <a:ext cx="7023088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551725" y="314325"/>
            <a:ext cx="13967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· CAPABILITY 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567928"/>
            <a:ext cx="2295136" cy="129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 · MANUFACTURING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732234"/>
            <a:ext cx="862965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2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Engineering.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514350" y="1046559"/>
            <a:ext cx="7000875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MES load testing (Siemens Opcenter), Kafka IoT pipeline perf, S/4HANA MRP stress, Ignition SCADA perf.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322598"/>
            <a:ext cx="4369743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8656" y="1469045"/>
            <a:ext cx="40482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78656" y="1690501"/>
            <a:ext cx="4048274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performance engineering capability is engineered for manufacturing environments. We work with Siemens Opcenter, SAP S/4HANA, AWS IoT SiteWise, Ignition SCADA, and NVIDIA Jetson edge — not generic platforms. Every sub-service below is aligned to ISA-95 hierarchy and IEC 62443 security.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78656" y="3897920"/>
            <a:ext cx="1777901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8656" y="3897920"/>
            <a:ext cx="1777901" cy="128588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6 · MANUFACTURING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5051971" y="1322598"/>
            <a:ext cx="3574107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212705" y="1469045"/>
            <a:ext cx="32526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16277" y="1665498"/>
            <a:ext cx="3245495" cy="428625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305574" y="1719076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534174" y="171907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5762774" y="1719076"/>
            <a:ext cx="2719429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MES Load Testing (Siemens Opcenter)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762774" y="1840520"/>
            <a:ext cx="26097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Load testing Siemens Opcenter Execution under peak production — 1,000+ concurrent work orders, real-time SFC data at 10Hz.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216277" y="2151273"/>
            <a:ext cx="3245495" cy="428625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305574" y="2204851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534174" y="220485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2" name="Text 20"/>
          <p:cNvSpPr/>
          <p:nvPr/>
        </p:nvSpPr>
        <p:spPr>
          <a:xfrm>
            <a:off x="5762774" y="2204851"/>
            <a:ext cx="2719429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IoT Data Pipeline Performance (Kafka)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762774" y="2326295"/>
            <a:ext cx="26097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testing Apache Kafka pipeline ingesting OPC UA sensor data at 10kHz from 500+ machines — throughput and latency.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216277" y="2637048"/>
            <a:ext cx="3245495" cy="428625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305574" y="2690626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4174" y="269062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7" name="Text 25"/>
          <p:cNvSpPr/>
          <p:nvPr/>
        </p:nvSpPr>
        <p:spPr>
          <a:xfrm>
            <a:off x="5762774" y="2690626"/>
            <a:ext cx="2719429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ERP Stress Testing (S/4HANA MRP Live)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762774" y="2812070"/>
            <a:ext cx="26097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Stress testing SAP S/4HANA MRP Live run — BOM explosion for 100,000+ materials with parallel batch processing.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16277" y="3122823"/>
            <a:ext cx="3245495" cy="428625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305574" y="3176401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534174" y="317640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2" name="Text 30"/>
          <p:cNvSpPr/>
          <p:nvPr/>
        </p:nvSpPr>
        <p:spPr>
          <a:xfrm>
            <a:off x="5762774" y="3176401"/>
            <a:ext cx="2719429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SCADA / HMI Performance (Ignition)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762774" y="3297845"/>
            <a:ext cx="26097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testing Ignition SCADA with 10,000+ tags — tag scan rate, gateway throughput, Perspective session limits.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16277" y="3608598"/>
            <a:ext cx="3245495" cy="428625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305574" y="3662176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534174" y="366217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7" name="Text 35"/>
          <p:cNvSpPr/>
          <p:nvPr/>
        </p:nvSpPr>
        <p:spPr>
          <a:xfrm>
            <a:off x="5762774" y="3662176"/>
            <a:ext cx="2609701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75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Connected Factory Scalability (AWS IoT SiteWise)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5762774" y="3783620"/>
            <a:ext cx="26097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Scalability testing AWS IoT SiteWise ingestion — 50,000+ assets, 100K data points/sec, edge-to-cloud latency &lt;500ms.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4350" y="4754166"/>
            <a:ext cx="367021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198851" y="4750594"/>
            <a:ext cx="322026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433407" y="4750594"/>
            <a:ext cx="119624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ENGINEERING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3255"/>
            <a:ext cx="7023088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551725" y="314325"/>
            <a:ext cx="13967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· CAPABILITY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567928"/>
            <a:ext cx="2295136" cy="129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 · MANUFACTURING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732234"/>
            <a:ext cx="862965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2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Automation &amp; Continuous Testing.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514350" y="1046559"/>
            <a:ext cx="7000875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MES functional automation, SAP S/4HANA regression, TrackWise QMS, OT/IT integration testing.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322598"/>
            <a:ext cx="4369743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8656" y="1469045"/>
            <a:ext cx="40482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78656" y="1690501"/>
            <a:ext cx="4048274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test automation &amp; continuous testing capability is engineered for manufacturing environments. We work with Siemens Opcenter, SAP S/4HANA, AWS IoT SiteWise, Ignition SCADA, and NVIDIA Jetson edge — not generic platforms. Every sub-service below is aligned to ISA-95 hierarchy and IEC 62443 security.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78656" y="3897920"/>
            <a:ext cx="1777901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8656" y="3897920"/>
            <a:ext cx="1777901" cy="128588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6 · MANUFACTURING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5051971" y="1322598"/>
            <a:ext cx="3574107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212705" y="1469045"/>
            <a:ext cx="32526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16277" y="1665498"/>
            <a:ext cx="3245495" cy="428625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305574" y="1719076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534174" y="171907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5762774" y="1719076"/>
            <a:ext cx="2719429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MES Functional Automation (Opcenter)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762774" y="1840520"/>
            <a:ext cx="26097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Automated functional testing of Siemens Opcenter — production order lifecycle, routing, SFC, electronic batch records (ISA-88).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216277" y="2151273"/>
            <a:ext cx="3245495" cy="528638"/>
          </a:xfrm>
          <a:prstGeom prst="roundRect">
            <a:avLst>
              <a:gd name="adj" fmla="val 1441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305574" y="2204851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534174" y="220485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22" name="Text 20"/>
          <p:cNvSpPr/>
          <p:nvPr/>
        </p:nvSpPr>
        <p:spPr>
          <a:xfrm>
            <a:off x="5762774" y="2204851"/>
            <a:ext cx="2719429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ERP Regression Automation (S/4HANA)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762774" y="2326295"/>
            <a:ext cx="260970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Automated regression for SAP S/4HANA manufacturing modules — PP (Production Planning), PM (Plant Maintenance), QM (Quality Management).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216277" y="2737061"/>
            <a:ext cx="3245495" cy="428625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305574" y="2790639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4174" y="279063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27" name="Text 25"/>
          <p:cNvSpPr/>
          <p:nvPr/>
        </p:nvSpPr>
        <p:spPr>
          <a:xfrm>
            <a:off x="5762774" y="2790639"/>
            <a:ext cx="2719429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System Automation (TrackWise)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762774" y="2912083"/>
            <a:ext cx="26097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Automated testing of Sparta TrackWise QMS — CAPA workflow, deviation management, supplier quality integration.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16277" y="3222836"/>
            <a:ext cx="3245495" cy="428625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305574" y="3276414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534174" y="327641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32" name="Text 30"/>
          <p:cNvSpPr/>
          <p:nvPr/>
        </p:nvSpPr>
        <p:spPr>
          <a:xfrm>
            <a:off x="5762774" y="3276414"/>
            <a:ext cx="2719429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OT/IT Integration Test Automation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762774" y="3397858"/>
            <a:ext cx="26097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Automated testing of OPC UA / MTConnect to SAP MII integration — tag mapping, real-time data flow, failover.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16277" y="3708611"/>
            <a:ext cx="3245495" cy="428625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305574" y="3762189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534174" y="376218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37" name="Text 35"/>
          <p:cNvSpPr/>
          <p:nvPr/>
        </p:nvSpPr>
        <p:spPr>
          <a:xfrm>
            <a:off x="5762774" y="3762189"/>
            <a:ext cx="2719429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Industrial API Test Automation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62774" y="3883633"/>
            <a:ext cx="26097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Automated contract testing of manufacturing APIs — SAP Ariba, Siemens Opcenter, Ignition Perspective — using Postman / Pact.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4350" y="4754166"/>
            <a:ext cx="336738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896023" y="4750594"/>
            <a:ext cx="291744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27751" y="4750594"/>
            <a:ext cx="191001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AUTOMATION &amp; CONTINUOUS TESTING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3255"/>
            <a:ext cx="7082917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611554" y="314325"/>
            <a:ext cx="13191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· APPLICATIONS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567928"/>
            <a:ext cx="2159504" cy="129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MANUFACTURING APPLICATIONS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732234"/>
            <a:ext cx="862965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2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quality &amp; security engineering applies to the factory floor.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14350" y="1029370"/>
            <a:ext cx="7000875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manufacturing-specific applications with real technology stacks.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333984"/>
            <a:ext cx="3993356" cy="1121569"/>
          </a:xfrm>
          <a:prstGeom prst="roundRect">
            <a:avLst>
              <a:gd name="adj" fmla="val 849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8656" y="146614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969" dirty="0"/>
          </a:p>
        </p:txBody>
      </p:sp>
      <p:sp>
        <p:nvSpPr>
          <p:cNvPr id="9" name="Text 7"/>
          <p:cNvSpPr/>
          <p:nvPr/>
        </p:nvSpPr>
        <p:spPr>
          <a:xfrm>
            <a:off x="4284241" y="1491146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47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78656" y="1723318"/>
            <a:ext cx="3781616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Computer Vision Quality Control</a:t>
            </a:r>
            <a:endParaRPr lang="en-US" sz="1238" dirty="0"/>
          </a:p>
        </p:txBody>
      </p:sp>
      <p:sp>
        <p:nvSpPr>
          <p:cNvPr id="11" name="Text 9"/>
          <p:cNvSpPr/>
          <p:nvPr/>
        </p:nvSpPr>
        <p:spPr>
          <a:xfrm>
            <a:off x="678656" y="1968996"/>
            <a:ext cx="367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YOLOv8 on NVIDIA Jetson — real-time defect detection on Cognex/Keyence camera feeds at 60fps.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32722" y="1333984"/>
            <a:ext cx="3993356" cy="1121569"/>
          </a:xfrm>
          <a:prstGeom prst="roundRect">
            <a:avLst>
              <a:gd name="adj" fmla="val 849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93456" y="146614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969" dirty="0"/>
          </a:p>
        </p:txBody>
      </p:sp>
      <p:sp>
        <p:nvSpPr>
          <p:cNvPr id="14" name="Text 12"/>
          <p:cNvSpPr/>
          <p:nvPr/>
        </p:nvSpPr>
        <p:spPr>
          <a:xfrm>
            <a:off x="8308425" y="1491146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spc="47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</a:t>
            </a:r>
            <a:endParaRPr lang="en-US" sz="788" dirty="0"/>
          </a:p>
        </p:txBody>
      </p:sp>
      <p:sp>
        <p:nvSpPr>
          <p:cNvPr id="15" name="Text 13"/>
          <p:cNvSpPr/>
          <p:nvPr/>
        </p:nvSpPr>
        <p:spPr>
          <a:xfrm>
            <a:off x="4793456" y="1723318"/>
            <a:ext cx="3671888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Maintenance</a:t>
            </a:r>
            <a:endParaRPr lang="en-US" sz="1238" dirty="0"/>
          </a:p>
        </p:txBody>
      </p:sp>
      <p:sp>
        <p:nvSpPr>
          <p:cNvPr id="16" name="Text 14"/>
          <p:cNvSpPr/>
          <p:nvPr/>
        </p:nvSpPr>
        <p:spPr>
          <a:xfrm>
            <a:off x="4793456" y="1968996"/>
            <a:ext cx="367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Lookout for Equipment + LSTM on vibration FFT data — bearing failure predicted 14-30 days ahead.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17922" y="2576996"/>
            <a:ext cx="3993356" cy="1121569"/>
          </a:xfrm>
          <a:prstGeom prst="roundRect">
            <a:avLst>
              <a:gd name="adj" fmla="val 849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78656" y="270915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969" dirty="0"/>
          </a:p>
        </p:txBody>
      </p:sp>
      <p:sp>
        <p:nvSpPr>
          <p:cNvPr id="19" name="Text 17"/>
          <p:cNvSpPr/>
          <p:nvPr/>
        </p:nvSpPr>
        <p:spPr>
          <a:xfrm>
            <a:off x="4123945" y="2734159"/>
            <a:ext cx="2545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spc="47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678656" y="2966331"/>
            <a:ext cx="3781616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Supply Chain Intelligence</a:t>
            </a:r>
            <a:endParaRPr lang="en-US" sz="1238" dirty="0"/>
          </a:p>
        </p:txBody>
      </p:sp>
      <p:sp>
        <p:nvSpPr>
          <p:cNvPr id="21" name="Text 19"/>
          <p:cNvSpPr/>
          <p:nvPr/>
        </p:nvSpPr>
        <p:spPr>
          <a:xfrm>
            <a:off x="678656" y="3212009"/>
            <a:ext cx="367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IBP + LightGBM forecasting — demand, inventory, and supplier risk across multi-echelon supply chain.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32722" y="2576996"/>
            <a:ext cx="3993356" cy="1121569"/>
          </a:xfrm>
          <a:prstGeom prst="roundRect">
            <a:avLst>
              <a:gd name="adj" fmla="val 849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93456" y="270915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24" name="Text 22"/>
          <p:cNvSpPr/>
          <p:nvPr/>
        </p:nvSpPr>
        <p:spPr>
          <a:xfrm>
            <a:off x="8308425" y="2734159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spc="47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</a:t>
            </a:r>
            <a:endParaRPr lang="en-US" sz="788" dirty="0"/>
          </a:p>
        </p:txBody>
      </p:sp>
      <p:sp>
        <p:nvSpPr>
          <p:cNvPr id="25" name="Text 23"/>
          <p:cNvSpPr/>
          <p:nvPr/>
        </p:nvSpPr>
        <p:spPr>
          <a:xfrm>
            <a:off x="4793456" y="2966331"/>
            <a:ext cx="3781616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Connected Factory Operations</a:t>
            </a:r>
            <a:endParaRPr lang="en-US" sz="1238" dirty="0"/>
          </a:p>
        </p:txBody>
      </p:sp>
      <p:sp>
        <p:nvSpPr>
          <p:cNvPr id="26" name="Text 24"/>
          <p:cNvSpPr/>
          <p:nvPr/>
        </p:nvSpPr>
        <p:spPr>
          <a:xfrm>
            <a:off x="4793456" y="3212009"/>
            <a:ext cx="367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IoT SiteWise + Siemens Opcenter — real-time OEE, digital twin, and ISA-95 hierarchy visibility.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4350" y="4754166"/>
            <a:ext cx="397962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08264" y="4750594"/>
            <a:ext cx="352968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99312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3255"/>
            <a:ext cx="7082917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611554" y="314325"/>
            <a:ext cx="13191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·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567928"/>
            <a:ext cx="3208294" cy="129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 · MANUFACTURING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732234"/>
            <a:ext cx="8629650" cy="475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2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reference architecture for quality &amp; security engineering — manufacturing.</a:t>
            </a:r>
            <a:endParaRPr lang="en-US" sz="1463" dirty="0"/>
          </a:p>
        </p:txBody>
      </p:sp>
      <p:sp>
        <p:nvSpPr>
          <p:cNvPr id="6" name="Text 4"/>
          <p:cNvSpPr/>
          <p:nvPr/>
        </p:nvSpPr>
        <p:spPr>
          <a:xfrm>
            <a:off x="514350" y="1234976"/>
            <a:ext cx="7000875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with real manufacturing technology platforms — not generic terms.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511015"/>
            <a:ext cx="8108156" cy="535781"/>
          </a:xfrm>
          <a:prstGeom prst="roundRect">
            <a:avLst>
              <a:gd name="adj" fmla="val 1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1494" y="1514587"/>
            <a:ext cx="1000125" cy="528638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1518047" y="1514587"/>
            <a:ext cx="0" cy="5286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494" y="1514587"/>
            <a:ext cx="1000125" cy="528638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STANDARDS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650206" y="1664891"/>
            <a:ext cx="899443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650206" y="1677107"/>
            <a:ext cx="899443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IEC 62443-3-3 SL2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49662" y="1664891"/>
            <a:ext cx="610456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585838" y="1677107"/>
            <a:ext cx="738104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IATF 16949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60130" y="1664891"/>
            <a:ext cx="531428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31123" y="1677107"/>
            <a:ext cx="589443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ISO 9001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991570" y="1664891"/>
            <a:ext cx="902568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991570" y="1677107"/>
            <a:ext cx="902568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MITRE ATT&amp;CK ICS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7922" y="2125377"/>
            <a:ext cx="8108156" cy="535781"/>
          </a:xfrm>
          <a:prstGeom prst="roundRect">
            <a:avLst>
              <a:gd name="adj" fmla="val 1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21494" y="2128949"/>
            <a:ext cx="1000125" cy="528638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1518047" y="2128949"/>
            <a:ext cx="0" cy="5286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494" y="2128949"/>
            <a:ext cx="1000125" cy="528638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TESTING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650206" y="2279254"/>
            <a:ext cx="971550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650206" y="2291469"/>
            <a:ext cx="971550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Claroty xDome (ICS)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721769" y="2279254"/>
            <a:ext cx="898885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721769" y="2291469"/>
            <a:ext cx="898885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SonarQube (SAST)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720666" y="2279254"/>
            <a:ext cx="880132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720666" y="2291469"/>
            <a:ext cx="880132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Burp Suite (DAST)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00811" y="2279254"/>
            <a:ext cx="850441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00811" y="2291469"/>
            <a:ext cx="850441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Nozomi Guardian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17922" y="2739740"/>
            <a:ext cx="8108156" cy="535781"/>
          </a:xfrm>
          <a:prstGeom prst="roundRect">
            <a:avLst>
              <a:gd name="adj" fmla="val 1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21494" y="2743312"/>
            <a:ext cx="1000125" cy="528638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1518047" y="2743312"/>
            <a:ext cx="0" cy="5286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494" y="2743312"/>
            <a:ext cx="1000125" cy="528638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650206" y="2893616"/>
            <a:ext cx="675866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589115" y="2905832"/>
            <a:ext cx="798048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JMeter (MES)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426084" y="2893616"/>
            <a:ext cx="773199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426084" y="2905832"/>
            <a:ext cx="773199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Kafka Perf (IoT)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299296" y="2893616"/>
            <a:ext cx="1079153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299296" y="2905832"/>
            <a:ext cx="1079153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LoadRunner (S/4HANA)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478462" y="2893616"/>
            <a:ext cx="1002246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478462" y="2905832"/>
            <a:ext cx="1002246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Ignition Perf (SCADA)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17922" y="3354102"/>
            <a:ext cx="8108156" cy="535781"/>
          </a:xfrm>
          <a:prstGeom prst="roundRect">
            <a:avLst>
              <a:gd name="adj" fmla="val 1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21494" y="3357674"/>
            <a:ext cx="1000125" cy="528638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1518047" y="3357674"/>
            <a:ext cx="0" cy="5286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1494" y="3357674"/>
            <a:ext cx="1000125" cy="528638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AUTOMATION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650206" y="3507979"/>
            <a:ext cx="897210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650206" y="3520194"/>
            <a:ext cx="897210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Selenium (MES UI)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47429" y="3507979"/>
            <a:ext cx="735806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2647429" y="3520194"/>
            <a:ext cx="735806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Tricentis (SAP)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483248" y="3507979"/>
            <a:ext cx="761926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3483248" y="3520194"/>
            <a:ext cx="761926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Postman (APIs)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345186" y="3507979"/>
            <a:ext cx="761814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345186" y="3520194"/>
            <a:ext cx="761814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Pact (Contract)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17922" y="3968465"/>
            <a:ext cx="8108156" cy="535781"/>
          </a:xfrm>
          <a:prstGeom prst="roundRect">
            <a:avLst>
              <a:gd name="adj" fmla="val 1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21494" y="3972037"/>
            <a:ext cx="1000125" cy="528638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1518047" y="3972037"/>
            <a:ext cx="0" cy="5286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1494" y="3972037"/>
            <a:ext cx="1000125" cy="528638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650206" y="4122341"/>
            <a:ext cx="921209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1650206" y="4134557"/>
            <a:ext cx="921209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GitLab CI (OT-Safe)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671428" y="4122341"/>
            <a:ext cx="1093663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2671428" y="4134557"/>
            <a:ext cx="1093663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Claroty (OT Monitoring)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865104" y="4122341"/>
            <a:ext cx="745741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3865104" y="4134557"/>
            <a:ext cx="745741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PagerDuty (IR)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710857" y="4122341"/>
            <a:ext cx="805235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4710857" y="4134557"/>
            <a:ext cx="805235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IEC 62443 Audit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4350" y="4754166"/>
            <a:ext cx="39595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488173" y="4750594"/>
            <a:ext cx="350959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7973028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3255"/>
            <a:ext cx="7202686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31323" y="314325"/>
            <a:ext cx="116400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· ENGAGEMENT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567928"/>
            <a:ext cx="1780738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732234"/>
            <a:ext cx="862965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2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four-stage pathway from discovery to managed operations.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14350" y="1029370"/>
            <a:ext cx="7000875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stage carries concrete deliverables, a fixed duration, and a transparent commercial frame.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333984"/>
            <a:ext cx="1946672" cy="2564606"/>
          </a:xfrm>
          <a:prstGeom prst="roundRect">
            <a:avLst>
              <a:gd name="adj" fmla="val 489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1506" y="1451856"/>
            <a:ext cx="1739503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21506" y="1626877"/>
            <a:ext cx="1739503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Discovery</a:t>
            </a:r>
            <a:endParaRPr lang="en-US" sz="844" dirty="0"/>
          </a:p>
        </p:txBody>
      </p:sp>
      <p:sp>
        <p:nvSpPr>
          <p:cNvPr id="10" name="Text 8"/>
          <p:cNvSpPr/>
          <p:nvPr/>
        </p:nvSpPr>
        <p:spPr>
          <a:xfrm>
            <a:off x="621506" y="1812615"/>
            <a:ext cx="17395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1506" y="2048359"/>
            <a:ext cx="173950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1506" y="2212665"/>
            <a:ext cx="17395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21506" y="2419834"/>
            <a:ext cx="1739503" cy="761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&amp; Security Engineering maturity assessment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OT/IT landscape mapping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ISA-95 gap analysis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90-day roadmap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21506" y="3566406"/>
            <a:ext cx="173950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506" y="3562834"/>
            <a:ext cx="1739503" cy="217884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$25K-$75K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71750" y="1333984"/>
            <a:ext cx="1946672" cy="2564606"/>
          </a:xfrm>
          <a:prstGeom prst="roundRect">
            <a:avLst>
              <a:gd name="adj" fmla="val 489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675334" y="1451856"/>
            <a:ext cx="1739503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75334" y="1626877"/>
            <a:ext cx="1739503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 Design</a:t>
            </a:r>
            <a:endParaRPr lang="en-US" sz="844" dirty="0"/>
          </a:p>
        </p:txBody>
      </p:sp>
      <p:sp>
        <p:nvSpPr>
          <p:cNvPr id="19" name="Text 17"/>
          <p:cNvSpPr/>
          <p:nvPr/>
        </p:nvSpPr>
        <p:spPr>
          <a:xfrm>
            <a:off x="2675334" y="1812615"/>
            <a:ext cx="17395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3-4 WEEKS · FIXED FEE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675334" y="2048359"/>
            <a:ext cx="173950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675334" y="2212665"/>
            <a:ext cx="17395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675334" y="2419834"/>
            <a:ext cx="1739503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architecture (OT/IT)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IEC 62443 security design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 selection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plan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675334" y="3566406"/>
            <a:ext cx="173950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75334" y="3562834"/>
            <a:ext cx="1739503" cy="217884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$50K-$150K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25578" y="1333984"/>
            <a:ext cx="1946672" cy="2564606"/>
          </a:xfrm>
          <a:prstGeom prst="roundRect">
            <a:avLst>
              <a:gd name="adj" fmla="val 489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29163" y="1451856"/>
            <a:ext cx="1739503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29163" y="1626877"/>
            <a:ext cx="1739503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Delivery</a:t>
            </a:r>
            <a:endParaRPr lang="en-US" sz="844" dirty="0"/>
          </a:p>
        </p:txBody>
      </p:sp>
      <p:sp>
        <p:nvSpPr>
          <p:cNvPr id="28" name="Text 26"/>
          <p:cNvSpPr/>
          <p:nvPr/>
        </p:nvSpPr>
        <p:spPr>
          <a:xfrm>
            <a:off x="4729163" y="1812615"/>
            <a:ext cx="17395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8-24 WEEKS · T&amp;M OR FIXED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29163" y="2048359"/>
            <a:ext cx="173950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29163" y="2212665"/>
            <a:ext cx="17395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29163" y="2419834"/>
            <a:ext cx="1739503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OT/IT integration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IEC 62443 validation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transfer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29163" y="3566406"/>
            <a:ext cx="173950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29163" y="3562834"/>
            <a:ext cx="1739503" cy="217884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$300K-$1M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679406" y="1333984"/>
            <a:ext cx="1946672" cy="2564606"/>
          </a:xfrm>
          <a:prstGeom prst="roundRect">
            <a:avLst>
              <a:gd name="adj" fmla="val 489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782991" y="1451856"/>
            <a:ext cx="1739503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82991" y="1626877"/>
            <a:ext cx="1739503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Operations</a:t>
            </a:r>
            <a:endParaRPr lang="en-US" sz="844" dirty="0"/>
          </a:p>
        </p:txBody>
      </p:sp>
      <p:sp>
        <p:nvSpPr>
          <p:cNvPr id="37" name="Text 35"/>
          <p:cNvSpPr/>
          <p:nvPr/>
        </p:nvSpPr>
        <p:spPr>
          <a:xfrm>
            <a:off x="6782991" y="1812615"/>
            <a:ext cx="17395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82991" y="2048359"/>
            <a:ext cx="173950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782991" y="2212665"/>
            <a:ext cx="17395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82991" y="2419834"/>
            <a:ext cx="1739503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services (OT-aware)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reviews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operations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782991" y="3566406"/>
            <a:ext cx="173950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82991" y="3562834"/>
            <a:ext cx="1739503" cy="217884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$50K-$500K / mo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4350" y="4754166"/>
            <a:ext cx="378607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314713" y="4750594"/>
            <a:ext cx="333624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665244" y="4750594"/>
            <a:ext cx="96440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23255"/>
            <a:ext cx="7023088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551725" y="314325"/>
            <a:ext cx="13967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· WHY KEFI TECH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567928"/>
            <a:ext cx="2343208" cy="129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 · MANUFACTURING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732234"/>
            <a:ext cx="862965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2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reasons manufacturing enterprises work with us.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14350" y="1029370"/>
            <a:ext cx="7000875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generic IT services. OT-aware, ISA-95 aligned, IEC 62443 compliant.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4350" y="1373274"/>
            <a:ext cx="3986213" cy="1128713"/>
          </a:xfrm>
          <a:prstGeom prst="roundRect">
            <a:avLst>
              <a:gd name="adj" fmla="val 675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14350" y="1376846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6991" y="1373274"/>
            <a:ext cx="0" cy="112871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4350" y="2498415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8638" y="1373274"/>
            <a:ext cx="0" cy="112871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8663" y="1537581"/>
            <a:ext cx="35790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28663" y="1744749"/>
            <a:ext cx="357901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OT-aware security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28663" y="1944774"/>
            <a:ext cx="357901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ICS-specific VAPT per MITRE ATT&amp;CK ICS — not IT security applied to OT.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4643438" y="1373274"/>
            <a:ext cx="3986213" cy="1128713"/>
          </a:xfrm>
          <a:prstGeom prst="roundRect">
            <a:avLst>
              <a:gd name="adj" fmla="val 675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43438" y="1376846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26078" y="1373274"/>
            <a:ext cx="0" cy="112871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43438" y="2498415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57725" y="1373274"/>
            <a:ext cx="0" cy="112871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57750" y="1537581"/>
            <a:ext cx="35790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57750" y="1744749"/>
            <a:ext cx="357901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Purdue Model expertise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57750" y="1944774"/>
            <a:ext cx="357901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VAPT across all 5 Purdue levels — Level 0 (physical) through Level 4 (ERP).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514350" y="2644862"/>
            <a:ext cx="3986213" cy="1128713"/>
          </a:xfrm>
          <a:prstGeom prst="roundRect">
            <a:avLst>
              <a:gd name="adj" fmla="val 675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14350" y="2648434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96991" y="2644862"/>
            <a:ext cx="0" cy="112871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4350" y="3770002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8638" y="2644862"/>
            <a:ext cx="0" cy="112871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8663" y="2809168"/>
            <a:ext cx="35790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8663" y="3016337"/>
            <a:ext cx="357901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IEC 62443 certified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8663" y="3216362"/>
            <a:ext cx="357901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testing aligned to IEC 62443-3-3 SL2 and IEC 62443-4-1 product security.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4643438" y="2644862"/>
            <a:ext cx="3986213" cy="1128713"/>
          </a:xfrm>
          <a:prstGeom prst="roundRect">
            <a:avLst>
              <a:gd name="adj" fmla="val 675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643438" y="2648434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26078" y="2644862"/>
            <a:ext cx="0" cy="112871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43438" y="3770002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57725" y="2644862"/>
            <a:ext cx="0" cy="1128713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57750" y="2809168"/>
            <a:ext cx="35790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57750" y="3016337"/>
            <a:ext cx="357901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model validation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57750" y="3216362"/>
            <a:ext cx="35790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LSTM, YOLOv8, and GenAI model testing with industry-specific evaluation harnesses.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4350" y="4754166"/>
            <a:ext cx="395116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479801" y="4750594"/>
            <a:ext cx="350133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967409" y="4750594"/>
            <a:ext cx="6902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14350" y="4754166"/>
            <a:ext cx="33608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889437" y="4750594"/>
            <a:ext cx="29108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814579" y="4750594"/>
            <a:ext cx="19239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600" dirty="0"/>
          </a:p>
        </p:txBody>
      </p:sp>
      <p:pic>
        <p:nvPicPr>
          <p:cNvPr id="7" name="Image 1" descr="/tmp/h2p-fit-1790839335858-58eox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685800"/>
            <a:ext cx="1857375" cy="3021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2950" y="1714500"/>
            <a:ext cx="45677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742950" y="1960959"/>
            <a:ext cx="3573494" cy="501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</p:txBody>
      </p:sp>
      <p:sp>
        <p:nvSpPr>
          <p:cNvPr id="10" name="Text 6"/>
          <p:cNvSpPr/>
          <p:nvPr/>
        </p:nvSpPr>
        <p:spPr>
          <a:xfrm>
            <a:off x="742950" y="2438140"/>
            <a:ext cx="3988699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11" name="Text 7"/>
          <p:cNvSpPr/>
          <p:nvPr/>
        </p:nvSpPr>
        <p:spPr>
          <a:xfrm>
            <a:off x="742950" y="3058195"/>
            <a:ext cx="3675593" cy="166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42950" y="3252415"/>
            <a:ext cx="3675593" cy="20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6393656" y="1714500"/>
            <a:ext cx="7144" cy="2000250"/>
          </a:xfrm>
          <a:prstGeom prst="rect">
            <a:avLst/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7477359" y="1714500"/>
            <a:ext cx="980841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Discover.</a:t>
            </a:r>
            <a:endParaRPr lang="en-US" sz="1013" dirty="0"/>
          </a:p>
        </p:txBody>
      </p:sp>
      <p:sp>
        <p:nvSpPr>
          <p:cNvPr id="15" name="Text 11"/>
          <p:cNvSpPr/>
          <p:nvPr/>
        </p:nvSpPr>
        <p:spPr>
          <a:xfrm>
            <a:off x="7477359" y="2164556"/>
            <a:ext cx="980841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Engineer.</a:t>
            </a:r>
            <a:endParaRPr lang="en-US" sz="1013" dirty="0"/>
          </a:p>
        </p:txBody>
      </p:sp>
      <p:sp>
        <p:nvSpPr>
          <p:cNvPr id="16" name="Text 12"/>
          <p:cNvSpPr/>
          <p:nvPr/>
        </p:nvSpPr>
        <p:spPr>
          <a:xfrm>
            <a:off x="7804306" y="2614613"/>
            <a:ext cx="653894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Scale.</a:t>
            </a:r>
            <a:endParaRPr lang="en-US" sz="101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2026-10-01T07:22:15Z</dcterms:created>
  <dcterms:modified xsi:type="dcterms:W3CDTF">2026-10-01T07:22:15Z</dcterms:modified>
</cp:coreProperties>
</file>