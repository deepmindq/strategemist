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39312448-juk96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4572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384168" y="571500"/>
            <a:ext cx="237488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KEFI TECH · MANUFACTURING · 2026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714500"/>
            <a:ext cx="66126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 · MANUFACTURING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742950" y="1985963"/>
            <a:ext cx="5143500" cy="932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</a:t>
            </a:r>
            <a:endParaRPr lang="en-US" sz="3600" dirty="0"/>
          </a:p>
        </p:txBody>
      </p:sp>
      <p:sp>
        <p:nvSpPr>
          <p:cNvPr id="7" name="Text 3"/>
          <p:cNvSpPr/>
          <p:nvPr/>
        </p:nvSpPr>
        <p:spPr>
          <a:xfrm>
            <a:off x="742950" y="2945904"/>
            <a:ext cx="5400675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72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for Manufacturing.</a:t>
            </a:r>
            <a:endParaRPr lang="en-US" sz="3600" dirty="0"/>
          </a:p>
        </p:txBody>
      </p:sp>
      <p:sp>
        <p:nvSpPr>
          <p:cNvPr id="8" name="Text 4"/>
          <p:cNvSpPr/>
          <p:nvPr/>
        </p:nvSpPr>
        <p:spPr>
          <a:xfrm>
            <a:off x="742950" y="3625900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742950" y="3790206"/>
            <a:ext cx="5554980" cy="25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sz="1238" spc="-6" kern="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to cloud-native MES.</a:t>
            </a:r>
            <a:endParaRPr lang="en-US" sz="1238" dirty="0"/>
          </a:p>
        </p:txBody>
      </p:sp>
      <p:sp>
        <p:nvSpPr>
          <p:cNvPr id="10" name="Shape 6"/>
          <p:cNvSpPr/>
          <p:nvPr/>
        </p:nvSpPr>
        <p:spPr>
          <a:xfrm>
            <a:off x="6404372" y="1714500"/>
            <a:ext cx="0" cy="1753791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607969" y="1714500"/>
            <a:ext cx="179308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59"/>
              </a:lnSpc>
              <a:buNone/>
            </a:pPr>
            <a:r>
              <a:rPr lang="en-US" sz="800" spc="152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 INDEX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6607969" y="2053828"/>
            <a:ext cx="18163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6607969" y="2196703"/>
            <a:ext cx="19006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14" name="Text 10"/>
          <p:cNvSpPr/>
          <p:nvPr/>
        </p:nvSpPr>
        <p:spPr>
          <a:xfrm>
            <a:off x="6607969" y="2550319"/>
            <a:ext cx="18163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607969" y="2693194"/>
            <a:ext cx="179308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607969" y="3186113"/>
            <a:ext cx="181630" cy="1154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41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607969" y="3328988"/>
            <a:ext cx="1900666" cy="139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42950" y="4754166"/>
            <a:ext cx="496211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5719353" y="4750594"/>
            <a:ext cx="268169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 / 12 · DIGITAL ENGINEERING AND TRANSFORMATION SERVICES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61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INDUSTRY CONTEXT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89409"/>
            <a:ext cx="8486775" cy="5554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is converging physical operations with digital intelligence.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575197"/>
            <a:ext cx="7000875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operations, predictive maintenance, supply chain visibility and quality at scale define the modern factory.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905149"/>
            <a:ext cx="4456249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4369" y="2037308"/>
            <a:ext cx="42730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MANUFACTURING NEEDS THIS NOW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67941" y="2258764"/>
            <a:ext cx="4156211" cy="523280"/>
          </a:xfrm>
          <a:prstGeom prst="roundRect">
            <a:avLst>
              <a:gd name="adj" fmla="val 1456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57238" y="234806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406" dirty="0"/>
          </a:p>
        </p:txBody>
      </p:sp>
      <p:sp>
        <p:nvSpPr>
          <p:cNvPr id="10" name="Text 8"/>
          <p:cNvSpPr/>
          <p:nvPr/>
        </p:nvSpPr>
        <p:spPr>
          <a:xfrm>
            <a:off x="1042988" y="2333774"/>
            <a:ext cx="369186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Industry 4.0 convergence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42988" y="2471291"/>
            <a:ext cx="369186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convergence accelerating — ISA-95, OPC UA, MTConnect connecting factory floor to cloud.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67941" y="2860625"/>
            <a:ext cx="4156211" cy="405408"/>
          </a:xfrm>
          <a:prstGeom prst="roundRect">
            <a:avLst>
              <a:gd name="adj" fmla="val 18796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7238" y="294992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406" dirty="0"/>
          </a:p>
        </p:txBody>
      </p:sp>
      <p:sp>
        <p:nvSpPr>
          <p:cNvPr id="14" name="Text 12"/>
          <p:cNvSpPr/>
          <p:nvPr/>
        </p:nvSpPr>
        <p:spPr>
          <a:xfrm>
            <a:off x="1042988" y="2935635"/>
            <a:ext cx="3801596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cybersecurity mandate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42988" y="3073152"/>
            <a:ext cx="3691868" cy="11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619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 security now regulated — IEC 62443-3-3 SL2 compliance required for connected factories.</a:t>
            </a:r>
            <a:endParaRPr lang="en-US" sz="619" dirty="0"/>
          </a:p>
        </p:txBody>
      </p:sp>
      <p:sp>
        <p:nvSpPr>
          <p:cNvPr id="16" name="Text 14"/>
          <p:cNvSpPr/>
          <p:nvPr/>
        </p:nvSpPr>
        <p:spPr>
          <a:xfrm>
            <a:off x="667941" y="3344614"/>
            <a:ext cx="4156211" cy="523280"/>
          </a:xfrm>
          <a:prstGeom prst="roundRect">
            <a:avLst>
              <a:gd name="adj" fmla="val 1456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7238" y="3433911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lang="en-US" sz="1406" dirty="0"/>
          </a:p>
        </p:txBody>
      </p:sp>
      <p:sp>
        <p:nvSpPr>
          <p:cNvPr id="18" name="Text 16"/>
          <p:cNvSpPr/>
          <p:nvPr/>
        </p:nvSpPr>
        <p:spPr>
          <a:xfrm>
            <a:off x="1042988" y="3419624"/>
            <a:ext cx="3801596" cy="110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OEE optimisation pressure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42988" y="3557141"/>
            <a:ext cx="369186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Overall Equipment Effectiveness targets rising — predictive maintenance and real-time quality data now baseline.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7941" y="3946475"/>
            <a:ext cx="4156211" cy="523280"/>
          </a:xfrm>
          <a:prstGeom prst="roundRect">
            <a:avLst>
              <a:gd name="adj" fmla="val 14562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57238" y="403577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06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406" dirty="0"/>
          </a:p>
        </p:txBody>
      </p:sp>
      <p:sp>
        <p:nvSpPr>
          <p:cNvPr id="22" name="Text 20"/>
          <p:cNvSpPr/>
          <p:nvPr/>
        </p:nvSpPr>
        <p:spPr>
          <a:xfrm>
            <a:off x="1042988" y="4021485"/>
            <a:ext cx="3691868" cy="11008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14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resilience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042988" y="4159002"/>
            <a:ext cx="3691868" cy="23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Multi-echelon visibility, supplier risk monitoring, and demand forecasting now critical for continuity.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152765" y="1905149"/>
            <a:ext cx="3644652" cy="2564606"/>
          </a:xfrm>
          <a:prstGeom prst="roundRect">
            <a:avLst>
              <a:gd name="adj" fmla="val 4457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99211" y="2037308"/>
            <a:ext cx="3351758" cy="308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D43F0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MEANS FOR DIGITAL ENGINEERING &amp; TRANSFORMATION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5299211" y="2373064"/>
            <a:ext cx="3351758" cy="1118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applied to manufacturing requires OT-aware, ISA-95 aligned, IEC 62443 compliant capability — not generic technology. The right approach connects digital engineering &amp; transformation to equipment protocols (OPC UA, MTConnect, Profinet), plant systems (Siemens Opcenter, SAP S/4HANA, Ignition), and the operational realities of the factory floor.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299211" y="4201864"/>
            <a:ext cx="1884387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299211" y="4201864"/>
            <a:ext cx="1884387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OT-AWARE · ISA-95 ALIGNED · IEC 62443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4350" y="4754166"/>
            <a:ext cx="3715308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43946" y="4750594"/>
            <a:ext cx="326536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12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523597" y="4750594"/>
            <a:ext cx="1106053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CONTEXT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for the connected factory.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257970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Six capability pillars aligned to ISA-95 manufacturing hierarchy.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29432"/>
            <a:ext cx="1850231" cy="492919"/>
          </a:xfrm>
          <a:prstGeom prst="roundRect">
            <a:avLst>
              <a:gd name="adj" fmla="val 1932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50081" y="16901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907256" y="170088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STRATEGY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71725" y="166159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2603897" y="1529432"/>
            <a:ext cx="1850231" cy="492919"/>
          </a:xfrm>
          <a:prstGeom prst="roundRect">
            <a:avLst>
              <a:gd name="adj" fmla="val 1932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36056" y="16901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688" dirty="0"/>
          </a:p>
        </p:txBody>
      </p:sp>
      <p:sp>
        <p:nvSpPr>
          <p:cNvPr id="12" name="Text 10"/>
          <p:cNvSpPr/>
          <p:nvPr/>
        </p:nvSpPr>
        <p:spPr>
          <a:xfrm>
            <a:off x="2993231" y="170088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57700" y="166159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4689872" y="1529432"/>
            <a:ext cx="1850231" cy="492919"/>
          </a:xfrm>
          <a:prstGeom prst="roundRect">
            <a:avLst>
              <a:gd name="adj" fmla="val 1932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822031" y="16901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16" name="Text 14"/>
          <p:cNvSpPr/>
          <p:nvPr/>
        </p:nvSpPr>
        <p:spPr>
          <a:xfrm>
            <a:off x="5079206" y="1700882"/>
            <a:ext cx="13287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INTEGRATE (OT/IT)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43675" y="1661592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38" b="1" dirty="0">
                <a:solidFill>
                  <a:srgbClr val="FF6C0E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►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6775847" y="1529432"/>
            <a:ext cx="1850231" cy="492919"/>
          </a:xfrm>
          <a:prstGeom prst="roundRect">
            <a:avLst>
              <a:gd name="adj" fmla="val 19324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08006" y="16901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lang="en-US" sz="1688" dirty="0"/>
          </a:p>
        </p:txBody>
      </p:sp>
      <p:sp>
        <p:nvSpPr>
          <p:cNvPr id="20" name="Text 18"/>
          <p:cNvSpPr/>
          <p:nvPr/>
        </p:nvSpPr>
        <p:spPr>
          <a:xfrm>
            <a:off x="7165181" y="1700882"/>
            <a:ext cx="1328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3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7922" y="2158082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22616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688" dirty="0"/>
          </a:p>
        </p:txBody>
      </p:sp>
      <p:sp>
        <p:nvSpPr>
          <p:cNvPr id="23" name="Text 21"/>
          <p:cNvSpPr/>
          <p:nvPr/>
        </p:nvSpPr>
        <p:spPr>
          <a:xfrm>
            <a:off x="2902844" y="2283098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635794" y="2475979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35794" y="2638834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 MES, SAP QM, SAP Ariba supplier portal, React operator dashboards.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51522" y="2158082"/>
            <a:ext cx="2640843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369394" y="22616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688" dirty="0"/>
          </a:p>
        </p:txBody>
      </p:sp>
      <p:sp>
        <p:nvSpPr>
          <p:cNvPr id="28" name="Text 26"/>
          <p:cNvSpPr/>
          <p:nvPr/>
        </p:nvSpPr>
        <p:spPr>
          <a:xfrm>
            <a:off x="5636556" y="2283098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369394" y="2475979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369394" y="2638834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SiteWise, Azure IoT Hub + Digital Twins, NVIDIA Omniverse digital twin, Ignition SCADA.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85235" y="2158082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103107" y="2261667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688" dirty="0"/>
          </a:p>
        </p:txBody>
      </p:sp>
      <p:sp>
        <p:nvSpPr>
          <p:cNvPr id="33" name="Text 31"/>
          <p:cNvSpPr/>
          <p:nvPr/>
        </p:nvSpPr>
        <p:spPr>
          <a:xfrm>
            <a:off x="8370157" y="2283098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6103107" y="2475979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03107" y="2638834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MES to Siemens Opcenter, SAP ECC to S/4HANA, Wonderware to Ignition SCADA migration.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7922" y="3101057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35794" y="3204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38" name="Text 36"/>
          <p:cNvSpPr/>
          <p:nvPr/>
        </p:nvSpPr>
        <p:spPr>
          <a:xfrm>
            <a:off x="2902844" y="322607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675" dirty="0"/>
          </a:p>
        </p:txBody>
      </p:sp>
      <p:sp>
        <p:nvSpPr>
          <p:cNvPr id="39" name="Text 37"/>
          <p:cNvSpPr/>
          <p:nvPr/>
        </p:nvSpPr>
        <p:spPr>
          <a:xfrm>
            <a:off x="635794" y="341895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5794" y="3581809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MII ERP-MES, OPC UA / MTConnect equipment, Teamcenter-SAP PLM, EDI supplier integration.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251522" y="3101057"/>
            <a:ext cx="2640843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3369394" y="3204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❄</a:t>
            </a:r>
            <a:endParaRPr lang="en-US" sz="1688" dirty="0"/>
          </a:p>
        </p:txBody>
      </p:sp>
      <p:sp>
        <p:nvSpPr>
          <p:cNvPr id="43" name="Text 41"/>
          <p:cNvSpPr/>
          <p:nvPr/>
        </p:nvSpPr>
        <p:spPr>
          <a:xfrm>
            <a:off x="5636556" y="322607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675" dirty="0"/>
          </a:p>
        </p:txBody>
      </p:sp>
      <p:sp>
        <p:nvSpPr>
          <p:cNvPr id="44" name="Text 42"/>
          <p:cNvSpPr/>
          <p:nvPr/>
        </p:nvSpPr>
        <p:spPr>
          <a:xfrm>
            <a:off x="3369394" y="3418954"/>
            <a:ext cx="2514828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UI/UX &amp; Experience Engineering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69394" y="3581809"/>
            <a:ext cx="2405100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Perspective HMI, Power BI Embedded dashboards, React Native maintenance app, SAP Fiori.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985235" y="3101057"/>
            <a:ext cx="2640732" cy="850106"/>
          </a:xfrm>
          <a:prstGeom prst="roundRect">
            <a:avLst>
              <a:gd name="adj" fmla="val 11204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103107" y="3204642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688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lang="en-US" sz="1688" dirty="0"/>
          </a:p>
        </p:txBody>
      </p:sp>
      <p:sp>
        <p:nvSpPr>
          <p:cNvPr id="48" name="Text 46"/>
          <p:cNvSpPr/>
          <p:nvPr/>
        </p:nvSpPr>
        <p:spPr>
          <a:xfrm>
            <a:off x="8370157" y="3226073"/>
            <a:ext cx="15543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675" spc="68" kern="0" dirty="0">
                <a:solidFill>
                  <a:srgbClr val="FF6C0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103107" y="3418954"/>
            <a:ext cx="2514716" cy="131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5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DevSecOps &amp; Engineering Consulting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03107" y="3581809"/>
            <a:ext cx="2404988" cy="2657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6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IEC 62443 OT/IT security, GitLab CI for industrial software, GAMP 5 validation, IATF 16949 standards.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14350" y="4754166"/>
            <a:ext cx="3997821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526459" y="4750594"/>
            <a:ext cx="3547988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12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801137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CAPABILITIES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01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95140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 MES, SAP QM, SAP Ariba supplier portal, React operator dashboards.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10804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757251"/>
            <a:ext cx="4134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989423"/>
            <a:ext cx="413478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product &amp; platform engineering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4178982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178982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1 OF 6 · MANUFACTURING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52765" y="1610804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924" y="1742963"/>
            <a:ext cx="3380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8496" y="1950132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6361" y="2017998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4961" y="20108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9274" y="2003710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MES Platform (Siemens Opcenter)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9274" y="2127945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 Execution (Camstar) deployment — production orders, routing, shop floor control, electronic batch records per ISA-88.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8496" y="2431554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6361" y="249942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4961" y="24922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99274" y="2485132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Management System (SAP QM)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99274" y="2609366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S/4HANA QM module — inspection plans, defect tracking, CAPA (Corrective and Preventive Action), supplier quality management.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8496" y="2912976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6361" y="298084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4961" y="2973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99274" y="2966554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99274" y="3090788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SaaS platform on AWS IoT SiteWise — equipment health monitoring, failure prediction, SAP PM work order automation.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8496" y="3394397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6361" y="346226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4961" y="3455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99274" y="3447976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Portal (SAP Ariba)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99274" y="3572210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Ariba supplier portal — purchase orders, ASNs (Advance Shipping Notices), quality documents, performance scorecards.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8496" y="3875819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6361" y="3943685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4961" y="3936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99274" y="3929397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Operator Dashboard (Tablet-First)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99274" y="4053632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+ .NET tablet app for line operators — work instructions (SOP), quality checks, and downtime logging via SAP MII integration.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50657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035214" y="4750594"/>
            <a:ext cx="305674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06245" y="4750594"/>
            <a:ext cx="1614809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02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95140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SiteWise, Azure IoT Hub + Digital Twins, NVIDIA Omniverse digital twin, Ignition SCADA.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10804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757251"/>
            <a:ext cx="4134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989423"/>
            <a:ext cx="413478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cloud-native &amp; platform engineering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4178982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178982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2 OF 6 · MANUFACTURING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52765" y="1610804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924" y="1742963"/>
            <a:ext cx="3380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8496" y="1950132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6361" y="2017998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4961" y="20108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9274" y="2003710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Platform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9274" y="2127945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TwinMaker + Greengrass — connecting equipment (OPC UA/MTConnect) to cloud analytics with edge processing.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8496" y="2431554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6361" y="249942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4961" y="24922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99274" y="2485132"/>
            <a:ext cx="2794546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Industrial IoT Platform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99274" y="2609366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Azure IoT Hub + IoT Edge + Digital Twins — device management, telemetry, and edge analytics for 500+ factory devices.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8496" y="2912976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6361" y="298084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4961" y="2973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99274" y="2966554"/>
            <a:ext cx="2794546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Twin Platform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99274" y="3090788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Omniverse + Siemens Xcelerator — physics-based digital twin of production line for simulation and optimisation.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8496" y="3394397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6361" y="346226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4961" y="3455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99274" y="3447976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Internal Developer Platform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99274" y="3572210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Backstage.io developer portal with golden paths for OT/IT integration — templated OPC UA connectors, SAP MII adapters.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8496" y="3875819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6361" y="3943685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4961" y="3936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99274" y="3929397"/>
            <a:ext cx="2794546" cy="968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Edge Computing Platform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99274" y="4053632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Jetson + Azure IoT Edge — real-time vision inference and vibration analysis at factory floor with &lt;50ms latency.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40120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29844" y="4750594"/>
            <a:ext cx="295137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895505" y="4750594"/>
            <a:ext cx="1838194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CLOUD-NATIVE &amp; PLATFORM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03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95140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MES to Siemens Opcenter, SAP ECC to S/4HANA, Wonderware to Ignition SCADA migration.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10804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757251"/>
            <a:ext cx="4134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989423"/>
            <a:ext cx="413478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application modernization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4178982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178982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3 OF 6 · MANUFACTURING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52765" y="1610804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924" y="1742963"/>
            <a:ext cx="3380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8496" y="1950132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6361" y="2017998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4961" y="20108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9274" y="2003710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Legacy MES Migration to Siemens Opcenter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9274" y="2127945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Incremental migration from legacy MES (Rockwell FactoryTalk, GE Proficy) to Siemens Opcenter — strangler pattern with dual-run.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8496" y="2431554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6361" y="249942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4961" y="24922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99274" y="2485132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 Modernization (S/4HANA Migration)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99274" y="2609366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ECC to S/4HANA migration for manufacturing — Fiori apps for plant managers, embedded analytics, MRP live.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8496" y="2912976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6361" y="298084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4961" y="2973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99274" y="2966554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SCADA System Modernization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99274" y="3090788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Replacing legacy Wonderware / iFix SCADA with Ignition (Inductive Automation) — web-based, cross-platform, OPC UA native.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8496" y="3394397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6361" y="346226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4961" y="3455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99274" y="3447976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Plant Historian Modernization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99274" y="3572210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Migrating from GE Historian / PI System (OSIsoft) to cloud-native InfluxDB + TimescaleDB on Kubernetes.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8496" y="3875819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6361" y="3943685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4961" y="3936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99274" y="3929397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System Migration to Cloud QMS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99274" y="4053632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Migrating on-premise QMS (MasterControl / Veeva) to cloud-based Sparta Systems TrackWise on AWS.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6493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77978" y="4750594"/>
            <a:ext cx="31995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91772" y="4750594"/>
            <a:ext cx="131215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 MODERNIZATION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04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283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0"/>
              </a:lnSpc>
              <a:buNone/>
            </a:pPr>
            <a:r>
              <a:rPr lang="en-US" sz="1800" b="1" spc="-27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95140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MII ERP-MES, OPC UA / MTConnect equipment, Teamcenter-SAP PLM, EDI supplier integration.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610804"/>
            <a:ext cx="4456249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757251"/>
            <a:ext cx="413478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DO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78656" y="1989423"/>
            <a:ext cx="4134780" cy="74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4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api &amp; integration engineering capability is engineered for manufacturing environments. We work with Siemens Opcenter, SAP S/4HANA, AWS IoT SiteWise, Ignition SCADA, and NVIDIA Jetson edge — not generic platforms. Every sub-service below is aligned to ISA-95 hierarchy and IEC 62443 security.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4178982"/>
            <a:ext cx="1777901" cy="128588"/>
          </a:xfrm>
          <a:prstGeom prst="roundRect">
            <a:avLst>
              <a:gd name="adj" fmla="val 29630"/>
            </a:avLst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8656" y="4178982"/>
            <a:ext cx="1777901" cy="135731"/>
          </a:xfrm>
          <a:prstGeom prst="rect">
            <a:avLst/>
          </a:prstGeom>
          <a:noFill/>
          <a:ln/>
        </p:spPr>
        <p:txBody>
          <a:bodyPr wrap="square" lIns="57150" tIns="21431" rIns="57150" bIns="21431" rtlCol="0" anchor="t"/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600" spc="34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CAPABILITY 4 OF 6 · MANUFACTURING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52765" y="1610804"/>
            <a:ext cx="3644652" cy="2850356"/>
          </a:xfrm>
          <a:prstGeom prst="roundRect">
            <a:avLst>
              <a:gd name="adj" fmla="val 4010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284924" y="1742963"/>
            <a:ext cx="338033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b="1" spc="111" kern="0" dirty="0">
                <a:solidFill>
                  <a:srgbClr val="4C81B3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SUB-SERVICES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88496" y="1950132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56361" y="2017998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84961" y="2010854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16" name="Text 14"/>
          <p:cNvSpPr/>
          <p:nvPr/>
        </p:nvSpPr>
        <p:spPr>
          <a:xfrm>
            <a:off x="5799274" y="2003710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ERP-MES Integration (SAP MII)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799274" y="2127945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Manufacturing Integration and Intelligence (MII) — real-time SAP S/4HANA to Siemens Opcenter integration for work order dispatch.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88496" y="2431554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56361" y="2499420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584961" y="2492276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1" name="Text 19"/>
          <p:cNvSpPr/>
          <p:nvPr/>
        </p:nvSpPr>
        <p:spPr>
          <a:xfrm>
            <a:off x="5799274" y="2485132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Equipment Connectivity (OPC UA / MTConnect)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799274" y="2609366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OPC UA (Unified Architecture) and MTConnect protocol integration with CNC, PLC (Siemens S7, Allen-Bradley), and robots (FANUC, KUKA).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288496" y="2912976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56361" y="2980841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584961" y="2973698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26" name="Text 24"/>
          <p:cNvSpPr/>
          <p:nvPr/>
        </p:nvSpPr>
        <p:spPr>
          <a:xfrm>
            <a:off x="5799274" y="2966554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PLM-ERP Integration (Teamcenter-SAP)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99274" y="3090788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Teamcenter to SAP S/4HANA integration — BOM synchronisation, ECR/ECN routing, engineering data handoff.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288496" y="3394397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356361" y="3462263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584961" y="3455119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1" name="Text 29"/>
          <p:cNvSpPr/>
          <p:nvPr/>
        </p:nvSpPr>
        <p:spPr>
          <a:xfrm>
            <a:off x="5799274" y="3447976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Supplier EDI &amp; API Integration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99274" y="3572210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 (ANSI X12 / EDIFACT) + REST API integration with suppliers via SAP Ariba — POs, ASNs, invoices, PPAP documents.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88496" y="3875819"/>
            <a:ext cx="3373189" cy="431416"/>
          </a:xfrm>
          <a:prstGeom prst="roundRect">
            <a:avLst>
              <a:gd name="adj" fmla="val 13247"/>
            </a:avLst>
          </a:prstGeom>
          <a:solidFill>
            <a:srgbClr val="F1F5F9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356361" y="3943685"/>
            <a:ext cx="27432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37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84961" y="3936541"/>
            <a:ext cx="12858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6" dirty="0">
                <a:solidFill>
                  <a:srgbClr val="4C81B3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266" dirty="0"/>
          </a:p>
        </p:txBody>
      </p:sp>
      <p:sp>
        <p:nvSpPr>
          <p:cNvPr id="36" name="Text 34"/>
          <p:cNvSpPr/>
          <p:nvPr/>
        </p:nvSpPr>
        <p:spPr>
          <a:xfrm>
            <a:off x="5799274" y="3929397"/>
            <a:ext cx="2904274" cy="96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81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Quality Lab Equipment Integration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99274" y="4053632"/>
            <a:ext cx="27945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 with CMM (Hexagon/Zeiss), spectrometers (OBLF/ARL), and test rigs via OPC UA / SECS/GEM protocols.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57634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04977" y="4750594"/>
            <a:ext cx="3126507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245772" y="4750594"/>
            <a:ext cx="1466911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&amp; INTEGRATION ENGINEERING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MANUFACTURING APPLICATIONS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486775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How digital engineering &amp; transformation applies to the factory floor.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546622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manufacturing-specific applications with real technology stacks.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862286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78656" y="19944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lang="en-US" sz="1969" dirty="0"/>
          </a:p>
        </p:txBody>
      </p:sp>
      <p:sp>
        <p:nvSpPr>
          <p:cNvPr id="8" name="Text 6"/>
          <p:cNvSpPr/>
          <p:nvPr/>
        </p:nvSpPr>
        <p:spPr>
          <a:xfrm>
            <a:off x="4280222" y="201944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78656" y="2265908"/>
            <a:ext cx="3781616" cy="195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Computer Vision Quality Control</a:t>
            </a:r>
            <a:endParaRPr lang="en-US" sz="1238" dirty="0"/>
          </a:p>
        </p:txBody>
      </p:sp>
      <p:sp>
        <p:nvSpPr>
          <p:cNvPr id="10" name="Text 8"/>
          <p:cNvSpPr/>
          <p:nvPr/>
        </p:nvSpPr>
        <p:spPr>
          <a:xfrm>
            <a:off x="678656" y="2518060"/>
            <a:ext cx="3671888" cy="27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YOLOv8 on NVIDIA Jetson — real-time defect detection on Cognex/Keyence camera feeds at 60fps.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32722" y="1862286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793456" y="1994446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lang="en-US" sz="1969" dirty="0"/>
          </a:p>
        </p:txBody>
      </p:sp>
      <p:sp>
        <p:nvSpPr>
          <p:cNvPr id="13" name="Text 11"/>
          <p:cNvSpPr/>
          <p:nvPr/>
        </p:nvSpPr>
        <p:spPr>
          <a:xfrm>
            <a:off x="8304407" y="2019449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</a:t>
            </a:r>
            <a:endParaRPr lang="en-US" sz="788" dirty="0"/>
          </a:p>
        </p:txBody>
      </p:sp>
      <p:sp>
        <p:nvSpPr>
          <p:cNvPr id="14" name="Text 12"/>
          <p:cNvSpPr/>
          <p:nvPr/>
        </p:nvSpPr>
        <p:spPr>
          <a:xfrm>
            <a:off x="4793456" y="2265908"/>
            <a:ext cx="3671888" cy="1951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Predictive Maintenance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793456" y="2518060"/>
            <a:ext cx="3671888" cy="27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Lookout for Equipment + LSTM on vibration FFT data — bearing failure predicted 14-30 days ahead.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7922" y="3048149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78656" y="318030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⊟</a:t>
            </a:r>
            <a:endParaRPr lang="en-US" sz="1969" dirty="0"/>
          </a:p>
        </p:txBody>
      </p:sp>
      <p:sp>
        <p:nvSpPr>
          <p:cNvPr id="18" name="Text 16"/>
          <p:cNvSpPr/>
          <p:nvPr/>
        </p:nvSpPr>
        <p:spPr>
          <a:xfrm>
            <a:off x="4117918" y="3205311"/>
            <a:ext cx="2545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III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678656" y="3451771"/>
            <a:ext cx="3781616" cy="195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Supply Chain Intelligence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678656" y="3703923"/>
            <a:ext cx="3671888" cy="27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IBP + LightGBM forecasting — demand, inventory, and supplier risk across multi-echelon supply chain.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32722" y="3048149"/>
            <a:ext cx="3993356" cy="1064419"/>
          </a:xfrm>
          <a:prstGeom prst="roundRect">
            <a:avLst>
              <a:gd name="adj" fmla="val 10738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793456" y="3180308"/>
            <a:ext cx="20002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969" dirty="0">
                <a:solidFill>
                  <a:srgbClr val="004C97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969" dirty="0"/>
          </a:p>
        </p:txBody>
      </p:sp>
      <p:sp>
        <p:nvSpPr>
          <p:cNvPr id="23" name="Text 21"/>
          <p:cNvSpPr/>
          <p:nvPr/>
        </p:nvSpPr>
        <p:spPr>
          <a:xfrm>
            <a:off x="8304407" y="3205311"/>
            <a:ext cx="1813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spc="79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IV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4793456" y="3451771"/>
            <a:ext cx="3781616" cy="195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238" b="1" spc="-1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Connected Factory Operations</a:t>
            </a:r>
            <a:endParaRPr lang="en-US" sz="1238" dirty="0"/>
          </a:p>
        </p:txBody>
      </p:sp>
      <p:sp>
        <p:nvSpPr>
          <p:cNvPr id="25" name="Text 23"/>
          <p:cNvSpPr/>
          <p:nvPr/>
        </p:nvSpPr>
        <p:spPr>
          <a:xfrm>
            <a:off x="4793456" y="3703923"/>
            <a:ext cx="3671888" cy="276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6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 + Siemens Opcenter — real-time OEE, digital twin, and ISA-95 hierarchy visibility.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4350" y="4754166"/>
            <a:ext cx="3979627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08264" y="4750594"/>
            <a:ext cx="3529682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12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993120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APPLICATIONS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REFERENCE ARCHITECTURE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8629650" cy="461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463" b="1" spc="-22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reference architecture for digital engineering &amp; transformation — manufacturing.</a:t>
            </a:r>
            <a:endParaRPr lang="en-US" sz="1463" dirty="0"/>
          </a:p>
        </p:txBody>
      </p:sp>
      <p:sp>
        <p:nvSpPr>
          <p:cNvPr id="5" name="Text 3"/>
          <p:cNvSpPr/>
          <p:nvPr/>
        </p:nvSpPr>
        <p:spPr>
          <a:xfrm>
            <a:off x="514350" y="1463576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Five layers with real manufacturing technology platforms — not generic terms.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73503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21494" y="173861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1446609" y="173861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494" y="173861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EXPERIENCE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568053" y="1904702"/>
            <a:ext cx="1190327" cy="210741"/>
          </a:xfrm>
          <a:prstGeom prst="roundRect">
            <a:avLst>
              <a:gd name="adj" fmla="val 18079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64481" y="1901130"/>
            <a:ext cx="1240334" cy="304246"/>
          </a:xfrm>
          <a:prstGeom prst="rect">
            <a:avLst/>
          </a:prstGeom>
          <a:noFill/>
          <a:ln/>
        </p:spPr>
        <p:txBody>
          <a:bodyPr wrap="square" lIns="85725" tIns="42863" rIns="85725" bIns="42863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Perspective (HMI)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47677" y="1888329"/>
            <a:ext cx="97277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847677" y="1901130"/>
            <a:ext cx="97277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BI Embedded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906180" y="1888329"/>
            <a:ext cx="117001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06180" y="1901130"/>
            <a:ext cx="117001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React Native (Maint App)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61917" y="1888329"/>
            <a:ext cx="93683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161917" y="1901130"/>
            <a:ext cx="93683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Fiori (Supplier)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7922" y="236368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1494" y="236726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1446609" y="236726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494" y="236726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APPLICATION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564481" y="2516979"/>
            <a:ext cx="116465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64481" y="2529780"/>
            <a:ext cx="116465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Opcenter (MES)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814861" y="2516979"/>
            <a:ext cx="869640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14861" y="2529780"/>
            <a:ext cx="869640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SAP S/4HANA QM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770226" y="2516979"/>
            <a:ext cx="83872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770226" y="2529780"/>
            <a:ext cx="83872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(SCADA)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694672" y="2516979"/>
            <a:ext cx="97925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94672" y="2529780"/>
            <a:ext cx="97925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Ariba (Supplier)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7922" y="299233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1494" y="299591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1446609" y="299591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1494" y="299591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564481" y="3145629"/>
            <a:ext cx="957932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64481" y="3158430"/>
            <a:ext cx="957932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GitLab CI + ArgoCD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2608138" y="3145629"/>
            <a:ext cx="1049573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608138" y="3158430"/>
            <a:ext cx="1049573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Kubernetes (EKS/AKS)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43437" y="3145629"/>
            <a:ext cx="98226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743437" y="3158430"/>
            <a:ext cx="9822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Greengrass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11427" y="3145629"/>
            <a:ext cx="1087078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11427" y="3158430"/>
            <a:ext cx="1087078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Backstage (Dev Portal)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7922" y="362098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21494" y="362456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1446609" y="362456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494" y="362456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564481" y="3774279"/>
            <a:ext cx="90926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564481" y="3787080"/>
            <a:ext cx="90926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MII (ERP-MES)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2559472" y="3774279"/>
            <a:ext cx="998674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559472" y="3787080"/>
            <a:ext cx="99867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OPC UA / MTConnect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3643871" y="3774279"/>
            <a:ext cx="106732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3643871" y="3787080"/>
            <a:ext cx="106732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Teamcenter-SAP (PLM)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796917" y="3774279"/>
            <a:ext cx="93962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796917" y="3787080"/>
            <a:ext cx="93962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SAP Ariba (EDI/API)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7922" y="4249638"/>
            <a:ext cx="8108156" cy="550069"/>
          </a:xfrm>
          <a:prstGeom prst="roundRect">
            <a:avLst>
              <a:gd name="adj" fmla="val 13853"/>
            </a:avLst>
          </a:prstGeom>
          <a:solidFill>
            <a:srgbClr val="F8FAFC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21494" y="4253210"/>
            <a:ext cx="928688" cy="542925"/>
          </a:xfrm>
          <a:prstGeom prst="rect">
            <a:avLst/>
          </a:prstGeom>
          <a:solidFill>
            <a:srgbClr val="004C97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Shape 54"/>
          <p:cNvSpPr/>
          <p:nvPr/>
        </p:nvSpPr>
        <p:spPr>
          <a:xfrm>
            <a:off x="1446609" y="4253210"/>
            <a:ext cx="0" cy="542925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1494" y="4253210"/>
            <a:ext cx="928688" cy="542925"/>
          </a:xfrm>
          <a:prstGeom prst="rect">
            <a:avLst/>
          </a:prstGeom>
          <a:noFill/>
          <a:ln/>
        </p:spPr>
        <p:txBody>
          <a:bodyPr wrap="none" lIns="85725" tIns="71438" rIns="85725" bIns="71438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41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1564481" y="4402929"/>
            <a:ext cx="86997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1564481" y="4415730"/>
            <a:ext cx="86997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AWS IoT SiteWise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2520181" y="4402929"/>
            <a:ext cx="1009166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2520181" y="4415730"/>
            <a:ext cx="1009166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NVIDIA Jetson (Edge)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3615072" y="4402929"/>
            <a:ext cx="838721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3615072" y="4415730"/>
            <a:ext cx="83872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 (SCADA)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4539518" y="4402929"/>
            <a:ext cx="958155" cy="243488"/>
          </a:xfrm>
          <a:prstGeom prst="roundRect">
            <a:avLst>
              <a:gd name="adj" fmla="val 15648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539518" y="4415730"/>
            <a:ext cx="958155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ts val="928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InfluxDB (Historian)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14350" y="4754166"/>
            <a:ext cx="3959535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488173" y="4750594"/>
            <a:ext cx="350959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12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973028" y="4750594"/>
            <a:ext cx="695645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ARCHITECTURE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7858125" cy="25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575" b="1" spc="-24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four-stage pathway from discovery to managed operations.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514350" y="1257970"/>
            <a:ext cx="6715125" cy="169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Each stage carries concrete deliverables, a fixed duration, and a transparent commercial frame.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7922" y="15625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35794" y="1680456"/>
            <a:ext cx="170021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35794" y="1841190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Discovery</a:t>
            </a:r>
            <a:endParaRPr lang="en-US" sz="956" dirty="0"/>
          </a:p>
        </p:txBody>
      </p:sp>
      <p:sp>
        <p:nvSpPr>
          <p:cNvPr id="9" name="Text 7"/>
          <p:cNvSpPr/>
          <p:nvPr/>
        </p:nvSpPr>
        <p:spPr>
          <a:xfrm>
            <a:off x="635794" y="202971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WEEKS · FIXED FEE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35794" y="222259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5794" y="2301180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35794" y="2508349"/>
            <a:ext cx="1700213" cy="13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Engineering &amp; Transformation maturity assessment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landscape mapping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ISA-95 gap analysis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90-day roadmap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35794" y="3820009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794" y="3816437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$25K–$75K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75322" y="15625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93194" y="1680456"/>
            <a:ext cx="170021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02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3194" y="1841190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Solution Design</a:t>
            </a:r>
            <a:endParaRPr lang="en-US" sz="956" dirty="0"/>
          </a:p>
        </p:txBody>
      </p:sp>
      <p:sp>
        <p:nvSpPr>
          <p:cNvPr id="18" name="Text 16"/>
          <p:cNvSpPr/>
          <p:nvPr/>
        </p:nvSpPr>
        <p:spPr>
          <a:xfrm>
            <a:off x="2693194" y="202971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3-4 WEEKS · FIXED FEE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3194" y="222259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693194" y="2301180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3194" y="2508349"/>
            <a:ext cx="1700213" cy="13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architecture (OT/IT)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 design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Platform selection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Build plan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93194" y="3820009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3194" y="3816437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$50K–$150K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32722" y="15625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50594" y="1680456"/>
            <a:ext cx="170021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50594" y="1841190"/>
            <a:ext cx="1700213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Delivery</a:t>
            </a:r>
            <a:endParaRPr lang="en-US" sz="956" dirty="0"/>
          </a:p>
        </p:txBody>
      </p:sp>
      <p:sp>
        <p:nvSpPr>
          <p:cNvPr id="27" name="Text 25"/>
          <p:cNvSpPr/>
          <p:nvPr/>
        </p:nvSpPr>
        <p:spPr>
          <a:xfrm>
            <a:off x="4750594" y="202971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8-24 WEEKS · T&amp;M OR FIXED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0594" y="222259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50594" y="2301180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50594" y="2508349"/>
            <a:ext cx="1700213" cy="13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Production system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integration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validation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Knowledge transfer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0594" y="3820009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0594" y="3816437"/>
            <a:ext cx="1700213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$300K–$1M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90122" y="1562584"/>
            <a:ext cx="1935956" cy="2564606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7144">
            <a:solidFill>
              <a:srgbClr val="E2E8F0"/>
            </a:solidFill>
            <a:prstDash val="solid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807994" y="1680456"/>
            <a:ext cx="1700213" cy="13330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STAGE 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807994" y="1841190"/>
            <a:ext cx="1700212" cy="157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48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Operations</a:t>
            </a:r>
            <a:endParaRPr lang="en-US" sz="956" dirty="0"/>
          </a:p>
        </p:txBody>
      </p:sp>
      <p:sp>
        <p:nvSpPr>
          <p:cNvPr id="36" name="Text 34"/>
          <p:cNvSpPr/>
          <p:nvPr/>
        </p:nvSpPr>
        <p:spPr>
          <a:xfrm>
            <a:off x="6807994" y="2029718"/>
            <a:ext cx="17002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ONGOING · RETAINER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807994" y="2222599"/>
            <a:ext cx="1700213" cy="7144"/>
          </a:xfrm>
          <a:prstGeom prst="rect">
            <a:avLst/>
          </a:prstGeom>
          <a:solidFill>
            <a:srgbClr val="CBD5E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07994" y="2301180"/>
            <a:ext cx="170021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b="1" spc="79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DELIVERABLES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07994" y="2508349"/>
            <a:ext cx="1700213" cy="13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services (OT-aware)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optimization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Quarterly reviews</a:t>
            </a:r>
            <a:endParaRPr lang="en-US" sz="800" dirty="0"/>
          </a:p>
          <a:p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60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●  </a:t>
            </a:r>
            <a:pPr algn="l" indent="0" marL="0">
              <a:lnSpc>
                <a:spcPts val="897"/>
              </a:lnSpc>
              <a:spcAft>
                <a:spcPts val="338"/>
              </a:spcAft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SLA-backed operations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807994" y="3820009"/>
            <a:ext cx="1700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07994" y="3816437"/>
            <a:ext cx="1700212" cy="192881"/>
          </a:xfrm>
          <a:prstGeom prst="rect">
            <a:avLst/>
          </a:prstGeom>
          <a:noFill/>
          <a:ln/>
        </p:spPr>
        <p:txBody>
          <a:bodyPr wrap="none" lIns="0" tIns="5715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$50K–$500K / mo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4350" y="4754166"/>
            <a:ext cx="3786076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314713" y="4750594"/>
            <a:ext cx="3336243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12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665244" y="4750594"/>
            <a:ext cx="96440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ENGAGEMENT PATHWAY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1154710" cy="118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800100"/>
            <a:ext cx="8629650" cy="147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24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 · MANUFACTURING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975122"/>
            <a:ext cx="7858125" cy="2777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688" b="1" spc="-25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Four reasons manufacturing enterprises work with us.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514350" y="1289447"/>
            <a:ext cx="8115300" cy="16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Not generic IT services. OT-aware, ISA-95 aligned, IEC 62443 compliant.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1615827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61939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96991" y="161582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4350" y="268381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8638" y="1615827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0088" y="175155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00088" y="195872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OT-native engineering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00088" y="215875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Engineers who code PLCs (IEC 61131-3) AND build cloud-native platforms — not IT-only teams.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643438" y="1615827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643438" y="1619399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26078" y="1615827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43438" y="2683818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57725" y="1615827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9175" y="1751558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29175" y="1958727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Siemens + SAP expertise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29175" y="2158752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Deep expertise in Siemens Opcenter, Teamcenter, and SAP S/4HANA manufacturing modules.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2830264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514350" y="283383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96991" y="2830264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4350" y="389825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8638" y="2830264"/>
            <a:ext cx="0" cy="1071563"/>
          </a:xfrm>
          <a:prstGeom prst="line">
            <a:avLst/>
          </a:prstGeom>
          <a:noFill/>
          <a:ln w="28575">
            <a:solidFill>
              <a:srgbClr val="004C9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0088" y="2965996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00088" y="3173164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Ignition-first SCADA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00088" y="3373189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 web-based SCADA via Ignition (Inductive Automation) — replacing Wonderware, iFix, FactoryTalk.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43438" y="2830264"/>
            <a:ext cx="3986213" cy="1071563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3438" y="2833836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26078" y="2830264"/>
            <a:ext cx="0" cy="1071563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43438" y="3898255"/>
            <a:ext cx="3986213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57725" y="2830264"/>
            <a:ext cx="0" cy="1071563"/>
          </a:xfrm>
          <a:prstGeom prst="line">
            <a:avLst/>
          </a:prstGeom>
          <a:noFill/>
          <a:ln w="28575">
            <a:solidFill>
              <a:srgbClr val="FF6C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29175" y="2965996"/>
            <a:ext cx="363616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spc="79" kern="0" dirty="0">
                <a:solidFill>
                  <a:srgbClr val="004C97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829175" y="3173164"/>
            <a:ext cx="3636169" cy="154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IEC 62443 security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829175" y="3373189"/>
            <a:ext cx="36361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OT/IT security engineering per IEC 62443 — Purdue Model segmentation, zone/conduit design.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14350" y="4647009"/>
            <a:ext cx="81153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4350" y="4754166"/>
            <a:ext cx="3951163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479801" y="4750594"/>
            <a:ext cx="3501330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12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967409" y="4750594"/>
            <a:ext cx="690250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KEFI TECH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2863" cy="5143500"/>
          </a:xfrm>
          <a:prstGeom prst="rect">
            <a:avLst/>
          </a:prstGeom>
        </p:spPr>
      </p:pic>
      <p:pic>
        <p:nvPicPr>
          <p:cNvPr id="3" name="Image 1" descr="/tmp/h2p-fit-1790839318972-qthjj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685800"/>
            <a:ext cx="1857375" cy="30215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42950" y="1714500"/>
            <a:ext cx="462044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b="1" spc="149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GET IN TOUCH</a:t>
            </a:r>
            <a:endParaRPr lang="en-US" sz="800" dirty="0"/>
          </a:p>
        </p:txBody>
      </p:sp>
      <p:sp>
        <p:nvSpPr>
          <p:cNvPr id="5" name="Text 1"/>
          <p:cNvSpPr/>
          <p:nvPr/>
        </p:nvSpPr>
        <p:spPr>
          <a:xfrm>
            <a:off x="742950" y="1985963"/>
            <a:ext cx="3573494" cy="3925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0F172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Let us engineer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742950" y="2405993"/>
            <a:ext cx="3988699" cy="45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7"/>
              </a:lnSpc>
              <a:buNone/>
            </a:pPr>
            <a:r>
              <a:rPr lang="en-US" sz="3150" b="1" spc="-63" kern="0" dirty="0">
                <a:solidFill>
                  <a:srgbClr val="FF6C0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is next.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742950" y="2997473"/>
            <a:ext cx="342900" cy="21431"/>
          </a:xfrm>
          <a:prstGeom prst="roundRect">
            <a:avLst>
              <a:gd name="adj" fmla="val 88890"/>
            </a:avLst>
          </a:prstGeom>
          <a:solidFill>
            <a:srgbClr val="FF6C0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/>
        </p:nvSpPr>
        <p:spPr>
          <a:xfrm>
            <a:off x="742950" y="3190354"/>
            <a:ext cx="3675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42950" y="3404667"/>
            <a:ext cx="3675593" cy="185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47556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Bengaluru, India · Hyderabad, India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8397478" y="1714500"/>
            <a:ext cx="0" cy="1714500"/>
          </a:xfrm>
          <a:prstGeom prst="line">
            <a:avLst/>
          </a:prstGeom>
          <a:noFill/>
          <a:ln w="7144">
            <a:solidFill>
              <a:srgbClr val="CBD5E1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427602" y="1714500"/>
            <a:ext cx="7662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Discover.</a:t>
            </a:r>
            <a:endParaRPr lang="en-US" sz="1013" dirty="0"/>
          </a:p>
        </p:txBody>
      </p:sp>
      <p:sp>
        <p:nvSpPr>
          <p:cNvPr id="12" name="Text 8"/>
          <p:cNvSpPr/>
          <p:nvPr/>
        </p:nvSpPr>
        <p:spPr>
          <a:xfrm>
            <a:off x="7427602" y="2475309"/>
            <a:ext cx="766279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004C9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Engineer.</a:t>
            </a:r>
            <a:endParaRPr lang="en-US" sz="1013" dirty="0"/>
          </a:p>
        </p:txBody>
      </p:sp>
      <p:sp>
        <p:nvSpPr>
          <p:cNvPr id="13" name="Text 9"/>
          <p:cNvSpPr/>
          <p:nvPr/>
        </p:nvSpPr>
        <p:spPr>
          <a:xfrm>
            <a:off x="7676954" y="3236119"/>
            <a:ext cx="52296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spc="61" kern="0" dirty="0">
                <a:solidFill>
                  <a:srgbClr val="FF6C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Scale.</a:t>
            </a:r>
            <a:endParaRPr lang="en-US" sz="1013" dirty="0"/>
          </a:p>
        </p:txBody>
      </p:sp>
      <p:sp>
        <p:nvSpPr>
          <p:cNvPr id="14" name="Shape 10"/>
          <p:cNvSpPr/>
          <p:nvPr/>
        </p:nvSpPr>
        <p:spPr>
          <a:xfrm>
            <a:off x="742950" y="4647009"/>
            <a:ext cx="7658100" cy="0"/>
          </a:xfrm>
          <a:prstGeom prst="line">
            <a:avLst/>
          </a:prstGeom>
          <a:noFill/>
          <a:ln w="7144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42950" y="4754166"/>
            <a:ext cx="3132200" cy="1035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800" b="1" spc="102" kern="0" dirty="0">
                <a:solidFill>
                  <a:srgbClr val="004C9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KEFI TECH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3889437" y="4750594"/>
            <a:ext cx="268225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45" kern="0" dirty="0">
                <a:solidFill>
                  <a:srgbClr val="94A3B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12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6585979" y="4750594"/>
            <a:ext cx="1923975" cy="107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45" kern="0" dirty="0">
                <a:solidFill>
                  <a:srgbClr val="94A3B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INFO@KEFITECH.COM · WWW.KEFITECH.COM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2026-10-01T07:21:59Z</dcterms:created>
  <dcterms:modified xsi:type="dcterms:W3CDTF">2026-10-01T07:21:59Z</dcterms:modified>
</cp:coreProperties>
</file>