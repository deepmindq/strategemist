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278239-74s7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34398" y="571500"/>
            <a:ext cx="228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5818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4869398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436354"/>
            <a:ext cx="4869398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08319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61792"/>
            <a:ext cx="5008523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AI opportunity to production-floor impact.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5834301" y="1757363"/>
            <a:ext cx="23310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56206" y="1875234"/>
            <a:ext cx="170910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834301" y="2597646"/>
            <a:ext cx="23310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56206" y="2715518"/>
            <a:ext cx="170910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530155" y="3437930"/>
            <a:ext cx="263515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03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386579" y="3555802"/>
            <a:ext cx="177872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5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93906" y="171450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4180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46647"/>
            <a:ext cx="4361929" cy="2729805"/>
          </a:xfrm>
          <a:prstGeom prst="roundRect">
            <a:avLst>
              <a:gd name="adj" fmla="val 41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907381"/>
            <a:ext cx="4121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6516" y="2118122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5813" y="21931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71563" y="2193131"/>
            <a:ext cx="354039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71563" y="2323505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6516" y="2682701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5813" y="27577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71563" y="2757711"/>
            <a:ext cx="365012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1563" y="2888084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6516" y="3247281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85813" y="332229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71563" y="3322290"/>
            <a:ext cx="365012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563" y="3452664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96516" y="3811860"/>
            <a:ext cx="4004742" cy="500286"/>
          </a:xfrm>
          <a:prstGeom prst="roundRect">
            <a:avLst>
              <a:gd name="adj" fmla="val 152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5813" y="38868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71563" y="3886870"/>
            <a:ext cx="354039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563" y="4017243"/>
            <a:ext cx="354039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8445" y="1746647"/>
            <a:ext cx="3567522" cy="2729805"/>
          </a:xfrm>
          <a:prstGeom prst="roundRect">
            <a:avLst>
              <a:gd name="adj" fmla="val 418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3467" y="1907381"/>
            <a:ext cx="33272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33467" y="2114550"/>
            <a:ext cx="3217478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manufacturing requires OT-aware, ISA-95 aligned, IEC 62443 compliant capability — not generic technology. The right approach connects ai transformation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233467" y="4083546"/>
            <a:ext cx="321747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33467" y="4187130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33467" y="4187130"/>
            <a:ext cx="3217478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for the connected factory.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13185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270360" y="1825228"/>
            <a:ext cx="9870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396728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2596753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18259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75434" y="1825228"/>
            <a:ext cx="8608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75559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675584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09654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166829" y="1825228"/>
            <a:ext cx="12482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54391" y="180379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6754416" y="1603772"/>
            <a:ext cx="1871663" cy="592931"/>
          </a:xfrm>
          <a:prstGeom prst="roundRect">
            <a:avLst>
              <a:gd name="adj" fmla="val 160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285732" y="1814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542907" y="1825228"/>
            <a:ext cx="9510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4350" y="2371725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14350" y="237529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8654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4350" y="332541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5066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081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2902844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650081" y="2693194"/>
            <a:ext cx="239070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0081" y="2856049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copilots over OEM manuals, GenAI shift reports, LLM-powered production schedulers.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47951" y="2371725"/>
            <a:ext cx="2647987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247951" y="2375297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2366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47951" y="3325416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58666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682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7" name="Text 34"/>
          <p:cNvSpPr/>
          <p:nvPr/>
        </p:nvSpPr>
        <p:spPr>
          <a:xfrm>
            <a:off x="5636556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3383682" y="2693194"/>
            <a:ext cx="23908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83682" y="2856049"/>
            <a:ext cx="239081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equipment failure response, quality triage, inventory replenishment.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81663" y="2371725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981663" y="237529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25967" y="2371725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81663" y="332541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92378" y="2371725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17394" y="24788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46" name="Text 43"/>
          <p:cNvSpPr/>
          <p:nvPr/>
        </p:nvSpPr>
        <p:spPr>
          <a:xfrm>
            <a:off x="8370157" y="250031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6117394" y="2693194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117394" y="2856049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50K+ equipment manuals, SOPs, and compliance documents with cited answers.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14350" y="3414713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14350" y="341828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58654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14350" y="436840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25066" y="3414713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0081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55" name="Text 52"/>
          <p:cNvSpPr/>
          <p:nvPr/>
        </p:nvSpPr>
        <p:spPr>
          <a:xfrm>
            <a:off x="2902844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650081" y="373618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50081" y="3899036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failure prediction, YOLOv8 defect detection, XGBoost energy optimisation.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47951" y="3414713"/>
            <a:ext cx="2647987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3247951" y="341828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892366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47951" y="4368403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58666" y="3414713"/>
            <a:ext cx="0" cy="957263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83682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4" name="Text 61"/>
          <p:cNvSpPr/>
          <p:nvPr/>
        </p:nvSpPr>
        <p:spPr>
          <a:xfrm>
            <a:off x="5636556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65" name="Text 62"/>
          <p:cNvSpPr/>
          <p:nvPr/>
        </p:nvSpPr>
        <p:spPr>
          <a:xfrm>
            <a:off x="3383682" y="3736181"/>
            <a:ext cx="23908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3383682" y="3899036"/>
            <a:ext cx="2390812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 on NVIDIA Jetson, MLOps with MLflow, model drift detection with Evidently AI.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981663" y="3414713"/>
            <a:ext cx="2647876" cy="957263"/>
          </a:xfrm>
          <a:prstGeom prst="roundRect">
            <a:avLst>
              <a:gd name="adj" fmla="val 9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5"/>
          <p:cNvSpPr/>
          <p:nvPr/>
        </p:nvSpPr>
        <p:spPr>
          <a:xfrm>
            <a:off x="5981663" y="341828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625967" y="3414713"/>
            <a:ext cx="0" cy="9572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81663" y="436840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92378" y="3414713"/>
            <a:ext cx="0" cy="957263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117394" y="35218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73" name="Text 70"/>
          <p:cNvSpPr/>
          <p:nvPr/>
        </p:nvSpPr>
        <p:spPr>
          <a:xfrm>
            <a:off x="8370157" y="3543300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74" name="Text 71"/>
          <p:cNvSpPr/>
          <p:nvPr/>
        </p:nvSpPr>
        <p:spPr>
          <a:xfrm>
            <a:off x="6117394" y="373618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6117394" y="3899036"/>
            <a:ext cx="2390701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62443 AI governance, IEC 61508 SIL validation, ISO 13849 worker safety AI.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copilots over OEM manuals, GenAI shift reports, LLM-powered production schedulers.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311434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382356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48594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485940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311434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60311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OEM Manual RAG Copilot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Siemens, ABB, Rockwell OEM manuals using Azure OpenAI + Cognitive Search — engineers query equipment specs in natural language.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620975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674553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6745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674553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 Quality Report Generator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791644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(GPT-4 / Claude 3.5) ingests CMM inspection data and SAP QM results — auto-drafts shift quality reports per ISA-95 hierarchy.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109540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163119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163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163119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 Knowledge Assistant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280209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 grounded in GE Predix / AWS IoT SiteWise equipment health data — explains predicted failure windows and recommends actions.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69811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75169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7516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751697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Schedule Optimiser Assistant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86878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LLM-powered copilot reading SAP PP/PM schedules — suggests reallocation when bottleneck detected on critical path.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4186684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24026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24026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24026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Incident Summariser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357353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ingesting EHS reports (ISO 45001 compliant) — produces structured incident summaries for OSHA / regulatory filing.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equipment failure response, quality triage, inventory replenishment.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3014328"/>
          </a:xfrm>
          <a:prstGeom prst="roundRect">
            <a:avLst>
              <a:gd name="adj" fmla="val 37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282343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385928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385928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3014328"/>
          </a:xfrm>
          <a:prstGeom prst="roundRect">
            <a:avLst>
              <a:gd name="adj" fmla="val 37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524284"/>
          </a:xfrm>
          <a:prstGeom prst="roundRect">
            <a:avLst>
              <a:gd name="adj" fmla="val 1453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Failure Response Agent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(LangGraph) triggered by AWS Lookout for Equipment anomaly — creates SAP PM work order, notifies maintenance team, reserves parts.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620975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674553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6745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674553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Defect Triage Agent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791644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agent (NVIDIA Triton edge inference) detects defects → classifies severity → routes to rework/ scrap per ISA-88 batch rules.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109540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163119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163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163119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Replenishment Agent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280209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monitoring SAP MM inventory levels → forecasts demand via Prophet/ARIMA → triggers PO through SAP Ariba integration.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598106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651684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6516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651684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Optimisation Agent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768775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reading Schneider PowerLogic / Siemens MindSphere energy data → adjusts HVAC and machine power modes per ISO 50001 EnMS.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4086671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140250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1402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140250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Risk Monitoring Agent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257340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tracking supplier financial health (Bloomberg API), delivery performance (SAP SRM), and geopolitical signals.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50K+ equipment manuals, SOPs, and compliance documents with cited answers.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182331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285915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85915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Manual Knowledge Base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50,000+ OEM manuals (Siemens, ABB, Rockwell, Mitsubishi) using Pinecone vector DB + Azure Cognitive Search with cited answers.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520962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574541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574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574541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SOP &amp; Work Instruction Search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691631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ISA-88 batch procedures, OEE work instructions, and TPM checklists — floor workers query via tablet.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00952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063106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0631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063106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&amp; Compliance Knowledge Assistant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18019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OSHA 29 CFR 1910, ISO 45001, IEC 62443-4-1, EPA 40 CFR — answers compliance questions with regulatory citations.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498093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55167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5516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55167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Catalog &amp; Cross-Reference RAG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668762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search across parts catalogs (SAP MM, Oracle EAM) — find substitutes, cross-references, availability across plants.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3986659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04023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0402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040237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Change Order Assistant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157328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surfacing past ECNs from Siemens Teamcenter / PTC Windchill — provides rationale context for current change decisions.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5226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failure prediction, YOLOv8 defect detection, XGBoost energy optimisation.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4361929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21656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28825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92944" y="4182331"/>
            <a:ext cx="401188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944" y="4285915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85915"/>
            <a:ext cx="4011885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58445" y="1660922"/>
            <a:ext cx="3567522" cy="2914315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3467" y="1821656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038" y="2032397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12048" y="2085975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40648" y="20859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769248" y="2085975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Vibration-Based Failure Prediction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69248" y="2203066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models on accelerometer data from Azure IoT Edge → predicts bearing failure 14-30 days ahead — deployed on NVIDIA Jetson edge.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37038" y="2520962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12048" y="2574541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40648" y="2574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769248" y="2574541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 (SOP/ S&amp;OP)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69248" y="2691631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Prophet / LightGBM time-series forecasting per SKU/region → feeds SAP IBP (Integrated Business Planning) for production scheduling.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37038" y="3009528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2048" y="3063106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0648" y="30631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69248" y="3063106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Vision-Based Defect Detection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69248" y="3180197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/ ResNet models on Cognex / Keyence camera feeds → classifies surface defects at 60fps on factory line.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37038" y="3498093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12048" y="3551672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0648" y="35516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769248" y="3551672"/>
            <a:ext cx="27128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Consumption Optimisation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9248" y="3668762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 models optimising energy use per machine cycle → integrated with Schneider EcoStruxure Resource Advisor.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37038" y="3986659"/>
            <a:ext cx="3210334" cy="424272"/>
          </a:xfrm>
          <a:prstGeom prst="roundRect">
            <a:avLst>
              <a:gd name="adj" fmla="val 17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12048" y="4040237"/>
            <a:ext cx="251460" cy="15149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40648" y="40402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769248" y="4040237"/>
            <a:ext cx="260311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Anomaly Detection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69248" y="4157328"/>
            <a:ext cx="260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Unsupervised models (Isolation Forest) on MTConnect/ OPC UA stream → flags OEE drops below ISA-95 benchmark thresholds.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the factory floor.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14500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180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11278" y="1714500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301109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14500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8645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3" name="Text 10"/>
          <p:cNvSpPr/>
          <p:nvPr/>
        </p:nvSpPr>
        <p:spPr>
          <a:xfrm>
            <a:off x="4280222" y="188952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0088" y="2135981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700088" y="2395947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29150" y="1714500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29150" y="17180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6078" y="1714500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9150" y="301109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43438" y="1714500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4888" y="18645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22" name="Text 19"/>
          <p:cNvSpPr/>
          <p:nvPr/>
        </p:nvSpPr>
        <p:spPr>
          <a:xfrm>
            <a:off x="8304407" y="18895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4814888" y="2135981"/>
            <a:ext cx="365045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24" name="Text 21"/>
          <p:cNvSpPr/>
          <p:nvPr/>
        </p:nvSpPr>
        <p:spPr>
          <a:xfrm>
            <a:off x="4814888" y="2395947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" y="3128963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14350" y="313253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11278" y="3128963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4350" y="442555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8638" y="3128963"/>
            <a:ext cx="0" cy="13001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0088" y="3278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31" name="Text 28"/>
          <p:cNvSpPr/>
          <p:nvPr/>
        </p:nvSpPr>
        <p:spPr>
          <a:xfrm>
            <a:off x="4117918" y="3303984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700088" y="355044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33" name="Text 30"/>
          <p:cNvSpPr/>
          <p:nvPr/>
        </p:nvSpPr>
        <p:spPr>
          <a:xfrm>
            <a:off x="700088" y="3810409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29150" y="3128963"/>
            <a:ext cx="4000500" cy="1300163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29150" y="3132534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26078" y="3128963"/>
            <a:ext cx="0" cy="13001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29150" y="4425553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43438" y="3128963"/>
            <a:ext cx="0" cy="13001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14888" y="3278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40" name="Text 37"/>
          <p:cNvSpPr/>
          <p:nvPr/>
        </p:nvSpPr>
        <p:spPr>
          <a:xfrm>
            <a:off x="8304407" y="33039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4814888" y="3550444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42" name="Text 39"/>
          <p:cNvSpPr/>
          <p:nvPr/>
        </p:nvSpPr>
        <p:spPr>
          <a:xfrm>
            <a:off x="4814888" y="3810409"/>
            <a:ext cx="36504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 — manufacturing.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2938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6644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6644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6644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8053" y="1830586"/>
            <a:ext cx="1576313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827014"/>
            <a:ext cx="1626319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OEM Manual Copilot (Azure OpenAI)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37235" y="1830586"/>
            <a:ext cx="130529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33663" y="1827014"/>
            <a:ext cx="1355303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Quality Report GenAI (GPT-4)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35401" y="1830586"/>
            <a:ext cx="1334988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31829" y="1827014"/>
            <a:ext cx="1384995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Schedule Copilot (Claude 3.5)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63258" y="1830586"/>
            <a:ext cx="1335881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59686" y="1827014"/>
            <a:ext cx="2448520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Safety Summariser (LLaMA 3)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2895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2931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2931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2931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442862"/>
            <a:ext cx="124066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455664"/>
            <a:ext cx="124066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LangGraph Agent (SAP PM)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94447" y="2459236"/>
            <a:ext cx="141479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890875" y="2455664"/>
            <a:ext cx="1464804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Pipeline (Cognitive Search)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402113" y="2459236"/>
            <a:ext cx="1260202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398541" y="2455664"/>
            <a:ext cx="1310208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 Agent (NVIDIA Triton)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51612" y="2442862"/>
            <a:ext cx="100715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51612" y="2455664"/>
            <a:ext cx="100715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 Harness (Ragas)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9182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9217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9217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071512"/>
            <a:ext cx="8219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3084314"/>
            <a:ext cx="8219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(Vibration)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472184" y="3071512"/>
            <a:ext cx="86249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472184" y="3084314"/>
            <a:ext cx="86249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YOLOv8 (Defects)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420405" y="3071512"/>
            <a:ext cx="96976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420405" y="3084314"/>
            <a:ext cx="96976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LightGBM (Demand)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5894" y="3071512"/>
            <a:ext cx="101776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475894" y="3084314"/>
            <a:ext cx="10177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Isolation Forest (OEE)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4687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5044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5044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5044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700162"/>
            <a:ext cx="85568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64481" y="3712964"/>
            <a:ext cx="8556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505894" y="3700162"/>
            <a:ext cx="114367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505894" y="3712964"/>
            <a:ext cx="114367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Pinecone (OEM Manuals)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735288" y="3700162"/>
            <a:ext cx="84575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735288" y="3712964"/>
            <a:ext cx="84575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QM (Quality)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66766" y="3700162"/>
            <a:ext cx="100425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66766" y="3712964"/>
            <a:ext cx="100425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MTConnect (Sensors)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175522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17909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17909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17909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328812"/>
            <a:ext cx="82979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341614"/>
            <a:ext cx="8297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SageMaker Edge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79997" y="4328812"/>
            <a:ext cx="102780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79997" y="4341614"/>
            <a:ext cx="102780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+ Evidently AI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593529" y="4328812"/>
            <a:ext cx="85646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593529" y="4341614"/>
            <a:ext cx="85646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AI Gov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535723" y="4328812"/>
            <a:ext cx="107167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535723" y="4341614"/>
            <a:ext cx="107167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2938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506" y="213017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950244"/>
            <a:ext cx="1728787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789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363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660922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778794"/>
            <a:ext cx="17287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950244"/>
            <a:ext cx="172878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793706" y="2130177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312343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390924"/>
            <a:ext cx="17287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558802"/>
            <a:ext cx="1728788" cy="15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3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4050506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4046934"/>
            <a:ext cx="1728788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2865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32247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4657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7165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9825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8663" y="1935956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663" y="2178844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728663" y="2411016"/>
            <a:ext cx="357901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bridging operational technology (OPC UA, MTConnect) with IT (SAP, Oracle) — not cloud-only AI.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771650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771650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9825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771650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1935956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57750" y="2178844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Edge-first deployment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4857750" y="2411016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+ Azure IoT Edge inference at &lt;50ms latency on the factory floor.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514350" y="312896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31325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43398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3128963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8663" y="3293269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8663" y="3536156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aligned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728663" y="3768328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capabilities mapped to ISA-95 hierarchy — enterprise, site, area, line, cell.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643438" y="3128963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31325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3128963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43398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3128963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7750" y="3293269"/>
            <a:ext cx="357901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57750" y="3536156"/>
            <a:ext cx="35790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Safety-grade AI</a:t>
            </a:r>
            <a:endParaRPr lang="en-US" sz="1013" dirty="0"/>
          </a:p>
        </p:txBody>
      </p:sp>
      <p:sp>
        <p:nvSpPr>
          <p:cNvPr id="38" name="Text 35"/>
          <p:cNvSpPr/>
          <p:nvPr/>
        </p:nvSpPr>
        <p:spPr>
          <a:xfrm>
            <a:off x="4857750" y="3768328"/>
            <a:ext cx="357901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61508 SIL and ISO 13849 compliant AI for worker-safety-critical applications.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285049-nmfh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4753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60959"/>
            <a:ext cx="354196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80990"/>
            <a:ext cx="395350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7247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51063"/>
            <a:ext cx="3643165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333899"/>
            <a:ext cx="3643165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211062" y="1757363"/>
            <a:ext cx="95424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211062" y="2643188"/>
            <a:ext cx="95424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529093" y="3529013"/>
            <a:ext cx="6362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spc="7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393906" y="171450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2026-10-01T07:21:25Z</dcterms:created>
  <dcterms:modified xsi:type="dcterms:W3CDTF">2026-10-01T07:21:25Z</dcterms:modified>
</cp:coreProperties>
</file>