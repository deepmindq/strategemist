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070914-37flm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66841" y="571500"/>
            <a:ext cx="37625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ANALYTICS AND DATA ENGINEERING SERVICES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85938"/>
            <a:ext cx="65963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2046684"/>
            <a:ext cx="4972050" cy="9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997473"/>
            <a:ext cx="5220653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65860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837198"/>
            <a:ext cx="41433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Data Analytics &amp; Data Engineering Services for Education.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785938"/>
            <a:ext cx="7144" cy="1928813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600825" y="1785938"/>
            <a:ext cx="2266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813910" y="1785938"/>
            <a:ext cx="4530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0825" y="2153841"/>
            <a:ext cx="2266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13910" y="2153841"/>
            <a:ext cx="4530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00825" y="2521744"/>
            <a:ext cx="2266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3910" y="2521744"/>
            <a:ext cx="4530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132909" y="475059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684337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72015" y="400050"/>
            <a:ext cx="1629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CONTEXT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1437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350169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60922"/>
            <a:ext cx="437766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821656"/>
            <a:ext cx="41659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2228" y="2043113"/>
            <a:ext cx="4049055" cy="408533"/>
          </a:xfrm>
          <a:prstGeom prst="roundRect">
            <a:avLst>
              <a:gd name="adj" fmla="val 1865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813" y="21324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71563" y="2125266"/>
            <a:ext cx="36658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563" y="2255639"/>
            <a:ext cx="355613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2228" y="2515939"/>
            <a:ext cx="4049055" cy="408533"/>
          </a:xfrm>
          <a:prstGeom prst="roundRect">
            <a:avLst>
              <a:gd name="adj" fmla="val 1865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5813" y="26052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71563" y="2598093"/>
            <a:ext cx="36658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563" y="2728466"/>
            <a:ext cx="355613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82228" y="2988766"/>
            <a:ext cx="4049055" cy="408533"/>
          </a:xfrm>
          <a:prstGeom prst="roundRect">
            <a:avLst>
              <a:gd name="adj" fmla="val 1865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5813" y="30780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71563" y="3070920"/>
            <a:ext cx="36658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563" y="3201293"/>
            <a:ext cx="355613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682228" y="3461593"/>
            <a:ext cx="4049055" cy="408533"/>
          </a:xfrm>
          <a:prstGeom prst="roundRect">
            <a:avLst>
              <a:gd name="adj" fmla="val 1865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5813" y="355089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71563" y="3543746"/>
            <a:ext cx="36658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563" y="3674120"/>
            <a:ext cx="355613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5045608" y="1660922"/>
            <a:ext cx="358035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06343" y="1821656"/>
            <a:ext cx="3258889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06343" y="2157413"/>
            <a:ext cx="3258889" cy="732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education requires industry-specific capability, not generic technology. The right approach connects data analytics &amp; data engineering to the regulatory, operational and customer realities that define education.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6343" y="2953048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6343" y="2953048"/>
            <a:ext cx="1477194" cy="197510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400050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CAPABILITIES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858125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067991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data analytics &amp; data engineering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39453"/>
            <a:ext cx="1871663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528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907256" y="1539478"/>
            <a:ext cx="1350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93156" y="15144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2596753" y="1339453"/>
            <a:ext cx="1871663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8913" y="1528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2986088" y="1539478"/>
            <a:ext cx="1350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71988" y="15144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675584" y="1339453"/>
            <a:ext cx="1871663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7744" y="1528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064919" y="1539478"/>
            <a:ext cx="1350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50819" y="15144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6754416" y="1339453"/>
            <a:ext cx="1871663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6575" y="1528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143750" y="1539478"/>
            <a:ext cx="1350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7922" y="1996678"/>
            <a:ext cx="2640732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21002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2904574" y="21216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35794" y="2314575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794" y="2477430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51522" y="1996678"/>
            <a:ext cx="2640843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9394" y="21002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5638286" y="21216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369394" y="2314575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9394" y="2477430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5235" y="1996678"/>
            <a:ext cx="2640732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03107" y="21002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8371887" y="212169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103107" y="2314575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3107" y="2477430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922" y="3003947"/>
            <a:ext cx="2640732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794" y="31075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2904574" y="312896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35794" y="332184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794" y="3484699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51522" y="3003947"/>
            <a:ext cx="2640843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69394" y="31075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44" name="Text 42"/>
          <p:cNvSpPr/>
          <p:nvPr/>
        </p:nvSpPr>
        <p:spPr>
          <a:xfrm>
            <a:off x="5638286" y="312896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3369394" y="332184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69394" y="3484699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segmentation, optimization, statistical modelling.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85235" y="3003947"/>
            <a:ext cx="2640732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03107" y="31075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8371887" y="312896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5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103107" y="3321844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3107" y="3484699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analytics, GenAI over enterprise data, NL querying, decision support.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400050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7580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86557"/>
            <a:ext cx="437766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47292"/>
            <a:ext cx="4056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779463"/>
            <a:ext cx="4056199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education environments. We bring together the data analytics &amp; data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366127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66898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45608" y="1386557"/>
            <a:ext cx="358035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06343" y="1547292"/>
            <a:ext cx="32588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09915" y="1768748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99211" y="1884387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42099" y="18790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70699" y="1836613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70699" y="1953704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09915" y="2182304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99211" y="229794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42099" y="2292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70699" y="2250170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70699" y="2367260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09915" y="2595860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71150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2099" y="27061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70699" y="2663726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70699" y="2780816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9915" y="3009416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99211" y="312505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2099" y="3119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70699" y="3077282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70699" y="3194372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9915" y="3422972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99211" y="3538612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42099" y="35332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70699" y="3490838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70699" y="3607929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34669" y="475059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05154" y="475059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400050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7580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86557"/>
            <a:ext cx="437766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47292"/>
            <a:ext cx="4056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779463"/>
            <a:ext cx="4056199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education environments. We bring together the data analytics &amp; data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366127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66898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45608" y="1386557"/>
            <a:ext cx="358035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06343" y="1547292"/>
            <a:ext cx="32588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09915" y="1768748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99211" y="1884387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42099" y="18790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70699" y="1836613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70699" y="1953704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09915" y="2182304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99211" y="229794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42099" y="2292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70699" y="2250170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70699" y="2367260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09915" y="2595860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71150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2099" y="27061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70699" y="2663726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70699" y="2780816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9915" y="3009416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99211" y="312505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2099" y="3119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70699" y="3077282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70699" y="3194372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9915" y="3422972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99211" y="3538612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42099" y="35332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70699" y="3490838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70699" y="3607929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66580" y="475059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68976" y="475059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400050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7580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86557"/>
            <a:ext cx="437766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47292"/>
            <a:ext cx="4056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779463"/>
            <a:ext cx="4056199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education environments. We bring together the data analytics &amp; data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366127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66898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45608" y="1386557"/>
            <a:ext cx="358035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06343" y="1547292"/>
            <a:ext cx="32588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09915" y="1768748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99211" y="1884387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42099" y="18790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70699" y="1836613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70699" y="1953704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09915" y="2182304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99211" y="229794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42099" y="2292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70699" y="2250170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70699" y="2367260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09915" y="2595860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71150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2099" y="27061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70699" y="2663726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70699" y="2780816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9915" y="3009416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99211" y="312505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2099" y="3119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70699" y="3077282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70699" y="3194372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9915" y="3422972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99211" y="3538612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42099" y="35332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70699" y="3490838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70699" y="3607929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40125" y="475059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16068" y="475059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400050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7580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86557"/>
            <a:ext cx="437766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47292"/>
            <a:ext cx="4056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779463"/>
            <a:ext cx="4056199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education environments. We bring together the data analytics &amp; data engineering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366127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66898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45608" y="1386557"/>
            <a:ext cx="358035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06343" y="1547292"/>
            <a:ext cx="32588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09915" y="1768748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99211" y="1884387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42099" y="18790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70699" y="1836613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70699" y="1953704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09915" y="2182304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99211" y="229794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42099" y="2292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70699" y="2250170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70699" y="2367260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09915" y="2595860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71150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2099" y="27061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70699" y="2663726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70699" y="2780816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9915" y="3009416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99211" y="3125056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2099" y="3119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70699" y="3077282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70699" y="3194372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9915" y="3422972"/>
            <a:ext cx="3251746" cy="349262"/>
          </a:xfrm>
          <a:prstGeom prst="roundRect">
            <a:avLst>
              <a:gd name="adj" fmla="val 163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99211" y="3538612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42099" y="35332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70699" y="3490838"/>
            <a:ext cx="26016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70699" y="3607929"/>
            <a:ext cx="271139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95614" y="475059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27044" y="475059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65440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072647" y="400050"/>
            <a:ext cx="17607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APPLICATIONS ·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858125" cy="26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education.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8585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data analytics &amp; data engineering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96603"/>
            <a:ext cx="3993356" cy="1221581"/>
          </a:xfrm>
          <a:prstGeom prst="roundRect">
            <a:avLst>
              <a:gd name="adj" fmla="val 93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5430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82232" y="1568053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81451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074478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for student services, faculty support, research help, academic advising.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32722" y="1396603"/>
            <a:ext cx="3993356" cy="1221581"/>
          </a:xfrm>
          <a:prstGeom prst="roundRect">
            <a:avLst>
              <a:gd name="adj" fmla="val 93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5430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06416" y="1568053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6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793456" y="181451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793456" y="2074478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search, RAG, document intelligence across academic and administrative systems.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739628"/>
            <a:ext cx="3993356" cy="1221581"/>
          </a:xfrm>
          <a:prstGeom prst="roundRect">
            <a:avLst>
              <a:gd name="adj" fmla="val 93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8860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20931" y="2911078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6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3157538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417503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Admissions, enrollment, progression, retention, alumni — unified digital experience.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32722" y="2739628"/>
            <a:ext cx="3993356" cy="1221581"/>
          </a:xfrm>
          <a:prstGeom prst="roundRect">
            <a:avLst>
              <a:gd name="adj" fmla="val 93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8860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06416" y="291107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6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793456" y="3157538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93456" y="3417503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student identification, enrollment forecasting, resource planning, outcomes analytics.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762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91385" y="4750594"/>
            <a:ext cx="33129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18586" y="4750594"/>
            <a:ext cx="10110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400050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ARCHITECTURE ·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858125" cy="26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8585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96603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400175"/>
            <a:ext cx="1071563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89484" y="1400175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400175"/>
            <a:ext cx="1071563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07356" y="1537392"/>
            <a:ext cx="72408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7356" y="1550194"/>
            <a:ext cx="7240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02880" y="1537392"/>
            <a:ext cx="54314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02880" y="1550194"/>
            <a:ext cx="5431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17466" y="1537392"/>
            <a:ext cx="394692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17466" y="1550194"/>
            <a:ext cx="3946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83595" y="1537392"/>
            <a:ext cx="127404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83595" y="1550194"/>
            <a:ext cx="1274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025253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028825"/>
            <a:ext cx="1071563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589484" y="2028825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028825"/>
            <a:ext cx="1071563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07356" y="2166042"/>
            <a:ext cx="88270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07356" y="2178844"/>
            <a:ext cx="88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61493" y="2166042"/>
            <a:ext cx="79184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36810" y="2178844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Layer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4771" y="2166042"/>
            <a:ext cx="77554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23110" y="2178844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71752" y="2166042"/>
            <a:ext cx="55274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71752" y="2178844"/>
            <a:ext cx="5527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653903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657475"/>
            <a:ext cx="1071563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589484" y="2657475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657475"/>
            <a:ext cx="1071563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07356" y="2794692"/>
            <a:ext cx="54002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707356" y="2807494"/>
            <a:ext cx="5400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ETL/ELT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18817" y="2794692"/>
            <a:ext cx="100950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318817" y="2807494"/>
            <a:ext cx="10095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99755" y="2794692"/>
            <a:ext cx="94576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399755" y="2807494"/>
            <a:ext cx="9457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Processing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16958" y="2794692"/>
            <a:ext cx="75266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03856" y="2807494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282553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286125"/>
            <a:ext cx="1071563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589484" y="3286125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286125"/>
            <a:ext cx="1071563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07356" y="3423342"/>
            <a:ext cx="64595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07356" y="3436144"/>
            <a:ext cx="6459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24745" y="3423342"/>
            <a:ext cx="69082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24745" y="3436144"/>
            <a:ext cx="6908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187005" y="3423342"/>
            <a:ext cx="67251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187005" y="3436144"/>
            <a:ext cx="6725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930960" y="3423342"/>
            <a:ext cx="50062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30960" y="3436144"/>
            <a:ext cx="500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NoSQL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3911203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3914775"/>
            <a:ext cx="1071563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589484" y="3914775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3914775"/>
            <a:ext cx="1071563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707356" y="4051992"/>
            <a:ext cx="107993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707356" y="4064794"/>
            <a:ext cx="10799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Data Platform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58728" y="4051992"/>
            <a:ext cx="79965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858728" y="4064794"/>
            <a:ext cx="7996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729819" y="4051992"/>
            <a:ext cx="73156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729819" y="4064794"/>
            <a:ext cx="7315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32821" y="4051992"/>
            <a:ext cx="56636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532821" y="4064794"/>
            <a:ext cx="5663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400050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ENGAGEMENT ·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858125" cy="2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067991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68028"/>
            <a:ext cx="1946672" cy="270748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485900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1671638"/>
            <a:ext cx="1710928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635794" y="1868425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070236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177393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5794" y="2373846"/>
            <a:ext cx="1710928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794" y="3757613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794" y="3754041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1368028"/>
            <a:ext cx="1946672" cy="270748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89622" y="1485900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9622" y="1671638"/>
            <a:ext cx="1710928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689622" y="1868425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9622" y="2070236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89622" y="2177393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89622" y="2373846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89622" y="3757613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89622" y="3754041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368028"/>
            <a:ext cx="1946672" cy="270748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3450" y="1485900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3450" y="1671638"/>
            <a:ext cx="1710928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4743450" y="1868425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43450" y="2070236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3450" y="2177393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43450" y="2373846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43450" y="3757613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3450" y="3754041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9406" y="1368028"/>
            <a:ext cx="1946672" cy="2707481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97278" y="1485900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7278" y="1671638"/>
            <a:ext cx="1710928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6797278" y="1868425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97278" y="2070236"/>
            <a:ext cx="171092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97278" y="2177393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97278" y="2373846"/>
            <a:ext cx="171092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97278" y="3757613"/>
            <a:ext cx="17109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7278" y="3754041"/>
            <a:ext cx="1710928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8980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400050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WHY KEFI TECH ·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92956"/>
            <a:ext cx="7858125" cy="26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85850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393031"/>
            <a:ext cx="4000500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39660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1278" y="1393031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1818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393031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663" y="1557338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1778794"/>
            <a:ext cx="359330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728663" y="2004492"/>
            <a:ext cx="359330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9150" y="1393031"/>
            <a:ext cx="4000500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29150" y="139660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393031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9150" y="261818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3438" y="1393031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3463" y="1557338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3463" y="1778794"/>
            <a:ext cx="359330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843463" y="2004492"/>
            <a:ext cx="359330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lakehouse architecture converging warehouse and lake.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350" y="2736056"/>
            <a:ext cx="4000500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73962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1278" y="2736056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961209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736056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663" y="2900363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8663" y="3121819"/>
            <a:ext cx="359330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728663" y="3347517"/>
            <a:ext cx="359330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— natural-language querying.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29150" y="2736056"/>
            <a:ext cx="4000500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29150" y="273962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2736056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9150" y="3961209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3438" y="2736056"/>
            <a:ext cx="0" cy="1228725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3463" y="2900363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3463" y="3121819"/>
            <a:ext cx="359330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embedded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4843463" y="3347517"/>
            <a:ext cx="359330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quality, lineage, and MDM as a discipline, not an afterthought.</a:t>
            </a:r>
            <a:endParaRPr lang="en-US" sz="703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079190-xcbaz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657350"/>
            <a:ext cx="6027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18097"/>
            <a:ext cx="4770596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50071"/>
            <a:ext cx="5324894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96357"/>
            <a:ext cx="4906899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190577"/>
            <a:ext cx="4906899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0" y="1571625"/>
            <a:ext cx="7144" cy="21431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657988" y="1571625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657988" y="1964531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7905676" y="2357438"/>
            <a:ext cx="653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2026-10-01T03:57:59Z</dcterms:created>
  <dcterms:modified xsi:type="dcterms:W3CDTF">2026-10-01T03:57:59Z</dcterms:modified>
</cp:coreProperties>
</file>