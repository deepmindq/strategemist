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kefi_decks/ai_transformation__education/assets/kef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457200"/>
            <a:ext cx="9143554" cy="15470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24253" y="557213"/>
            <a:ext cx="21191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8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AI TRANSFORMATION SERVICES · 2026</a:t>
            </a:r>
            <a:endParaRPr lang="en-US" sz="619" dirty="0"/>
          </a:p>
        </p:txBody>
      </p:sp>
      <p:sp>
        <p:nvSpPr>
          <p:cNvPr id="4" name="Text 1"/>
          <p:cNvSpPr/>
          <p:nvPr/>
        </p:nvSpPr>
        <p:spPr>
          <a:xfrm>
            <a:off x="742950" y="1685925"/>
            <a:ext cx="46414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EDUCATION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1943100"/>
            <a:ext cx="4641439" cy="4479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744"/>
              </a:lnSpc>
              <a:buNone/>
            </a:pPr>
            <a:r>
              <a:rPr lang="en-US" sz="3600" b="1" spc="-9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42950" y="2418494"/>
            <a:ext cx="4641439" cy="513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44"/>
              </a:lnSpc>
              <a:buNone/>
            </a:pPr>
            <a:r>
              <a:rPr lang="en-US" sz="3600" b="1" spc="-9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Education.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42950" y="3093913"/>
            <a:ext cx="4420419" cy="17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capability brief on Kefi Tech AI Transformation Services for Education.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492901" y="1757363"/>
            <a:ext cx="8989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29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pPr algn="l" indent="0" marL="0">
              <a:lnSpc>
                <a:spcPts val="1097"/>
              </a:lnSpc>
              <a:buNone/>
            </a:pPr>
            <a:r>
              <a:rPr lang="en-US" sz="800" spc="2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Generative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666806" y="2644973"/>
            <a:ext cx="6888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29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pPr algn="l" indent="0" marL="0">
              <a:lnSpc>
                <a:spcPts val="1097"/>
              </a:lnSpc>
              <a:buNone/>
            </a:pPr>
            <a:r>
              <a:rPr lang="en-US" sz="800" spc="2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Agentic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529624" y="3532584"/>
            <a:ext cx="8545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29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pPr algn="l" indent="0" marL="0">
              <a:lnSpc>
                <a:spcPts val="1097"/>
              </a:lnSpc>
              <a:buNone/>
            </a:pPr>
            <a:r>
              <a:rPr lang="en-US" sz="800" spc="2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Enterprise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27199" y="14288"/>
            <a:ext cx="2198002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12 · AI Transformation Services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3571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4350" y="457200"/>
            <a:ext cx="862965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 · EDUCATION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14350" y="700088"/>
            <a:ext cx="7858125" cy="50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2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Education is being reshaped by digital learning, institutional automation and student lifecycle intelligence.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14350" y="1237208"/>
            <a:ext cx="7715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success, faculty productivity, institutional efficiency and digital experience define modern education.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1513" y="1701552"/>
            <a:ext cx="436683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EDUCATION NEEDS THIS NOW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1525" y="205159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8" name="Text 6"/>
          <p:cNvSpPr/>
          <p:nvPr/>
        </p:nvSpPr>
        <p:spPr>
          <a:xfrm>
            <a:off x="1000125" y="2051596"/>
            <a:ext cx="3903917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transformation pressure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00125" y="2189113"/>
            <a:ext cx="3614738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digital adoption accelerating across the industry.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71525" y="252766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1" name="Text 9"/>
          <p:cNvSpPr/>
          <p:nvPr/>
        </p:nvSpPr>
        <p:spPr>
          <a:xfrm>
            <a:off x="1000125" y="2527660"/>
            <a:ext cx="3903917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&amp; compliance demands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00125" y="2665177"/>
            <a:ext cx="3614738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regulations require continuous compliance technology.</a:t>
            </a:r>
            <a:endParaRPr lang="en-US" sz="619" dirty="0"/>
          </a:p>
        </p:txBody>
      </p:sp>
      <p:sp>
        <p:nvSpPr>
          <p:cNvPr id="13" name="Text 11"/>
          <p:cNvSpPr/>
          <p:nvPr/>
        </p:nvSpPr>
        <p:spPr>
          <a:xfrm>
            <a:off x="771525" y="300372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4" name="Text 12"/>
          <p:cNvSpPr/>
          <p:nvPr/>
        </p:nvSpPr>
        <p:spPr>
          <a:xfrm>
            <a:off x="1000125" y="3003724"/>
            <a:ext cx="3903917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efficiency mandate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00125" y="3141241"/>
            <a:ext cx="3614738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Cost-to-serve reduction while maintaining quality and resilience.</a:t>
            </a:r>
            <a:endParaRPr lang="en-US" sz="619" dirty="0"/>
          </a:p>
        </p:txBody>
      </p:sp>
      <p:sp>
        <p:nvSpPr>
          <p:cNvPr id="16" name="Text 14"/>
          <p:cNvSpPr/>
          <p:nvPr/>
        </p:nvSpPr>
        <p:spPr>
          <a:xfrm>
            <a:off x="771525" y="347978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06" dirty="0"/>
          </a:p>
        </p:txBody>
      </p:sp>
      <p:sp>
        <p:nvSpPr>
          <p:cNvPr id="17" name="Text 15"/>
          <p:cNvSpPr/>
          <p:nvPr/>
        </p:nvSpPr>
        <p:spPr>
          <a:xfrm>
            <a:off x="1000125" y="3479788"/>
            <a:ext cx="3903917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&amp; employee expectations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00125" y="3617305"/>
            <a:ext cx="3614738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digital experiences are now table stakes, not differentiation.</a:t>
            </a:r>
            <a:endParaRPr lang="en-US" sz="619" dirty="0"/>
          </a:p>
        </p:txBody>
      </p:sp>
      <p:sp>
        <p:nvSpPr>
          <p:cNvPr id="19" name="Text 17"/>
          <p:cNvSpPr/>
          <p:nvPr/>
        </p:nvSpPr>
        <p:spPr>
          <a:xfrm>
            <a:off x="5200650" y="1701552"/>
            <a:ext cx="353358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MEANS FOR AI TRANSFORMATION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00650" y="1973014"/>
            <a:ext cx="3271838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applied to education requires industry-specific capability, not generic technology. The right approach connects ai transformation to the regulatory, operational and customer realities that define education.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200650" y="2775793"/>
            <a:ext cx="1912779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APPROACH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4350" y="3977283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1549" y="3977283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579997" y="3977283"/>
            <a:ext cx="1353594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3571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4350" y="457200"/>
            <a:ext cx="862965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14350" y="685800"/>
            <a:ext cx="8629650" cy="272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across the complete lifecycle.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985838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capability pillars covering the full ai transformation spectrum.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17650" y="145732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7" name="Text 5"/>
          <p:cNvSpPr/>
          <p:nvPr/>
        </p:nvSpPr>
        <p:spPr>
          <a:xfrm>
            <a:off x="1260537" y="1468041"/>
            <a:ext cx="10254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371725" y="142875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9" name="Text 7"/>
          <p:cNvSpPr/>
          <p:nvPr/>
        </p:nvSpPr>
        <p:spPr>
          <a:xfrm>
            <a:off x="3226854" y="145732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688" dirty="0"/>
          </a:p>
        </p:txBody>
      </p:sp>
      <p:sp>
        <p:nvSpPr>
          <p:cNvPr id="10" name="Text 8"/>
          <p:cNvSpPr/>
          <p:nvPr/>
        </p:nvSpPr>
        <p:spPr>
          <a:xfrm>
            <a:off x="3469742" y="1468041"/>
            <a:ext cx="9022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457700" y="142875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2" name="Text 10"/>
          <p:cNvSpPr/>
          <p:nvPr/>
        </p:nvSpPr>
        <p:spPr>
          <a:xfrm>
            <a:off x="5164150" y="145732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3" name="Text 11"/>
          <p:cNvSpPr/>
          <p:nvPr/>
        </p:nvSpPr>
        <p:spPr>
          <a:xfrm>
            <a:off x="5407037" y="1468041"/>
            <a:ext cx="10509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43675" y="142875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5" name="Text 13"/>
          <p:cNvSpPr/>
          <p:nvPr/>
        </p:nvSpPr>
        <p:spPr>
          <a:xfrm>
            <a:off x="7310512" y="145732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688" dirty="0"/>
          </a:p>
        </p:txBody>
      </p:sp>
      <p:sp>
        <p:nvSpPr>
          <p:cNvPr id="16" name="Text 14"/>
          <p:cNvSpPr/>
          <p:nvPr/>
        </p:nvSpPr>
        <p:spPr>
          <a:xfrm>
            <a:off x="7553399" y="1468041"/>
            <a:ext cx="99052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8650" y="202168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688" dirty="0"/>
          </a:p>
        </p:txBody>
      </p:sp>
      <p:sp>
        <p:nvSpPr>
          <p:cNvPr id="18" name="Text 16"/>
          <p:cNvSpPr/>
          <p:nvPr/>
        </p:nvSpPr>
        <p:spPr>
          <a:xfrm>
            <a:off x="2907506" y="2037755"/>
            <a:ext cx="2246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8650" y="2250281"/>
            <a:ext cx="2540239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Generative AI Solutions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8650" y="2413136"/>
            <a:ext cx="2419276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Copilots, knowledge assistants, conversational AI, document intelligence, multimodal AI.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62251" y="202168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22" name="Text 20"/>
          <p:cNvSpPr/>
          <p:nvPr/>
        </p:nvSpPr>
        <p:spPr>
          <a:xfrm>
            <a:off x="5641218" y="2037755"/>
            <a:ext cx="2246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62251" y="2250281"/>
            <a:ext cx="2540357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AI &amp; Automation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62251" y="2413136"/>
            <a:ext cx="2419387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agents, multi-agent systems, autonomous workflows, human-in-the-loop processes.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095963" y="202168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688" dirty="0"/>
          </a:p>
        </p:txBody>
      </p:sp>
      <p:sp>
        <p:nvSpPr>
          <p:cNvPr id="26" name="Text 24"/>
          <p:cNvSpPr/>
          <p:nvPr/>
        </p:nvSpPr>
        <p:spPr>
          <a:xfrm>
            <a:off x="8374819" y="2037755"/>
            <a:ext cx="2246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095963" y="2250281"/>
            <a:ext cx="2612818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Knowledge &amp; RAG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95963" y="2413136"/>
            <a:ext cx="2419276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applications, enterprise search, vector search, knowledge assistants.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8650" y="292659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30" name="Text 28"/>
          <p:cNvSpPr/>
          <p:nvPr/>
        </p:nvSpPr>
        <p:spPr>
          <a:xfrm>
            <a:off x="2907506" y="2942667"/>
            <a:ext cx="2246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8650" y="3155193"/>
            <a:ext cx="2612818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AI/ML &amp; Predictive Intelligence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8650" y="3318049"/>
            <a:ext cx="2419276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analytics, forecasting, classification, recommendation engines, anomaly detection.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62251" y="292659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34" name="Text 32"/>
          <p:cNvSpPr/>
          <p:nvPr/>
        </p:nvSpPr>
        <p:spPr>
          <a:xfrm>
            <a:off x="5641218" y="2942667"/>
            <a:ext cx="2246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62251" y="3155193"/>
            <a:ext cx="2540357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Engineering &amp; LLMOps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362251" y="3318049"/>
            <a:ext cx="2419387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lifecycle, versioning, monitoring, evaluation, observability, scalable infrastructure.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095963" y="292659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38" name="Text 36"/>
          <p:cNvSpPr/>
          <p:nvPr/>
        </p:nvSpPr>
        <p:spPr>
          <a:xfrm>
            <a:off x="8374819" y="2942667"/>
            <a:ext cx="2246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095963" y="3155193"/>
            <a:ext cx="2612818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Responsible AI &amp; Governance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095963" y="3318049"/>
            <a:ext cx="2419276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governance, privacy, security, guardrails, bias assessment, explainability.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14350" y="3660056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41549" y="3660056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501088" y="3660056"/>
            <a:ext cx="104346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3571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4350" y="457200"/>
            <a:ext cx="862965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14350" y="685800"/>
            <a:ext cx="8521065" cy="2782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2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Generative AI Solutions.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991530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Copilots, knowledge assistants, conversational AI, document intelligence, multimodal AI.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00088" y="1470161"/>
            <a:ext cx="4671841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00088" y="1741624"/>
            <a:ext cx="3986213" cy="1758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generative ai solutions capability is engineered for education environments. We bring together the ai transformation discipline, the education domain context, and the engineering rigor required to ship production-grade solutions.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00088" y="3541849"/>
            <a:ext cx="123899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00650" y="1455874"/>
            <a:ext cx="383459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86375" y="1812615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0" y="180725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5686425" y="1770199"/>
            <a:ext cx="31647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86425" y="1873002"/>
            <a:ext cx="2916365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education.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86375" y="2186880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0" y="218152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686425" y="2144464"/>
            <a:ext cx="31647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86425" y="2247267"/>
            <a:ext cx="2916365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education.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86375" y="256114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0" y="255578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5686425" y="2518730"/>
            <a:ext cx="31647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86425" y="2621533"/>
            <a:ext cx="2916365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education.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286375" y="2935412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86400" y="293005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5686425" y="2892996"/>
            <a:ext cx="31647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686425" y="2995799"/>
            <a:ext cx="2916365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education.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286375" y="3309677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86400" y="33043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5686425" y="3267261"/>
            <a:ext cx="31647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686425" y="3370064"/>
            <a:ext cx="2916365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education.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14350" y="3884749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1549" y="3884749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579997" y="3884749"/>
            <a:ext cx="163473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GENERATIVE AI SOLUTIONS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3571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4350" y="457200"/>
            <a:ext cx="862965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14350" y="685800"/>
            <a:ext cx="8521065" cy="2782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2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AI &amp; Automation.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991530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agents, multi-agent systems, autonomous workflows, human-in-the-loop processes.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00088" y="1470161"/>
            <a:ext cx="4671841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00088" y="1741624"/>
            <a:ext cx="3986213" cy="1758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agentic ai &amp; automation capability is engineered for education environments. We bring together the ai transformation discipline, the education domain context, and the engineering rigor required to ship production-grade solutions.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00088" y="3541849"/>
            <a:ext cx="123899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00650" y="1455874"/>
            <a:ext cx="383459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86375" y="1812615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0" y="180725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5686425" y="1770199"/>
            <a:ext cx="31647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86425" y="1873002"/>
            <a:ext cx="2916365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education.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86375" y="2186880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0" y="218152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686425" y="2144464"/>
            <a:ext cx="31647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86425" y="2247267"/>
            <a:ext cx="2916365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education.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86375" y="256114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0" y="255578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5686425" y="2518730"/>
            <a:ext cx="31647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86425" y="2621533"/>
            <a:ext cx="2916365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education.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286375" y="2935412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86400" y="293005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5686425" y="2892996"/>
            <a:ext cx="31647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686425" y="2995799"/>
            <a:ext cx="2916365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education.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286375" y="3309677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86400" y="33043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5686425" y="3267261"/>
            <a:ext cx="31647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686425" y="3370064"/>
            <a:ext cx="2916365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education.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14350" y="3884749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1549" y="3884749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579997" y="3884749"/>
            <a:ext cx="1663684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AI &amp; AUTOMATION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3571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4350" y="457200"/>
            <a:ext cx="862965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14350" y="685800"/>
            <a:ext cx="8629650" cy="278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2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Knowledge &amp; RAG.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991530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applications, enterprise search, vector search, knowledge assistants.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00088" y="1470161"/>
            <a:ext cx="4671841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00088" y="1741624"/>
            <a:ext cx="3986213" cy="1758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enterprise knowledge &amp; rag capability is engineered for education environments. We bring together the ai transformation discipline, the education domain context, and the engineering rigor required to ship production-grade solutions.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00088" y="3541849"/>
            <a:ext cx="123899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00650" y="1455874"/>
            <a:ext cx="383459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86375" y="1812615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0" y="180725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5686425" y="1770199"/>
            <a:ext cx="31647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86425" y="1873002"/>
            <a:ext cx="2916365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education.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86375" y="2186880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0" y="218152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686425" y="2144464"/>
            <a:ext cx="31647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86425" y="2247267"/>
            <a:ext cx="2916365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education.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86375" y="256114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0" y="255578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5686425" y="2518730"/>
            <a:ext cx="31647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86425" y="2621533"/>
            <a:ext cx="2916365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education.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286375" y="2935412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86400" y="293005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5686425" y="2892996"/>
            <a:ext cx="31647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686425" y="2995799"/>
            <a:ext cx="2916365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education.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286375" y="3309677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86400" y="33043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5686425" y="3267261"/>
            <a:ext cx="31647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686425" y="3370064"/>
            <a:ext cx="2916365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education.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14350" y="3884749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1549" y="3884749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579997" y="3884749"/>
            <a:ext cx="2043215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KNOWLEDGE &amp; RAG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3571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4350" y="457200"/>
            <a:ext cx="862965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14350" y="685800"/>
            <a:ext cx="8629650" cy="278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2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AI/ML &amp; Predictive Intelligence.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991530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analytics, forecasting, classification, recommendation engines, anomaly detection.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00088" y="1470161"/>
            <a:ext cx="4671841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00088" y="1741624"/>
            <a:ext cx="3986213" cy="1758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ai/ml &amp; predictive intelligence capability is engineered for education environments. We bring together the ai transformation discipline, the education domain context, and the engineering rigor required to ship production-grade solutions.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00088" y="3541849"/>
            <a:ext cx="123899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00650" y="1455874"/>
            <a:ext cx="383459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86375" y="1812615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0" y="180725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5686425" y="1770199"/>
            <a:ext cx="31647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86425" y="1873002"/>
            <a:ext cx="2916365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education.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86375" y="2186880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0" y="218152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686425" y="2144464"/>
            <a:ext cx="31647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86425" y="2247267"/>
            <a:ext cx="2916365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education.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86375" y="256114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0" y="255578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5686425" y="2518730"/>
            <a:ext cx="31647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86425" y="2621533"/>
            <a:ext cx="2916365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education.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286375" y="2935412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86400" y="293005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5686425" y="2892996"/>
            <a:ext cx="31647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686425" y="2995799"/>
            <a:ext cx="2916365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education.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286375" y="3309677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86400" y="33043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5686425" y="3267261"/>
            <a:ext cx="31647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686425" y="3370064"/>
            <a:ext cx="2916365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education.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14350" y="3884749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1549" y="3884749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579997" y="3884749"/>
            <a:ext cx="2168106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AI/ML &amp; PREDICTIVE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3571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4350" y="457200"/>
            <a:ext cx="862965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APPLICATIONS · EDUCATION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14350" y="685800"/>
            <a:ext cx="8629650" cy="272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ai transformation applies to education.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985838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industry-specific applications where ai transformation creates measurable value.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00088" y="146446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1969" dirty="0"/>
          </a:p>
        </p:txBody>
      </p:sp>
      <p:sp>
        <p:nvSpPr>
          <p:cNvPr id="7" name="Text 5"/>
          <p:cNvSpPr/>
          <p:nvPr/>
        </p:nvSpPr>
        <p:spPr>
          <a:xfrm>
            <a:off x="4285804" y="1464469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00088" y="1750219"/>
            <a:ext cx="3919347" cy="14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&amp; Faculty Assistants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0088" y="1944439"/>
            <a:ext cx="36290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assistants for student services, faculty support, research help, academic advising.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814888" y="146446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969" dirty="0"/>
          </a:p>
        </p:txBody>
      </p:sp>
      <p:sp>
        <p:nvSpPr>
          <p:cNvPr id="11" name="Text 9"/>
          <p:cNvSpPr/>
          <p:nvPr/>
        </p:nvSpPr>
        <p:spPr>
          <a:xfrm>
            <a:off x="8335940" y="1464469"/>
            <a:ext cx="1813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4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II</a:t>
            </a:r>
            <a:endParaRPr lang="en-US" sz="788" dirty="0"/>
          </a:p>
        </p:txBody>
      </p:sp>
      <p:sp>
        <p:nvSpPr>
          <p:cNvPr id="12" name="Text 10"/>
          <p:cNvSpPr/>
          <p:nvPr/>
        </p:nvSpPr>
        <p:spPr>
          <a:xfrm>
            <a:off x="4814888" y="1750219"/>
            <a:ext cx="3919347" cy="14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Institutional Knowledge Systems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14888" y="1944439"/>
            <a:ext cx="36290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search, RAG, document intelligence across academic and administrative systems.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00088" y="266461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969" dirty="0"/>
          </a:p>
        </p:txBody>
      </p:sp>
      <p:sp>
        <p:nvSpPr>
          <p:cNvPr id="15" name="Text 13"/>
          <p:cNvSpPr/>
          <p:nvPr/>
        </p:nvSpPr>
        <p:spPr>
          <a:xfrm>
            <a:off x="4175916" y="2664619"/>
            <a:ext cx="254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4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III</a:t>
            </a:r>
            <a:endParaRPr lang="en-US" sz="788" dirty="0"/>
          </a:p>
        </p:txBody>
      </p:sp>
      <p:sp>
        <p:nvSpPr>
          <p:cNvPr id="16" name="Text 14"/>
          <p:cNvSpPr/>
          <p:nvPr/>
        </p:nvSpPr>
        <p:spPr>
          <a:xfrm>
            <a:off x="700088" y="2950369"/>
            <a:ext cx="3919347" cy="14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Lifecycle Platform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00088" y="3144589"/>
            <a:ext cx="36290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Admissions, enrollment, progression, retention, alumni — unified digital experience.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4814888" y="266461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969" dirty="0"/>
          </a:p>
        </p:txBody>
      </p:sp>
      <p:sp>
        <p:nvSpPr>
          <p:cNvPr id="19" name="Text 17"/>
          <p:cNvSpPr/>
          <p:nvPr/>
        </p:nvSpPr>
        <p:spPr>
          <a:xfrm>
            <a:off x="8317223" y="2664619"/>
            <a:ext cx="2027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IV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14888" y="2950369"/>
            <a:ext cx="3810476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Insights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14888" y="3144589"/>
            <a:ext cx="36290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At-risk student identification, enrollment forecasting, resource planning, outcomes analytics.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4350" y="3607594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1549" y="3607594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579997" y="3607594"/>
            <a:ext cx="149690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APPLICATIONS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3571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4350" y="457200"/>
            <a:ext cx="852106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14350" y="685800"/>
            <a:ext cx="8629650" cy="272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reference architecture for ai transformation.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985838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from foundation through consumption.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1278731"/>
            <a:ext cx="86296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1531" y="1464469"/>
            <a:ext cx="61456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Copilots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73488" y="1464469"/>
            <a:ext cx="7548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Assistants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27547" y="1464469"/>
            <a:ext cx="509349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61865" y="1464469"/>
            <a:ext cx="748094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Workflows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4350" y="1907381"/>
            <a:ext cx="86296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4350" y="2093119"/>
            <a:ext cx="378471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90277" y="2093119"/>
            <a:ext cx="1069584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Function Calling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39280" y="2093119"/>
            <a:ext cx="1591029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Multi-Agent Orchestration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48844" y="2093119"/>
            <a:ext cx="1444121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Evaluation Harnesses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4350" y="2536031"/>
            <a:ext cx="86296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4350" y="2721769"/>
            <a:ext cx="451132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265" y="2721769"/>
            <a:ext cx="127444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Embedding Models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60066" y="2721769"/>
            <a:ext cx="769811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 Models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97869" y="2721769"/>
            <a:ext cx="1221204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Fine-Tuned Models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4350" y="3164681"/>
            <a:ext cx="86296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7855" y="3350419"/>
            <a:ext cx="94635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Vector Stores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312999" y="3350419"/>
            <a:ext cx="117502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Bases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351968" y="3350419"/>
            <a:ext cx="1051531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Data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85567" y="3350419"/>
            <a:ext cx="13307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 Pipelines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4350" y="3793331"/>
            <a:ext cx="86296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4350" y="3979069"/>
            <a:ext cx="5735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LLMOps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79552" y="3979069"/>
            <a:ext cx="7548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646411" y="3979069"/>
            <a:ext cx="80820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365505" y="3979069"/>
            <a:ext cx="61456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4350" y="4364831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1549" y="4364831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572974" y="4364831"/>
            <a:ext cx="104346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3571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4350" y="457200"/>
            <a:ext cx="852106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14350" y="685800"/>
            <a:ext cx="8629650" cy="272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pathway from discovery to operations.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985838"/>
            <a:ext cx="6572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carries concrete deliverables, a fixed duration, and a transparent commercial frame.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1307306"/>
            <a:ext cx="248716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4350" y="1478756"/>
            <a:ext cx="248716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14350" y="1650206"/>
            <a:ext cx="204025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14350" y="1864519"/>
            <a:ext cx="2468587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4350" y="2014538"/>
            <a:ext cx="1943100" cy="66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maturity assessment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Opportunity prioritization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90-day roadmap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 business case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4350" y="2598539"/>
            <a:ext cx="248716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$25K–$75K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71750" y="1307306"/>
            <a:ext cx="248716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71750" y="1478756"/>
            <a:ext cx="2040255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Design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71750" y="1650206"/>
            <a:ext cx="204025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3-4 WEEKS · FIXED FEE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71750" y="1864519"/>
            <a:ext cx="2468587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71750" y="2014538"/>
            <a:ext cx="1943100" cy="66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architecture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CoE charter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framework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plan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71750" y="2598539"/>
            <a:ext cx="227731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$50K–$150K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9150" y="1307306"/>
            <a:ext cx="248716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29150" y="1478756"/>
            <a:ext cx="248716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29150" y="1650206"/>
            <a:ext cx="204025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8-24 WEEKS · T&amp;M OR FIXED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29150" y="1864519"/>
            <a:ext cx="2468587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29150" y="2014538"/>
            <a:ext cx="1943100" cy="66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complete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transfer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29150" y="2598539"/>
            <a:ext cx="248716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$300K–$1M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86550" y="1307306"/>
            <a:ext cx="24574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86550" y="1478756"/>
            <a:ext cx="2040255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Operations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86550" y="1650206"/>
            <a:ext cx="204025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86550" y="1864519"/>
            <a:ext cx="2457450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686550" y="2014538"/>
            <a:ext cx="1943100" cy="66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services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reviews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operations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686550" y="2598539"/>
            <a:ext cx="204025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$50K–$500K / mo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4350" y="3907631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1549" y="3907631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579997" y="3907631"/>
            <a:ext cx="1447329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3571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4350" y="457200"/>
            <a:ext cx="862965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14350" y="685800"/>
            <a:ext cx="8629650" cy="272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enterprises work with us.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985838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generic services. Specific differentiators for education.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1335881"/>
            <a:ext cx="637794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4350" y="1507331"/>
            <a:ext cx="418552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Production-first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14350" y="1678781"/>
            <a:ext cx="398621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engineered for production from day one, not a model demo.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43438" y="1335881"/>
            <a:ext cx="450056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43438" y="1507331"/>
            <a:ext cx="450056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Full-stack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43438" y="1678781"/>
            <a:ext cx="398621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 through operations — one team, one operating model.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4350" y="2564606"/>
            <a:ext cx="637794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14350" y="2736056"/>
            <a:ext cx="418552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depth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14350" y="2907506"/>
            <a:ext cx="398621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capability matched to industry context, not generic AI.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43438" y="2564606"/>
            <a:ext cx="450056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43438" y="2736056"/>
            <a:ext cx="418552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Responsible AI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43438" y="2907506"/>
            <a:ext cx="398621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Governance, security and compliance built in, not bolted on.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4350" y="3664744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1549" y="3664744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79997" y="3664744"/>
            <a:ext cx="1049961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kefi_decks/ai_transformation__education/assets/kef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685800"/>
            <a:ext cx="9143554" cy="15470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1714500"/>
            <a:ext cx="398869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1971675"/>
            <a:ext cx="3573494" cy="4045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402"/>
              </a:lnSpc>
              <a:buNone/>
            </a:pPr>
            <a:r>
              <a:rPr lang="en-US" sz="3150" b="1" spc="-6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742950" y="2403649"/>
            <a:ext cx="3988699" cy="466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2"/>
              </a:lnSpc>
              <a:buNone/>
            </a:pPr>
            <a:r>
              <a:rPr lang="en-US" sz="3150" b="1" spc="-6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6" name="Text 3"/>
          <p:cNvSpPr/>
          <p:nvPr/>
        </p:nvSpPr>
        <p:spPr>
          <a:xfrm>
            <a:off x="742950" y="3064222"/>
            <a:ext cx="367559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42950" y="3292822"/>
            <a:ext cx="367559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537684" y="2245482"/>
            <a:ext cx="6990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537684" y="2883619"/>
            <a:ext cx="6990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537684" y="3521869"/>
            <a:ext cx="6990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65647" y="14288"/>
            <a:ext cx="2780745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2026-10-01T03:56:51Z</dcterms:created>
  <dcterms:modified xsi:type="dcterms:W3CDTF">2026-10-01T03:56:51Z</dcterms:modified>
</cp:coreProperties>
</file>