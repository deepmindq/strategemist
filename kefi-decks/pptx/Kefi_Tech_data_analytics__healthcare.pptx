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kefi_decks/data_analytics__healthcare/assets/kef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457200"/>
            <a:ext cx="9143554" cy="15470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49106" y="685800"/>
            <a:ext cx="36637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AND DATA ENGINEERING SERVICES · 2026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677450" y="1564481"/>
            <a:ext cx="68073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731"/>
              </a:lnSpc>
              <a:buNone/>
            </a:pPr>
            <a:r>
              <a:rPr lang="en-US" sz="800" spc="73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DATA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659999" y="1707356"/>
            <a:ext cx="698188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506"/>
              </a:lnSpc>
              <a:buNone/>
            </a:pPr>
            <a:r>
              <a:rPr lang="en-US" sz="800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677450" y="2135981"/>
            <a:ext cx="68073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731"/>
              </a:lnSpc>
              <a:buNone/>
            </a:pPr>
            <a:r>
              <a:rPr lang="en-US" sz="800" spc="73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DATA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517621" y="2278856"/>
            <a:ext cx="853196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506"/>
              </a:lnSpc>
              <a:buNone/>
            </a:pPr>
            <a:r>
              <a:rPr lang="en-US" sz="800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677450" y="2707481"/>
            <a:ext cx="68073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731"/>
              </a:lnSpc>
              <a:buNone/>
            </a:pPr>
            <a:r>
              <a:rPr lang="en-US" sz="800" spc="73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DATA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461105" y="2850356"/>
            <a:ext cx="927527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506"/>
              </a:lnSpc>
              <a:buNone/>
            </a:pPr>
            <a:r>
              <a:rPr lang="en-US" sz="800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INTELLIGENCE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42950" y="1714500"/>
            <a:ext cx="54471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HEALTHCARE &amp; PHARMA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42950" y="1932384"/>
            <a:ext cx="4937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36"/>
              </a:lnSpc>
              <a:buNone/>
            </a:pPr>
            <a:r>
              <a:rPr lang="en-US" sz="900" b="1" spc="-1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&amp; Data Engineering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42950" y="2051149"/>
            <a:ext cx="4800600" cy="128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6"/>
              </a:lnSpc>
              <a:buNone/>
            </a:pPr>
            <a:r>
              <a:rPr lang="en-US" sz="900" b="1" spc="-1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Healthcare &amp; Pharma.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42950" y="2327077"/>
            <a:ext cx="4572000" cy="357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capability brief on Kefi Tech Data Analytics &amp; Data Engineering Services for Healthcare &amp; Pharma.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0" y="0"/>
            <a:ext cx="86360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</a:t>
            </a:r>
            <a:pPr algn="l" indent="0" marL="0">
              <a:lnSpc>
                <a:spcPts val="900"/>
              </a:lnSpc>
              <a:buNone/>
            </a:pPr>
            <a:r>
              <a:rPr lang="en-US" sz="800" spc="5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DATA ANALYTICS AND DATA ENGINEERING SERVICES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46498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79270" y="0"/>
            <a:ext cx="266473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 · HEALTHCARE &amp; PHARMA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314325"/>
            <a:ext cx="7143750" cy="51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Healthcare &amp; Pharma balances patient outcomes, regulatory compliance and operational efficiency.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0" y="865733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privacy, clinical accuracy, regulatory oversight and patient experience define every technology decision.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71450" y="1344364"/>
            <a:ext cx="450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HEALTHCARE &amp; PHARMA NEEDS THIS NOW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1463" y="166583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8" name="Text 6"/>
          <p:cNvSpPr/>
          <p:nvPr/>
        </p:nvSpPr>
        <p:spPr>
          <a:xfrm>
            <a:off x="557213" y="1651546"/>
            <a:ext cx="3567303" cy="117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transformation pressure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57213" y="1796207"/>
            <a:ext cx="3457575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digital adoption accelerating across the industry.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1463" y="216723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1" name="Text 9"/>
          <p:cNvSpPr/>
          <p:nvPr/>
        </p:nvSpPr>
        <p:spPr>
          <a:xfrm>
            <a:off x="557213" y="2152948"/>
            <a:ext cx="3567303" cy="117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&amp; compliance demands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57213" y="2297609"/>
            <a:ext cx="3457575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regulations require continuous compliance technology.</a:t>
            </a:r>
            <a:endParaRPr lang="en-US" sz="619" dirty="0"/>
          </a:p>
        </p:txBody>
      </p:sp>
      <p:sp>
        <p:nvSpPr>
          <p:cNvPr id="13" name="Text 11"/>
          <p:cNvSpPr/>
          <p:nvPr/>
        </p:nvSpPr>
        <p:spPr>
          <a:xfrm>
            <a:off x="271463" y="266863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14" name="Text 12"/>
          <p:cNvSpPr/>
          <p:nvPr/>
        </p:nvSpPr>
        <p:spPr>
          <a:xfrm>
            <a:off x="557213" y="2654350"/>
            <a:ext cx="3567303" cy="117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efficiency mandate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57213" y="2799011"/>
            <a:ext cx="3457575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Cost-to-serve reduction while maintaining quality and resilience.</a:t>
            </a:r>
            <a:endParaRPr lang="en-US" sz="619" dirty="0"/>
          </a:p>
        </p:txBody>
      </p:sp>
      <p:sp>
        <p:nvSpPr>
          <p:cNvPr id="16" name="Text 14"/>
          <p:cNvSpPr/>
          <p:nvPr/>
        </p:nvSpPr>
        <p:spPr>
          <a:xfrm>
            <a:off x="271463" y="317003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06" dirty="0"/>
          </a:p>
        </p:txBody>
      </p:sp>
      <p:sp>
        <p:nvSpPr>
          <p:cNvPr id="17" name="Text 15"/>
          <p:cNvSpPr/>
          <p:nvPr/>
        </p:nvSpPr>
        <p:spPr>
          <a:xfrm>
            <a:off x="557213" y="3155752"/>
            <a:ext cx="3567303" cy="117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&amp; employee expectations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7213" y="3300413"/>
            <a:ext cx="3457575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digital experiences are now table stakes, not differentiation.</a:t>
            </a:r>
            <a:endParaRPr lang="en-US" sz="619" dirty="0"/>
          </a:p>
        </p:txBody>
      </p:sp>
      <p:sp>
        <p:nvSpPr>
          <p:cNvPr id="19" name="Text 17"/>
          <p:cNvSpPr/>
          <p:nvPr/>
        </p:nvSpPr>
        <p:spPr>
          <a:xfrm>
            <a:off x="4643438" y="1344364"/>
            <a:ext cx="38350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MEANS FOR DATA ANALYTICS &amp; DATA ENGINEERING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43438" y="1565821"/>
            <a:ext cx="3300413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&amp; Data Engineering applied to healthcare &amp; pharma requires industry-specific capability, not generic technology. The right approach connects data analytics &amp; data engineering to the regulatory, operational and customer realities that define healthcare &amp; pharma.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43438" y="3444627"/>
            <a:ext cx="1912779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APPROACH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0" y="3773239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7199" y="3773239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5647" y="3773239"/>
            <a:ext cx="1353594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37403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100532" y="0"/>
            <a:ext cx="104346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300038"/>
            <a:ext cx="863600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&amp; Data Engineering across the complete lifecycle.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0" y="597173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capability pillars covering the full data analytics &amp; data engineering spectrum.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42875" y="108652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7" name="Text 5"/>
          <p:cNvSpPr/>
          <p:nvPr/>
        </p:nvSpPr>
        <p:spPr>
          <a:xfrm>
            <a:off x="414338" y="1097235"/>
            <a:ext cx="15573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171700" y="1054373"/>
            <a:ext cx="1143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9" name="Text 7"/>
          <p:cNvSpPr/>
          <p:nvPr/>
        </p:nvSpPr>
        <p:spPr>
          <a:xfrm>
            <a:off x="2486025" y="108652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688" dirty="0"/>
          </a:p>
        </p:txBody>
      </p:sp>
      <p:sp>
        <p:nvSpPr>
          <p:cNvPr id="10" name="Text 8"/>
          <p:cNvSpPr/>
          <p:nvPr/>
        </p:nvSpPr>
        <p:spPr>
          <a:xfrm>
            <a:off x="2757488" y="1097235"/>
            <a:ext cx="15573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14850" y="1054373"/>
            <a:ext cx="1143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2" name="Text 10"/>
          <p:cNvSpPr/>
          <p:nvPr/>
        </p:nvSpPr>
        <p:spPr>
          <a:xfrm>
            <a:off x="4829175" y="108652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3" name="Text 11"/>
          <p:cNvSpPr/>
          <p:nvPr/>
        </p:nvSpPr>
        <p:spPr>
          <a:xfrm>
            <a:off x="5100638" y="1097235"/>
            <a:ext cx="15573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0" y="1054373"/>
            <a:ext cx="1143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5" name="Text 13"/>
          <p:cNvSpPr/>
          <p:nvPr/>
        </p:nvSpPr>
        <p:spPr>
          <a:xfrm>
            <a:off x="7172325" y="108652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688" dirty="0"/>
          </a:p>
        </p:txBody>
      </p:sp>
      <p:sp>
        <p:nvSpPr>
          <p:cNvPr id="16" name="Text 14"/>
          <p:cNvSpPr/>
          <p:nvPr/>
        </p:nvSpPr>
        <p:spPr>
          <a:xfrm>
            <a:off x="7443788" y="1097235"/>
            <a:ext cx="15573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4300" y="167945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18" name="Text 16"/>
          <p:cNvSpPr/>
          <p:nvPr/>
        </p:nvSpPr>
        <p:spPr>
          <a:xfrm>
            <a:off x="2730501" y="1700882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114300" y="1893763"/>
            <a:ext cx="2871904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 &amp; Governance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4300" y="2056619"/>
            <a:ext cx="2762176" cy="280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strategy, maturity assessment, architecture, governance, lineage, MDM.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190801" y="167945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22" name="Text 20"/>
          <p:cNvSpPr/>
          <p:nvPr/>
        </p:nvSpPr>
        <p:spPr>
          <a:xfrm>
            <a:off x="5807113" y="1700882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3190801" y="1893763"/>
            <a:ext cx="2872015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Engineering &amp; Integration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190801" y="2056619"/>
            <a:ext cx="2762287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pipelines, ETL/ELT, APIs, integration, migration, data quality.</a:t>
            </a:r>
            <a:endParaRPr lang="en-US" sz="619" dirty="0"/>
          </a:p>
        </p:txBody>
      </p:sp>
      <p:sp>
        <p:nvSpPr>
          <p:cNvPr id="25" name="Text 23"/>
          <p:cNvSpPr/>
          <p:nvPr/>
        </p:nvSpPr>
        <p:spPr>
          <a:xfrm>
            <a:off x="6267413" y="167945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688" dirty="0"/>
          </a:p>
        </p:txBody>
      </p:sp>
      <p:sp>
        <p:nvSpPr>
          <p:cNvPr id="26" name="Text 24"/>
          <p:cNvSpPr/>
          <p:nvPr/>
        </p:nvSpPr>
        <p:spPr>
          <a:xfrm>
            <a:off x="8883614" y="1700882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6267413" y="1893763"/>
            <a:ext cx="2871904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Platforms &amp; Modernization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67413" y="2056619"/>
            <a:ext cx="2762176" cy="280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lakes, warehouses, lakehouses, cloud data platforms, legacy modernization.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4300" y="262242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30" name="Text 28"/>
          <p:cNvSpPr/>
          <p:nvPr/>
        </p:nvSpPr>
        <p:spPr>
          <a:xfrm>
            <a:off x="2730501" y="2643857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114300" y="2836738"/>
            <a:ext cx="2871904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 &amp; Decision Intelligence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4300" y="2999594"/>
            <a:ext cx="2762176" cy="280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dashboards, reporting, KPI frameworks, self-service BI, executive analytics.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190801" y="262242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688" dirty="0"/>
          </a:p>
        </p:txBody>
      </p:sp>
      <p:sp>
        <p:nvSpPr>
          <p:cNvPr id="34" name="Text 32"/>
          <p:cNvSpPr/>
          <p:nvPr/>
        </p:nvSpPr>
        <p:spPr>
          <a:xfrm>
            <a:off x="5807113" y="2643857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3190801" y="2836738"/>
            <a:ext cx="2872015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Advanced Analytics &amp; Data Science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190801" y="2999594"/>
            <a:ext cx="2762287" cy="280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analytics, forecasting, segmentation, optimization, statistical modelling.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67413" y="262242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38" name="Text 36"/>
          <p:cNvSpPr/>
          <p:nvPr/>
        </p:nvSpPr>
        <p:spPr>
          <a:xfrm>
            <a:off x="8883614" y="2643857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6267413" y="2836738"/>
            <a:ext cx="2762176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AI-Powered Analytics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67413" y="2999594"/>
            <a:ext cx="2762176" cy="280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Conversational analytics, GenAI over enterprise data, NL querying, decision support.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0" y="3393951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7199" y="3393951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86738" y="3393951"/>
            <a:ext cx="104346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30092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62768" y="0"/>
            <a:ext cx="108123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314325"/>
            <a:ext cx="86360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3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 &amp; Governance.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0" y="667159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strategy, maturity assessment, architecture, governance, lineage, MDM.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85738" y="1160078"/>
            <a:ext cx="50285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85738" y="1381534"/>
            <a:ext cx="3914775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data strategy &amp; governance capability is engineered for healthcare &amp; pharma environments. We bring together the data analytics &amp; data engineering discipline, the healthcare &amp; pharma domain context, and the engineering rigor required to ship production-grade solutions.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5738" y="3231766"/>
            <a:ext cx="123899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43438" y="1145791"/>
            <a:ext cx="42393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29163" y="1468599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00625" y="146859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5243513" y="1424397"/>
            <a:ext cx="26146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43513" y="1541487"/>
            <a:ext cx="261461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healthcare &amp; pharma.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729163" y="1885727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00625" y="188572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243513" y="1841525"/>
            <a:ext cx="26146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43513" y="1958615"/>
            <a:ext cx="261461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healthcare &amp; pharma.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729163" y="2302855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00625" y="230285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5243513" y="2258653"/>
            <a:ext cx="26146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243513" y="2375743"/>
            <a:ext cx="261461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healthcare &amp; pharma.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729163" y="2719983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00625" y="271998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5243513" y="2675781"/>
            <a:ext cx="26146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43513" y="2792871"/>
            <a:ext cx="261461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healthcare &amp; pharma.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4729163" y="3137111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00625" y="313711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5243513" y="3092909"/>
            <a:ext cx="26146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43513" y="3209999"/>
            <a:ext cx="261461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healthcare &amp; pharma.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0" y="3574666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7199" y="3574666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5647" y="3574666"/>
            <a:ext cx="2031883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 &amp; GOVERNANCE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30092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62768" y="0"/>
            <a:ext cx="108123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314325"/>
            <a:ext cx="86360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3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Engineering &amp; Integration.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0" y="667159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pipelines, ETL/ELT, APIs, integration, migration, data quality.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85738" y="1160078"/>
            <a:ext cx="50285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85738" y="1381534"/>
            <a:ext cx="3914775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data engineering &amp; integration capability is engineered for healthcare &amp; pharma environments. We bring together the data analytics &amp; data engineering discipline, the healthcare &amp; pharma domain context, and the engineering rigor required to ship production-grade solutions.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5738" y="3231766"/>
            <a:ext cx="123899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43438" y="1145791"/>
            <a:ext cx="42393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29163" y="1468599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00625" y="146859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5243513" y="1424397"/>
            <a:ext cx="26146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43513" y="1541487"/>
            <a:ext cx="261461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healthcare &amp; pharma.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729163" y="1885727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00625" y="188572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243513" y="1841525"/>
            <a:ext cx="26146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43513" y="1958615"/>
            <a:ext cx="261461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healthcare &amp; pharma.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729163" y="2302855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00625" y="230285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5243513" y="2258653"/>
            <a:ext cx="26146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243513" y="2375743"/>
            <a:ext cx="261461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healthcare &amp; pharma.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729163" y="2719983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00625" y="271998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5243513" y="2675781"/>
            <a:ext cx="26146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43513" y="2792871"/>
            <a:ext cx="261461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healthcare &amp; pharma.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4729163" y="3137111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00625" y="313711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5243513" y="3092909"/>
            <a:ext cx="26146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43513" y="3209999"/>
            <a:ext cx="261461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healthcare &amp; pharma.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0" y="3574666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7199" y="3574666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5647" y="3574666"/>
            <a:ext cx="2227658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ENGINEERING &amp; INTEGRATION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30092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62768" y="0"/>
            <a:ext cx="108123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314325"/>
            <a:ext cx="86360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3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Platforms &amp; Modernization.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0" y="667159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lakes, warehouses, lakehouses, cloud data platforms, legacy modernization.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85738" y="1160078"/>
            <a:ext cx="50285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85738" y="1381534"/>
            <a:ext cx="3914775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data platforms &amp; modernization capability is engineered for healthcare &amp; pharma environments. We bring together the data analytics &amp; data engineering discipline, the healthcare &amp; pharma domain context, and the engineering rigor required to ship production-grade solutions.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5738" y="3231766"/>
            <a:ext cx="123899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43438" y="1145791"/>
            <a:ext cx="42393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29163" y="1468599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00625" y="146859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5243513" y="1424397"/>
            <a:ext cx="26146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43513" y="1541487"/>
            <a:ext cx="261461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healthcare &amp; pharma.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729163" y="1885727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00625" y="188572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243513" y="1841525"/>
            <a:ext cx="26146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43513" y="1958615"/>
            <a:ext cx="261461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healthcare &amp; pharma.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729163" y="2302855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00625" y="230285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5243513" y="2258653"/>
            <a:ext cx="26146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243513" y="2375743"/>
            <a:ext cx="261461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healthcare &amp; pharma.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729163" y="2719983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00625" y="271998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5243513" y="2675781"/>
            <a:ext cx="26146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43513" y="2792871"/>
            <a:ext cx="261461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healthcare &amp; pharma.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4729163" y="3137111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00625" y="313711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5243513" y="3092909"/>
            <a:ext cx="26146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43513" y="3209999"/>
            <a:ext cx="261461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healthcare &amp; pharma.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0" y="3574666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7199" y="3574666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5647" y="3574666"/>
            <a:ext cx="2319156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PLATFORMS &amp; MODERNIZATION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30092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62768" y="0"/>
            <a:ext cx="108123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314325"/>
            <a:ext cx="86360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3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 &amp; Decision Intelligence.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0" y="667159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dashboards, reporting, KPI frameworks, self-service BI, executive analytics.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85738" y="1160078"/>
            <a:ext cx="50285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85738" y="1381534"/>
            <a:ext cx="3914775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bi &amp; decision intelligence capability is engineered for healthcare &amp; pharma environments. We bring together the data analytics &amp; data engineering discipline, the healthcare &amp; pharma domain context, and the engineering rigor required to ship production-grade solutions.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5738" y="3231766"/>
            <a:ext cx="123899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43438" y="1145791"/>
            <a:ext cx="42393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29163" y="1468599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00625" y="146859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5243513" y="1424397"/>
            <a:ext cx="26146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43513" y="1541487"/>
            <a:ext cx="261461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healthcare &amp; pharma.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729163" y="1885727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00625" y="188572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243513" y="1841525"/>
            <a:ext cx="26146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43513" y="1958615"/>
            <a:ext cx="261461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healthcare &amp; pharma.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729163" y="2302855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00625" y="230285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5243513" y="2258653"/>
            <a:ext cx="26146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243513" y="2375743"/>
            <a:ext cx="261461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healthcare &amp; pharma.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729163" y="2719983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00625" y="271998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5243513" y="2675781"/>
            <a:ext cx="26146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43513" y="2792871"/>
            <a:ext cx="261461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healthcare &amp; pharma.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4729163" y="3137111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00625" y="313711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5243513" y="3092909"/>
            <a:ext cx="26146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43513" y="3209999"/>
            <a:ext cx="261461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healthcare &amp; pharma.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0" y="3574666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7199" y="3574666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5647" y="3574666"/>
            <a:ext cx="1821281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 &amp; DECISION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194301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08588" y="0"/>
            <a:ext cx="293541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APPLICATIONS · HEALTHCARE &amp; PHARMA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314325"/>
            <a:ext cx="7858125" cy="50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data analytics &amp; data engineering applies to healthcare &amp; pharma.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0" y="851446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industry-specific applications where data analytics &amp; data engineering creates measurable value.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85738" y="133007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969" dirty="0"/>
          </a:p>
        </p:txBody>
      </p:sp>
      <p:sp>
        <p:nvSpPr>
          <p:cNvPr id="7" name="Text 5"/>
          <p:cNvSpPr/>
          <p:nvPr/>
        </p:nvSpPr>
        <p:spPr>
          <a:xfrm>
            <a:off x="4281897" y="1355080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5738" y="1601539"/>
            <a:ext cx="4253103" cy="14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Document Intelligence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5738" y="1810048"/>
            <a:ext cx="41433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Medical records, clinical trials, regulatory submissions, claims processing at scale.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4814888" y="133007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969" dirty="0"/>
          </a:p>
        </p:txBody>
      </p:sp>
      <p:sp>
        <p:nvSpPr>
          <p:cNvPr id="11" name="Text 9"/>
          <p:cNvSpPr/>
          <p:nvPr/>
        </p:nvSpPr>
        <p:spPr>
          <a:xfrm>
            <a:off x="8820375" y="1355080"/>
            <a:ext cx="1813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II</a:t>
            </a:r>
            <a:endParaRPr lang="en-US" sz="788" dirty="0"/>
          </a:p>
        </p:txBody>
      </p:sp>
      <p:sp>
        <p:nvSpPr>
          <p:cNvPr id="12" name="Text 10"/>
          <p:cNvSpPr/>
          <p:nvPr/>
        </p:nvSpPr>
        <p:spPr>
          <a:xfrm>
            <a:off x="4814888" y="1601539"/>
            <a:ext cx="4143375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Engagement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14888" y="1810048"/>
            <a:ext cx="41433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portals, conversational AI, care navigation, personalized health experiences.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185738" y="251593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969" dirty="0"/>
          </a:p>
        </p:txBody>
      </p:sp>
      <p:sp>
        <p:nvSpPr>
          <p:cNvPr id="15" name="Text 13"/>
          <p:cNvSpPr/>
          <p:nvPr/>
        </p:nvSpPr>
        <p:spPr>
          <a:xfrm>
            <a:off x="4131033" y="2540943"/>
            <a:ext cx="254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III</a:t>
            </a:r>
            <a:endParaRPr lang="en-US" sz="788" dirty="0"/>
          </a:p>
        </p:txBody>
      </p:sp>
      <p:sp>
        <p:nvSpPr>
          <p:cNvPr id="16" name="Text 14"/>
          <p:cNvSpPr/>
          <p:nvPr/>
        </p:nvSpPr>
        <p:spPr>
          <a:xfrm>
            <a:off x="185738" y="2787402"/>
            <a:ext cx="4253103" cy="14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Decision Support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5738" y="2995910"/>
            <a:ext cx="41433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Resource allocation, capacity planning, staffing optimization, supply chain.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4814888" y="251593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969" dirty="0"/>
          </a:p>
        </p:txBody>
      </p:sp>
      <p:sp>
        <p:nvSpPr>
          <p:cNvPr id="19" name="Text 17"/>
          <p:cNvSpPr/>
          <p:nvPr/>
        </p:nvSpPr>
        <p:spPr>
          <a:xfrm>
            <a:off x="8800228" y="2540943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IV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4814888" y="2787402"/>
            <a:ext cx="4143375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Research &amp; RWE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14888" y="2995910"/>
            <a:ext cx="41433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research support, RWE analytics, drug safety surveillance, trial recruitment.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0" y="3444627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7199" y="3444627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5647" y="3444627"/>
            <a:ext cx="149690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APPLICATIONS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53621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550497" y="0"/>
            <a:ext cx="159350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300038"/>
            <a:ext cx="7858125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reference architecture for data analytics &amp; data engineering.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0" y="597173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from foundation through consumption.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890067"/>
            <a:ext cx="928688" cy="542925"/>
          </a:xfrm>
          <a:prstGeom prst="rect">
            <a:avLst/>
          </a:prstGeom>
          <a:noFill/>
          <a:ln/>
        </p:spPr>
        <p:txBody>
          <a:bodyPr wrap="none" lIns="100013" tIns="0" rIns="100013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CONSUMPTION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30815" y="1059731"/>
            <a:ext cx="67096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Dashboards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743992" y="1059731"/>
            <a:ext cx="483941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Reports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82317" y="1059731"/>
            <a:ext cx="33988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679353" y="1059731"/>
            <a:ext cx="1161641" cy="203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Conversational Analytics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0" y="1504429"/>
            <a:ext cx="928688" cy="542925"/>
          </a:xfrm>
          <a:prstGeom prst="rect">
            <a:avLst/>
          </a:prstGeom>
          <a:noFill/>
          <a:ln/>
        </p:spPr>
        <p:txBody>
          <a:bodyPr wrap="none" lIns="100013" tIns="0" rIns="100013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SEMANTIC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42988" y="1674093"/>
            <a:ext cx="795189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Semantic Layer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830236" y="1674093"/>
            <a:ext cx="841207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Metrics Layer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21714" y="1674093"/>
            <a:ext cx="77886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Catalog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15940" y="1674093"/>
            <a:ext cx="487114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Lineage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0" y="2118792"/>
            <a:ext cx="928688" cy="542925"/>
          </a:xfrm>
          <a:prstGeom prst="rect">
            <a:avLst/>
          </a:prstGeom>
          <a:noFill/>
          <a:ln/>
        </p:spPr>
        <p:txBody>
          <a:bodyPr wrap="none" lIns="100013" tIns="0" rIns="100013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PROCESSING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12994" y="2288456"/>
            <a:ext cx="535493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ETL/ELT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575643" y="2288456"/>
            <a:ext cx="91373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Stream Processing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46524" y="2288456"/>
            <a:ext cx="854571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Batch Processing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05963" y="2288456"/>
            <a:ext cx="77886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Quality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0" y="2733154"/>
            <a:ext cx="928688" cy="542925"/>
          </a:xfrm>
          <a:prstGeom prst="rect">
            <a:avLst/>
          </a:prstGeom>
          <a:noFill/>
          <a:ln/>
        </p:spPr>
        <p:txBody>
          <a:bodyPr wrap="none" lIns="100013" tIns="0" rIns="100013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STORAGE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34157" y="2902818"/>
            <a:ext cx="59184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Lake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674316" y="2902818"/>
            <a:ext cx="615255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Warehouse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341666" y="2902818"/>
            <a:ext cx="608625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Lakehouse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002384" y="2902818"/>
            <a:ext cx="437778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NoSQL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0" y="3347517"/>
            <a:ext cx="928688" cy="542925"/>
          </a:xfrm>
          <a:prstGeom prst="rect">
            <a:avLst/>
          </a:prstGeom>
          <a:noFill/>
          <a:ln/>
        </p:spPr>
        <p:txBody>
          <a:bodyPr wrap="none" lIns="100013" tIns="0" rIns="100013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42988" y="3517181"/>
            <a:ext cx="979922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 Data Platform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080059" y="3517181"/>
            <a:ext cx="718282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Orchestration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846723" y="3517181"/>
            <a:ext cx="67096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543184" y="3517181"/>
            <a:ext cx="546283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0" y="3904729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7199" y="3904729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58624" y="3904729"/>
            <a:ext cx="104346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75130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65591" y="0"/>
            <a:ext cx="137840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300038"/>
            <a:ext cx="7858125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pathway from discovery to operations.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0" y="597173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carries concrete deliverables, a fixed duration, and a transparent commercial frame.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904354"/>
            <a:ext cx="281635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0" y="1118667"/>
            <a:ext cx="2816352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0" y="1318692"/>
            <a:ext cx="231028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0" y="1575867"/>
            <a:ext cx="2829347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0" y="1715170"/>
            <a:ext cx="2200275" cy="782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&amp; Data Engineering maturity assessment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Opportunity prioritization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90-day roadmap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 business case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0" y="2413025"/>
            <a:ext cx="3520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0" y="2509465"/>
            <a:ext cx="281635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$25K-$75K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14575" y="904354"/>
            <a:ext cx="281635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14575" y="1118667"/>
            <a:ext cx="2310289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Design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14575" y="1318692"/>
            <a:ext cx="231028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3-4 WEEKS · FIXED FEE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314575" y="1575867"/>
            <a:ext cx="2829347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314575" y="1715170"/>
            <a:ext cx="2200275" cy="66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architecture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CoE charter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framework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plan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314575" y="2299171"/>
            <a:ext cx="3520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314575" y="2395612"/>
            <a:ext cx="257872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$50K-$150K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29150" y="904354"/>
            <a:ext cx="281635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29150" y="1118667"/>
            <a:ext cx="2816352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29150" y="1318692"/>
            <a:ext cx="231028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8-24 WEEKS · T&amp;M OR FIXED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29150" y="1575867"/>
            <a:ext cx="2829347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29150" y="1715170"/>
            <a:ext cx="2200275" cy="66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complete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transfer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29150" y="2299171"/>
            <a:ext cx="3520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29150" y="2395612"/>
            <a:ext cx="281635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$300K-$1M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43725" y="904354"/>
            <a:ext cx="220027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43725" y="1118667"/>
            <a:ext cx="2200275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Operations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43725" y="1318692"/>
            <a:ext cx="220027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43725" y="1575867"/>
            <a:ext cx="2200275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943725" y="1715170"/>
            <a:ext cx="2200275" cy="66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services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reviews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operations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943725" y="2299171"/>
            <a:ext cx="22002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943725" y="2395612"/>
            <a:ext cx="220027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$50K-$500K / mo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0" y="3576117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7199" y="3576117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65647" y="3576117"/>
            <a:ext cx="1447329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23384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108625" y="0"/>
            <a:ext cx="103537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314325"/>
            <a:ext cx="7858125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enterprises work with us.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0" y="611460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generic services. Specific differentiators for healthcare &amp; pharma.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85738" y="1104379"/>
            <a:ext cx="660654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5738" y="1318692"/>
            <a:ext cx="433554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Decision-grade data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5738" y="1533004"/>
            <a:ext cx="412908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engineered to be operational, governed, and decision-grade.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29175" y="1104379"/>
            <a:ext cx="431482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29175" y="1318692"/>
            <a:ext cx="431482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Lakehouse first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29175" y="1533004"/>
            <a:ext cx="412908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lakehouse architecture converging warehouse and lake.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5738" y="2375967"/>
            <a:ext cx="660654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5738" y="2590279"/>
            <a:ext cx="433554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AI-powered analytics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5738" y="2804592"/>
            <a:ext cx="412908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GenAI over enterprise data — natural-language querying.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29175" y="2375967"/>
            <a:ext cx="431482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29175" y="2590279"/>
            <a:ext cx="431482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embedded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29175" y="2804592"/>
            <a:ext cx="412908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quality, lineage, and MDM as a discipline, not an afterthought.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0" y="3361804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7199" y="3361804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5647" y="3361804"/>
            <a:ext cx="1049961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kefi_decks/data_analytics__healthcare/assets/kef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685800"/>
            <a:ext cx="9143554" cy="15470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10397" y="1643063"/>
            <a:ext cx="947790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900" spc="9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Discover.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387600" y="2143125"/>
            <a:ext cx="970588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900" spc="9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Engineer.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728946" y="2643188"/>
            <a:ext cx="629242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900" spc="9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42950" y="1871663"/>
            <a:ext cx="46080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2950" y="2103834"/>
            <a:ext cx="3605021" cy="4045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402"/>
              </a:lnSpc>
              <a:buNone/>
            </a:pPr>
            <a:r>
              <a:rPr lang="en-US" sz="3150" b="1" spc="-4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8" name="Text 5"/>
          <p:cNvSpPr/>
          <p:nvPr/>
        </p:nvSpPr>
        <p:spPr>
          <a:xfrm>
            <a:off x="742950" y="2535808"/>
            <a:ext cx="4023890" cy="466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2"/>
              </a:lnSpc>
              <a:buNone/>
            </a:pPr>
            <a:r>
              <a:rPr lang="en-US" sz="3150" b="1" spc="-4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742950" y="3167807"/>
            <a:ext cx="3708021" cy="166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spc="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42950" y="3362027"/>
            <a:ext cx="3708021" cy="20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spc="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65647" y="14288"/>
            <a:ext cx="2780745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2026-10-01T03:58:16Z</dcterms:created>
  <dcterms:modified xsi:type="dcterms:W3CDTF">2026-10-01T03:58:16Z</dcterms:modified>
</cp:coreProperties>
</file>