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education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121" y="422844"/>
            <a:ext cx="9143484" cy="15470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0031" y="528555"/>
            <a:ext cx="322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9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AND TRANSFORMATION SERVICES · 2026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87121" y="1585665"/>
            <a:ext cx="67469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800" spc="13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7121" y="1800390"/>
            <a:ext cx="5021272" cy="85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3"/>
              </a:lnSpc>
              <a:buNone/>
            </a:pPr>
            <a:r>
              <a:rPr lang="en-US" sz="3329" b="1" spc="-6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329" dirty="0"/>
          </a:p>
        </p:txBody>
      </p:sp>
      <p:sp>
        <p:nvSpPr>
          <p:cNvPr id="6" name="Text 3"/>
          <p:cNvSpPr/>
          <p:nvPr/>
        </p:nvSpPr>
        <p:spPr>
          <a:xfrm>
            <a:off x="687121" y="2679732"/>
            <a:ext cx="5272335" cy="47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3"/>
              </a:lnSpc>
              <a:buNone/>
            </a:pPr>
            <a:r>
              <a:rPr lang="en-US" sz="3329" b="1" spc="-6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329" dirty="0"/>
          </a:p>
        </p:txBody>
      </p:sp>
      <p:sp>
        <p:nvSpPr>
          <p:cNvPr id="7" name="Text 4"/>
          <p:cNvSpPr/>
          <p:nvPr/>
        </p:nvSpPr>
        <p:spPr>
          <a:xfrm>
            <a:off x="687121" y="3277970"/>
            <a:ext cx="4096301" cy="47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7"/>
              </a:lnSpc>
              <a:buNone/>
            </a:pPr>
            <a:r>
              <a:rPr lang="en-US" sz="114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Digital Engineering &amp; Transformation Services for Education.</a:t>
            </a:r>
            <a:endParaRPr lang="en-US" sz="1145" dirty="0"/>
          </a:p>
        </p:txBody>
      </p:sp>
      <p:sp>
        <p:nvSpPr>
          <p:cNvPr id="8" name="Text 5"/>
          <p:cNvSpPr/>
          <p:nvPr/>
        </p:nvSpPr>
        <p:spPr>
          <a:xfrm>
            <a:off x="5835823" y="1228890"/>
            <a:ext cx="111033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800" spc="7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r" indent="0" marL="0">
              <a:lnSpc>
                <a:spcPts val="624"/>
              </a:lnSpc>
              <a:buNone/>
            </a:pPr>
            <a:r>
              <a:rPr lang="en-US" sz="800" spc="7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23121" y="1546023"/>
            <a:ext cx="10230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800" spc="7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r" indent="0" marL="0">
              <a:lnSpc>
                <a:spcPts val="624"/>
              </a:lnSpc>
              <a:buNone/>
            </a:pPr>
            <a:r>
              <a:rPr lang="en-US" sz="800" spc="7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23121" y="1863156"/>
            <a:ext cx="10230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800" spc="7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r" indent="0" marL="0">
              <a:lnSpc>
                <a:spcPts val="624"/>
              </a:lnSpc>
              <a:buNone/>
            </a:pPr>
            <a:r>
              <a:rPr lang="en-US" sz="800" spc="7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7121" y="-409630"/>
            <a:ext cx="699410" cy="135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3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32" dirty="0"/>
          </a:p>
        </p:txBody>
      </p:sp>
      <p:sp>
        <p:nvSpPr>
          <p:cNvPr id="12" name="Text 9"/>
          <p:cNvSpPr/>
          <p:nvPr/>
        </p:nvSpPr>
        <p:spPr>
          <a:xfrm>
            <a:off x="1267190" y="-409630"/>
            <a:ext cx="3486191" cy="135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3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8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7540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68382" y="32147"/>
            <a:ext cx="13756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 · INDUSTRY CONTEXT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28650"/>
            <a:ext cx="7715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0" y="1235869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7163" y="1705124"/>
            <a:ext cx="43019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7175" y="208017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85775" y="2065883"/>
            <a:ext cx="2535062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5775" y="2205856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257175" y="25483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485775" y="2534022"/>
            <a:ext cx="3050658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5775" y="2673995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257175" y="301644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485775" y="3002161"/>
            <a:ext cx="2745062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775" y="3142134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257175" y="34845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485775" y="3470300"/>
            <a:ext cx="2903586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5775" y="3610273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4386263" y="1705124"/>
            <a:ext cx="47577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6263" y="1994446"/>
            <a:ext cx="4600575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education requires industry-specific capability, not generic technology. The right approach connects digital engineering &amp; transformation to the regulatory, operational and customer realities that define education.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6263" y="3833961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14828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414828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4148286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05513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424" y="32147"/>
            <a:ext cx="1074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 · CAPABILITIES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4290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585788"/>
            <a:ext cx="8486775" cy="565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0" y="117871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digital engineering &amp; transformation spectrum.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" y="16502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371475" y="1660922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35981" y="1485900"/>
            <a:ext cx="20002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2450306" y="16502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2707481" y="1660922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71988" y="1485900"/>
            <a:ext cx="20002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4786313" y="16502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5043488" y="1660922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07994" y="1485900"/>
            <a:ext cx="20002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7122319" y="16502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7379494" y="1660922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013" y="22002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2758520" y="22270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100013" y="2414588"/>
            <a:ext cx="290047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013" y="2577443"/>
            <a:ext cx="2790751" cy="30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76513" y="22002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5835133" y="22270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3176513" y="2414588"/>
            <a:ext cx="290059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76513" y="2577443"/>
            <a:ext cx="2790862" cy="30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53125" y="22002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8911633" y="22270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253125" y="2414588"/>
            <a:ext cx="289087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53125" y="2577443"/>
            <a:ext cx="2790751" cy="30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013" y="31432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2758520" y="31700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32" name="Text 30"/>
          <p:cNvSpPr/>
          <p:nvPr/>
        </p:nvSpPr>
        <p:spPr>
          <a:xfrm>
            <a:off x="100013" y="3357563"/>
            <a:ext cx="290047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0013" y="3520418"/>
            <a:ext cx="2790751" cy="30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76513" y="31432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5835133" y="31700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3176513" y="3357563"/>
            <a:ext cx="290059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76513" y="3520418"/>
            <a:ext cx="2790862" cy="30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user research, information architecture, interaction design, design systems.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53125" y="31432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8911633" y="31700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40" name="Text 38"/>
          <p:cNvSpPr/>
          <p:nvPr/>
        </p:nvSpPr>
        <p:spPr>
          <a:xfrm>
            <a:off x="6253125" y="3357563"/>
            <a:ext cx="289087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53125" y="3520418"/>
            <a:ext cx="2790751" cy="30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pipelines, DevOps/DevSecOps, solution architecture, engineering standards, scalability.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392906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199" y="392906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6738" y="3929063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99653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10823" y="32147"/>
            <a:ext cx="11331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 · CAPABILITY 01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14363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945766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429308"/>
            <a:ext cx="48524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1761492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education environments. We bring together the digital engineering &amp;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450" y="3529571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429308"/>
            <a:ext cx="4743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6275" y="18454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7738" y="18400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4986338" y="17993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338" y="19164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6275" y="22454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7738" y="22401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4986338" y="21993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338" y="23164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6275" y="26455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738" y="26401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4986338" y="25994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6338" y="27165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6275" y="30455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7738" y="30402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4986338" y="29994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6338" y="31165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86275" y="34456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7738" y="34402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4986338" y="33995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6338" y="35166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385818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85818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3858183"/>
            <a:ext cx="233603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99653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10823" y="32147"/>
            <a:ext cx="11331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 · CAPABILITY 02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14363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945766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429308"/>
            <a:ext cx="48524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1761492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education environments. We bring together the digital engineering &amp;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450" y="3529571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429308"/>
            <a:ext cx="4743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6275" y="18454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7738" y="18400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4986338" y="17993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338" y="19164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6275" y="22454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7738" y="22401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4986338" y="21993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338" y="23164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6275" y="26455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738" y="26401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4986338" y="25994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6338" y="27165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6275" y="30455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7738" y="30402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4986338" y="29994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6338" y="31165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86275" y="34456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7738" y="34402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4986338" y="33995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6338" y="35166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385818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85818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3858183"/>
            <a:ext cx="265079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99653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10823" y="32147"/>
            <a:ext cx="11331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 · CAPABILITY 03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14363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945766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429308"/>
            <a:ext cx="48524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1761492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education environments. We bring together the digital engineering &amp;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450" y="3529571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429308"/>
            <a:ext cx="4743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6275" y="18454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7738" y="18400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4986338" y="17993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338" y="19164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6275" y="22454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7738" y="22401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4986338" y="21993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338" y="23164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6275" y="26455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738" y="26401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4986338" y="25994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6338" y="27165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6275" y="30455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7738" y="30402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4986338" y="29994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6338" y="31165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86275" y="34456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7738" y="34402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4986338" y="33995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6338" y="35166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385818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85818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3858183"/>
            <a:ext cx="189216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99653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10823" y="32147"/>
            <a:ext cx="11331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 · CAPABILITY 04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14363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945766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1450" y="1429308"/>
            <a:ext cx="48524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450" y="1761492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education environments. We bring together the digital engineering &amp;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450" y="3529571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429308"/>
            <a:ext cx="4743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6275" y="18454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7738" y="18400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4986338" y="17993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338" y="19164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6275" y="22454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7738" y="22401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4986338" y="21993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338" y="23164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6275" y="26455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738" y="26401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4986338" y="25994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6338" y="27165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6275" y="304558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7738" y="30402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4986338" y="299948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6338" y="311657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86275" y="3445632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7738" y="34402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4986338" y="3399532"/>
            <a:ext cx="39004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6338" y="3516623"/>
            <a:ext cx="4010216" cy="1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385818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85818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3858183"/>
            <a:ext cx="2104937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52058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34870" y="32147"/>
            <a:ext cx="1609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 · INDUSTRY APPLICATIONS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EDUCATION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14363"/>
            <a:ext cx="84867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education.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0" y="939403"/>
            <a:ext cx="86360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digital engineering &amp; transformation creates measurable value.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2875" y="139437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331457" y="143008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2875" y="1651546"/>
            <a:ext cx="4338828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142875" y="1897224"/>
            <a:ext cx="422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for student services, faculty support, research help, academic advising.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772025" y="139437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8888090" y="1430089"/>
            <a:ext cx="1554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772025" y="1651546"/>
            <a:ext cx="4338828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4772025" y="1897224"/>
            <a:ext cx="422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search, RAG, document intelligence across academic and administrative systems.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42875" y="258023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4202177" y="2615952"/>
            <a:ext cx="2181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42875" y="2837408"/>
            <a:ext cx="4338828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142875" y="3083086"/>
            <a:ext cx="422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Admissions, enrollment, progression, retention, alumni — unified digital experience.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772025" y="258023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0" name="Text 18"/>
          <p:cNvSpPr/>
          <p:nvPr/>
        </p:nvSpPr>
        <p:spPr>
          <a:xfrm>
            <a:off x="8865699" y="261595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772025" y="2837408"/>
            <a:ext cx="422910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4772025" y="3083086"/>
            <a:ext cx="4229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student identification, enrollment forecasting, resource planning, outcomes analytics.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0" y="353749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353749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3537496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9783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92628" y="32147"/>
            <a:ext cx="11513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 · ARCHITECTURE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4290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585788"/>
            <a:ext cx="8486775" cy="565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0" y="1178719"/>
            <a:ext cx="86360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1490811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676549"/>
            <a:ext cx="39381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5638" y="1676549"/>
            <a:ext cx="47991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3062" y="1676549"/>
            <a:ext cx="54443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1346" y="1676549"/>
            <a:ext cx="107442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Systems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2205186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2390924"/>
            <a:ext cx="91024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3048" y="2390924"/>
            <a:ext cx="37988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9868" y="2390924"/>
            <a:ext cx="88735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Apps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83383" y="2390924"/>
            <a:ext cx="85804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Modules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2919561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3105299"/>
            <a:ext cx="50545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116" y="3105299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2711" y="3105299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3286" y="3105299"/>
            <a:ext cx="141128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3633936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3819674"/>
            <a:ext cx="84627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465" y="3819674"/>
            <a:ext cx="73494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Bus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69033" y="3819674"/>
            <a:ext cx="76869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61307" y="3819674"/>
            <a:ext cx="10514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4348311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4534049"/>
            <a:ext cx="51585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2880" y="4534049"/>
            <a:ext cx="7583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6336" y="4534049"/>
            <a:ext cx="45448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0372" y="4534049"/>
            <a:ext cx="88761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499124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199" y="499124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8624" y="4991249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58878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03071" y="32147"/>
            <a:ext cx="15409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 · ENGAGEMENT PATHWAY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4290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585788"/>
            <a:ext cx="84867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0" y="910828"/>
            <a:ext cx="86360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1222921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394371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565821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1794421"/>
            <a:ext cx="28015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1933724"/>
            <a:ext cx="2200275" cy="732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0" y="2590614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14575" y="1222921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14575" y="1394371"/>
            <a:ext cx="231028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14575" y="1565821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14575" y="1794421"/>
            <a:ext cx="28015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14575" y="193372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14575" y="2480667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222921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1394371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1565821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1794421"/>
            <a:ext cx="28015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9150" y="193372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9150" y="2480667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3725" y="1222921"/>
            <a:ext cx="220027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3725" y="1394371"/>
            <a:ext cx="220027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3725" y="1565821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3725" y="1794421"/>
            <a:ext cx="22002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3725" y="193372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3725" y="2480667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380895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80895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3808958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95456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68853" y="32147"/>
            <a:ext cx="11751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 · WHY KEFI TECH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0" y="371475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614363"/>
            <a:ext cx="84867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0" y="939403"/>
            <a:ext cx="86360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1265783"/>
            <a:ext cx="72009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437233"/>
            <a:ext cx="472559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608683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not bolted on, engineered in.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3438" y="1265783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1437233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3438" y="1608683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platforms that compound productivity.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2480221"/>
            <a:ext cx="72009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2651671"/>
            <a:ext cx="472559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0" y="2823121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Legacy-to-microservices with engineering discipline.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2480221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3438" y="2651671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3438" y="2823121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pipeline, not a gate before release.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356607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7199" y="356607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5647" y="3566071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education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121" y="634266"/>
            <a:ext cx="9143484" cy="15470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7121" y="1585665"/>
            <a:ext cx="42293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800" spc="13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87121" y="1800390"/>
            <a:ext cx="3304965" cy="3610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59"/>
              </a:lnSpc>
              <a:buNone/>
            </a:pPr>
            <a:r>
              <a:rPr lang="en-US" sz="2913" b="1" spc="-5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2913" dirty="0"/>
          </a:p>
        </p:txBody>
      </p:sp>
      <p:sp>
        <p:nvSpPr>
          <p:cNvPr id="5" name="Text 2"/>
          <p:cNvSpPr/>
          <p:nvPr/>
        </p:nvSpPr>
        <p:spPr>
          <a:xfrm>
            <a:off x="687121" y="2188857"/>
            <a:ext cx="3688971" cy="41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9"/>
              </a:lnSpc>
              <a:buNone/>
            </a:pPr>
            <a:r>
              <a:rPr lang="en-US" sz="2913" b="1" spc="-5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2913" dirty="0"/>
          </a:p>
        </p:txBody>
      </p:sp>
      <p:sp>
        <p:nvSpPr>
          <p:cNvPr id="6" name="Text 3"/>
          <p:cNvSpPr/>
          <p:nvPr/>
        </p:nvSpPr>
        <p:spPr>
          <a:xfrm>
            <a:off x="687121" y="2762319"/>
            <a:ext cx="3399393" cy="152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5"/>
              </a:lnSpc>
              <a:buNone/>
            </a:pPr>
            <a:r>
              <a:rPr lang="en-US" sz="832" spc="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832" dirty="0"/>
          </a:p>
        </p:txBody>
      </p:sp>
      <p:sp>
        <p:nvSpPr>
          <p:cNvPr id="7" name="Text 4"/>
          <p:cNvSpPr/>
          <p:nvPr/>
        </p:nvSpPr>
        <p:spPr>
          <a:xfrm>
            <a:off x="687121" y="2941945"/>
            <a:ext cx="3399393" cy="19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5"/>
              </a:lnSpc>
              <a:buNone/>
            </a:pPr>
            <a:r>
              <a:rPr lang="en-US" sz="832" spc="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832" dirty="0"/>
          </a:p>
        </p:txBody>
      </p:sp>
      <p:sp>
        <p:nvSpPr>
          <p:cNvPr id="8" name="Text 5"/>
          <p:cNvSpPr/>
          <p:nvPr/>
        </p:nvSpPr>
        <p:spPr>
          <a:xfrm>
            <a:off x="5902920" y="1169428"/>
            <a:ext cx="898508" cy="128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36"/>
              </a:lnSpc>
              <a:buNone/>
            </a:pPr>
            <a:r>
              <a:rPr lang="en-US" sz="936" spc="9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5885682" y="1526202"/>
            <a:ext cx="915746" cy="128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36"/>
              </a:lnSpc>
              <a:buNone/>
            </a:pPr>
            <a:r>
              <a:rPr lang="en-US" sz="936" spc="9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146815" y="1882977"/>
            <a:ext cx="654613" cy="128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36"/>
              </a:lnSpc>
              <a:buNone/>
            </a:pPr>
            <a:r>
              <a:rPr lang="en-US" sz="936" spc="9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687121" y="-409630"/>
            <a:ext cx="699410" cy="135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3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32" dirty="0"/>
          </a:p>
        </p:txBody>
      </p:sp>
      <p:sp>
        <p:nvSpPr>
          <p:cNvPr id="12" name="Text 9"/>
          <p:cNvSpPr/>
          <p:nvPr/>
        </p:nvSpPr>
        <p:spPr>
          <a:xfrm>
            <a:off x="1267190" y="-409630"/>
            <a:ext cx="505711" cy="135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32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32" dirty="0"/>
          </a:p>
        </p:txBody>
      </p:sp>
      <p:sp>
        <p:nvSpPr>
          <p:cNvPr id="13" name="Text 10"/>
          <p:cNvSpPr/>
          <p:nvPr/>
        </p:nvSpPr>
        <p:spPr>
          <a:xfrm>
            <a:off x="1672690" y="-409630"/>
            <a:ext cx="2571787" cy="135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3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8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2026-10-01T03:59:07Z</dcterms:created>
  <dcterms:modified xsi:type="dcterms:W3CDTF">2026-10-01T03:59:07Z</dcterms:modified>
</cp:coreProperties>
</file>