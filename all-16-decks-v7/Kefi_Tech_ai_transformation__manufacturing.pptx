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pic>
        <p:nvPicPr>
          <p:cNvPr id="3" name="Image 1" descr="/tmp/h2p-fit-1790845384884-qpemc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457200"/>
            <a:ext cx="1857375" cy="30215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34398" y="571500"/>
            <a:ext cx="2280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KEFI TECH · MANUFACTURING · 2026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742950" y="1714500"/>
            <a:ext cx="58186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 · MANUFACTURING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742950" y="1960959"/>
            <a:ext cx="4869398" cy="4479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744"/>
              </a:lnSpc>
              <a:buNone/>
            </a:pPr>
            <a:r>
              <a:rPr lang="en-US" sz="3600" b="1" spc="-90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Transformation</a:t>
            </a:r>
            <a:endParaRPr lang="en-US" sz="3600" dirty="0"/>
          </a:p>
        </p:txBody>
      </p:sp>
      <p:sp>
        <p:nvSpPr>
          <p:cNvPr id="7" name="Text 3"/>
          <p:cNvSpPr/>
          <p:nvPr/>
        </p:nvSpPr>
        <p:spPr>
          <a:xfrm>
            <a:off x="742950" y="2436354"/>
            <a:ext cx="4869398" cy="513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44"/>
              </a:lnSpc>
              <a:buNone/>
            </a:pPr>
            <a:r>
              <a:rPr lang="en-US" sz="3600" b="1" spc="-90" kern="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for Manufacturing.</a:t>
            </a:r>
            <a:endParaRPr lang="en-US" sz="3600" dirty="0"/>
          </a:p>
        </p:txBody>
      </p:sp>
      <p:sp>
        <p:nvSpPr>
          <p:cNvPr id="8" name="Text 4"/>
          <p:cNvSpPr/>
          <p:nvPr/>
        </p:nvSpPr>
        <p:spPr>
          <a:xfrm>
            <a:off x="742950" y="3083198"/>
            <a:ext cx="342900" cy="21431"/>
          </a:xfrm>
          <a:prstGeom prst="roundRect">
            <a:avLst>
              <a:gd name="adj" fmla="val 88890"/>
            </a:avLst>
          </a:prstGeom>
          <a:solidFill>
            <a:srgbClr val="FF6C0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742950" y="3261792"/>
            <a:ext cx="5008523" cy="237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3"/>
              </a:lnSpc>
              <a:buNone/>
            </a:pPr>
            <a:r>
              <a:rPr lang="en-US" sz="1238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From AI opportunity to production-floor impact.</a:t>
            </a:r>
            <a:endParaRPr lang="en-US" sz="1238" dirty="0"/>
          </a:p>
        </p:txBody>
      </p:sp>
      <p:sp>
        <p:nvSpPr>
          <p:cNvPr id="10" name="Text 6"/>
          <p:cNvSpPr/>
          <p:nvPr/>
        </p:nvSpPr>
        <p:spPr>
          <a:xfrm>
            <a:off x="5834301" y="1757363"/>
            <a:ext cx="233100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703"/>
              </a:lnSpc>
              <a:buNone/>
            </a:pPr>
            <a:r>
              <a:rPr lang="en-US" sz="800" spc="10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6456206" y="1875234"/>
            <a:ext cx="1709101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14"/>
              </a:lnSpc>
              <a:buNone/>
            </a:pPr>
            <a:r>
              <a:rPr lang="en-US" sz="800" spc="59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Generative AI Solutions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5834301" y="2597646"/>
            <a:ext cx="233100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703"/>
              </a:lnSpc>
              <a:buNone/>
            </a:pPr>
            <a:r>
              <a:rPr lang="en-US" sz="800" spc="10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6456206" y="2715518"/>
            <a:ext cx="1709101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14"/>
              </a:lnSpc>
              <a:buNone/>
            </a:pPr>
            <a:r>
              <a:rPr lang="en-US" sz="800" spc="59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Agentic AI &amp; Automation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5530155" y="3437930"/>
            <a:ext cx="2635151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703"/>
              </a:lnSpc>
              <a:buNone/>
            </a:pPr>
            <a:r>
              <a:rPr lang="en-US" sz="800" spc="10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386579" y="3555802"/>
            <a:ext cx="177872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14"/>
              </a:lnSpc>
              <a:buNone/>
            </a:pPr>
            <a:r>
              <a:rPr lang="en-US" sz="800" spc="59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Enterprise Knowledge &amp; RAG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8393906" y="1714500"/>
            <a:ext cx="7144" cy="2000250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3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14350" y="4754166"/>
            <a:ext cx="644957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6978216" y="4750594"/>
            <a:ext cx="1750520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 / 12 · AI TRANSFORMATION SERVICES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285750"/>
            <a:ext cx="811530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628650"/>
            <a:ext cx="86296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 CONTEXT · MANUFACTURING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832247"/>
            <a:ext cx="8629650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spc="-1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Manufacturing is converging physical operations with digital intelligence.</a:t>
            </a:r>
            <a:endParaRPr lang="en-US" sz="1688" dirty="0"/>
          </a:p>
        </p:txBody>
      </p:sp>
      <p:sp>
        <p:nvSpPr>
          <p:cNvPr id="6" name="Text 3"/>
          <p:cNvSpPr/>
          <p:nvPr/>
        </p:nvSpPr>
        <p:spPr>
          <a:xfrm>
            <a:off x="514350" y="1418034"/>
            <a:ext cx="70008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Connected operations, predictive maintenance, supply chain visibility and quality at scale define the modern factory.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746647"/>
            <a:ext cx="4361929" cy="2729805"/>
          </a:xfrm>
          <a:prstGeom prst="roundRect">
            <a:avLst>
              <a:gd name="adj" fmla="val 418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92944" y="1907381"/>
            <a:ext cx="41216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90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MANUFACTURING NEEDS THIS NOW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96516" y="2118122"/>
            <a:ext cx="4004742" cy="500286"/>
          </a:xfrm>
          <a:prstGeom prst="roundRect">
            <a:avLst>
              <a:gd name="adj" fmla="val 15231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785813" y="2193131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406" dirty="0"/>
          </a:p>
        </p:txBody>
      </p:sp>
      <p:sp>
        <p:nvSpPr>
          <p:cNvPr id="11" name="Text 8"/>
          <p:cNvSpPr/>
          <p:nvPr/>
        </p:nvSpPr>
        <p:spPr>
          <a:xfrm>
            <a:off x="1071563" y="2193131"/>
            <a:ext cx="3540398" cy="1029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Industry 4.0 convergence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071563" y="2323505"/>
            <a:ext cx="3540398" cy="219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OT/IT convergence accelerating — ISA-95, OPC UA, MTConnect connecting factory floor to cloud.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96516" y="2682701"/>
            <a:ext cx="4004742" cy="500286"/>
          </a:xfrm>
          <a:prstGeom prst="roundRect">
            <a:avLst>
              <a:gd name="adj" fmla="val 15231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785813" y="2757711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406" dirty="0"/>
          </a:p>
        </p:txBody>
      </p:sp>
      <p:sp>
        <p:nvSpPr>
          <p:cNvPr id="15" name="Text 12"/>
          <p:cNvSpPr/>
          <p:nvPr/>
        </p:nvSpPr>
        <p:spPr>
          <a:xfrm>
            <a:off x="1071563" y="2757711"/>
            <a:ext cx="3650126" cy="102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IEC 62443 cybersecurity mandate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071563" y="2888084"/>
            <a:ext cx="3540398" cy="219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OT security now regulated — IEC 62443-3-3 SL2 compliance required for connected factories.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96516" y="3247281"/>
            <a:ext cx="4004742" cy="500286"/>
          </a:xfrm>
          <a:prstGeom prst="roundRect">
            <a:avLst>
              <a:gd name="adj" fmla="val 15231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785813" y="3322290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19" name="Text 16"/>
          <p:cNvSpPr/>
          <p:nvPr/>
        </p:nvSpPr>
        <p:spPr>
          <a:xfrm>
            <a:off x="1071563" y="3322290"/>
            <a:ext cx="3650126" cy="102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OEE optimisation pressure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071563" y="3452664"/>
            <a:ext cx="3540398" cy="219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Overall Equipment Effectiveness targets rising — predictive maintenance and real-time quality data now baseline.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96516" y="3811860"/>
            <a:ext cx="4004742" cy="500286"/>
          </a:xfrm>
          <a:prstGeom prst="roundRect">
            <a:avLst>
              <a:gd name="adj" fmla="val 15231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785813" y="3886870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⊟</a:t>
            </a:r>
            <a:endParaRPr lang="en-US" sz="1406" dirty="0"/>
          </a:p>
        </p:txBody>
      </p:sp>
      <p:sp>
        <p:nvSpPr>
          <p:cNvPr id="23" name="Text 20"/>
          <p:cNvSpPr/>
          <p:nvPr/>
        </p:nvSpPr>
        <p:spPr>
          <a:xfrm>
            <a:off x="1071563" y="3886870"/>
            <a:ext cx="3540398" cy="1029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Supply chain resilience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071563" y="4017243"/>
            <a:ext cx="3540398" cy="219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Multi-echelon visibility, supplier risk monitoring, and demand forecasting now critical for continuity.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058445" y="1746647"/>
            <a:ext cx="3567522" cy="2729805"/>
          </a:xfrm>
          <a:prstGeom prst="roundRect">
            <a:avLst>
              <a:gd name="adj" fmla="val 418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5233467" y="1907381"/>
            <a:ext cx="332720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90" kern="0" dirty="0">
                <a:solidFill>
                  <a:srgbClr val="D43F0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THIS MEANS FOR AI TRANSFORMATION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233467" y="2114550"/>
            <a:ext cx="3217478" cy="1118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Transformation applied to manufacturing requires OT-aware, ISA-95 aligned, IEC 62443 compliant capability — not generic technology. The right approach connects ai transformation to equipment protocols (OPC UA, MTConnect, Profinet), plant systems (Siemens Opcenter, SAP S/4HANA, Ignition), and the operational realities of the factory floor.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5233467" y="4083546"/>
            <a:ext cx="321747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233467" y="4187130"/>
            <a:ext cx="1884387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5233467" y="4187130"/>
            <a:ext cx="3217478" cy="128588"/>
          </a:xfrm>
          <a:prstGeom prst="rect">
            <a:avLst/>
          </a:prstGeom>
          <a:noFill/>
          <a:ln/>
        </p:spPr>
        <p:txBody>
          <a:bodyPr wrap="non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OT-AWARE · ISA-95 ALIGNED · IEC 62443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14350" y="4754166"/>
            <a:ext cx="371530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4243946" y="4750594"/>
            <a:ext cx="3265363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12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523597" y="4750594"/>
            <a:ext cx="110605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MANUFACTURING CONTEXT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285750"/>
            <a:ext cx="811530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628650"/>
            <a:ext cx="86296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832247"/>
            <a:ext cx="8629650" cy="277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spc="-1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Transformation for the connected factory.</a:t>
            </a:r>
            <a:endParaRPr lang="en-US" sz="1688" dirty="0"/>
          </a:p>
        </p:txBody>
      </p:sp>
      <p:sp>
        <p:nvSpPr>
          <p:cNvPr id="6" name="Text 3"/>
          <p:cNvSpPr/>
          <p:nvPr/>
        </p:nvSpPr>
        <p:spPr>
          <a:xfrm>
            <a:off x="514350" y="1146572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Six capability pillars aligned to ISA-95 manufacturing hierarchy.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603772"/>
            <a:ext cx="1871663" cy="592931"/>
          </a:xfrm>
          <a:prstGeom prst="roundRect">
            <a:avLst>
              <a:gd name="adj" fmla="val 16064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1013185" y="181451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688" dirty="0"/>
          </a:p>
        </p:txBody>
      </p:sp>
      <p:sp>
        <p:nvSpPr>
          <p:cNvPr id="9" name="Text 6"/>
          <p:cNvSpPr/>
          <p:nvPr/>
        </p:nvSpPr>
        <p:spPr>
          <a:xfrm>
            <a:off x="1270360" y="1825228"/>
            <a:ext cx="98706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4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STRATEGY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2396728" y="1803797"/>
            <a:ext cx="19288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►</a:t>
            </a:r>
            <a:endParaRPr lang="en-US" sz="1013" dirty="0"/>
          </a:p>
        </p:txBody>
      </p:sp>
      <p:sp>
        <p:nvSpPr>
          <p:cNvPr id="11" name="Text 8"/>
          <p:cNvSpPr/>
          <p:nvPr/>
        </p:nvSpPr>
        <p:spPr>
          <a:xfrm>
            <a:off x="2596753" y="1603772"/>
            <a:ext cx="1871663" cy="592931"/>
          </a:xfrm>
          <a:prstGeom prst="roundRect">
            <a:avLst>
              <a:gd name="adj" fmla="val 16064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3218259" y="181451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1688" dirty="0"/>
          </a:p>
        </p:txBody>
      </p:sp>
      <p:sp>
        <p:nvSpPr>
          <p:cNvPr id="13" name="Text 10"/>
          <p:cNvSpPr/>
          <p:nvPr/>
        </p:nvSpPr>
        <p:spPr>
          <a:xfrm>
            <a:off x="3475434" y="1825228"/>
            <a:ext cx="86082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4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BUILD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475559" y="1803797"/>
            <a:ext cx="19288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►</a:t>
            </a:r>
            <a:endParaRPr lang="en-US" sz="1013" dirty="0"/>
          </a:p>
        </p:txBody>
      </p:sp>
      <p:sp>
        <p:nvSpPr>
          <p:cNvPr id="15" name="Text 12"/>
          <p:cNvSpPr/>
          <p:nvPr/>
        </p:nvSpPr>
        <p:spPr>
          <a:xfrm>
            <a:off x="4675584" y="1603772"/>
            <a:ext cx="1871663" cy="592931"/>
          </a:xfrm>
          <a:prstGeom prst="roundRect">
            <a:avLst>
              <a:gd name="adj" fmla="val 16064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4909654" y="181451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17" name="Text 14"/>
          <p:cNvSpPr/>
          <p:nvPr/>
        </p:nvSpPr>
        <p:spPr>
          <a:xfrm>
            <a:off x="5166829" y="1825228"/>
            <a:ext cx="124825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4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INTEGRATE (OT/IT)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554391" y="1803797"/>
            <a:ext cx="19288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►</a:t>
            </a:r>
            <a:endParaRPr lang="en-US" sz="1013" dirty="0"/>
          </a:p>
        </p:txBody>
      </p:sp>
      <p:sp>
        <p:nvSpPr>
          <p:cNvPr id="19" name="Text 16"/>
          <p:cNvSpPr/>
          <p:nvPr/>
        </p:nvSpPr>
        <p:spPr>
          <a:xfrm>
            <a:off x="6754416" y="1603772"/>
            <a:ext cx="1871663" cy="592931"/>
          </a:xfrm>
          <a:prstGeom prst="roundRect">
            <a:avLst>
              <a:gd name="adj" fmla="val 16064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7285732" y="181451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688" dirty="0"/>
          </a:p>
        </p:txBody>
      </p:sp>
      <p:sp>
        <p:nvSpPr>
          <p:cNvPr id="21" name="Text 18"/>
          <p:cNvSpPr/>
          <p:nvPr/>
        </p:nvSpPr>
        <p:spPr>
          <a:xfrm>
            <a:off x="7542907" y="1825228"/>
            <a:ext cx="95101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4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OPERATE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514350" y="2371725"/>
            <a:ext cx="2647876" cy="957263"/>
          </a:xfrm>
          <a:prstGeom prst="roundRect">
            <a:avLst>
              <a:gd name="adj" fmla="val 9950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0"/>
          <p:cNvSpPr/>
          <p:nvPr/>
        </p:nvSpPr>
        <p:spPr>
          <a:xfrm>
            <a:off x="514350" y="2375297"/>
            <a:ext cx="264787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158654" y="2371725"/>
            <a:ext cx="0" cy="9572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14350" y="3325416"/>
            <a:ext cx="264787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25066" y="2371725"/>
            <a:ext cx="0" cy="957263"/>
          </a:xfrm>
          <a:prstGeom prst="line">
            <a:avLst/>
          </a:prstGeom>
          <a:noFill/>
          <a:ln w="21431">
            <a:solidFill>
              <a:srgbClr val="004C9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50081" y="2478881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1688" dirty="0"/>
          </a:p>
        </p:txBody>
      </p:sp>
      <p:sp>
        <p:nvSpPr>
          <p:cNvPr id="28" name="Text 25"/>
          <p:cNvSpPr/>
          <p:nvPr/>
        </p:nvSpPr>
        <p:spPr>
          <a:xfrm>
            <a:off x="2902844" y="2500313"/>
            <a:ext cx="1554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68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675" dirty="0"/>
          </a:p>
        </p:txBody>
      </p:sp>
      <p:sp>
        <p:nvSpPr>
          <p:cNvPr id="29" name="Text 26"/>
          <p:cNvSpPr/>
          <p:nvPr/>
        </p:nvSpPr>
        <p:spPr>
          <a:xfrm>
            <a:off x="650081" y="2693194"/>
            <a:ext cx="2390701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Generative AI Solutions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650081" y="2856049"/>
            <a:ext cx="2390701" cy="31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RAG copilots over OEM manuals, GenAI shift reports, LLM-powered production schedulers.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3247951" y="2371725"/>
            <a:ext cx="2647987" cy="957263"/>
          </a:xfrm>
          <a:prstGeom prst="roundRect">
            <a:avLst>
              <a:gd name="adj" fmla="val 9950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29"/>
          <p:cNvSpPr/>
          <p:nvPr/>
        </p:nvSpPr>
        <p:spPr>
          <a:xfrm>
            <a:off x="3247951" y="2375297"/>
            <a:ext cx="2647987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892366" y="2371725"/>
            <a:ext cx="0" cy="9572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3247951" y="3325416"/>
            <a:ext cx="2647987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258666" y="2371725"/>
            <a:ext cx="0" cy="957263"/>
          </a:xfrm>
          <a:prstGeom prst="line">
            <a:avLst/>
          </a:prstGeom>
          <a:noFill/>
          <a:ln w="21431">
            <a:solidFill>
              <a:srgbClr val="004C97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383682" y="2478881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37" name="Text 34"/>
          <p:cNvSpPr/>
          <p:nvPr/>
        </p:nvSpPr>
        <p:spPr>
          <a:xfrm>
            <a:off x="5636556" y="2500313"/>
            <a:ext cx="1554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68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675" dirty="0"/>
          </a:p>
        </p:txBody>
      </p:sp>
      <p:sp>
        <p:nvSpPr>
          <p:cNvPr id="38" name="Text 35"/>
          <p:cNvSpPr/>
          <p:nvPr/>
        </p:nvSpPr>
        <p:spPr>
          <a:xfrm>
            <a:off x="3383682" y="2693194"/>
            <a:ext cx="2390812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Agentic AI &amp; Automation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3383682" y="2856049"/>
            <a:ext cx="2390812" cy="31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Multi-agent systems for equipment failure response, quality triage, inventory replenishment.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5981663" y="2371725"/>
            <a:ext cx="2647876" cy="957263"/>
          </a:xfrm>
          <a:prstGeom prst="roundRect">
            <a:avLst>
              <a:gd name="adj" fmla="val 9950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Shape 38"/>
          <p:cNvSpPr/>
          <p:nvPr/>
        </p:nvSpPr>
        <p:spPr>
          <a:xfrm>
            <a:off x="5981663" y="2375297"/>
            <a:ext cx="264787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625967" y="2371725"/>
            <a:ext cx="0" cy="9572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5981663" y="3325416"/>
            <a:ext cx="264787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5992378" y="2371725"/>
            <a:ext cx="0" cy="957263"/>
          </a:xfrm>
          <a:prstGeom prst="line">
            <a:avLst/>
          </a:prstGeom>
          <a:noFill/>
          <a:ln w="21431">
            <a:solidFill>
              <a:srgbClr val="004C97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117394" y="2478881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688" dirty="0"/>
          </a:p>
        </p:txBody>
      </p:sp>
      <p:sp>
        <p:nvSpPr>
          <p:cNvPr id="46" name="Text 43"/>
          <p:cNvSpPr/>
          <p:nvPr/>
        </p:nvSpPr>
        <p:spPr>
          <a:xfrm>
            <a:off x="8370157" y="2500313"/>
            <a:ext cx="1554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68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675" dirty="0"/>
          </a:p>
        </p:txBody>
      </p:sp>
      <p:sp>
        <p:nvSpPr>
          <p:cNvPr id="47" name="Text 44"/>
          <p:cNvSpPr/>
          <p:nvPr/>
        </p:nvSpPr>
        <p:spPr>
          <a:xfrm>
            <a:off x="6117394" y="2693194"/>
            <a:ext cx="2500429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Enterprise Knowledge &amp; RAG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6117394" y="2856049"/>
            <a:ext cx="2390701" cy="31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RAG over 50K+ equipment manuals, SOPs, and compliance documents with cited answers.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514350" y="3414713"/>
            <a:ext cx="2647876" cy="957263"/>
          </a:xfrm>
          <a:prstGeom prst="roundRect">
            <a:avLst>
              <a:gd name="adj" fmla="val 9950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Shape 47"/>
          <p:cNvSpPr/>
          <p:nvPr/>
        </p:nvSpPr>
        <p:spPr>
          <a:xfrm>
            <a:off x="514350" y="3418284"/>
            <a:ext cx="264787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3158654" y="3414713"/>
            <a:ext cx="0" cy="9572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514350" y="4368403"/>
            <a:ext cx="264787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525066" y="3414713"/>
            <a:ext cx="0" cy="957263"/>
          </a:xfrm>
          <a:prstGeom prst="line">
            <a:avLst/>
          </a:prstGeom>
          <a:noFill/>
          <a:ln w="21431">
            <a:solidFill>
              <a:srgbClr val="004C97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650081" y="3521869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688" dirty="0"/>
          </a:p>
        </p:txBody>
      </p:sp>
      <p:sp>
        <p:nvSpPr>
          <p:cNvPr id="55" name="Text 52"/>
          <p:cNvSpPr/>
          <p:nvPr/>
        </p:nvSpPr>
        <p:spPr>
          <a:xfrm>
            <a:off x="2902844" y="3543300"/>
            <a:ext cx="1554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68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675" dirty="0"/>
          </a:p>
        </p:txBody>
      </p:sp>
      <p:sp>
        <p:nvSpPr>
          <p:cNvPr id="56" name="Text 53"/>
          <p:cNvSpPr/>
          <p:nvPr/>
        </p:nvSpPr>
        <p:spPr>
          <a:xfrm>
            <a:off x="650081" y="3736181"/>
            <a:ext cx="2500429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AI/ML &amp; Predictive Intelligence</a:t>
            </a:r>
            <a:endParaRPr lang="en-US" sz="800" dirty="0"/>
          </a:p>
        </p:txBody>
      </p:sp>
      <p:sp>
        <p:nvSpPr>
          <p:cNvPr id="57" name="Text 54"/>
          <p:cNvSpPr/>
          <p:nvPr/>
        </p:nvSpPr>
        <p:spPr>
          <a:xfrm>
            <a:off x="650081" y="3899036"/>
            <a:ext cx="2390701" cy="31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LSTM failure prediction, YOLOv8 defect detection, XGBoost energy optimisation.</a:t>
            </a:r>
            <a:endParaRPr lang="en-US" sz="800" dirty="0"/>
          </a:p>
        </p:txBody>
      </p:sp>
      <p:sp>
        <p:nvSpPr>
          <p:cNvPr id="58" name="Text 55"/>
          <p:cNvSpPr/>
          <p:nvPr/>
        </p:nvSpPr>
        <p:spPr>
          <a:xfrm>
            <a:off x="3247951" y="3414713"/>
            <a:ext cx="2647987" cy="957263"/>
          </a:xfrm>
          <a:prstGeom prst="roundRect">
            <a:avLst>
              <a:gd name="adj" fmla="val 9950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Shape 56"/>
          <p:cNvSpPr/>
          <p:nvPr/>
        </p:nvSpPr>
        <p:spPr>
          <a:xfrm>
            <a:off x="3247951" y="3418284"/>
            <a:ext cx="2647987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5892366" y="3414713"/>
            <a:ext cx="0" cy="9572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3247951" y="4368403"/>
            <a:ext cx="2647987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3258666" y="3414713"/>
            <a:ext cx="0" cy="957263"/>
          </a:xfrm>
          <a:prstGeom prst="line">
            <a:avLst/>
          </a:prstGeom>
          <a:noFill/>
          <a:ln w="21431">
            <a:solidFill>
              <a:srgbClr val="004C97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3383682" y="3521869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688" dirty="0"/>
          </a:p>
        </p:txBody>
      </p:sp>
      <p:sp>
        <p:nvSpPr>
          <p:cNvPr id="64" name="Text 61"/>
          <p:cNvSpPr/>
          <p:nvPr/>
        </p:nvSpPr>
        <p:spPr>
          <a:xfrm>
            <a:off x="5636556" y="3543300"/>
            <a:ext cx="1554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68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675" dirty="0"/>
          </a:p>
        </p:txBody>
      </p:sp>
      <p:sp>
        <p:nvSpPr>
          <p:cNvPr id="65" name="Text 62"/>
          <p:cNvSpPr/>
          <p:nvPr/>
        </p:nvSpPr>
        <p:spPr>
          <a:xfrm>
            <a:off x="3383682" y="3736181"/>
            <a:ext cx="2390812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Engineering &amp; LLMOps</a:t>
            </a:r>
            <a:endParaRPr lang="en-US" sz="800" dirty="0"/>
          </a:p>
        </p:txBody>
      </p:sp>
      <p:sp>
        <p:nvSpPr>
          <p:cNvPr id="66" name="Text 63"/>
          <p:cNvSpPr/>
          <p:nvPr/>
        </p:nvSpPr>
        <p:spPr>
          <a:xfrm>
            <a:off x="3383682" y="3899036"/>
            <a:ext cx="2390812" cy="31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Edge AI on NVIDIA Jetson, MLOps with MLflow, model drift detection with Evidently AI.</a:t>
            </a:r>
            <a:endParaRPr lang="en-US" sz="800" dirty="0"/>
          </a:p>
        </p:txBody>
      </p:sp>
      <p:sp>
        <p:nvSpPr>
          <p:cNvPr id="67" name="Text 64"/>
          <p:cNvSpPr/>
          <p:nvPr/>
        </p:nvSpPr>
        <p:spPr>
          <a:xfrm>
            <a:off x="5981663" y="3414713"/>
            <a:ext cx="2647876" cy="957263"/>
          </a:xfrm>
          <a:prstGeom prst="roundRect">
            <a:avLst>
              <a:gd name="adj" fmla="val 9950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Shape 65"/>
          <p:cNvSpPr/>
          <p:nvPr/>
        </p:nvSpPr>
        <p:spPr>
          <a:xfrm>
            <a:off x="5981663" y="3418284"/>
            <a:ext cx="264787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8625967" y="3414713"/>
            <a:ext cx="0" cy="9572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5981663" y="4368403"/>
            <a:ext cx="264787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5992378" y="3414713"/>
            <a:ext cx="0" cy="957263"/>
          </a:xfrm>
          <a:prstGeom prst="line">
            <a:avLst/>
          </a:prstGeom>
          <a:noFill/>
          <a:ln w="21431">
            <a:solidFill>
              <a:srgbClr val="FF6C0E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6117394" y="3521869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688" dirty="0"/>
          </a:p>
        </p:txBody>
      </p:sp>
      <p:sp>
        <p:nvSpPr>
          <p:cNvPr id="73" name="Text 70"/>
          <p:cNvSpPr/>
          <p:nvPr/>
        </p:nvSpPr>
        <p:spPr>
          <a:xfrm>
            <a:off x="8370157" y="3543300"/>
            <a:ext cx="1554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68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675" dirty="0"/>
          </a:p>
        </p:txBody>
      </p:sp>
      <p:sp>
        <p:nvSpPr>
          <p:cNvPr id="74" name="Text 71"/>
          <p:cNvSpPr/>
          <p:nvPr/>
        </p:nvSpPr>
        <p:spPr>
          <a:xfrm>
            <a:off x="6117394" y="3736181"/>
            <a:ext cx="2500429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Responsible AI &amp; Governance</a:t>
            </a:r>
            <a:endParaRPr lang="en-US" sz="800" dirty="0"/>
          </a:p>
        </p:txBody>
      </p:sp>
      <p:sp>
        <p:nvSpPr>
          <p:cNvPr id="75" name="Text 72"/>
          <p:cNvSpPr/>
          <p:nvPr/>
        </p:nvSpPr>
        <p:spPr>
          <a:xfrm>
            <a:off x="6117394" y="3899036"/>
            <a:ext cx="2390701" cy="31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IEC 62443 AI governance, IEC 61508 SIL validation, ISO 13849 worker safety AI.</a:t>
            </a:r>
            <a:endParaRPr lang="en-US" sz="800" dirty="0"/>
          </a:p>
        </p:txBody>
      </p:sp>
      <p:sp>
        <p:nvSpPr>
          <p:cNvPr id="76" name="Shape 73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514350" y="4754166"/>
            <a:ext cx="3997821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78" name="Text 75"/>
          <p:cNvSpPr/>
          <p:nvPr/>
        </p:nvSpPr>
        <p:spPr>
          <a:xfrm>
            <a:off x="4526459" y="4750594"/>
            <a:ext cx="354798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12</a:t>
            </a:r>
            <a:endParaRPr lang="en-US" sz="800" dirty="0"/>
          </a:p>
        </p:txBody>
      </p:sp>
      <p:sp>
        <p:nvSpPr>
          <p:cNvPr id="79" name="Text 76"/>
          <p:cNvSpPr/>
          <p:nvPr/>
        </p:nvSpPr>
        <p:spPr>
          <a:xfrm>
            <a:off x="8011370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285750"/>
            <a:ext cx="811530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628650"/>
            <a:ext cx="86296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01 · MANUFACTURING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832247"/>
            <a:ext cx="8521065" cy="283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18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Generative AI Solutions.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14350" y="1152265"/>
            <a:ext cx="70008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RAG copilots over OEM manuals, GenAI shift reports, LLM-powered production schedulers.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660922"/>
            <a:ext cx="4361929" cy="3114340"/>
          </a:xfrm>
          <a:prstGeom prst="roundRect">
            <a:avLst>
              <a:gd name="adj" fmla="val 367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92944" y="1821656"/>
            <a:ext cx="401188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90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92944" y="2028825"/>
            <a:ext cx="4011885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generative ai solutions capability is engineered for manufacturing environments. We work with Siemens Opcenter, SAP S/4HANA, AWS IoT SiteWise, Ignition SCADA, and NVIDIA Jetson edge — not generic platforms. Every sub-service below is aligned to ISA-95 hierarchy and IEC 62443 security.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692944" y="4382356"/>
            <a:ext cx="4011885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2944" y="4485940"/>
            <a:ext cx="1777901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92944" y="4485940"/>
            <a:ext cx="4011885" cy="128588"/>
          </a:xfrm>
          <a:prstGeom prst="rect">
            <a:avLst/>
          </a:prstGeom>
          <a:noFill/>
          <a:ln/>
        </p:spPr>
        <p:txBody>
          <a:bodyPr wrap="non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1 OF 6 · MANUFACTURING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058445" y="1660922"/>
            <a:ext cx="3567522" cy="3114340"/>
          </a:xfrm>
          <a:prstGeom prst="roundRect">
            <a:avLst>
              <a:gd name="adj" fmla="val 367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233467" y="1821656"/>
            <a:ext cx="321747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90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237038" y="2032397"/>
            <a:ext cx="3210334" cy="524284"/>
          </a:xfrm>
          <a:prstGeom prst="roundRect">
            <a:avLst>
              <a:gd name="adj" fmla="val 14534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5312048" y="2085975"/>
            <a:ext cx="251460" cy="151499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540648" y="208597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1266" dirty="0"/>
          </a:p>
        </p:txBody>
      </p:sp>
      <p:sp>
        <p:nvSpPr>
          <p:cNvPr id="18" name="Text 15"/>
          <p:cNvSpPr/>
          <p:nvPr/>
        </p:nvSpPr>
        <p:spPr>
          <a:xfrm>
            <a:off x="5769248" y="2085975"/>
            <a:ext cx="260311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OEM Manual RAG Copilot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769248" y="2203066"/>
            <a:ext cx="2603116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RAG over Siemens, ABB, Rockwell OEM manuals using Azure OpenAI + Cognitive Search — engineers query equipment specs in natural language.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237038" y="2620975"/>
            <a:ext cx="3210334" cy="424272"/>
          </a:xfrm>
          <a:prstGeom prst="roundRect">
            <a:avLst>
              <a:gd name="adj" fmla="val 1796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5312048" y="2674553"/>
            <a:ext cx="251460" cy="151499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5540648" y="267455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1266" dirty="0"/>
          </a:p>
        </p:txBody>
      </p:sp>
      <p:sp>
        <p:nvSpPr>
          <p:cNvPr id="23" name="Text 20"/>
          <p:cNvSpPr/>
          <p:nvPr/>
        </p:nvSpPr>
        <p:spPr>
          <a:xfrm>
            <a:off x="5769248" y="2674553"/>
            <a:ext cx="27128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Shift Quality Report Generator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769248" y="2791644"/>
            <a:ext cx="26031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LLM (GPT-4 / Claude 3.5) ingests CMM inspection data and SAP QM results — auto-drafts shift quality reports per ISA-95 hierarchy.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237038" y="3109540"/>
            <a:ext cx="3210334" cy="524284"/>
          </a:xfrm>
          <a:prstGeom prst="roundRect">
            <a:avLst>
              <a:gd name="adj" fmla="val 14534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5312048" y="3163119"/>
            <a:ext cx="251460" cy="151499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540648" y="316311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1266" dirty="0"/>
          </a:p>
        </p:txBody>
      </p:sp>
      <p:sp>
        <p:nvSpPr>
          <p:cNvPr id="28" name="Text 25"/>
          <p:cNvSpPr/>
          <p:nvPr/>
        </p:nvSpPr>
        <p:spPr>
          <a:xfrm>
            <a:off x="5769248" y="3163119"/>
            <a:ext cx="27128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Predictive Maintenance Knowledge Assistant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769248" y="3280209"/>
            <a:ext cx="2603116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GenAI copilot grounded in GE Predix / AWS IoT SiteWise equipment health data — explains predicted failure windows and recommends actions.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5237038" y="3698118"/>
            <a:ext cx="3210334" cy="424272"/>
          </a:xfrm>
          <a:prstGeom prst="roundRect">
            <a:avLst>
              <a:gd name="adj" fmla="val 1796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5312048" y="3751697"/>
            <a:ext cx="251460" cy="151499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5540648" y="375169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1266" dirty="0"/>
          </a:p>
        </p:txBody>
      </p:sp>
      <p:sp>
        <p:nvSpPr>
          <p:cNvPr id="33" name="Text 30"/>
          <p:cNvSpPr/>
          <p:nvPr/>
        </p:nvSpPr>
        <p:spPr>
          <a:xfrm>
            <a:off x="5769248" y="3751697"/>
            <a:ext cx="27128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Schedule Optimiser Assistant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5769248" y="3868787"/>
            <a:ext cx="26031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LLM-powered copilot reading SAP PP/PM schedules — suggests reallocation when bottleneck detected on critical path.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5237038" y="4186684"/>
            <a:ext cx="3210334" cy="424272"/>
          </a:xfrm>
          <a:prstGeom prst="roundRect">
            <a:avLst>
              <a:gd name="adj" fmla="val 1796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5312048" y="4240262"/>
            <a:ext cx="251460" cy="151499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5540648" y="424026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1266" dirty="0"/>
          </a:p>
        </p:txBody>
      </p:sp>
      <p:sp>
        <p:nvSpPr>
          <p:cNvPr id="38" name="Text 35"/>
          <p:cNvSpPr/>
          <p:nvPr/>
        </p:nvSpPr>
        <p:spPr>
          <a:xfrm>
            <a:off x="5769248" y="4240262"/>
            <a:ext cx="27128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Safety Incident Summariser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5769248" y="4357353"/>
            <a:ext cx="26031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LLM ingesting EHS reports (ISO 45001 compliant) — produces structured incident summaries for OSHA / regulatory filing.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14350" y="4754166"/>
            <a:ext cx="3716089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4244727" y="4750594"/>
            <a:ext cx="326614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12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7525159" y="4750594"/>
            <a:ext cx="110449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GENERATIVE AI SOLUTIONS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285750"/>
            <a:ext cx="811530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628650"/>
            <a:ext cx="86296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02 · MANUFACTURING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832247"/>
            <a:ext cx="8521065" cy="283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18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Agentic AI &amp; Automation.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14350" y="1152265"/>
            <a:ext cx="70008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Multi-agent systems for equipment failure response, quality triage, inventory replenishment.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660922"/>
            <a:ext cx="4361929" cy="3014328"/>
          </a:xfrm>
          <a:prstGeom prst="roundRect">
            <a:avLst>
              <a:gd name="adj" fmla="val 379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92944" y="1821656"/>
            <a:ext cx="401188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90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92944" y="2028825"/>
            <a:ext cx="4011885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agentic ai &amp; automation capability is engineered for manufacturing environments. We work with Siemens Opcenter, SAP S/4HANA, AWS IoT SiteWise, Ignition SCADA, and NVIDIA Jetson edge — not generic platforms. Every sub-service below is aligned to ISA-95 hierarchy and IEC 62443 security.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692944" y="4282343"/>
            <a:ext cx="4011885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2944" y="4385928"/>
            <a:ext cx="1777901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92944" y="4385928"/>
            <a:ext cx="4011885" cy="128588"/>
          </a:xfrm>
          <a:prstGeom prst="rect">
            <a:avLst/>
          </a:prstGeom>
          <a:noFill/>
          <a:ln/>
        </p:spPr>
        <p:txBody>
          <a:bodyPr wrap="non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2 OF 6 · MANUFACTURING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058445" y="1660922"/>
            <a:ext cx="3567522" cy="3014328"/>
          </a:xfrm>
          <a:prstGeom prst="roundRect">
            <a:avLst>
              <a:gd name="adj" fmla="val 379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233467" y="1821656"/>
            <a:ext cx="321747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90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237038" y="2032397"/>
            <a:ext cx="3210334" cy="524284"/>
          </a:xfrm>
          <a:prstGeom prst="roundRect">
            <a:avLst>
              <a:gd name="adj" fmla="val 14534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5312048" y="2085975"/>
            <a:ext cx="251460" cy="151499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540648" y="208597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18" name="Text 15"/>
          <p:cNvSpPr/>
          <p:nvPr/>
        </p:nvSpPr>
        <p:spPr>
          <a:xfrm>
            <a:off x="5769248" y="2085975"/>
            <a:ext cx="27128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Equipment Failure Response Agent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769248" y="2203066"/>
            <a:ext cx="2603116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Multi-agent system (LangGraph) triggered by AWS Lookout for Equipment anomaly — creates SAP PM work order, notifies maintenance team, reserves parts.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237038" y="2620975"/>
            <a:ext cx="3210334" cy="424272"/>
          </a:xfrm>
          <a:prstGeom prst="roundRect">
            <a:avLst>
              <a:gd name="adj" fmla="val 1796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5312048" y="2674553"/>
            <a:ext cx="251460" cy="151499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5540648" y="267455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3" name="Text 20"/>
          <p:cNvSpPr/>
          <p:nvPr/>
        </p:nvSpPr>
        <p:spPr>
          <a:xfrm>
            <a:off x="5769248" y="2674553"/>
            <a:ext cx="27128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Quality Defect Triage Agent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769248" y="2791644"/>
            <a:ext cx="26031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Computer vision agent (NVIDIA Triton edge inference) detects defects → classifies severity → routes to rework/ scrap per ISA-88 batch rules.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237038" y="3109540"/>
            <a:ext cx="3210334" cy="424272"/>
          </a:xfrm>
          <a:prstGeom prst="roundRect">
            <a:avLst>
              <a:gd name="adj" fmla="val 1796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5312048" y="3163119"/>
            <a:ext cx="251460" cy="151499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540648" y="316311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8" name="Text 25"/>
          <p:cNvSpPr/>
          <p:nvPr/>
        </p:nvSpPr>
        <p:spPr>
          <a:xfrm>
            <a:off x="5769248" y="3163119"/>
            <a:ext cx="27128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Inventory Replenishment Agent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769248" y="3280209"/>
            <a:ext cx="26031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 monitoring SAP MM inventory levels → forecasts demand via Prophet/ARIMA → triggers PO through SAP Ariba integration.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5237038" y="3598106"/>
            <a:ext cx="3210334" cy="424272"/>
          </a:xfrm>
          <a:prstGeom prst="roundRect">
            <a:avLst>
              <a:gd name="adj" fmla="val 1796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5312048" y="3651684"/>
            <a:ext cx="251460" cy="151499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5540648" y="365168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3" name="Text 30"/>
          <p:cNvSpPr/>
          <p:nvPr/>
        </p:nvSpPr>
        <p:spPr>
          <a:xfrm>
            <a:off x="5769248" y="3651684"/>
            <a:ext cx="27128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Energy Optimisation Agent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5769248" y="3768775"/>
            <a:ext cx="26031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 reading Schneider PowerLogic / Siemens MindSphere energy data → adjusts HVAC and machine power modes per ISO 50001 EnMS.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5237038" y="4086671"/>
            <a:ext cx="3210334" cy="424272"/>
          </a:xfrm>
          <a:prstGeom prst="roundRect">
            <a:avLst>
              <a:gd name="adj" fmla="val 1796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5312048" y="4140250"/>
            <a:ext cx="251460" cy="151499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5540648" y="414025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8" name="Text 35"/>
          <p:cNvSpPr/>
          <p:nvPr/>
        </p:nvSpPr>
        <p:spPr>
          <a:xfrm>
            <a:off x="5769248" y="4140250"/>
            <a:ext cx="27128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Supplier Risk Monitoring Agent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5769248" y="4257340"/>
            <a:ext cx="26031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Multi-agent system tracking supplier financial health (Bloomberg API), delivery performance (SAP SRM), and geopolitical signals.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14350" y="4754166"/>
            <a:ext cx="370738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4236021" y="4750594"/>
            <a:ext cx="3257550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12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7507858" y="4750594"/>
            <a:ext cx="1121792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AGENTIC AI &amp; AUTOMATION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285750"/>
            <a:ext cx="811530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628650"/>
            <a:ext cx="86296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03 · MANUFACTURING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832247"/>
            <a:ext cx="8629650" cy="283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18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Enterprise Knowledge &amp; RAG.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14350" y="1152265"/>
            <a:ext cx="70008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RAG over 50K+ equipment manuals, SOPs, and compliance documents with cited answers.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660922"/>
            <a:ext cx="4361929" cy="2914315"/>
          </a:xfrm>
          <a:prstGeom prst="roundRect">
            <a:avLst>
              <a:gd name="adj" fmla="val 392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92944" y="1821656"/>
            <a:ext cx="401188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90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92944" y="2028825"/>
            <a:ext cx="4011885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enterprise knowledge &amp; rag capability is engineered for manufacturing environments. We work with Siemens Opcenter, SAP S/4HANA, AWS IoT SiteWise, Ignition SCADA, and NVIDIA Jetson edge — not generic platforms. Every sub-service below is aligned to ISA-95 hierarchy and IEC 62443 security.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692944" y="4182331"/>
            <a:ext cx="4011885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2944" y="4285915"/>
            <a:ext cx="1777901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92944" y="4285915"/>
            <a:ext cx="4011885" cy="128588"/>
          </a:xfrm>
          <a:prstGeom prst="rect">
            <a:avLst/>
          </a:prstGeom>
          <a:noFill/>
          <a:ln/>
        </p:spPr>
        <p:txBody>
          <a:bodyPr wrap="non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3 OF 6 · MANUFACTURING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058445" y="1660922"/>
            <a:ext cx="3567522" cy="2914315"/>
          </a:xfrm>
          <a:prstGeom prst="roundRect">
            <a:avLst>
              <a:gd name="adj" fmla="val 392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233467" y="1821656"/>
            <a:ext cx="321747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90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237038" y="2032397"/>
            <a:ext cx="3210334" cy="424272"/>
          </a:xfrm>
          <a:prstGeom prst="roundRect">
            <a:avLst>
              <a:gd name="adj" fmla="val 1796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5312048" y="2085975"/>
            <a:ext cx="251460" cy="151499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540648" y="208597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66" dirty="0"/>
          </a:p>
        </p:txBody>
      </p:sp>
      <p:sp>
        <p:nvSpPr>
          <p:cNvPr id="18" name="Text 15"/>
          <p:cNvSpPr/>
          <p:nvPr/>
        </p:nvSpPr>
        <p:spPr>
          <a:xfrm>
            <a:off x="5769248" y="2085975"/>
            <a:ext cx="27128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Equipment Manual Knowledge Base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769248" y="2203066"/>
            <a:ext cx="26031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RAG over 50,000+ OEM manuals (Siemens, ABB, Rockwell, Mitsubishi) using Pinecone vector DB + Azure Cognitive Search with cited answers.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237038" y="2520962"/>
            <a:ext cx="3210334" cy="424272"/>
          </a:xfrm>
          <a:prstGeom prst="roundRect">
            <a:avLst>
              <a:gd name="adj" fmla="val 1796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5312048" y="2574541"/>
            <a:ext cx="251460" cy="151499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5540648" y="257454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66" dirty="0"/>
          </a:p>
        </p:txBody>
      </p:sp>
      <p:sp>
        <p:nvSpPr>
          <p:cNvPr id="23" name="Text 20"/>
          <p:cNvSpPr/>
          <p:nvPr/>
        </p:nvSpPr>
        <p:spPr>
          <a:xfrm>
            <a:off x="5769248" y="2574541"/>
            <a:ext cx="27128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SOP &amp; Work Instruction Search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769248" y="2691631"/>
            <a:ext cx="26031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Vector search across ISA-88 batch procedures, OEE work instructions, and TPM checklists — floor workers query via tablet.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237038" y="3009528"/>
            <a:ext cx="3210334" cy="424272"/>
          </a:xfrm>
          <a:prstGeom prst="roundRect">
            <a:avLst>
              <a:gd name="adj" fmla="val 1796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5312048" y="3063106"/>
            <a:ext cx="251460" cy="151499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540648" y="306310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66" dirty="0"/>
          </a:p>
        </p:txBody>
      </p:sp>
      <p:sp>
        <p:nvSpPr>
          <p:cNvPr id="28" name="Text 25"/>
          <p:cNvSpPr/>
          <p:nvPr/>
        </p:nvSpPr>
        <p:spPr>
          <a:xfrm>
            <a:off x="5769248" y="3063106"/>
            <a:ext cx="27128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Safety &amp; Compliance Knowledge Assistant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769248" y="3180197"/>
            <a:ext cx="26031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RAG over OSHA 29 CFR 1910, ISO 45001, IEC 62443-4-1, EPA 40 CFR — answers compliance questions with regulatory citations.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5237038" y="3498093"/>
            <a:ext cx="3210334" cy="424272"/>
          </a:xfrm>
          <a:prstGeom prst="roundRect">
            <a:avLst>
              <a:gd name="adj" fmla="val 1796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5312048" y="3551672"/>
            <a:ext cx="251460" cy="151499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5540648" y="355167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66" dirty="0"/>
          </a:p>
        </p:txBody>
      </p:sp>
      <p:sp>
        <p:nvSpPr>
          <p:cNvPr id="33" name="Text 30"/>
          <p:cNvSpPr/>
          <p:nvPr/>
        </p:nvSpPr>
        <p:spPr>
          <a:xfrm>
            <a:off x="5769248" y="3551672"/>
            <a:ext cx="27128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Parts Catalog &amp; Cross-Reference RAG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5769248" y="3668762"/>
            <a:ext cx="26031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Semantic search across parts catalogs (SAP MM, Oracle EAM) — find substitutes, cross-references, availability across plants.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5237038" y="3986659"/>
            <a:ext cx="3210334" cy="424272"/>
          </a:xfrm>
          <a:prstGeom prst="roundRect">
            <a:avLst>
              <a:gd name="adj" fmla="val 1796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5312048" y="4040237"/>
            <a:ext cx="251460" cy="151499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5540648" y="404023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66" dirty="0"/>
          </a:p>
        </p:txBody>
      </p:sp>
      <p:sp>
        <p:nvSpPr>
          <p:cNvPr id="38" name="Text 35"/>
          <p:cNvSpPr/>
          <p:nvPr/>
        </p:nvSpPr>
        <p:spPr>
          <a:xfrm>
            <a:off x="5769248" y="4040237"/>
            <a:ext cx="27128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Change Order Assistant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5769248" y="4157328"/>
            <a:ext cx="26031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RAG surfacing past ECNs from Siemens Teamcenter / PTC Windchill — provides rationale context for current change decisions.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14350" y="4754166"/>
            <a:ext cx="3602794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4131432" y="4750594"/>
            <a:ext cx="3152961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12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7298680" y="4750594"/>
            <a:ext cx="141082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ENTERPRISE KNOWLEDGE &amp; RAG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285750"/>
            <a:ext cx="811530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628650"/>
            <a:ext cx="86296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04 · MANUFACTURING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832247"/>
            <a:ext cx="8629650" cy="283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18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AI/ML &amp; Predictive Intelligence.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14350" y="1152265"/>
            <a:ext cx="70008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LSTM failure prediction, YOLOv8 defect detection, XGBoost energy optimisation.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660922"/>
            <a:ext cx="4361929" cy="2914315"/>
          </a:xfrm>
          <a:prstGeom prst="roundRect">
            <a:avLst>
              <a:gd name="adj" fmla="val 392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92944" y="1821656"/>
            <a:ext cx="401188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90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92944" y="2028825"/>
            <a:ext cx="4011885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ai/ml &amp; predictive intelligence capability is engineered for manufacturing environments. We work with Siemens Opcenter, SAP S/4HANA, AWS IoT SiteWise, Ignition SCADA, and NVIDIA Jetson edge — not generic platforms. Every sub-service below is aligned to ISA-95 hierarchy and IEC 62443 security.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692944" y="4182331"/>
            <a:ext cx="4011885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2944" y="4285915"/>
            <a:ext cx="1777901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92944" y="4285915"/>
            <a:ext cx="4011885" cy="128588"/>
          </a:xfrm>
          <a:prstGeom prst="rect">
            <a:avLst/>
          </a:prstGeom>
          <a:noFill/>
          <a:ln/>
        </p:spPr>
        <p:txBody>
          <a:bodyPr wrap="non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4 OF 6 · MANUFACTURING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058445" y="1660922"/>
            <a:ext cx="3567522" cy="2914315"/>
          </a:xfrm>
          <a:prstGeom prst="roundRect">
            <a:avLst>
              <a:gd name="adj" fmla="val 392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233467" y="1821656"/>
            <a:ext cx="321747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90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237038" y="2032397"/>
            <a:ext cx="3210334" cy="424272"/>
          </a:xfrm>
          <a:prstGeom prst="roundRect">
            <a:avLst>
              <a:gd name="adj" fmla="val 1796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5312048" y="2085975"/>
            <a:ext cx="251460" cy="151499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540648" y="208597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18" name="Text 15"/>
          <p:cNvSpPr/>
          <p:nvPr/>
        </p:nvSpPr>
        <p:spPr>
          <a:xfrm>
            <a:off x="5769248" y="2085975"/>
            <a:ext cx="27128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Vibration-Based Failure Prediction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769248" y="2203066"/>
            <a:ext cx="26031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LSTM models on accelerometer data from Azure IoT Edge → predicts bearing failure 14-30 days ahead — deployed on NVIDIA Jetson edge.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237038" y="2520962"/>
            <a:ext cx="3210334" cy="424272"/>
          </a:xfrm>
          <a:prstGeom prst="roundRect">
            <a:avLst>
              <a:gd name="adj" fmla="val 1796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5312048" y="2574541"/>
            <a:ext cx="251460" cy="151499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5540648" y="257454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23" name="Text 20"/>
          <p:cNvSpPr/>
          <p:nvPr/>
        </p:nvSpPr>
        <p:spPr>
          <a:xfrm>
            <a:off x="5769248" y="2574541"/>
            <a:ext cx="27128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Demand Forecasting (SOP/ S&amp;OP)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769248" y="2691631"/>
            <a:ext cx="26031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Prophet / LightGBM time-series forecasting per SKU/region → feeds SAP IBP (Integrated Business Planning) for production scheduling.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237038" y="3009528"/>
            <a:ext cx="3210334" cy="424272"/>
          </a:xfrm>
          <a:prstGeom prst="roundRect">
            <a:avLst>
              <a:gd name="adj" fmla="val 1796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5312048" y="3063106"/>
            <a:ext cx="251460" cy="151499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540648" y="306310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28" name="Text 25"/>
          <p:cNvSpPr/>
          <p:nvPr/>
        </p:nvSpPr>
        <p:spPr>
          <a:xfrm>
            <a:off x="5769248" y="3063106"/>
            <a:ext cx="27128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Vision-Based Defect Detection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769248" y="3180197"/>
            <a:ext cx="26031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YOLOv8 / ResNet models on Cognex / Keyence camera feeds → classifies surface defects at 60fps on factory line.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5237038" y="3498093"/>
            <a:ext cx="3210334" cy="424272"/>
          </a:xfrm>
          <a:prstGeom prst="roundRect">
            <a:avLst>
              <a:gd name="adj" fmla="val 1796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5312048" y="3551672"/>
            <a:ext cx="251460" cy="151499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5540648" y="355167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33" name="Text 30"/>
          <p:cNvSpPr/>
          <p:nvPr/>
        </p:nvSpPr>
        <p:spPr>
          <a:xfrm>
            <a:off x="5769248" y="3551672"/>
            <a:ext cx="27128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Energy Consumption Optimisation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5769248" y="3668762"/>
            <a:ext cx="26031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XGBoost models optimising energy use per machine cycle → integrated with Schneider EcoStruxure Resource Advisor.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5237038" y="3986659"/>
            <a:ext cx="3210334" cy="424272"/>
          </a:xfrm>
          <a:prstGeom prst="roundRect">
            <a:avLst>
              <a:gd name="adj" fmla="val 1796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5312048" y="4040237"/>
            <a:ext cx="251460" cy="151499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5540648" y="404023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38" name="Text 35"/>
          <p:cNvSpPr/>
          <p:nvPr/>
        </p:nvSpPr>
        <p:spPr>
          <a:xfrm>
            <a:off x="5769248" y="4040237"/>
            <a:ext cx="260311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OEE Anomaly Detection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5769248" y="4157328"/>
            <a:ext cx="26031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Unsupervised models (Isolation Forest) on MTConnect/ OPC UA stream → flags OEE drops below ISA-95 benchmark thresholds.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14350" y="4754166"/>
            <a:ext cx="3552341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4080979" y="4750594"/>
            <a:ext cx="310250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12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7197775" y="4750594"/>
            <a:ext cx="151778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AI/ML &amp; PREDICTIVE INTELLIGENCE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285750"/>
            <a:ext cx="811530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628650"/>
            <a:ext cx="86296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MANUFACTURING APPLICATIONS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832247"/>
            <a:ext cx="8629650" cy="277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spc="-1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How ai transformation applies to the factory floor.</a:t>
            </a:r>
            <a:endParaRPr lang="en-US" sz="1688" dirty="0"/>
          </a:p>
        </p:txBody>
      </p:sp>
      <p:sp>
        <p:nvSpPr>
          <p:cNvPr id="6" name="Text 3"/>
          <p:cNvSpPr/>
          <p:nvPr/>
        </p:nvSpPr>
        <p:spPr>
          <a:xfrm>
            <a:off x="514350" y="1146572"/>
            <a:ext cx="70008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manufacturing-specific applications with real technology stacks.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4350" y="1714500"/>
            <a:ext cx="4000500" cy="1300163"/>
          </a:xfrm>
          <a:prstGeom prst="roundRect">
            <a:avLst>
              <a:gd name="adj" fmla="val 7326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514350" y="1718072"/>
            <a:ext cx="40005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11278" y="1714500"/>
            <a:ext cx="0" cy="13001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14350" y="3011091"/>
            <a:ext cx="40005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28638" y="1714500"/>
            <a:ext cx="0" cy="1300163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00088" y="1864519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1969" dirty="0"/>
          </a:p>
        </p:txBody>
      </p:sp>
      <p:sp>
        <p:nvSpPr>
          <p:cNvPr id="13" name="Text 10"/>
          <p:cNvSpPr/>
          <p:nvPr/>
        </p:nvSpPr>
        <p:spPr>
          <a:xfrm>
            <a:off x="4280222" y="1889522"/>
            <a:ext cx="914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700088" y="2135981"/>
            <a:ext cx="3760184" cy="20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Computer Vision Quality Control</a:t>
            </a:r>
            <a:endParaRPr lang="en-US" sz="1238" dirty="0"/>
          </a:p>
        </p:txBody>
      </p:sp>
      <p:sp>
        <p:nvSpPr>
          <p:cNvPr id="15" name="Text 12"/>
          <p:cNvSpPr/>
          <p:nvPr/>
        </p:nvSpPr>
        <p:spPr>
          <a:xfrm>
            <a:off x="700088" y="2395947"/>
            <a:ext cx="3650456" cy="340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YOLOv8 on NVIDIA Jetson — real-time defect detection on Cognex/Keyence camera feeds at 60fps.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629150" y="1714500"/>
            <a:ext cx="4000500" cy="1300163"/>
          </a:xfrm>
          <a:prstGeom prst="roundRect">
            <a:avLst>
              <a:gd name="adj" fmla="val 7326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4"/>
          <p:cNvSpPr/>
          <p:nvPr/>
        </p:nvSpPr>
        <p:spPr>
          <a:xfrm>
            <a:off x="4629150" y="1718072"/>
            <a:ext cx="40005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626078" y="1714500"/>
            <a:ext cx="0" cy="13001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629150" y="3011091"/>
            <a:ext cx="40005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643438" y="1714500"/>
            <a:ext cx="0" cy="1300163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14888" y="1864519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1969" dirty="0"/>
          </a:p>
        </p:txBody>
      </p:sp>
      <p:sp>
        <p:nvSpPr>
          <p:cNvPr id="22" name="Text 19"/>
          <p:cNvSpPr/>
          <p:nvPr/>
        </p:nvSpPr>
        <p:spPr>
          <a:xfrm>
            <a:off x="8304407" y="1889522"/>
            <a:ext cx="1813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79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</a:t>
            </a:r>
            <a:endParaRPr lang="en-US" sz="788" dirty="0"/>
          </a:p>
        </p:txBody>
      </p:sp>
      <p:sp>
        <p:nvSpPr>
          <p:cNvPr id="23" name="Text 20"/>
          <p:cNvSpPr/>
          <p:nvPr/>
        </p:nvSpPr>
        <p:spPr>
          <a:xfrm>
            <a:off x="4814888" y="2135981"/>
            <a:ext cx="3650456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Predictive Maintenance</a:t>
            </a:r>
            <a:endParaRPr lang="en-US" sz="1238" dirty="0"/>
          </a:p>
        </p:txBody>
      </p:sp>
      <p:sp>
        <p:nvSpPr>
          <p:cNvPr id="24" name="Text 21"/>
          <p:cNvSpPr/>
          <p:nvPr/>
        </p:nvSpPr>
        <p:spPr>
          <a:xfrm>
            <a:off x="4814888" y="2395947"/>
            <a:ext cx="3650456" cy="340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Lookout for Equipment + LSTM on vibration FFT data — bearing failure predicted 14-30 days ahead.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14350" y="3128963"/>
            <a:ext cx="4000500" cy="1300163"/>
          </a:xfrm>
          <a:prstGeom prst="roundRect">
            <a:avLst>
              <a:gd name="adj" fmla="val 7326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3"/>
          <p:cNvSpPr/>
          <p:nvPr/>
        </p:nvSpPr>
        <p:spPr>
          <a:xfrm>
            <a:off x="514350" y="3132534"/>
            <a:ext cx="40005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511278" y="3128963"/>
            <a:ext cx="0" cy="13001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14350" y="4425553"/>
            <a:ext cx="40005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28638" y="3128963"/>
            <a:ext cx="0" cy="1300163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00088" y="3278981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⊟</a:t>
            </a:r>
            <a:endParaRPr lang="en-US" sz="1969" dirty="0"/>
          </a:p>
        </p:txBody>
      </p:sp>
      <p:sp>
        <p:nvSpPr>
          <p:cNvPr id="31" name="Text 28"/>
          <p:cNvSpPr/>
          <p:nvPr/>
        </p:nvSpPr>
        <p:spPr>
          <a:xfrm>
            <a:off x="4117918" y="3303984"/>
            <a:ext cx="25451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79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III</a:t>
            </a:r>
            <a:endParaRPr lang="en-US" sz="788" dirty="0"/>
          </a:p>
        </p:txBody>
      </p:sp>
      <p:sp>
        <p:nvSpPr>
          <p:cNvPr id="32" name="Text 29"/>
          <p:cNvSpPr/>
          <p:nvPr/>
        </p:nvSpPr>
        <p:spPr>
          <a:xfrm>
            <a:off x="700088" y="3550444"/>
            <a:ext cx="3760184" cy="20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Supply Chain Intelligence</a:t>
            </a:r>
            <a:endParaRPr lang="en-US" sz="1238" dirty="0"/>
          </a:p>
        </p:txBody>
      </p:sp>
      <p:sp>
        <p:nvSpPr>
          <p:cNvPr id="33" name="Text 30"/>
          <p:cNvSpPr/>
          <p:nvPr/>
        </p:nvSpPr>
        <p:spPr>
          <a:xfrm>
            <a:off x="700088" y="3810409"/>
            <a:ext cx="3650456" cy="340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SAP IBP + LightGBM forecasting — demand, inventory, and supplier risk across multi-echelon supply chain.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4629150" y="3128963"/>
            <a:ext cx="4000500" cy="1300163"/>
          </a:xfrm>
          <a:prstGeom prst="roundRect">
            <a:avLst>
              <a:gd name="adj" fmla="val 7326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2"/>
          <p:cNvSpPr/>
          <p:nvPr/>
        </p:nvSpPr>
        <p:spPr>
          <a:xfrm>
            <a:off x="4629150" y="3132534"/>
            <a:ext cx="40005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626078" y="3128963"/>
            <a:ext cx="0" cy="13001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629150" y="4425553"/>
            <a:ext cx="40005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643438" y="3128963"/>
            <a:ext cx="0" cy="1300163"/>
          </a:xfrm>
          <a:prstGeom prst="line">
            <a:avLst/>
          </a:prstGeom>
          <a:noFill/>
          <a:ln w="28575">
            <a:solidFill>
              <a:srgbClr val="FF6C0E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814888" y="3278981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969" dirty="0"/>
          </a:p>
        </p:txBody>
      </p:sp>
      <p:sp>
        <p:nvSpPr>
          <p:cNvPr id="40" name="Text 37"/>
          <p:cNvSpPr/>
          <p:nvPr/>
        </p:nvSpPr>
        <p:spPr>
          <a:xfrm>
            <a:off x="8304407" y="3303984"/>
            <a:ext cx="1813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79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</a:t>
            </a:r>
            <a:endParaRPr lang="en-US" sz="788" dirty="0"/>
          </a:p>
        </p:txBody>
      </p:sp>
      <p:sp>
        <p:nvSpPr>
          <p:cNvPr id="41" name="Text 38"/>
          <p:cNvSpPr/>
          <p:nvPr/>
        </p:nvSpPr>
        <p:spPr>
          <a:xfrm>
            <a:off x="4814888" y="3550444"/>
            <a:ext cx="3760184" cy="20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Connected Factory Operations</a:t>
            </a:r>
            <a:endParaRPr lang="en-US" sz="1238" dirty="0"/>
          </a:p>
        </p:txBody>
      </p:sp>
      <p:sp>
        <p:nvSpPr>
          <p:cNvPr id="42" name="Text 39"/>
          <p:cNvSpPr/>
          <p:nvPr/>
        </p:nvSpPr>
        <p:spPr>
          <a:xfrm>
            <a:off x="4814888" y="3810409"/>
            <a:ext cx="3650456" cy="340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IoT SiteWise + Siemens Opcenter — real-time OEE, digital twin, and ISA-95 hierarchy visibility.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14350" y="4754166"/>
            <a:ext cx="3979627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4508264" y="4750594"/>
            <a:ext cx="3529682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12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7993120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APPLICATIONS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285750"/>
            <a:ext cx="811530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628650"/>
            <a:ext cx="86296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REFERENCE ARCHITECTURE · MANUFACTURING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832247"/>
            <a:ext cx="8629650" cy="25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575" b="1" spc="-1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reference architecture for ai transformation — manufacturing.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514350" y="1129382"/>
            <a:ext cx="70008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Five layers with real manufacturing technology platforms — not generic terms.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660922"/>
            <a:ext cx="8108156" cy="550069"/>
          </a:xfrm>
          <a:prstGeom prst="roundRect">
            <a:avLst>
              <a:gd name="adj" fmla="val 1385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21494" y="1664494"/>
            <a:ext cx="928688" cy="542925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1446609" y="1664494"/>
            <a:ext cx="0" cy="54292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21494" y="1664494"/>
            <a:ext cx="928688" cy="542925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LAYER 1</a:t>
            </a:r>
            <a:endParaRPr lang="en-US" sz="800" dirty="0"/>
          </a:p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568053" y="1830586"/>
            <a:ext cx="1576313" cy="210741"/>
          </a:xfrm>
          <a:prstGeom prst="roundRect">
            <a:avLst>
              <a:gd name="adj" fmla="val 18079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1564481" y="1827014"/>
            <a:ext cx="1626319" cy="304246"/>
          </a:xfrm>
          <a:prstGeom prst="rect">
            <a:avLst/>
          </a:prstGeom>
          <a:noFill/>
          <a:ln/>
        </p:spPr>
        <p:txBody>
          <a:bodyPr wrap="square" lIns="78581" tIns="42863" rIns="78581" bIns="42863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OEM Manual Copilot (Azure OpenAI)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3237235" y="1830586"/>
            <a:ext cx="1305297" cy="210741"/>
          </a:xfrm>
          <a:prstGeom prst="roundRect">
            <a:avLst>
              <a:gd name="adj" fmla="val 18079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3233663" y="1827014"/>
            <a:ext cx="1355303" cy="304246"/>
          </a:xfrm>
          <a:prstGeom prst="rect">
            <a:avLst/>
          </a:prstGeom>
          <a:noFill/>
          <a:ln/>
        </p:spPr>
        <p:txBody>
          <a:bodyPr wrap="square" lIns="78581" tIns="42863" rIns="78581" bIns="42863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Quality Report GenAI (GPT-4)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635401" y="1830586"/>
            <a:ext cx="1334988" cy="210741"/>
          </a:xfrm>
          <a:prstGeom prst="roundRect">
            <a:avLst>
              <a:gd name="adj" fmla="val 18079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4631829" y="1827014"/>
            <a:ext cx="1384995" cy="304246"/>
          </a:xfrm>
          <a:prstGeom prst="rect">
            <a:avLst/>
          </a:prstGeom>
          <a:noFill/>
          <a:ln/>
        </p:spPr>
        <p:txBody>
          <a:bodyPr wrap="square" lIns="78581" tIns="42863" rIns="78581" bIns="42863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Schedule Copilot (Claude 3.5)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063258" y="1830586"/>
            <a:ext cx="1335881" cy="210741"/>
          </a:xfrm>
          <a:prstGeom prst="roundRect">
            <a:avLst>
              <a:gd name="adj" fmla="val 18079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6059686" y="1827014"/>
            <a:ext cx="2448520" cy="304246"/>
          </a:xfrm>
          <a:prstGeom prst="rect">
            <a:avLst/>
          </a:prstGeom>
          <a:noFill/>
          <a:ln/>
        </p:spPr>
        <p:txBody>
          <a:bodyPr wrap="square" lIns="78581" tIns="42863" rIns="78581" bIns="42863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Safety Summariser (LLaMA 3)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17922" y="2289572"/>
            <a:ext cx="8108156" cy="550069"/>
          </a:xfrm>
          <a:prstGeom prst="roundRect">
            <a:avLst>
              <a:gd name="adj" fmla="val 1385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21494" y="2293144"/>
            <a:ext cx="928688" cy="542925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8"/>
          <p:cNvSpPr/>
          <p:nvPr/>
        </p:nvSpPr>
        <p:spPr>
          <a:xfrm>
            <a:off x="1446609" y="2293144"/>
            <a:ext cx="0" cy="54292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21494" y="2293144"/>
            <a:ext cx="928688" cy="542925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LAYER 2</a:t>
            </a:r>
            <a:endParaRPr lang="en-US" sz="800" dirty="0"/>
          </a:p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ORCHESTRATION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1564481" y="2442862"/>
            <a:ext cx="1240668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1564481" y="2455664"/>
            <a:ext cx="1240668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LangGraph Agent (SAP PM)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2894447" y="2459236"/>
            <a:ext cx="1414797" cy="210741"/>
          </a:xfrm>
          <a:prstGeom prst="roundRect">
            <a:avLst>
              <a:gd name="adj" fmla="val 18079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2890875" y="2455664"/>
            <a:ext cx="1464804" cy="304246"/>
          </a:xfrm>
          <a:prstGeom prst="rect">
            <a:avLst/>
          </a:prstGeom>
          <a:noFill/>
          <a:ln/>
        </p:spPr>
        <p:txBody>
          <a:bodyPr wrap="square" lIns="78581" tIns="42863" rIns="78581" bIns="42863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RAG Pipeline (Cognitive Search)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4402113" y="2459236"/>
            <a:ext cx="1260202" cy="210741"/>
          </a:xfrm>
          <a:prstGeom prst="roundRect">
            <a:avLst>
              <a:gd name="adj" fmla="val 18079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4398541" y="2455664"/>
            <a:ext cx="1310208" cy="304246"/>
          </a:xfrm>
          <a:prstGeom prst="rect">
            <a:avLst/>
          </a:prstGeom>
          <a:noFill/>
          <a:ln/>
        </p:spPr>
        <p:txBody>
          <a:bodyPr wrap="square" lIns="78581" tIns="42863" rIns="78581" bIns="42863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Vision Agent (NVIDIA Triton)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751612" y="2442862"/>
            <a:ext cx="1007157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5751612" y="2455664"/>
            <a:ext cx="1007157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Eval Harness (Ragas)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17922" y="2918222"/>
            <a:ext cx="8108156" cy="550069"/>
          </a:xfrm>
          <a:prstGeom prst="roundRect">
            <a:avLst>
              <a:gd name="adj" fmla="val 1385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521494" y="2921794"/>
            <a:ext cx="928688" cy="542925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0"/>
          <p:cNvSpPr/>
          <p:nvPr/>
        </p:nvSpPr>
        <p:spPr>
          <a:xfrm>
            <a:off x="1446609" y="2921794"/>
            <a:ext cx="0" cy="54292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21494" y="2921794"/>
            <a:ext cx="928688" cy="542925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LAYER 3</a:t>
            </a:r>
            <a:endParaRPr lang="en-US" sz="800" dirty="0"/>
          </a:p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MODELS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1564481" y="3071512"/>
            <a:ext cx="821978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1564481" y="3084314"/>
            <a:ext cx="821978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LSTM (Vibration)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2472184" y="3071512"/>
            <a:ext cx="862496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2472184" y="3084314"/>
            <a:ext cx="862496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YOLOv8 (Defects)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3420405" y="3071512"/>
            <a:ext cx="969764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3420405" y="3084314"/>
            <a:ext cx="969764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LightGBM (Demand)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475894" y="3071512"/>
            <a:ext cx="1017761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4475894" y="3084314"/>
            <a:ext cx="1017761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Isolation Forest (OEE)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517922" y="3546872"/>
            <a:ext cx="8108156" cy="550069"/>
          </a:xfrm>
          <a:prstGeom prst="roundRect">
            <a:avLst>
              <a:gd name="adj" fmla="val 1385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1"/>
          <p:cNvSpPr/>
          <p:nvPr/>
        </p:nvSpPr>
        <p:spPr>
          <a:xfrm>
            <a:off x="521494" y="3550444"/>
            <a:ext cx="928688" cy="542925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Shape 42"/>
          <p:cNvSpPr/>
          <p:nvPr/>
        </p:nvSpPr>
        <p:spPr>
          <a:xfrm>
            <a:off x="1446609" y="3550444"/>
            <a:ext cx="0" cy="54292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21494" y="3550444"/>
            <a:ext cx="928688" cy="542925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LAYER 4</a:t>
            </a:r>
            <a:endParaRPr lang="en-US" sz="800" dirty="0"/>
          </a:p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1564481" y="3700162"/>
            <a:ext cx="855687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5"/>
          <p:cNvSpPr/>
          <p:nvPr/>
        </p:nvSpPr>
        <p:spPr>
          <a:xfrm>
            <a:off x="1564481" y="3712964"/>
            <a:ext cx="855687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IoT SiteWise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2505894" y="3700162"/>
            <a:ext cx="1143670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7"/>
          <p:cNvSpPr/>
          <p:nvPr/>
        </p:nvSpPr>
        <p:spPr>
          <a:xfrm>
            <a:off x="2505894" y="3712964"/>
            <a:ext cx="114367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Pinecone (OEM Manuals)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3735288" y="3700162"/>
            <a:ext cx="845753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9"/>
          <p:cNvSpPr/>
          <p:nvPr/>
        </p:nvSpPr>
        <p:spPr>
          <a:xfrm>
            <a:off x="3735288" y="3712964"/>
            <a:ext cx="845753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SAP QM (Quality)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4666766" y="3700162"/>
            <a:ext cx="1004255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1"/>
          <p:cNvSpPr/>
          <p:nvPr/>
        </p:nvSpPr>
        <p:spPr>
          <a:xfrm>
            <a:off x="4666766" y="3712964"/>
            <a:ext cx="1004255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MTConnect (Sensors)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517922" y="4175522"/>
            <a:ext cx="8108156" cy="550069"/>
          </a:xfrm>
          <a:prstGeom prst="roundRect">
            <a:avLst>
              <a:gd name="adj" fmla="val 1385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3"/>
          <p:cNvSpPr/>
          <p:nvPr/>
        </p:nvSpPr>
        <p:spPr>
          <a:xfrm>
            <a:off x="521494" y="4179094"/>
            <a:ext cx="928688" cy="542925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Shape 54"/>
          <p:cNvSpPr/>
          <p:nvPr/>
        </p:nvSpPr>
        <p:spPr>
          <a:xfrm>
            <a:off x="1446609" y="4179094"/>
            <a:ext cx="0" cy="54292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521494" y="4179094"/>
            <a:ext cx="928688" cy="542925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LAYER 5</a:t>
            </a:r>
            <a:endParaRPr lang="en-US" sz="800" dirty="0"/>
          </a:p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PLATFORM</a:t>
            </a:r>
            <a:endParaRPr lang="en-US" sz="800" dirty="0"/>
          </a:p>
        </p:txBody>
      </p:sp>
      <p:sp>
        <p:nvSpPr>
          <p:cNvPr id="59" name="Text 56"/>
          <p:cNvSpPr/>
          <p:nvPr/>
        </p:nvSpPr>
        <p:spPr>
          <a:xfrm>
            <a:off x="1564481" y="4328812"/>
            <a:ext cx="829791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7"/>
          <p:cNvSpPr/>
          <p:nvPr/>
        </p:nvSpPr>
        <p:spPr>
          <a:xfrm>
            <a:off x="1564481" y="4341614"/>
            <a:ext cx="829791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SageMaker Edge</a:t>
            </a:r>
            <a:endParaRPr lang="en-US" sz="800" dirty="0"/>
          </a:p>
        </p:txBody>
      </p:sp>
      <p:sp>
        <p:nvSpPr>
          <p:cNvPr id="61" name="Text 58"/>
          <p:cNvSpPr/>
          <p:nvPr/>
        </p:nvSpPr>
        <p:spPr>
          <a:xfrm>
            <a:off x="2479997" y="4328812"/>
            <a:ext cx="1027807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59"/>
          <p:cNvSpPr/>
          <p:nvPr/>
        </p:nvSpPr>
        <p:spPr>
          <a:xfrm>
            <a:off x="2479997" y="4341614"/>
            <a:ext cx="1027807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MLflow + Evidently AI</a:t>
            </a:r>
            <a:endParaRPr lang="en-US" sz="800" dirty="0"/>
          </a:p>
        </p:txBody>
      </p:sp>
      <p:sp>
        <p:nvSpPr>
          <p:cNvPr id="63" name="Text 60"/>
          <p:cNvSpPr/>
          <p:nvPr/>
        </p:nvSpPr>
        <p:spPr>
          <a:xfrm>
            <a:off x="3593529" y="4328812"/>
            <a:ext cx="856469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1"/>
          <p:cNvSpPr/>
          <p:nvPr/>
        </p:nvSpPr>
        <p:spPr>
          <a:xfrm>
            <a:off x="3593529" y="4341614"/>
            <a:ext cx="856469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IEC 62443 AI Gov</a:t>
            </a:r>
            <a:endParaRPr lang="en-US" sz="800" dirty="0"/>
          </a:p>
        </p:txBody>
      </p:sp>
      <p:sp>
        <p:nvSpPr>
          <p:cNvPr id="65" name="Text 62"/>
          <p:cNvSpPr/>
          <p:nvPr/>
        </p:nvSpPr>
        <p:spPr>
          <a:xfrm>
            <a:off x="4535723" y="4328812"/>
            <a:ext cx="1071674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3"/>
          <p:cNvSpPr/>
          <p:nvPr/>
        </p:nvSpPr>
        <p:spPr>
          <a:xfrm>
            <a:off x="4535723" y="4341614"/>
            <a:ext cx="1071674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Prometheus + Grafana</a:t>
            </a:r>
            <a:endParaRPr lang="en-US" sz="800" dirty="0"/>
          </a:p>
        </p:txBody>
      </p:sp>
      <p:sp>
        <p:nvSpPr>
          <p:cNvPr id="67" name="Shape 64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514350" y="4754166"/>
            <a:ext cx="395953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69" name="Text 66"/>
          <p:cNvSpPr/>
          <p:nvPr/>
        </p:nvSpPr>
        <p:spPr>
          <a:xfrm>
            <a:off x="4488173" y="4750594"/>
            <a:ext cx="3509590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12</a:t>
            </a:r>
            <a:endParaRPr lang="en-US" sz="800" dirty="0"/>
          </a:p>
        </p:txBody>
      </p:sp>
      <p:sp>
        <p:nvSpPr>
          <p:cNvPr id="70" name="Text 67"/>
          <p:cNvSpPr/>
          <p:nvPr/>
        </p:nvSpPr>
        <p:spPr>
          <a:xfrm>
            <a:off x="7973028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ARCHITECTURE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285750"/>
            <a:ext cx="811530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628650"/>
            <a:ext cx="86296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ENGAGEMENT PATHWAY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832247"/>
            <a:ext cx="8629650" cy="25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575" b="1" spc="-1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four-stage pathway from discovery to managed operations.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514350" y="1129382"/>
            <a:ext cx="70008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stage carries concrete deliverables, a fixed duration, and a transparent commercial frame.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660922"/>
            <a:ext cx="1935956" cy="2707481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21506" y="1778794"/>
            <a:ext cx="1728788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68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01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21506" y="1950244"/>
            <a:ext cx="1728788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Discovery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21506" y="2130177"/>
            <a:ext cx="17287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4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 WEEKS · FIXED FEE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21506" y="2312343"/>
            <a:ext cx="1728788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21506" y="2390924"/>
            <a:ext cx="1728788" cy="140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7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21506" y="2558802"/>
            <a:ext cx="1728788" cy="1522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5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35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Transformation maturity assessment</a:t>
            </a:r>
            <a:endParaRPr lang="en-US" sz="800" dirty="0"/>
          </a:p>
          <a:p>
            <a:pPr algn="l" indent="0" marL="0">
              <a:lnSpc>
                <a:spcPts val="835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35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OT/IT landscape mapping</a:t>
            </a:r>
            <a:endParaRPr lang="en-US" sz="800" dirty="0"/>
          </a:p>
          <a:p>
            <a:pPr algn="l" indent="0" marL="0">
              <a:lnSpc>
                <a:spcPts val="835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35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ISA-95 gap analysis</a:t>
            </a:r>
            <a:endParaRPr lang="en-US" sz="800" dirty="0"/>
          </a:p>
          <a:p>
            <a:pPr algn="l" indent="0" marL="0">
              <a:lnSpc>
                <a:spcPts val="835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35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90-day roadmap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621506" y="4050506"/>
            <a:ext cx="172878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506" y="4046934"/>
            <a:ext cx="1728788" cy="203597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$25K–$75K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575322" y="1660922"/>
            <a:ext cx="1935956" cy="2707481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2678906" y="1778794"/>
            <a:ext cx="1728788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68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02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2678906" y="1950244"/>
            <a:ext cx="1728787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Solution Design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678906" y="2130177"/>
            <a:ext cx="172878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4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3–4 WEEKS · FIXED FEE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2678906" y="2312343"/>
            <a:ext cx="1728788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2678906" y="2390924"/>
            <a:ext cx="1728788" cy="140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7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2678906" y="2558802"/>
            <a:ext cx="1728788" cy="1522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5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35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Target architecture (OT/IT)</a:t>
            </a:r>
            <a:endParaRPr lang="en-US" sz="800" dirty="0"/>
          </a:p>
          <a:p>
            <a:pPr algn="l" indent="0" marL="0">
              <a:lnSpc>
                <a:spcPts val="835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35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IEC 62443 security design</a:t>
            </a:r>
            <a:endParaRPr lang="en-US" sz="800" dirty="0"/>
          </a:p>
          <a:p>
            <a:pPr algn="l" indent="0" marL="0">
              <a:lnSpc>
                <a:spcPts val="835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35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Platform selection</a:t>
            </a:r>
            <a:endParaRPr lang="en-US" sz="800" dirty="0"/>
          </a:p>
          <a:p>
            <a:pPr algn="l" indent="0" marL="0">
              <a:lnSpc>
                <a:spcPts val="835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35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Build plan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2678906" y="4050506"/>
            <a:ext cx="172878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678906" y="4046934"/>
            <a:ext cx="1728788" cy="203597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$50K–$150K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4632722" y="1660922"/>
            <a:ext cx="1935956" cy="2707481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4736306" y="1778794"/>
            <a:ext cx="1728788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68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03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4736306" y="1950244"/>
            <a:ext cx="1728788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Delivery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4736306" y="2130177"/>
            <a:ext cx="172878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4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8–24 WEEKS · T&amp;M OR FIXED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736306" y="2312343"/>
            <a:ext cx="1728788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4736306" y="2390924"/>
            <a:ext cx="1728788" cy="140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7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4736306" y="2558802"/>
            <a:ext cx="1728788" cy="1522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5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35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system</a:t>
            </a:r>
            <a:endParaRPr lang="en-US" sz="800" dirty="0"/>
          </a:p>
          <a:p>
            <a:pPr algn="l" indent="0" marL="0">
              <a:lnSpc>
                <a:spcPts val="835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35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OT/IT integration</a:t>
            </a:r>
            <a:endParaRPr lang="en-US" sz="800" dirty="0"/>
          </a:p>
          <a:p>
            <a:pPr algn="l" indent="0" marL="0">
              <a:lnSpc>
                <a:spcPts val="835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35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IEC 62443 validation</a:t>
            </a:r>
            <a:endParaRPr lang="en-US" sz="800" dirty="0"/>
          </a:p>
          <a:p>
            <a:pPr algn="l" indent="0" marL="0">
              <a:lnSpc>
                <a:spcPts val="835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35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Knowledge transfer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4736306" y="4050506"/>
            <a:ext cx="172878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736306" y="4046934"/>
            <a:ext cx="1728788" cy="203597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$300K–$1M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6690122" y="1660922"/>
            <a:ext cx="1935956" cy="2707481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6793706" y="1778794"/>
            <a:ext cx="1728788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68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04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6793706" y="1950244"/>
            <a:ext cx="1728788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Managed Operations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6793706" y="2130177"/>
            <a:ext cx="172878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4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ONGOING · RETAINER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793706" y="2312343"/>
            <a:ext cx="1728788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6793706" y="2390924"/>
            <a:ext cx="1728788" cy="140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7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6793706" y="2558802"/>
            <a:ext cx="1728788" cy="1522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5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35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Managed services (OT-aware)</a:t>
            </a:r>
            <a:endParaRPr lang="en-US" sz="800" dirty="0"/>
          </a:p>
          <a:p>
            <a:pPr algn="l" indent="0" marL="0">
              <a:lnSpc>
                <a:spcPts val="835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35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Continuous optimization</a:t>
            </a:r>
            <a:endParaRPr lang="en-US" sz="800" dirty="0"/>
          </a:p>
          <a:p>
            <a:pPr algn="l" indent="0" marL="0">
              <a:lnSpc>
                <a:spcPts val="835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35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Quarterly reviews</a:t>
            </a:r>
            <a:endParaRPr lang="en-US" sz="800" dirty="0"/>
          </a:p>
          <a:p>
            <a:pPr algn="l" indent="0" marL="0">
              <a:lnSpc>
                <a:spcPts val="835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35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SLA-backed operations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6793706" y="4050506"/>
            <a:ext cx="172878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793706" y="4046934"/>
            <a:ext cx="1728788" cy="203597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$50K–$500K / mo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14350" y="4754166"/>
            <a:ext cx="3786076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4314713" y="4750594"/>
            <a:ext cx="3336243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/ 12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7665244" y="4750594"/>
            <a:ext cx="96440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ENGAGEMENT PATHWAY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285750"/>
            <a:ext cx="811530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628650"/>
            <a:ext cx="86296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KEFI TECH · MANUFACTURING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832247"/>
            <a:ext cx="8629650" cy="277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spc="-1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reasons manufacturing enterprises work with us.</a:t>
            </a:r>
            <a:endParaRPr lang="en-US" sz="1688" dirty="0"/>
          </a:p>
        </p:txBody>
      </p:sp>
      <p:sp>
        <p:nvSpPr>
          <p:cNvPr id="6" name="Text 3"/>
          <p:cNvSpPr/>
          <p:nvPr/>
        </p:nvSpPr>
        <p:spPr>
          <a:xfrm>
            <a:off x="514350" y="1146572"/>
            <a:ext cx="70008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 generic IT services. OT-aware, ISA-95 aligned, IEC 62443 compliant.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4350" y="1771650"/>
            <a:ext cx="3986213" cy="1214438"/>
          </a:xfrm>
          <a:prstGeom prst="roundRect">
            <a:avLst>
              <a:gd name="adj" fmla="val 627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514350" y="1775222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496991" y="1771650"/>
            <a:ext cx="0" cy="1214438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14350" y="2982516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28638" y="1771650"/>
            <a:ext cx="0" cy="1214438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28663" y="1935956"/>
            <a:ext cx="3579019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spc="90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28663" y="2178844"/>
            <a:ext cx="3579019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1013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OT/IT convergence</a:t>
            </a:r>
            <a:endParaRPr lang="en-US" sz="1013" dirty="0"/>
          </a:p>
        </p:txBody>
      </p:sp>
      <p:sp>
        <p:nvSpPr>
          <p:cNvPr id="14" name="Text 11"/>
          <p:cNvSpPr/>
          <p:nvPr/>
        </p:nvSpPr>
        <p:spPr>
          <a:xfrm>
            <a:off x="728663" y="2411016"/>
            <a:ext cx="3579019" cy="340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bridging operational technology (OPC UA, MTConnect) with IT (SAP, Oracle) — not cloud-only AI.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643438" y="1771650"/>
            <a:ext cx="3986213" cy="1214438"/>
          </a:xfrm>
          <a:prstGeom prst="roundRect">
            <a:avLst>
              <a:gd name="adj" fmla="val 627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4643438" y="1775222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626078" y="1771650"/>
            <a:ext cx="0" cy="1214438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43438" y="2982516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657725" y="1771650"/>
            <a:ext cx="0" cy="1214438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57750" y="1935956"/>
            <a:ext cx="3579019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spc="90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857750" y="2178844"/>
            <a:ext cx="3579019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1013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Edge-first deployment</a:t>
            </a:r>
            <a:endParaRPr lang="en-US" sz="1013" dirty="0"/>
          </a:p>
        </p:txBody>
      </p:sp>
      <p:sp>
        <p:nvSpPr>
          <p:cNvPr id="22" name="Text 19"/>
          <p:cNvSpPr/>
          <p:nvPr/>
        </p:nvSpPr>
        <p:spPr>
          <a:xfrm>
            <a:off x="4857750" y="2411016"/>
            <a:ext cx="3579019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NVIDIA Jetson + Azure IoT Edge inference at &lt;50ms latency on the factory floor.</a:t>
            </a:r>
            <a:endParaRPr lang="en-US" sz="675" dirty="0"/>
          </a:p>
        </p:txBody>
      </p:sp>
      <p:sp>
        <p:nvSpPr>
          <p:cNvPr id="23" name="Text 20"/>
          <p:cNvSpPr/>
          <p:nvPr/>
        </p:nvSpPr>
        <p:spPr>
          <a:xfrm>
            <a:off x="514350" y="3128963"/>
            <a:ext cx="3986213" cy="1214438"/>
          </a:xfrm>
          <a:prstGeom prst="roundRect">
            <a:avLst>
              <a:gd name="adj" fmla="val 627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1"/>
          <p:cNvSpPr/>
          <p:nvPr/>
        </p:nvSpPr>
        <p:spPr>
          <a:xfrm>
            <a:off x="514350" y="3132534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496991" y="3128963"/>
            <a:ext cx="0" cy="1214438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14350" y="4339828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28638" y="3128963"/>
            <a:ext cx="0" cy="1214438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28663" y="3293269"/>
            <a:ext cx="3579019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spc="90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728663" y="3536156"/>
            <a:ext cx="3579019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1013" b="1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ISA-95 aligned</a:t>
            </a:r>
            <a:endParaRPr lang="en-US" sz="1013" dirty="0"/>
          </a:p>
        </p:txBody>
      </p:sp>
      <p:sp>
        <p:nvSpPr>
          <p:cNvPr id="30" name="Text 27"/>
          <p:cNvSpPr/>
          <p:nvPr/>
        </p:nvSpPr>
        <p:spPr>
          <a:xfrm>
            <a:off x="728663" y="3768328"/>
            <a:ext cx="3579019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capabilities mapped to ISA-95 hierarchy — enterprise, site, area, line, cell.</a:t>
            </a:r>
            <a:endParaRPr lang="en-US" sz="675" dirty="0"/>
          </a:p>
        </p:txBody>
      </p:sp>
      <p:sp>
        <p:nvSpPr>
          <p:cNvPr id="31" name="Text 28"/>
          <p:cNvSpPr/>
          <p:nvPr/>
        </p:nvSpPr>
        <p:spPr>
          <a:xfrm>
            <a:off x="4643438" y="3128963"/>
            <a:ext cx="3986213" cy="1214438"/>
          </a:xfrm>
          <a:prstGeom prst="roundRect">
            <a:avLst>
              <a:gd name="adj" fmla="val 627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29"/>
          <p:cNvSpPr/>
          <p:nvPr/>
        </p:nvSpPr>
        <p:spPr>
          <a:xfrm>
            <a:off x="4643438" y="3132534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626078" y="3128963"/>
            <a:ext cx="0" cy="1214438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643438" y="4339828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657725" y="3128963"/>
            <a:ext cx="0" cy="1214438"/>
          </a:xfrm>
          <a:prstGeom prst="line">
            <a:avLst/>
          </a:prstGeom>
          <a:noFill/>
          <a:ln w="28575">
            <a:solidFill>
              <a:srgbClr val="FF6C0E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857750" y="3293269"/>
            <a:ext cx="3579019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spc="90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4857750" y="3536156"/>
            <a:ext cx="3579019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1013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Safety-grade AI</a:t>
            </a:r>
            <a:endParaRPr lang="en-US" sz="1013" dirty="0"/>
          </a:p>
        </p:txBody>
      </p:sp>
      <p:sp>
        <p:nvSpPr>
          <p:cNvPr id="38" name="Text 35"/>
          <p:cNvSpPr/>
          <p:nvPr/>
        </p:nvSpPr>
        <p:spPr>
          <a:xfrm>
            <a:off x="4857750" y="3768328"/>
            <a:ext cx="3579019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IEC 61508 SIL and ISO 13849 compliant AI for worker-safety-critical applications.</a:t>
            </a:r>
            <a:endParaRPr lang="en-US" sz="675" dirty="0"/>
          </a:p>
        </p:txBody>
      </p:sp>
      <p:sp>
        <p:nvSpPr>
          <p:cNvPr id="39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14350" y="4754166"/>
            <a:ext cx="395116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479801" y="4750594"/>
            <a:ext cx="3501330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/ 12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7967409" y="4750594"/>
            <a:ext cx="69025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KEFI TECH</a:t>
            </a:r>
            <a:endParaRPr lang="en-US" sz="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pic>
        <p:nvPicPr>
          <p:cNvPr id="3" name="Image 1" descr="/tmp/h2p-fit-1790845391585-k6u1h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685800"/>
            <a:ext cx="1857375" cy="30215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42950" y="1714500"/>
            <a:ext cx="447531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GET IN TOUCH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742950" y="1960959"/>
            <a:ext cx="3541966" cy="3925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307"/>
              </a:lnSpc>
              <a:buNone/>
            </a:pPr>
            <a:r>
              <a:rPr lang="en-US" sz="3150" b="1" spc="-79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Let us engineer</a:t>
            </a:r>
            <a:endParaRPr lang="en-US" sz="3150" dirty="0"/>
          </a:p>
        </p:txBody>
      </p:sp>
      <p:sp>
        <p:nvSpPr>
          <p:cNvPr id="6" name="Text 2"/>
          <p:cNvSpPr/>
          <p:nvPr/>
        </p:nvSpPr>
        <p:spPr>
          <a:xfrm>
            <a:off x="742950" y="2380990"/>
            <a:ext cx="3953509" cy="45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7"/>
              </a:lnSpc>
              <a:buNone/>
            </a:pPr>
            <a:r>
              <a:rPr lang="en-US" sz="3150" b="1" spc="-79" kern="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is next.</a:t>
            </a:r>
            <a:endParaRPr lang="en-US" sz="3150" dirty="0"/>
          </a:p>
        </p:txBody>
      </p:sp>
      <p:sp>
        <p:nvSpPr>
          <p:cNvPr id="7" name="Text 3"/>
          <p:cNvSpPr/>
          <p:nvPr/>
        </p:nvSpPr>
        <p:spPr>
          <a:xfrm>
            <a:off x="742950" y="2972470"/>
            <a:ext cx="342900" cy="21431"/>
          </a:xfrm>
          <a:prstGeom prst="roundRect">
            <a:avLst>
              <a:gd name="adj" fmla="val 88890"/>
            </a:avLst>
          </a:prstGeom>
          <a:solidFill>
            <a:srgbClr val="FF6C0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742950" y="3151063"/>
            <a:ext cx="3643165" cy="155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 · www.kefitech.com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742950" y="3333899"/>
            <a:ext cx="3643165" cy="19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Bengaluru, India · Hyderabad, India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7211062" y="1757363"/>
            <a:ext cx="954244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125"/>
              </a:lnSpc>
              <a:buNone/>
            </a:pPr>
            <a:r>
              <a:rPr lang="en-US" sz="900" spc="72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Discover.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7211062" y="2643188"/>
            <a:ext cx="954244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125"/>
              </a:lnSpc>
              <a:buNone/>
            </a:pPr>
            <a:r>
              <a:rPr lang="en-US" sz="900" spc="72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Engineer.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7529093" y="3529013"/>
            <a:ext cx="636213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125"/>
              </a:lnSpc>
              <a:buNone/>
            </a:pPr>
            <a:r>
              <a:rPr lang="en-US" sz="900" spc="72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Scale.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8393906" y="1714500"/>
            <a:ext cx="7144" cy="2000250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0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14350" y="4754166"/>
            <a:ext cx="336080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3889437" y="4750594"/>
            <a:ext cx="291085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 / 12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6814579" y="4750594"/>
            <a:ext cx="192397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 · WWW.KEFITECH.COM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2026-10-01T09:03:11Z</dcterms:created>
  <dcterms:modified xsi:type="dcterms:W3CDTF">2026-10-01T09:03:11Z</dcterms:modified>
</cp:coreProperties>
</file>