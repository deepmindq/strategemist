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80298" y="457200"/>
            <a:ext cx="336370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ANALYTICS AND DATA ENGINEERING SERVICES · 2026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1714500"/>
            <a:ext cx="69033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1960959"/>
            <a:ext cx="5143500" cy="93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2950" y="2920901"/>
            <a:ext cx="5400675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Education.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42950" y="360089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2950" y="3779490"/>
            <a:ext cx="457200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Data Analytics &amp; Data Engineering Services for Education.</a:t>
            </a:r>
            <a:endParaRPr lang="en-US" sz="1238" dirty="0"/>
          </a:p>
        </p:txBody>
      </p:sp>
      <p:sp>
        <p:nvSpPr>
          <p:cNvPr id="9" name="Shape 6"/>
          <p:cNvSpPr/>
          <p:nvPr/>
        </p:nvSpPr>
        <p:spPr>
          <a:xfrm>
            <a:off x="6347222" y="1571625"/>
            <a:ext cx="0" cy="117559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50819" y="1571625"/>
            <a:ext cx="2078831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788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963277" y="1707356"/>
            <a:ext cx="1666373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Strategy &amp; Governance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50819" y="2030164"/>
            <a:ext cx="2078831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788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706986" y="2165896"/>
            <a:ext cx="1922664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Engineering &amp; Integration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550819" y="2488704"/>
            <a:ext cx="2078831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788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06986" y="2624435"/>
            <a:ext cx="1922664" cy="122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4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Platforms &amp; Modernization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4350" y="4754166"/>
            <a:ext cx="56042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132909" y="4750594"/>
            <a:ext cx="24967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DATA ANALYTICS AND DATA ENGINEERING SERVICES</a:t>
            </a:r>
            <a:endParaRPr lang="en-US" sz="600" dirty="0"/>
          </a:p>
        </p:txBody>
      </p:sp>
      <p:pic>
        <p:nvPicPr>
          <p:cNvPr id="19" name="Image 1" descr="/tmp/h2p-fit-1790845418405-wft05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400050"/>
            <a:ext cx="1857375" cy="302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66130"/>
            <a:ext cx="617945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708093" y="457200"/>
            <a:ext cx="22492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75097"/>
            <a:ext cx="7858125" cy="51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is being reshaped by digital learning, institutional automation and student lifecycle intelligence.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326505"/>
            <a:ext cx="7858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success, faculty productivity, institutional efficiency and digital experience define modern education.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26543"/>
            <a:ext cx="3993356" cy="2486918"/>
          </a:xfrm>
          <a:prstGeom prst="roundRect">
            <a:avLst>
              <a:gd name="adj" fmla="val 459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787277"/>
            <a:ext cx="37530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EDUCATION NEEDS THIS NOW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6516" y="2012305"/>
            <a:ext cx="3636169" cy="425276"/>
          </a:xfrm>
          <a:prstGeom prst="roundRect">
            <a:avLst>
              <a:gd name="adj" fmla="val 223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0100" y="2108746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1" name="Text 8"/>
          <p:cNvSpPr/>
          <p:nvPr/>
        </p:nvSpPr>
        <p:spPr>
          <a:xfrm>
            <a:off x="1028700" y="2101602"/>
            <a:ext cx="2535062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28700" y="2234431"/>
            <a:ext cx="234728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696516" y="2516163"/>
            <a:ext cx="3636169" cy="425276"/>
          </a:xfrm>
          <a:prstGeom prst="roundRect">
            <a:avLst>
              <a:gd name="adj" fmla="val 223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00100" y="261260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1028700" y="2605460"/>
            <a:ext cx="3050658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28700" y="2738289"/>
            <a:ext cx="282468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696516" y="3020020"/>
            <a:ext cx="3636169" cy="425276"/>
          </a:xfrm>
          <a:prstGeom prst="roundRect">
            <a:avLst>
              <a:gd name="adj" fmla="val 223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00100" y="311646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9" name="Text 16"/>
          <p:cNvSpPr/>
          <p:nvPr/>
        </p:nvSpPr>
        <p:spPr>
          <a:xfrm>
            <a:off x="1028700" y="3109317"/>
            <a:ext cx="2745062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28700" y="3242146"/>
            <a:ext cx="2541724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696516" y="3523878"/>
            <a:ext cx="3636169" cy="425276"/>
          </a:xfrm>
          <a:prstGeom prst="roundRect">
            <a:avLst>
              <a:gd name="adj" fmla="val 2239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00100" y="36203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1028700" y="3613175"/>
            <a:ext cx="2903586" cy="10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28700" y="3746004"/>
            <a:ext cx="268850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4689872" y="1626543"/>
            <a:ext cx="3136106" cy="2486918"/>
          </a:xfrm>
          <a:prstGeom prst="roundRect">
            <a:avLst>
              <a:gd name="adj" fmla="val 4596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864894" y="1787277"/>
            <a:ext cx="2786063" cy="3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DATA ANALYTICS &amp; DATA ENGINEERING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864894" y="2115889"/>
            <a:ext cx="2786063" cy="890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applied to education requires industry-specific capability, not generic technology. The right approach connects data analytics &amp; data engineering to the regulatory, operational and customer realities that define education.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64894" y="3069357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864894" y="3069357"/>
            <a:ext cx="1477194" cy="197510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382849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357129" y="4750594"/>
            <a:ext cx="337865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750076" y="4750594"/>
            <a:ext cx="87957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EDUCATION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66130"/>
            <a:ext cx="732111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849753" y="457200"/>
            <a:ext cx="10346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across the complete lifecycle.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29370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education.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00832"/>
            <a:ext cx="1893094" cy="564356"/>
          </a:xfrm>
          <a:prstGeom prst="roundRect">
            <a:avLst>
              <a:gd name="adj" fmla="val 168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39081" y="149728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1281968" y="1508001"/>
            <a:ext cx="10111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414588" y="149728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2589609" y="1300832"/>
            <a:ext cx="1893094" cy="564356"/>
          </a:xfrm>
          <a:prstGeom prst="roundRect">
            <a:avLst>
              <a:gd name="adj" fmla="val 168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233998" y="149728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3" name="Text 10"/>
          <p:cNvSpPr/>
          <p:nvPr/>
        </p:nvSpPr>
        <p:spPr>
          <a:xfrm>
            <a:off x="3476885" y="1508001"/>
            <a:ext cx="8879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86275" y="149728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4661297" y="1300832"/>
            <a:ext cx="1893094" cy="564356"/>
          </a:xfrm>
          <a:prstGeom prst="roundRect">
            <a:avLst>
              <a:gd name="adj" fmla="val 168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157006" y="149728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7" name="Text 14"/>
          <p:cNvSpPr/>
          <p:nvPr/>
        </p:nvSpPr>
        <p:spPr>
          <a:xfrm>
            <a:off x="5399894" y="1508001"/>
            <a:ext cx="1036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57963" y="149728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6732984" y="1300832"/>
            <a:ext cx="1893094" cy="564356"/>
          </a:xfrm>
          <a:prstGeom prst="roundRect">
            <a:avLst>
              <a:gd name="adj" fmla="val 16878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289081" y="1497285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1" name="Text 18"/>
          <p:cNvSpPr/>
          <p:nvPr/>
        </p:nvSpPr>
        <p:spPr>
          <a:xfrm>
            <a:off x="7531968" y="1508001"/>
            <a:ext cx="9762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7922" y="2000920"/>
            <a:ext cx="2640732" cy="878681"/>
          </a:xfrm>
          <a:prstGeom prst="roundRect">
            <a:avLst>
              <a:gd name="adj" fmla="val 1084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35794" y="210450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24" name="Text 21"/>
          <p:cNvSpPr/>
          <p:nvPr/>
        </p:nvSpPr>
        <p:spPr>
          <a:xfrm>
            <a:off x="2914343" y="2131293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635794" y="233310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35794" y="2548310"/>
            <a:ext cx="2404988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governance, lineage, MDM aligned to industry regulations.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51522" y="2000920"/>
            <a:ext cx="2640843" cy="878681"/>
          </a:xfrm>
          <a:prstGeom prst="roundRect">
            <a:avLst>
              <a:gd name="adj" fmla="val 1084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369394" y="210450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9" name="Text 26"/>
          <p:cNvSpPr/>
          <p:nvPr/>
        </p:nvSpPr>
        <p:spPr>
          <a:xfrm>
            <a:off x="5648056" y="2131293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30" name="Text 27"/>
          <p:cNvSpPr/>
          <p:nvPr/>
        </p:nvSpPr>
        <p:spPr>
          <a:xfrm>
            <a:off x="3369394" y="2333104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369394" y="2548310"/>
            <a:ext cx="2405100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pipelines, ETL/ELT, API integration, streaming ingestion.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985235" y="2000920"/>
            <a:ext cx="2640732" cy="878681"/>
          </a:xfrm>
          <a:prstGeom prst="roundRect">
            <a:avLst>
              <a:gd name="adj" fmla="val 1084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103107" y="210450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34" name="Text 31"/>
          <p:cNvSpPr/>
          <p:nvPr/>
        </p:nvSpPr>
        <p:spPr>
          <a:xfrm>
            <a:off x="8381656" y="2131293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35" name="Text 32"/>
          <p:cNvSpPr/>
          <p:nvPr/>
        </p:nvSpPr>
        <p:spPr>
          <a:xfrm>
            <a:off x="6103107" y="233310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103107" y="2548310"/>
            <a:ext cx="2404988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Lakehouse, warehouse, cloud platforms, legacy modernization.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7922" y="2972470"/>
            <a:ext cx="2640732" cy="878681"/>
          </a:xfrm>
          <a:prstGeom prst="roundRect">
            <a:avLst>
              <a:gd name="adj" fmla="val 1084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35794" y="307605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9" name="Text 36"/>
          <p:cNvSpPr/>
          <p:nvPr/>
        </p:nvSpPr>
        <p:spPr>
          <a:xfrm>
            <a:off x="2914343" y="3102843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40" name="Text 37"/>
          <p:cNvSpPr/>
          <p:nvPr/>
        </p:nvSpPr>
        <p:spPr>
          <a:xfrm>
            <a:off x="635794" y="330465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35794" y="3519860"/>
            <a:ext cx="2404988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Dashboards, self-service BI, executive analytics, regulatory reporting.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251522" y="2972470"/>
            <a:ext cx="2640843" cy="878681"/>
          </a:xfrm>
          <a:prstGeom prst="roundRect">
            <a:avLst>
              <a:gd name="adj" fmla="val 1084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369394" y="307605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688" dirty="0"/>
          </a:p>
        </p:txBody>
      </p:sp>
      <p:sp>
        <p:nvSpPr>
          <p:cNvPr id="44" name="Text 41"/>
          <p:cNvSpPr/>
          <p:nvPr/>
        </p:nvSpPr>
        <p:spPr>
          <a:xfrm>
            <a:off x="5648056" y="3102843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19" dirty="0"/>
          </a:p>
        </p:txBody>
      </p:sp>
      <p:sp>
        <p:nvSpPr>
          <p:cNvPr id="45" name="Text 42"/>
          <p:cNvSpPr/>
          <p:nvPr/>
        </p:nvSpPr>
        <p:spPr>
          <a:xfrm>
            <a:off x="3369394" y="3304654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 &amp; Data Science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369394" y="3519860"/>
            <a:ext cx="2405100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models, forecasting, optimisation, graph analytics.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985235" y="2972470"/>
            <a:ext cx="2640732" cy="878681"/>
          </a:xfrm>
          <a:prstGeom prst="roundRect">
            <a:avLst>
              <a:gd name="adj" fmla="val 1084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103107" y="307605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9" name="Text 46"/>
          <p:cNvSpPr/>
          <p:nvPr/>
        </p:nvSpPr>
        <p:spPr>
          <a:xfrm>
            <a:off x="8381656" y="3102843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19" dirty="0"/>
          </a:p>
        </p:txBody>
      </p:sp>
      <p:sp>
        <p:nvSpPr>
          <p:cNvPr id="50" name="Text 47"/>
          <p:cNvSpPr/>
          <p:nvPr/>
        </p:nvSpPr>
        <p:spPr>
          <a:xfrm>
            <a:off x="6103107" y="3304654"/>
            <a:ext cx="240498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103107" y="3519860"/>
            <a:ext cx="2404988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over enterprise data, conversational analytics, automated insights.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66130"/>
            <a:ext cx="646766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996299" y="457200"/>
            <a:ext cx="20493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2937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governance, lineage, MDM aligned to industry regulations.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29407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490142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711598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strategy &amp; governance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3883298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883298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EDUCATION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689872" y="1329407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64894" y="1490142"/>
            <a:ext cx="27860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68466" y="1715170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57763" y="177410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57788" y="17687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357813" y="1781584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Data Governance (FERPA)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57763" y="1918767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 for student records — privacy, consent, FERPA compliance via Collibra.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68466" y="2222376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57763" y="228131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57788" y="22759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357813" y="2288791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Data MDM (Informatica)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957763" y="2425973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Master data management for student records across Slate admissions, Banner SIS, Workday Student via Informatica.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68466" y="2729582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57763" y="278851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57788" y="278316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357813" y="2795997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FERPA-Compliant Data Architecture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57763" y="2933179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meeting FERPA, ADA, and student privacy protection requirements on AWS/Azure.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68466" y="3236788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57763" y="329572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57788" y="329036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357813" y="3303203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Learning Data Quality (Talend)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957763" y="3440385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controls for learning data — assessment integrity, completion, outcomes via Talend Data Quality.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68466" y="3743995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57763" y="38029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157788" y="37975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357813" y="3810409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Data Governance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957763" y="3947592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for research data — grants, IRB approvals, data sharing via Cayuse/Workday.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0603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34669" y="4750594"/>
            <a:ext cx="315619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305154" y="4750594"/>
            <a:ext cx="140396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66130"/>
            <a:ext cx="646766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996299" y="457200"/>
            <a:ext cx="20493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2937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pipelines, ETL/ELT, API integration, streaming ingestion.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29407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490142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711598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engineering &amp; integration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3883298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883298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EDUCATION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689872" y="1329407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64894" y="1490142"/>
            <a:ext cx="27860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68466" y="1715170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57763" y="177410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57788" y="176874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357813" y="1781584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LMS Integration Pipeline (Canvas LTI)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57763" y="1918767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pipeline ingesting Canvas/Brightspace LMS data via LTI 1.3 standard into Snowflake.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68466" y="2222376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57763" y="228131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57788" y="22759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357813" y="2288791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SIS Data Lake (Banner/Workday)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957763" y="2425973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Centralised data lake for SIS data — admissions, enrollment, financial aid via Banner + Workday Student.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68466" y="2729582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57763" y="278851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57788" y="278316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357813" y="2795997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Assessment Data Pipeline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57763" y="2933179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aggregating assessment data via Canvas API — grades, rubrics, learning outcomes into Databricks.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68466" y="3236788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57763" y="329572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57788" y="329036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357813" y="3303203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Event Stream (Kafka)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957763" y="3440385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pipeline of student engagement events — LMS, library, extracurricular via Kafka.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68466" y="3743995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57763" y="3802931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157788" y="37975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357813" y="3810409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Alumni Data Integration (Salesforce)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957763" y="3947592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of alumni records, giving history, career outcomes data via Salesforce Marketing Cloud.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379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66580" y="4750594"/>
            <a:ext cx="308810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68976" y="4750594"/>
            <a:ext cx="15483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66130"/>
            <a:ext cx="646766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996299" y="457200"/>
            <a:ext cx="20493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2937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Lakehouse, warehouse, cloud platforms, legacy modernization.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29407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490142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711598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platforms &amp; modernization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3883298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883298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EDUCATION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689872" y="1329407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64894" y="1490142"/>
            <a:ext cx="27860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68466" y="1715170"/>
            <a:ext cx="2778919" cy="534219"/>
          </a:xfrm>
          <a:prstGeom prst="roundRect">
            <a:avLst>
              <a:gd name="adj" fmla="val 1426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57763" y="181261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57788" y="18072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357813" y="1768748"/>
            <a:ext cx="2200275" cy="26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360 Platform (Salesforce Education Cloud)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57763" y="1995785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student data platform across academic, financial, engagement data via Salesforce Education Cloud.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68466" y="2299395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57763" y="235833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57788" y="23529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357813" y="2365809"/>
            <a:ext cx="2237061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Learning Analytics Warehouse (Snowflake)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957763" y="2502991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Warehouse purpose-built for learning analytics — outcomes, engagement, retention via Snowflake on Azure.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68466" y="2806601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57763" y="286553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57788" y="28601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357813" y="2873015"/>
            <a:ext cx="2310003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Institutional Research Platform (Databricks)</a:t>
            </a:r>
            <a:endParaRPr lang="en-US" sz="675" dirty="0"/>
          </a:p>
        </p:txBody>
      </p:sp>
      <p:sp>
        <p:nvSpPr>
          <p:cNvPr id="28" name="Text 25"/>
          <p:cNvSpPr/>
          <p:nvPr/>
        </p:nvSpPr>
        <p:spPr>
          <a:xfrm>
            <a:off x="4957763" y="3010198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supporting institutional research — enrollment forecasting, accreditation reporting via Databricks.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68466" y="3313807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57763" y="337274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57788" y="33673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357813" y="3380222"/>
            <a:ext cx="2214397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Engagement Monitoring (Kafka)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4957763" y="3517404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 platform for real-time student engagement monitoring and early alerts via Kafka + Flink.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68466" y="3821013"/>
            <a:ext cx="2778919" cy="534219"/>
          </a:xfrm>
          <a:prstGeom prst="roundRect">
            <a:avLst>
              <a:gd name="adj" fmla="val 1426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57763" y="391845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157788" y="391310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357813" y="3874591"/>
            <a:ext cx="2200275" cy="26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Education Data Lakehouse (Databricks)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957763" y="4101629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lakehouse for education analytics — FERPA-compliant, scalable on AWS.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1148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40125" y="4750594"/>
            <a:ext cx="30616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16068" y="4750594"/>
            <a:ext cx="16043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66130"/>
            <a:ext cx="646766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996299" y="457200"/>
            <a:ext cx="204934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2937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Dashboards, self-service BI, executive analytics, regulatory reporting.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29407"/>
            <a:ext cx="399335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92944" y="1490142"/>
            <a:ext cx="36433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92944" y="1711598"/>
            <a:ext cx="3643313" cy="559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bi &amp; decision intelligence capability is engineered for education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92944" y="3883298"/>
            <a:ext cx="1525525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2944" y="3883298"/>
            <a:ext cx="1525525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EDUCATION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689872" y="1329407"/>
            <a:ext cx="3136106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64894" y="1490142"/>
            <a:ext cx="27860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868466" y="1715170"/>
            <a:ext cx="2778919" cy="534219"/>
          </a:xfrm>
          <a:prstGeom prst="roundRect">
            <a:avLst>
              <a:gd name="adj" fmla="val 1426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957763" y="1812615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157788" y="18072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357813" y="1768748"/>
            <a:ext cx="2200275" cy="26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Enrollment &amp; Retention Dashboard (Power BI)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57763" y="1995785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dashboard for provosts via Power BI — enrollment, retention, graduation rates per program.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868466" y="2299395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957763" y="235833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57788" y="235297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357813" y="2365809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 Performance Analytics (Tableau)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4957763" y="2502991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 tracking program-level outcomes — enrollment, completion, career placement via Tableau.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868466" y="2806601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957763" y="2865537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157788" y="286017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357813" y="2873015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Financial Aid Analytics (Banner)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57763" y="3010198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Aid disbursement, packaging, impact analytics for financial aid offices via Banner Financial Aid.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68466" y="3313807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957763" y="3372743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57788" y="336738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357813" y="3380222"/>
            <a:ext cx="2200275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Faculty Workload Analytics (Workday)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957763" y="3517404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Teaching load, research productivity, service analytics for department chairs via Workday Student.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868466" y="3821013"/>
            <a:ext cx="2778919" cy="45720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957763" y="3879949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157788" y="38745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357813" y="3887428"/>
            <a:ext cx="2310003" cy="13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Alumni Engagement Dashboard (Salesforce)</a:t>
            </a:r>
            <a:endParaRPr lang="en-US" sz="675" dirty="0"/>
          </a:p>
        </p:txBody>
      </p:sp>
      <p:sp>
        <p:nvSpPr>
          <p:cNvPr id="38" name="Text 35"/>
          <p:cNvSpPr/>
          <p:nvPr/>
        </p:nvSpPr>
        <p:spPr>
          <a:xfrm>
            <a:off x="4957763" y="4024610"/>
            <a:ext cx="2600325" cy="200025"/>
          </a:xfrm>
          <a:prstGeom prst="rect">
            <a:avLst/>
          </a:prstGeom>
          <a:noFill/>
          <a:ln/>
        </p:spPr>
        <p:txBody>
          <a:bodyPr wrap="square" lIns="271463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Alumni giving, event attendance, career outcomes analytics via Salesforce + Power BI.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669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95614" y="4750594"/>
            <a:ext cx="32171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27044" y="4750594"/>
            <a:ext cx="127476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66130"/>
            <a:ext cx="648898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017618" y="457200"/>
            <a:ext cx="20225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data analytics &amp; data engineering applies to education.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2937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29407"/>
            <a:ext cx="3993356" cy="1193006"/>
          </a:xfrm>
          <a:prstGeom prst="roundRect">
            <a:avLst>
              <a:gd name="adj" fmla="val 798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46156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280222" y="1486570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78656" y="1718742"/>
            <a:ext cx="3671888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&amp; Faculty Assistants (Azure OpenAI + Canvas)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678656" y="2111648"/>
            <a:ext cx="36718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assistants via Azure OpenAI grounded in Canvas LMS — course help, advising, research.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329407"/>
            <a:ext cx="3993356" cy="1193006"/>
          </a:xfrm>
          <a:prstGeom prst="roundRect">
            <a:avLst>
              <a:gd name="adj" fmla="val 798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46156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304407" y="1486570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793456" y="1718742"/>
            <a:ext cx="3671888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Institutional Knowledge Systems (Azure AI Search)</a:t>
            </a:r>
            <a:endParaRPr lang="en-US" sz="1013" dirty="0"/>
          </a:p>
        </p:txBody>
      </p:sp>
      <p:sp>
        <p:nvSpPr>
          <p:cNvPr id="16" name="Text 13"/>
          <p:cNvSpPr/>
          <p:nvPr/>
        </p:nvSpPr>
        <p:spPr>
          <a:xfrm>
            <a:off x="4793456" y="2111648"/>
            <a:ext cx="36718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over policies, catalogs, research via Azure AI Search + Pinecone + Alma library system.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2643857"/>
            <a:ext cx="3993356" cy="1193006"/>
          </a:xfrm>
          <a:prstGeom prst="roundRect">
            <a:avLst>
              <a:gd name="adj" fmla="val 798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277601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17918" y="2801020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678656" y="3033192"/>
            <a:ext cx="3671888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Student Lifecycle Platform (Salesforce Education Cloud)</a:t>
            </a:r>
            <a:endParaRPr lang="en-US" sz="1013" dirty="0"/>
          </a:p>
        </p:txBody>
      </p:sp>
      <p:sp>
        <p:nvSpPr>
          <p:cNvPr id="21" name="Text 18"/>
          <p:cNvSpPr/>
          <p:nvPr/>
        </p:nvSpPr>
        <p:spPr>
          <a:xfrm>
            <a:off x="678656" y="3426098"/>
            <a:ext cx="36718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Admissions through alumni via Salesforce Education Cloud + Banner SIS + Slate CRM.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2643857"/>
            <a:ext cx="3993356" cy="1193006"/>
          </a:xfrm>
          <a:prstGeom prst="roundRect">
            <a:avLst>
              <a:gd name="adj" fmla="val 798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277601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304407" y="2801020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793456" y="3033192"/>
            <a:ext cx="3781616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Insights (XGBoost + Banner SIS)</a:t>
            </a:r>
            <a:endParaRPr lang="en-US" sz="1013" dirty="0"/>
          </a:p>
        </p:txBody>
      </p:sp>
      <p:sp>
        <p:nvSpPr>
          <p:cNvPr id="26" name="Text 23"/>
          <p:cNvSpPr/>
          <p:nvPr/>
        </p:nvSpPr>
        <p:spPr>
          <a:xfrm>
            <a:off x="4793456" y="3265363"/>
            <a:ext cx="3671888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At-risk prediction, enrollment forecasting via XGBoost + Prophet + Banner SIS data.</a:t>
            </a:r>
            <a:endParaRPr lang="en-US" sz="675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66130"/>
            <a:ext cx="5760765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289402" y="457200"/>
            <a:ext cx="2788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data analytics &amp; data engineering — education.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269355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569393"/>
            <a:ext cx="81081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572964"/>
            <a:ext cx="92868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572964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572964"/>
            <a:ext cx="92868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CONSUMPTION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78769" y="1715539"/>
            <a:ext cx="1191220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78769" y="1728341"/>
            <a:ext cx="1191220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BI (Enrollment)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5714" y="1715539"/>
            <a:ext cx="1246919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855714" y="1728341"/>
            <a:ext cx="124691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Tableau (Program Perf)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191930" y="1731913"/>
            <a:ext cx="1336997" cy="239316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188358" y="1728341"/>
            <a:ext cx="1387004" cy="344147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Banner Analytics (FinAid)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618225" y="1715539"/>
            <a:ext cx="1085404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618225" y="1728341"/>
            <a:ext cx="108540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Salesforce (Alumni)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226618"/>
            <a:ext cx="81081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230189"/>
            <a:ext cx="92868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230189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230189"/>
            <a:ext cx="92868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78769" y="2372764"/>
            <a:ext cx="1002916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78769" y="2385566"/>
            <a:ext cx="1002916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(Lineage)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670981" y="2389138"/>
            <a:ext cx="1419709" cy="239316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667409" y="2385566"/>
            <a:ext cx="1469715" cy="344147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Informatica MDM (Student)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179987" y="2372764"/>
            <a:ext cx="896987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179987" y="2385566"/>
            <a:ext cx="89698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Banner Catalog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162699" y="2372764"/>
            <a:ext cx="961058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162699" y="2385566"/>
            <a:ext cx="96105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LTI Metrics Layer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2883843"/>
            <a:ext cx="81081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2887414"/>
            <a:ext cx="92868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2887414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2887414"/>
            <a:ext cx="92868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78769" y="3029989"/>
            <a:ext cx="1063861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78769" y="3042791"/>
            <a:ext cx="1063861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Canvas LTI Pipeline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731926" y="3046363"/>
            <a:ext cx="1442814" cy="239316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728354" y="3042791"/>
            <a:ext cx="1492821" cy="344147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(Engagement Events)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264037" y="3029989"/>
            <a:ext cx="715938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4264037" y="3042791"/>
            <a:ext cx="71593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Banner ETL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5065700" y="3029989"/>
            <a:ext cx="1155278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5065700" y="3042791"/>
            <a:ext cx="115527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Salesforce Marketing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541068"/>
            <a:ext cx="81081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544639"/>
            <a:ext cx="92868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544639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544639"/>
            <a:ext cx="92868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82341" y="3703588"/>
            <a:ext cx="1583568" cy="239316"/>
          </a:xfrm>
          <a:prstGeom prst="roundRect">
            <a:avLst>
              <a:gd name="adj" fmla="val 15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578769" y="3700016"/>
            <a:ext cx="1633575" cy="344147"/>
          </a:xfrm>
          <a:prstGeom prst="rect">
            <a:avLst/>
          </a:prstGeom>
          <a:noFill/>
          <a:ln/>
        </p:spPr>
        <p:txBody>
          <a:bodyPr wrap="none" lIns="100013" tIns="57150" rIns="100013" bIns="5715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Snowflake (Learning Analytics)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3255206" y="3687214"/>
            <a:ext cx="1190662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3255206" y="3700016"/>
            <a:ext cx="1190662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531593" y="3687214"/>
            <a:ext cx="843967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4531593" y="3700016"/>
            <a:ext cx="84396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Banner Oracle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461285" y="3687214"/>
            <a:ext cx="931925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5461285" y="3700016"/>
            <a:ext cx="93192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Alma Library DB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4198293"/>
            <a:ext cx="8108156" cy="564356"/>
          </a:xfrm>
          <a:prstGeom prst="roundRect">
            <a:avLst>
              <a:gd name="adj" fmla="val 1350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4201864"/>
            <a:ext cx="928688" cy="5572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4201864"/>
            <a:ext cx="0" cy="5572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4201864"/>
            <a:ext cx="928688" cy="557213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78769" y="4344439"/>
            <a:ext cx="793179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578769" y="4357241"/>
            <a:ext cx="79317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(FERPA)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457673" y="4344439"/>
            <a:ext cx="1055936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457673" y="4357241"/>
            <a:ext cx="1055936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on AWS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599334" y="4344439"/>
            <a:ext cx="1180616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599334" y="4357241"/>
            <a:ext cx="1180616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(Governance)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865675" y="4344439"/>
            <a:ext cx="1038969" cy="272063"/>
          </a:xfrm>
          <a:prstGeom prst="roundRect">
            <a:avLst>
              <a:gd name="adj" fmla="val 1400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4865675" y="4357241"/>
            <a:ext cx="1038969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OneTrust (Privacy)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66130"/>
            <a:ext cx="6758769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287406" y="457200"/>
            <a:ext cx="1780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2937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343695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461567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506" y="1636588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621506" y="182232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205807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506" y="219380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1506" y="2390254"/>
            <a:ext cx="1728788" cy="761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maturity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506" y="3440385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506" y="3515395"/>
            <a:ext cx="1728788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21506" y="3640410"/>
            <a:ext cx="17287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575322" y="1343695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678906" y="1461567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678906" y="1636588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20" name="Text 17"/>
          <p:cNvSpPr/>
          <p:nvPr/>
        </p:nvSpPr>
        <p:spPr>
          <a:xfrm>
            <a:off x="2678906" y="182232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3–4 WEEKS · FIXED FEE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678906" y="205807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678906" y="219380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678906" y="2390254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678906" y="3440385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78906" y="3515395"/>
            <a:ext cx="1728787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678906" y="3640410"/>
            <a:ext cx="17287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632722" y="1343695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36306" y="1461567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1636588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30" name="Text 27"/>
          <p:cNvSpPr/>
          <p:nvPr/>
        </p:nvSpPr>
        <p:spPr>
          <a:xfrm>
            <a:off x="4736306" y="182232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 OR FIXED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36306" y="205807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736306" y="219380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736306" y="2390254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736306" y="3440385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36306" y="3515395"/>
            <a:ext cx="1728787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736306" y="3640410"/>
            <a:ext cx="17287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690122" y="1343695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793706" y="1461567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793706" y="1636588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40" name="Text 37"/>
          <p:cNvSpPr/>
          <p:nvPr/>
        </p:nvSpPr>
        <p:spPr>
          <a:xfrm>
            <a:off x="6793706" y="1822326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793706" y="2058070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793706" y="219380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8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793706" y="2390254"/>
            <a:ext cx="1728788" cy="645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6793706" y="3440385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93706" y="3515395"/>
            <a:ext cx="1728787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793706" y="3640410"/>
            <a:ext cx="17287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66130"/>
            <a:ext cx="6420669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949306" y="457200"/>
            <a:ext cx="21083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EDUCATION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732234"/>
            <a:ext cx="86296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514350" y="102937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education.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382985"/>
            <a:ext cx="3986213" cy="108585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38655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382985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46526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382985"/>
            <a:ext cx="0" cy="108585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0088" y="1533004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0088" y="1740173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Decision-grade data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0088" y="1940198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engineered to be operational, governed, and decision-grade.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1382985"/>
            <a:ext cx="3986213" cy="108585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386557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382985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246526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382985"/>
            <a:ext cx="0" cy="108585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9175" y="1533004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29175" y="1740173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 first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29175" y="1940198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Databricks/Snowflake lakehouse architecture — not legacy warehouses.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514350" y="2611710"/>
            <a:ext cx="3986213" cy="108585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61528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2611710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369398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2611710"/>
            <a:ext cx="0" cy="108585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0088" y="276172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00088" y="2968898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0088" y="3168923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over enterprise data via Azure OpenAI + Power BI Copilot.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43438" y="2611710"/>
            <a:ext cx="3986213" cy="1085850"/>
          </a:xfrm>
          <a:prstGeom prst="roundRect">
            <a:avLst>
              <a:gd name="adj" fmla="val 7018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261528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2611710"/>
            <a:ext cx="0" cy="10858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369398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2611710"/>
            <a:ext cx="0" cy="1085850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29175" y="276172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29175" y="2968898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29175" y="3168923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lineage and quality as a discipline — audit-ready for regulators.</a:t>
            </a:r>
            <a:endParaRPr lang="en-US" sz="675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1624868"/>
            <a:ext cx="69033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36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1871328"/>
            <a:ext cx="5400675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742950" y="2291358"/>
            <a:ext cx="6028182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742950" y="291141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42950" y="3118582"/>
            <a:ext cx="55549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42950" y="3347182"/>
            <a:ext cx="555498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32972" y="2060358"/>
            <a:ext cx="0" cy="1022784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30746" y="2060358"/>
            <a:ext cx="1198904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7430746" y="2477486"/>
            <a:ext cx="1198904" cy="203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spc="50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7830331" y="2894614"/>
            <a:ext cx="799319" cy="18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85"/>
              </a:lnSpc>
              <a:buNone/>
            </a:pPr>
            <a:r>
              <a:rPr lang="en-US" sz="1238" spc="50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238" dirty="0"/>
          </a:p>
        </p:txBody>
      </p:sp>
      <p:sp>
        <p:nvSpPr>
          <p:cNvPr id="13" name="Shape 1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  <p:pic>
        <p:nvPicPr>
          <p:cNvPr id="17" name="Image 1" descr="/tmp/h2p-fit-1790845426502-uo04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685800"/>
            <a:ext cx="1857375" cy="3021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2026-10-01T09:03:46Z</dcterms:created>
  <dcterms:modified xsi:type="dcterms:W3CDTF">2026-10-01T09:03:46Z</dcterms:modified>
</cp:coreProperties>
</file>