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332898-507h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60058" y="571500"/>
            <a:ext cx="2299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BFSI &amp; INSURANCE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6400800" y="1714500"/>
            <a:ext cx="7144" cy="2571750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815539" y="1871663"/>
            <a:ext cx="19091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51"/>
              </a:lnSpc>
              <a:buNone/>
            </a:pPr>
            <a:r>
              <a:rPr lang="en-US" sz="800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6897200" y="1871663"/>
            <a:ext cx="150385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51"/>
              </a:lnSpc>
              <a:buNone/>
            </a:pPr>
            <a:r>
              <a:rPr lang="en-US" sz="800" spc="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758278" y="2235212"/>
            <a:ext cx="19091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51"/>
              </a:lnSpc>
              <a:buNone/>
            </a:pPr>
            <a:r>
              <a:rPr lang="en-US" sz="800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832119" y="2235212"/>
            <a:ext cx="1568931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51"/>
              </a:lnSpc>
              <a:buNone/>
            </a:pPr>
            <a:r>
              <a:rPr lang="en-US" sz="800" spc="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520971" y="2598762"/>
            <a:ext cx="19091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51"/>
              </a:lnSpc>
              <a:buNone/>
            </a:pPr>
            <a:r>
              <a:rPr lang="en-US" sz="800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653908" y="2598762"/>
            <a:ext cx="1747142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51"/>
              </a:lnSpc>
              <a:buNone/>
            </a:pPr>
            <a:r>
              <a:rPr lang="en-US" sz="800" spc="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42950" y="1714500"/>
            <a:ext cx="57318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BFSI &amp; INSURANCE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42950" y="1960959"/>
            <a:ext cx="5100638" cy="4479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9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742950" y="2436354"/>
            <a:ext cx="5100638" cy="1026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90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BFSI &amp; Insurance.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742950" y="3572880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42950" y="3765761"/>
            <a:ext cx="4286250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spc="-6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deep-tech capability brief on Kefi Tech AI Transformation Services for BFSI &amp; Insurance.</a:t>
            </a:r>
            <a:endParaRPr lang="en-US" sz="1238" dirty="0"/>
          </a:p>
        </p:txBody>
      </p:sp>
      <p:sp>
        <p:nvSpPr>
          <p:cNvPr id="17" name="Shape 1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4350" y="4754166"/>
            <a:ext cx="64495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978216" y="4750594"/>
            <a:ext cx="175052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12 · AI TRANSFORMATION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71513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75109"/>
            <a:ext cx="7000875" cy="617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BFSI &amp; Insurance operates in a regulated, document-intensive, high-stakes environment.</a:t>
            </a:r>
            <a:endParaRPr lang="en-US" sz="1913" dirty="0"/>
          </a:p>
        </p:txBody>
      </p:sp>
      <p:sp>
        <p:nvSpPr>
          <p:cNvPr id="6" name="Text 3"/>
          <p:cNvSpPr/>
          <p:nvPr/>
        </p:nvSpPr>
        <p:spPr>
          <a:xfrm>
            <a:off x="514350" y="1519610"/>
            <a:ext cx="6715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trust, regulatory compliance, transaction integrity and operational resilience define competitive position.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830363"/>
            <a:ext cx="399335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991097"/>
            <a:ext cx="3781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BFSI &amp; INSURANCE NEEDS THIS NOW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2228" y="2201838"/>
            <a:ext cx="3664744" cy="453851"/>
          </a:xfrm>
          <a:prstGeom prst="roundRect">
            <a:avLst>
              <a:gd name="adj" fmla="val 167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00100" y="230542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1028700" y="2305422"/>
            <a:ext cx="2535062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28700" y="2438251"/>
            <a:ext cx="2347280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3" name="Text 10"/>
          <p:cNvSpPr/>
          <p:nvPr/>
        </p:nvSpPr>
        <p:spPr>
          <a:xfrm>
            <a:off x="682228" y="2734270"/>
            <a:ext cx="3664744" cy="453851"/>
          </a:xfrm>
          <a:prstGeom prst="roundRect">
            <a:avLst>
              <a:gd name="adj" fmla="val 167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00100" y="283785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1028700" y="2837855"/>
            <a:ext cx="3050658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28700" y="2970684"/>
            <a:ext cx="282468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682228" y="3266703"/>
            <a:ext cx="3664744" cy="453851"/>
          </a:xfrm>
          <a:prstGeom prst="roundRect">
            <a:avLst>
              <a:gd name="adj" fmla="val 167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00100" y="337028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1028700" y="3370287"/>
            <a:ext cx="2745062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28700" y="3503116"/>
            <a:ext cx="2541724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21" name="Text 18"/>
          <p:cNvSpPr/>
          <p:nvPr/>
        </p:nvSpPr>
        <p:spPr>
          <a:xfrm>
            <a:off x="682228" y="3799136"/>
            <a:ext cx="3664744" cy="453851"/>
          </a:xfrm>
          <a:prstGeom prst="roundRect">
            <a:avLst>
              <a:gd name="adj" fmla="val 1679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00100" y="390272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1028700" y="3902720"/>
            <a:ext cx="2903586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28700" y="4035549"/>
            <a:ext cx="2688506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4718447" y="1830363"/>
            <a:ext cx="313610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79181" y="1991097"/>
            <a:ext cx="29243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AI TRANSFORMATION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79181" y="2226841"/>
            <a:ext cx="2814638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applied to bfsi &amp; insurance requires industry-specific capability, not generic technology. The right approach connects ai transformation to the regulatory, operational and customer realities that define bfsi &amp; insurance.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79181" y="4098503"/>
            <a:ext cx="1477194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879181" y="4098503"/>
            <a:ext cx="1477194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4350" y="4754166"/>
            <a:ext cx="368226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210906" y="4750594"/>
            <a:ext cx="323232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457517" y="4750594"/>
            <a:ext cx="117213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BFSI &amp; INSURANCE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60822"/>
            <a:ext cx="8629650" cy="30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across the complete lifecycle.</a:t>
            </a:r>
            <a:endParaRPr lang="en-US" sz="1913" dirty="0"/>
          </a:p>
        </p:txBody>
      </p:sp>
      <p:sp>
        <p:nvSpPr>
          <p:cNvPr id="6" name="Text 3"/>
          <p:cNvSpPr/>
          <p:nvPr/>
        </p:nvSpPr>
        <p:spPr>
          <a:xfrm>
            <a:off x="514350" y="1204503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for bfsi &amp; insurance.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15256"/>
            <a:ext cx="1882378" cy="435769"/>
          </a:xfrm>
          <a:prstGeom prst="roundRect">
            <a:avLst>
              <a:gd name="adj" fmla="val 2185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35794" y="164741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9" name="Text 6"/>
          <p:cNvSpPr/>
          <p:nvPr/>
        </p:nvSpPr>
        <p:spPr>
          <a:xfrm>
            <a:off x="892969" y="1658131"/>
            <a:ext cx="13894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403872" y="164027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2593181" y="1515256"/>
            <a:ext cx="1882378" cy="435769"/>
          </a:xfrm>
          <a:prstGeom prst="roundRect">
            <a:avLst>
              <a:gd name="adj" fmla="val 2185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711053" y="164741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3" name="Text 10"/>
          <p:cNvSpPr/>
          <p:nvPr/>
        </p:nvSpPr>
        <p:spPr>
          <a:xfrm>
            <a:off x="2968228" y="1658131"/>
            <a:ext cx="13894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479131" y="164027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5" name="Text 12"/>
          <p:cNvSpPr/>
          <p:nvPr/>
        </p:nvSpPr>
        <p:spPr>
          <a:xfrm>
            <a:off x="4668441" y="1515256"/>
            <a:ext cx="1882378" cy="435769"/>
          </a:xfrm>
          <a:prstGeom prst="roundRect">
            <a:avLst>
              <a:gd name="adj" fmla="val 2185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786313" y="164741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17" name="Text 14"/>
          <p:cNvSpPr/>
          <p:nvPr/>
        </p:nvSpPr>
        <p:spPr>
          <a:xfrm>
            <a:off x="5043488" y="1658131"/>
            <a:ext cx="13894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554391" y="164027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9" name="Text 16"/>
          <p:cNvSpPr/>
          <p:nvPr/>
        </p:nvSpPr>
        <p:spPr>
          <a:xfrm>
            <a:off x="6743700" y="1515256"/>
            <a:ext cx="1882378" cy="435769"/>
          </a:xfrm>
          <a:prstGeom prst="roundRect">
            <a:avLst>
              <a:gd name="adj" fmla="val 2185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61572" y="164741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1" name="Text 18"/>
          <p:cNvSpPr/>
          <p:nvPr/>
        </p:nvSpPr>
        <p:spPr>
          <a:xfrm>
            <a:off x="7118747" y="1658131"/>
            <a:ext cx="13894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4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14350" y="2068897"/>
            <a:ext cx="2647876" cy="85725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14350" y="2072469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58654" y="2068897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14350" y="2922575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25066" y="2068897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0081" y="217605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688" dirty="0"/>
          </a:p>
        </p:txBody>
      </p:sp>
      <p:sp>
        <p:nvSpPr>
          <p:cNvPr id="28" name="Text 25"/>
          <p:cNvSpPr/>
          <p:nvPr/>
        </p:nvSpPr>
        <p:spPr>
          <a:xfrm>
            <a:off x="2895084" y="219212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29" name="Text 26"/>
          <p:cNvSpPr/>
          <p:nvPr/>
        </p:nvSpPr>
        <p:spPr>
          <a:xfrm>
            <a:off x="650081" y="2376078"/>
            <a:ext cx="2390701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50081" y="2524646"/>
            <a:ext cx="2390701" cy="29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copilots, knowledge assistants, document intelligence grounded in enterprise data.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247951" y="2068897"/>
            <a:ext cx="2647987" cy="85725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3247951" y="2072469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92366" y="2068897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47951" y="2922575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58666" y="2068897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83682" y="217605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688" dirty="0"/>
          </a:p>
        </p:txBody>
      </p:sp>
      <p:sp>
        <p:nvSpPr>
          <p:cNvPr id="37" name="Text 34"/>
          <p:cNvSpPr/>
          <p:nvPr/>
        </p:nvSpPr>
        <p:spPr>
          <a:xfrm>
            <a:off x="5628796" y="219212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38" name="Text 35"/>
          <p:cNvSpPr/>
          <p:nvPr/>
        </p:nvSpPr>
        <p:spPr>
          <a:xfrm>
            <a:off x="3383682" y="2376078"/>
            <a:ext cx="2390812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383682" y="2524646"/>
            <a:ext cx="2390812" cy="29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systems for automated workflows with human-in-the-loop controls.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981663" y="2068897"/>
            <a:ext cx="2647876" cy="85725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5981663" y="2072469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625967" y="2068897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981663" y="2922575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992378" y="2068897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117394" y="217605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46" name="Text 43"/>
          <p:cNvSpPr/>
          <p:nvPr/>
        </p:nvSpPr>
        <p:spPr>
          <a:xfrm>
            <a:off x="8362397" y="219212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47" name="Text 44"/>
          <p:cNvSpPr/>
          <p:nvPr/>
        </p:nvSpPr>
        <p:spPr>
          <a:xfrm>
            <a:off x="6117394" y="2376078"/>
            <a:ext cx="2500429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117394" y="2524646"/>
            <a:ext cx="2390701" cy="29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applications with cited answers over enterprise knowledge bases.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14350" y="3011872"/>
            <a:ext cx="2647876" cy="85725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7"/>
          <p:cNvSpPr/>
          <p:nvPr/>
        </p:nvSpPr>
        <p:spPr>
          <a:xfrm>
            <a:off x="514350" y="3015444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158654" y="3011872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14350" y="3865550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25066" y="3011872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50081" y="311902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55" name="Text 52"/>
          <p:cNvSpPr/>
          <p:nvPr/>
        </p:nvSpPr>
        <p:spPr>
          <a:xfrm>
            <a:off x="2895084" y="313510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56" name="Text 53"/>
          <p:cNvSpPr/>
          <p:nvPr/>
        </p:nvSpPr>
        <p:spPr>
          <a:xfrm>
            <a:off x="650081" y="3319053"/>
            <a:ext cx="2500429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650081" y="3467621"/>
            <a:ext cx="2390701" cy="29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models for risk, churn, demand, anomaly detection.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3247951" y="3011872"/>
            <a:ext cx="2647987" cy="85725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6"/>
          <p:cNvSpPr/>
          <p:nvPr/>
        </p:nvSpPr>
        <p:spPr>
          <a:xfrm>
            <a:off x="3247951" y="3015444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892366" y="3011872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247951" y="3865550"/>
            <a:ext cx="26479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258666" y="3011872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383682" y="311902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64" name="Text 61"/>
          <p:cNvSpPr/>
          <p:nvPr/>
        </p:nvSpPr>
        <p:spPr>
          <a:xfrm>
            <a:off x="5628796" y="313510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731" dirty="0"/>
          </a:p>
        </p:txBody>
      </p:sp>
      <p:sp>
        <p:nvSpPr>
          <p:cNvPr id="65" name="Text 62"/>
          <p:cNvSpPr/>
          <p:nvPr/>
        </p:nvSpPr>
        <p:spPr>
          <a:xfrm>
            <a:off x="3383682" y="3319053"/>
            <a:ext cx="2390812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Engineering &amp; LLMOps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3383682" y="3467621"/>
            <a:ext cx="2390812" cy="29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lifecycle, evaluation, monitoring, drift detection, governance.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5981663" y="3011872"/>
            <a:ext cx="2647876" cy="85725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5"/>
          <p:cNvSpPr/>
          <p:nvPr/>
        </p:nvSpPr>
        <p:spPr>
          <a:xfrm>
            <a:off x="5981663" y="3015444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625967" y="3011872"/>
            <a:ext cx="0" cy="8572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981663" y="3865550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992378" y="3011872"/>
            <a:ext cx="0" cy="85725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117394" y="311902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73" name="Text 70"/>
          <p:cNvSpPr/>
          <p:nvPr/>
        </p:nvSpPr>
        <p:spPr>
          <a:xfrm>
            <a:off x="8362397" y="313510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731" dirty="0"/>
          </a:p>
        </p:txBody>
      </p:sp>
      <p:sp>
        <p:nvSpPr>
          <p:cNvPr id="74" name="Text 71"/>
          <p:cNvSpPr/>
          <p:nvPr/>
        </p:nvSpPr>
        <p:spPr>
          <a:xfrm>
            <a:off x="6117394" y="3319053"/>
            <a:ext cx="2500429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Responsible AI &amp; Governance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6117394" y="3467621"/>
            <a:ext cx="2390701" cy="29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Bias assessment, explainability, privacy, regulatory compliance.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60822"/>
            <a:ext cx="8521065" cy="327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90"/>
              </a:lnSpc>
              <a:buNone/>
            </a:pPr>
            <a:r>
              <a:rPr lang="en-US" sz="2025" b="1" spc="-3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Solutions.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514350" y="1221358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copilots, knowledge assistants, document intelligence grounded in enterprise data.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32111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692846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914302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generative ai solutions capability is engineered for bfsi &amp; insurance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4086002"/>
            <a:ext cx="185190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4086002"/>
            <a:ext cx="185190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 · BFSI &amp; INSURANCE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689872" y="1532111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22031" y="1649983"/>
            <a:ext cx="28717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25603" y="1817861"/>
            <a:ext cx="2864644" cy="557213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91816" y="1876797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61905" y="187143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247642" y="1884276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Claims Copilot (Azure OpenAI)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00613" y="2021458"/>
            <a:ext cx="2714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assistant reading Guidewire/FINEST claims documents — suggests coverage decisions, drafts settlement letters via Azure OpenAI + Cognitive Search.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25603" y="2425080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91816" y="2484016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61905" y="247865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247642" y="2491494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Underwriting Assistant (GPT-4)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900613" y="2628677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copilot surfacing risk factors from Verisk ISO classifications and historical claims in Majesco/duck creek policy admin.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25603" y="2932286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91816" y="2991222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61905" y="298586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247642" y="2998701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KYC Document Intelligence (DocumentAI)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900613" y="3135883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over KYC/AML documents — extracts entities via Google DocumentAI, validates against Dow Jones watchlists, flags anomalies.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25603" y="3439492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891816" y="3498428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061905" y="349307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247642" y="3505907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Query Assistant (RAG)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900613" y="3643089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Conversational AI for policyholders grounded in Temenos T24 policy docs via Pinecone RAG — answers coverage questions with citations.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25603" y="3946699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91816" y="4005635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061905" y="400027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247642" y="4013113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Change Monitor (GenAI)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900613" y="4150296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ingesting NAIC/IRDAI/FCA regulatory bulletins via Bloomberg Terminal API — summarises impact on existing policies.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71608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244727" y="4750594"/>
            <a:ext cx="326614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525159" y="4750594"/>
            <a:ext cx="11044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60822"/>
            <a:ext cx="8521065" cy="327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90"/>
              </a:lnSpc>
              <a:buNone/>
            </a:pPr>
            <a:r>
              <a:rPr lang="en-US" sz="2025" b="1" spc="-3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Automation.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514350" y="1221358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systems for automated workflows with human-in-the-loop controls.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32111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692846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914302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agentic ai &amp; automation capability is engineered for bfsi &amp; insurance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4086002"/>
            <a:ext cx="185190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4086002"/>
            <a:ext cx="185190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 · BFSI &amp; INSURANCE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689872" y="1532111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22031" y="1649983"/>
            <a:ext cx="28717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25603" y="1817861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91816" y="1876797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61905" y="187143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247642" y="1884276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Claims Triage Agent (LangGraph)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00613" y="2021458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Autonomous agent reading inbound claims from Guidewire ClaimCenter — classifies severity, routes to adjuster, reserves reserves in SAP FS-CD.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25603" y="2325067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91816" y="2384003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61905" y="237864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247642" y="2391482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Fraud Investigation Agent (Multi-Agent)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900613" y="2528664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system cross-referencing claims against SAS Fraud Detection Server and FICO Falcon Fraud scores.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25603" y="2832274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91816" y="2891210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61905" y="288585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247642" y="2898688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Renewal Agent (SAP FS-CD)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900613" y="3035871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monitoring renewal calendars in SAP Financial Services Collections &amp; Disbursements — drafts renewal recommendations.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25603" y="3339480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891816" y="3398416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061905" y="339305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247642" y="3405894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Onboarding Workflow (Pega)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900613" y="3543077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Human-in-the-loop agent handling KYC via LexisNexis, document collection, and policy issuance in Temenos T24.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25603" y="3846686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91816" y="3905622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061905" y="390026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247642" y="3913101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Compliance Reporting Agent (RegTech)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900613" y="4050283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compiling compliance evidence from Actimize AML and generating FinCEN/OFAC regulator-ready reports.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70738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236021" y="4750594"/>
            <a:ext cx="325755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507858" y="4750594"/>
            <a:ext cx="112179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60822"/>
            <a:ext cx="8629650" cy="327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0"/>
              </a:lnSpc>
              <a:buNone/>
            </a:pPr>
            <a:r>
              <a:rPr lang="en-US" sz="2025" b="1" spc="-3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RAG.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514350" y="1221358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applications with cited answers over enterprise knowledge bases.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32111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692846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914302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enterprise knowledge &amp; rag capability is engineered for bfsi &amp; insurance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4086002"/>
            <a:ext cx="185190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4086002"/>
            <a:ext cx="185190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 · BFSI &amp; INSURANCE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689872" y="1532111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22031" y="1649983"/>
            <a:ext cx="28717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25603" y="1817861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91816" y="1876797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61905" y="187143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247642" y="1884276"/>
            <a:ext cx="2477323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Knowledge Base (Azure Cognitive Search)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4900613" y="2021458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full policy library in Guidewire PolicyCenter — underwriters query natural language, get cited answers via Pinecone.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25603" y="2325067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91816" y="2384003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61905" y="237864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247642" y="2391482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Claims History Search (Vector)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900613" y="2528664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Vector search across historical claims in SAS Claims Mangement — surfaces similar past claims to inform decisions.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25603" y="2832274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91816" y="2891210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61905" y="288585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247642" y="2898688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Document Assistant (RAG)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900613" y="3035871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Basel III, Dodd-Frank, MiFID II bulletins — answers regulator questions with section-level citations.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25603" y="3339480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891816" y="3398416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061905" y="339305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247642" y="3405894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Underwriting Guidelines RAG (OpenAI)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900613" y="3543077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Searchable underwriting guidelines in Verisk — new underwriters get instant answers grounded in ISO rules.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25603" y="3846686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91816" y="3905622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061905" y="390026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247642" y="3913101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Service Knowledge Assistant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900613" y="4050283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assistant for call centre agents using Five9 + Salesforce Service Cloud — instant answers on policy coverage, claims status.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60279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131432" y="4750594"/>
            <a:ext cx="315296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298680" y="4750594"/>
            <a:ext cx="141082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60822"/>
            <a:ext cx="8629650" cy="327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0"/>
              </a:lnSpc>
              <a:buNone/>
            </a:pPr>
            <a:r>
              <a:rPr lang="en-US" sz="2025" b="1" spc="-3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Intelligence.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514350" y="1221358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models for risk, churn, demand, anomaly detection.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32111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692846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914302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ai/ml &amp; predictive intelligence capability is engineered for bfsi &amp; insurance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4086002"/>
            <a:ext cx="185190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4086002"/>
            <a:ext cx="185190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 · BFSI &amp; INSURANCE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689872" y="1532111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22031" y="1649983"/>
            <a:ext cx="2871788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25603" y="1817861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91816" y="1876797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61905" y="187143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247642" y="1884276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Fraud Detection Models (XGBoost)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00613" y="2021458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Supervised ML models scoring transactions via FICO Falcon Fraud Manager — real-time fraud probability scoring on SWIFT MT messages.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25603" y="2325067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91816" y="2384003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61905" y="237864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247642" y="2391482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Credit Risk Models (Logistic Regression)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900613" y="2528664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Scoring credit risk for retail/SME lending in FICO Blaze Advisor — integrated with Experian credit bureau data.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25603" y="2832274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91816" y="2891210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61905" y="288585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247642" y="2898688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Churn Prediction (LightGBM)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900613" y="3035871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 model identifying policyholders at risk of non-renewal via Salesforce Marketing Cloud — enables proactive retention.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25603" y="3339480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891816" y="3398416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061905" y="339305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247642" y="3405894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Loss Prediction (Time Series)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900613" y="3543077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Forecasting expected loss ratios per policy segment using historical claims data from SAS Viya.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25603" y="3846686"/>
            <a:ext cx="2864644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91816" y="3905622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061905" y="390026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247642" y="3913101"/>
            <a:ext cx="236759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Anomaly Detection (Isolation Forest)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900613" y="4050283"/>
            <a:ext cx="2714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Unsupervised models flagging unusual transaction patterns in Actimize AML — indicative of fraud or structuring.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55234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80979" y="4750594"/>
            <a:ext cx="310250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97775" y="4750594"/>
            <a:ext cx="15177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60822"/>
            <a:ext cx="8629650" cy="30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ai transformation applies to bfsi &amp; insurance.</a:t>
            </a:r>
            <a:endParaRPr lang="en-US" sz="1913" dirty="0"/>
          </a:p>
        </p:txBody>
      </p:sp>
      <p:sp>
        <p:nvSpPr>
          <p:cNvPr id="6" name="Text 3"/>
          <p:cNvSpPr/>
          <p:nvPr/>
        </p:nvSpPr>
        <p:spPr>
          <a:xfrm>
            <a:off x="514350" y="1204503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with real technology platforms.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15256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64741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964406" y="1653108"/>
            <a:ext cx="3220269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Claims Document Intelligence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4204846" y="167777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11" name="Text 8"/>
          <p:cNvSpPr/>
          <p:nvPr/>
        </p:nvSpPr>
        <p:spPr>
          <a:xfrm>
            <a:off x="678656" y="1904591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Guidewire ClaimCenter claims document processing via GenAI — coverage decisions, settlement drafts.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515256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93456" y="164741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5079206" y="1653108"/>
            <a:ext cx="3220269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Fraud Detection (FICO Falcon)</a:t>
            </a:r>
            <a:endParaRPr lang="en-US" sz="1238" dirty="0"/>
          </a:p>
        </p:txBody>
      </p:sp>
      <p:sp>
        <p:nvSpPr>
          <p:cNvPr id="15" name="Text 12"/>
          <p:cNvSpPr/>
          <p:nvPr/>
        </p:nvSpPr>
        <p:spPr>
          <a:xfrm>
            <a:off x="8319646" y="1677777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16" name="Text 13"/>
          <p:cNvSpPr/>
          <p:nvPr/>
        </p:nvSpPr>
        <p:spPr>
          <a:xfrm>
            <a:off x="4793456" y="1904591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fraud scoring via FICO Falcon Fraud Manager on SWIFT ISO 20022 transaction streams.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7922" y="2701119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8656" y="283327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964406" y="2838971"/>
            <a:ext cx="3220269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Customer 360 (Salesforce CDP)</a:t>
            </a:r>
            <a:endParaRPr lang="en-US" sz="1238" dirty="0"/>
          </a:p>
        </p:txBody>
      </p:sp>
      <p:sp>
        <p:nvSpPr>
          <p:cNvPr id="20" name="Text 17"/>
          <p:cNvSpPr/>
          <p:nvPr/>
        </p:nvSpPr>
        <p:spPr>
          <a:xfrm>
            <a:off x="4204846" y="2863639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21" name="Text 18"/>
          <p:cNvSpPr/>
          <p:nvPr/>
        </p:nvSpPr>
        <p:spPr>
          <a:xfrm>
            <a:off x="678656" y="3090453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Unified customer data across banking, insurance, wealth via Salesforce Data Cloud + Temenos T24.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2722" y="2701119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93456" y="283327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5079206" y="2838971"/>
            <a:ext cx="3220269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Operations (AxiomSL)</a:t>
            </a:r>
            <a:endParaRPr lang="en-US" sz="1238" dirty="0"/>
          </a:p>
        </p:txBody>
      </p:sp>
      <p:sp>
        <p:nvSpPr>
          <p:cNvPr id="25" name="Text 22"/>
          <p:cNvSpPr/>
          <p:nvPr/>
        </p:nvSpPr>
        <p:spPr>
          <a:xfrm>
            <a:off x="8319646" y="2863639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26" name="Text 23"/>
          <p:cNvSpPr/>
          <p:nvPr/>
        </p:nvSpPr>
        <p:spPr>
          <a:xfrm>
            <a:off x="4793456" y="3090453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compliance reporting via AxiomSL for FFIEC, FinCEN, Basel III, OCC/FRB submissions.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60822"/>
            <a:ext cx="8629650" cy="56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ai transformation — bfsi &amp; insurance.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457325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industry technology platforms.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768078"/>
            <a:ext cx="8108156" cy="621506"/>
          </a:xfrm>
          <a:prstGeom prst="roundRect">
            <a:avLst>
              <a:gd name="adj" fmla="val 1226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1494" y="1771650"/>
            <a:ext cx="928688" cy="6143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446609" y="1771650"/>
            <a:ext cx="0" cy="6143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494" y="1771650"/>
            <a:ext cx="928688" cy="614363"/>
          </a:xfrm>
          <a:prstGeom prst="rect">
            <a:avLst/>
          </a:prstGeom>
          <a:noFill/>
          <a:ln/>
        </p:spPr>
        <p:txBody>
          <a:bodyPr wrap="none" lIns="100013" tIns="100013" rIns="100013" bIns="10001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82341" y="1973461"/>
            <a:ext cx="1350727" cy="210741"/>
          </a:xfrm>
          <a:prstGeom prst="roundRect">
            <a:avLst>
              <a:gd name="adj" fmla="val 2259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578769" y="1969889"/>
            <a:ext cx="1393589" cy="304246"/>
          </a:xfrm>
          <a:prstGeom prst="rect">
            <a:avLst/>
          </a:prstGeom>
          <a:noFill/>
          <a:ln/>
        </p:spPr>
        <p:txBody>
          <a:bodyPr wrap="square" lIns="78581" tIns="42863" rIns="78581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Claims Copilot (Azure OpenAI)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011649" y="1973461"/>
            <a:ext cx="1178049" cy="210741"/>
          </a:xfrm>
          <a:prstGeom prst="roundRect">
            <a:avLst>
              <a:gd name="adj" fmla="val 2259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008077" y="1969889"/>
            <a:ext cx="1220912" cy="304246"/>
          </a:xfrm>
          <a:prstGeom prst="rect">
            <a:avLst/>
          </a:prstGeom>
          <a:noFill/>
          <a:ln/>
        </p:spPr>
        <p:txBody>
          <a:bodyPr wrap="square" lIns="78581" tIns="42863" rIns="78581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Underwriting Asst (GPT-4)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264707" y="1957087"/>
            <a:ext cx="1146683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264707" y="1969889"/>
            <a:ext cx="114668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KYC Agent (DocumentAI)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482828" y="1957087"/>
            <a:ext cx="806239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482828" y="1969889"/>
            <a:ext cx="80623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Bot (RAG)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7922" y="2482453"/>
            <a:ext cx="8108156" cy="621506"/>
          </a:xfrm>
          <a:prstGeom prst="roundRect">
            <a:avLst>
              <a:gd name="adj" fmla="val 1226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1494" y="2486025"/>
            <a:ext cx="928688" cy="6143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446609" y="2486025"/>
            <a:ext cx="0" cy="6143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494" y="2486025"/>
            <a:ext cx="928688" cy="614363"/>
          </a:xfrm>
          <a:prstGeom prst="rect">
            <a:avLst/>
          </a:prstGeom>
          <a:noFill/>
          <a:ln/>
        </p:spPr>
        <p:txBody>
          <a:bodyPr wrap="none" lIns="100013" tIns="100013" rIns="100013" bIns="10001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582341" y="2687836"/>
            <a:ext cx="1209415" cy="210741"/>
          </a:xfrm>
          <a:prstGeom prst="roundRect">
            <a:avLst>
              <a:gd name="adj" fmla="val 2259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578769" y="2684264"/>
            <a:ext cx="1252277" cy="304246"/>
          </a:xfrm>
          <a:prstGeom prst="rect">
            <a:avLst/>
          </a:prstGeom>
          <a:noFill/>
          <a:ln/>
        </p:spPr>
        <p:txBody>
          <a:bodyPr wrap="square" lIns="78581" tIns="42863" rIns="78581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Claims Triage (LangGraph)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866765" y="2671462"/>
            <a:ext cx="847539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866765" y="2684264"/>
            <a:ext cx="84753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Fraud Check RAG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785741" y="2671462"/>
            <a:ext cx="1009501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785741" y="2684264"/>
            <a:ext cx="100950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 Decision Engine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66680" y="2671462"/>
            <a:ext cx="1007715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866680" y="2684264"/>
            <a:ext cx="100771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Compliance Validator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7922" y="3196828"/>
            <a:ext cx="8108156" cy="621506"/>
          </a:xfrm>
          <a:prstGeom prst="roundRect">
            <a:avLst>
              <a:gd name="adj" fmla="val 1226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1494" y="3200400"/>
            <a:ext cx="928688" cy="6143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446609" y="3200400"/>
            <a:ext cx="0" cy="6143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1494" y="3200400"/>
            <a:ext cx="928688" cy="614363"/>
          </a:xfrm>
          <a:prstGeom prst="rect">
            <a:avLst/>
          </a:prstGeom>
          <a:noFill/>
          <a:ln/>
        </p:spPr>
        <p:txBody>
          <a:bodyPr wrap="none" lIns="100013" tIns="100013" rIns="100013" bIns="10001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578769" y="3385837"/>
            <a:ext cx="994321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578769" y="3398639"/>
            <a:ext cx="99432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Fraud LLM (XGBoost)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644527" y="3385837"/>
            <a:ext cx="895424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644527" y="3398639"/>
            <a:ext cx="89542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Credit Risk (Blaze)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611389" y="3385837"/>
            <a:ext cx="871761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611389" y="3398639"/>
            <a:ext cx="87176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Churn (LightGBM)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558159" y="3402211"/>
            <a:ext cx="1194122" cy="210741"/>
          </a:xfrm>
          <a:prstGeom prst="roundRect">
            <a:avLst>
              <a:gd name="adj" fmla="val 2259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554587" y="3398639"/>
            <a:ext cx="3939332" cy="304246"/>
          </a:xfrm>
          <a:prstGeom prst="rect">
            <a:avLst/>
          </a:prstGeom>
          <a:noFill/>
          <a:ln/>
        </p:spPr>
        <p:txBody>
          <a:bodyPr wrap="square" lIns="78581" tIns="42863" rIns="78581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Anomaly (Isolation Forest)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17922" y="3911203"/>
            <a:ext cx="8108156" cy="621506"/>
          </a:xfrm>
          <a:prstGeom prst="roundRect">
            <a:avLst>
              <a:gd name="adj" fmla="val 1226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21494" y="3914775"/>
            <a:ext cx="928688" cy="6143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1446609" y="3914775"/>
            <a:ext cx="0" cy="6143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1494" y="3914775"/>
            <a:ext cx="928688" cy="614363"/>
          </a:xfrm>
          <a:prstGeom prst="rect">
            <a:avLst/>
          </a:prstGeom>
          <a:noFill/>
          <a:ln/>
        </p:spPr>
        <p:txBody>
          <a:bodyPr wrap="none" lIns="100013" tIns="100013" rIns="100013" bIns="10001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578769" y="4100212"/>
            <a:ext cx="1082836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578769" y="4113014"/>
            <a:ext cx="108283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Guidewire PolicyCenter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733042" y="4100212"/>
            <a:ext cx="981484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2733042" y="4113014"/>
            <a:ext cx="98148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Claims History (SAS)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785964" y="4100212"/>
            <a:ext cx="811485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785964" y="4113014"/>
            <a:ext cx="81148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Bloomberg Feed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668887" y="4100212"/>
            <a:ext cx="1026021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668887" y="4113014"/>
            <a:ext cx="102602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Watchlist (Dow Jones)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17922" y="4625578"/>
            <a:ext cx="8108156" cy="621506"/>
          </a:xfrm>
          <a:prstGeom prst="roundRect">
            <a:avLst>
              <a:gd name="adj" fmla="val 1226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21494" y="4629150"/>
            <a:ext cx="928688" cy="6143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1446609" y="4629150"/>
            <a:ext cx="0" cy="6143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21494" y="4629150"/>
            <a:ext cx="928688" cy="514350"/>
          </a:xfrm>
          <a:prstGeom prst="rect">
            <a:avLst/>
          </a:prstGeom>
          <a:noFill/>
          <a:ln/>
        </p:spPr>
        <p:txBody>
          <a:bodyPr wrap="none" lIns="100013" tIns="100013" rIns="100013" bIns="100013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68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578769" y="4814587"/>
            <a:ext cx="1194457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578769" y="4827389"/>
            <a:ext cx="119445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OpenAI + LangFuse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844664" y="4814587"/>
            <a:ext cx="896206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844664" y="4827389"/>
            <a:ext cx="89620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MLflow + Datadog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812307" y="4814587"/>
            <a:ext cx="978359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812307" y="4827389"/>
            <a:ext cx="97835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SR 11-7 Governance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4862103" y="4814587"/>
            <a:ext cx="1110965" cy="243488"/>
          </a:xfrm>
          <a:prstGeom prst="roundRect">
            <a:avLst>
              <a:gd name="adj" fmla="val 19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4862103" y="4827389"/>
            <a:ext cx="111096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AI Content Safety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60822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87648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fixed duration, and transparent commercial frame.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498402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35794" y="1630561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35794" y="1830586"/>
            <a:ext cx="1700213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956" dirty="0"/>
          </a:p>
        </p:txBody>
      </p:sp>
      <p:sp>
        <p:nvSpPr>
          <p:cNvPr id="10" name="Text 7"/>
          <p:cNvSpPr/>
          <p:nvPr/>
        </p:nvSpPr>
        <p:spPr>
          <a:xfrm>
            <a:off x="635794" y="2047689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35794" y="2254858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35794" y="2362014"/>
            <a:ext cx="1700213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35794" y="2529892"/>
            <a:ext cx="170021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maturity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35794" y="3727252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794" y="3723680"/>
            <a:ext cx="1700213" cy="207169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575322" y="1498402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93194" y="1630561"/>
            <a:ext cx="17002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693194" y="1830586"/>
            <a:ext cx="1700213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956" dirty="0"/>
          </a:p>
        </p:txBody>
      </p:sp>
      <p:sp>
        <p:nvSpPr>
          <p:cNvPr id="19" name="Text 16"/>
          <p:cNvSpPr/>
          <p:nvPr/>
        </p:nvSpPr>
        <p:spPr>
          <a:xfrm>
            <a:off x="2693194" y="2047689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693194" y="2254858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693194" y="2362014"/>
            <a:ext cx="1700213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693194" y="2529892"/>
            <a:ext cx="170021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693194" y="3727252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93194" y="3723680"/>
            <a:ext cx="1700213" cy="207169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32722" y="1498402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50594" y="1630561"/>
            <a:ext cx="17002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50594" y="1830586"/>
            <a:ext cx="1700213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56" dirty="0"/>
          </a:p>
        </p:txBody>
      </p:sp>
      <p:sp>
        <p:nvSpPr>
          <p:cNvPr id="28" name="Text 25"/>
          <p:cNvSpPr/>
          <p:nvPr/>
        </p:nvSpPr>
        <p:spPr>
          <a:xfrm>
            <a:off x="4750594" y="2047689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50594" y="2254858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50594" y="2362014"/>
            <a:ext cx="1700213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50594" y="2529892"/>
            <a:ext cx="170021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50594" y="3727252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0594" y="3723680"/>
            <a:ext cx="1700213" cy="207169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690122" y="1498402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807994" y="1630561"/>
            <a:ext cx="17002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807994" y="1830586"/>
            <a:ext cx="1700212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956" dirty="0"/>
          </a:p>
        </p:txBody>
      </p:sp>
      <p:sp>
        <p:nvSpPr>
          <p:cNvPr id="37" name="Text 34"/>
          <p:cNvSpPr/>
          <p:nvPr/>
        </p:nvSpPr>
        <p:spPr>
          <a:xfrm>
            <a:off x="6807994" y="2047689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807994" y="2254858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807994" y="2362014"/>
            <a:ext cx="1700213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807994" y="2529892"/>
            <a:ext cx="170021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807994" y="3727252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807994" y="3723680"/>
            <a:ext cx="1700213" cy="207169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71513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860822"/>
            <a:ext cx="8629650" cy="30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13" b="1" spc="-2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913" dirty="0"/>
          </a:p>
        </p:txBody>
      </p:sp>
      <p:sp>
        <p:nvSpPr>
          <p:cNvPr id="6" name="Text 3"/>
          <p:cNvSpPr/>
          <p:nvPr/>
        </p:nvSpPr>
        <p:spPr>
          <a:xfrm>
            <a:off x="514350" y="1204503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bfsi &amp; insurance.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525972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4350" y="152954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96991" y="1525972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4350" y="259396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8638" y="1525972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8663" y="1690278"/>
            <a:ext cx="35790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28663" y="1926022"/>
            <a:ext cx="357901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28663" y="2154622"/>
            <a:ext cx="35790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engineered for production from day one, not a model demo.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43438" y="1525972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43438" y="1529544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26078" y="1525972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3438" y="259396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57725" y="1525972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57750" y="1690278"/>
            <a:ext cx="35790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57750" y="1926022"/>
            <a:ext cx="357901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Platform-native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57750" y="2154622"/>
            <a:ext cx="35790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expertise in industry-specific platforms — not generic AI.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4350" y="2740409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14350" y="274398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96991" y="2740409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4350" y="3808400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8638" y="2740409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8663" y="2904716"/>
            <a:ext cx="35790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8663" y="3140459"/>
            <a:ext cx="357901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depth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28663" y="3369059"/>
            <a:ext cx="35790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capability matched to industry regulatory and operational realities.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4643438" y="2740409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643438" y="274398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26078" y="2740409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43438" y="3808400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57725" y="2740409"/>
            <a:ext cx="0" cy="107156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57750" y="2904716"/>
            <a:ext cx="35790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57750" y="3140459"/>
            <a:ext cx="357901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Responsible AI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57750" y="3369059"/>
            <a:ext cx="35790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Governance, bias assessment, and compliance built in, not bolted on.</a:t>
            </a:r>
            <a:endParaRPr lang="en-US" sz="675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340509-ng684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0" y="1571625"/>
            <a:ext cx="7144" cy="2571750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024271" y="1714500"/>
            <a:ext cx="1376779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299627" y="1875234"/>
            <a:ext cx="110142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984802" y="2389584"/>
            <a:ext cx="1416248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268051" y="2550319"/>
            <a:ext cx="113299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487900" y="3064669"/>
            <a:ext cx="9131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670530" y="3225403"/>
            <a:ext cx="73052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350" b="1" spc="-1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42950" y="1714500"/>
            <a:ext cx="45274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42950" y="1960959"/>
            <a:ext cx="3541966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13" name="Text 9"/>
          <p:cNvSpPr/>
          <p:nvPr/>
        </p:nvSpPr>
        <p:spPr>
          <a:xfrm>
            <a:off x="742950" y="2380990"/>
            <a:ext cx="3953509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14" name="Text 10"/>
          <p:cNvSpPr/>
          <p:nvPr/>
        </p:nvSpPr>
        <p:spPr>
          <a:xfrm>
            <a:off x="742950" y="3001045"/>
            <a:ext cx="3643165" cy="183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42950" y="3212455"/>
            <a:ext cx="3643165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2026-10-01T09:02:20Z</dcterms:created>
  <dcterms:modified xsi:type="dcterms:W3CDTF">2026-10-01T09:02:20Z</dcterms:modified>
</cp:coreProperties>
</file>