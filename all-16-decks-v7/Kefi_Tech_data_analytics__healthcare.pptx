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437003-x6pm5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06617" y="571500"/>
            <a:ext cx="24555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01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HEALTHCARE &amp; PHARMA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6156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HEALTHCARE &amp; PHARMA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43100"/>
            <a:ext cx="5783580" cy="2073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7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</a:t>
            </a:r>
            <a:endParaRPr lang="en-US" sz="36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3600" b="1" spc="-72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Healthcare &amp; Pharma.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4020145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4170164"/>
            <a:ext cx="4429125" cy="50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deep-tech capability brief on Kefi Tech Data Analytics &amp; Data Engineering Services for Healthcare &amp; Pharma.</a:t>
            </a:r>
            <a:endParaRPr lang="en-US" sz="1238" dirty="0"/>
          </a:p>
        </p:txBody>
      </p:sp>
      <p:sp>
        <p:nvSpPr>
          <p:cNvPr id="9" name="Text 5"/>
          <p:cNvSpPr/>
          <p:nvPr/>
        </p:nvSpPr>
        <p:spPr>
          <a:xfrm>
            <a:off x="6400800" y="685800"/>
            <a:ext cx="7144" cy="37719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5768935" y="1714500"/>
            <a:ext cx="2860715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698668" y="1860947"/>
            <a:ext cx="1930982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44" b="1" spc="1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844" dirty="0"/>
          </a:p>
        </p:txBody>
      </p:sp>
      <p:sp>
        <p:nvSpPr>
          <p:cNvPr id="12" name="Text 8"/>
          <p:cNvSpPr/>
          <p:nvPr/>
        </p:nvSpPr>
        <p:spPr>
          <a:xfrm>
            <a:off x="5491401" y="2246709"/>
            <a:ext cx="3138249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511332" y="2393156"/>
            <a:ext cx="2118318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44" b="1" spc="1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844" dirty="0"/>
          </a:p>
        </p:txBody>
      </p:sp>
      <p:sp>
        <p:nvSpPr>
          <p:cNvPr id="14" name="Text 10"/>
          <p:cNvSpPr/>
          <p:nvPr/>
        </p:nvSpPr>
        <p:spPr>
          <a:xfrm>
            <a:off x="5413891" y="2778919"/>
            <a:ext cx="3215759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459013" y="2925366"/>
            <a:ext cx="2170637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44" b="1" spc="1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844" dirty="0"/>
          </a:p>
        </p:txBody>
      </p:sp>
      <p:sp>
        <p:nvSpPr>
          <p:cNvPr id="16" name="Shape 12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4350" y="4754166"/>
            <a:ext cx="560427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132909" y="4750594"/>
            <a:ext cx="24967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DATA ANALYTICS AND DATA ENGINEERING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HEALTHCARE &amp; PHARMA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60834"/>
            <a:ext cx="7858125" cy="51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Healthcare &amp; Pharma balances patient outcomes, regulatory compliance and operational efficiency.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42950" y="1512243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privacy, clinical accuracy, regulatory oversight and patient experience define every technology decision.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918097"/>
            <a:ext cx="4456249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4369" y="2050256"/>
            <a:ext cx="42730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HEALTHCARE &amp; PHARMA NEEDS THIS NOW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67941" y="2271713"/>
            <a:ext cx="4156211" cy="401389"/>
          </a:xfrm>
          <a:prstGeom prst="roundRect">
            <a:avLst>
              <a:gd name="adj" fmla="val 2847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57238" y="23538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11" name="Text 8"/>
          <p:cNvSpPr/>
          <p:nvPr/>
        </p:nvSpPr>
        <p:spPr>
          <a:xfrm>
            <a:off x="957263" y="2346722"/>
            <a:ext cx="2535062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transformation pressure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57263" y="2484239"/>
            <a:ext cx="2347280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digital adoption accelerating across the industry.</a:t>
            </a:r>
            <a:endParaRPr lang="en-US" sz="619" dirty="0"/>
          </a:p>
        </p:txBody>
      </p:sp>
      <p:sp>
        <p:nvSpPr>
          <p:cNvPr id="13" name="Text 10"/>
          <p:cNvSpPr/>
          <p:nvPr/>
        </p:nvSpPr>
        <p:spPr>
          <a:xfrm>
            <a:off x="667941" y="2751683"/>
            <a:ext cx="4156211" cy="401389"/>
          </a:xfrm>
          <a:prstGeom prst="roundRect">
            <a:avLst>
              <a:gd name="adj" fmla="val 2847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57238" y="28338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15" name="Text 12"/>
          <p:cNvSpPr/>
          <p:nvPr/>
        </p:nvSpPr>
        <p:spPr>
          <a:xfrm>
            <a:off x="957263" y="2826693"/>
            <a:ext cx="3050658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&amp; compliance demands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957263" y="2964210"/>
            <a:ext cx="2824683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regulations require continuous compliance technology.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667941" y="3231654"/>
            <a:ext cx="4156211" cy="401389"/>
          </a:xfrm>
          <a:prstGeom prst="roundRect">
            <a:avLst>
              <a:gd name="adj" fmla="val 2847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57238" y="331380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9" name="Text 16"/>
          <p:cNvSpPr/>
          <p:nvPr/>
        </p:nvSpPr>
        <p:spPr>
          <a:xfrm>
            <a:off x="957263" y="3306663"/>
            <a:ext cx="2745062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efficiency mandate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57263" y="3444180"/>
            <a:ext cx="2541724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Cost-to-serve reduction while maintaining quality and resilience.</a:t>
            </a:r>
            <a:endParaRPr lang="en-US" sz="619" dirty="0"/>
          </a:p>
        </p:txBody>
      </p:sp>
      <p:sp>
        <p:nvSpPr>
          <p:cNvPr id="21" name="Text 18"/>
          <p:cNvSpPr/>
          <p:nvPr/>
        </p:nvSpPr>
        <p:spPr>
          <a:xfrm>
            <a:off x="667941" y="3711625"/>
            <a:ext cx="4156211" cy="401389"/>
          </a:xfrm>
          <a:prstGeom prst="roundRect">
            <a:avLst>
              <a:gd name="adj" fmla="val 2847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757238" y="379377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266" dirty="0"/>
          </a:p>
        </p:txBody>
      </p:sp>
      <p:sp>
        <p:nvSpPr>
          <p:cNvPr id="23" name="Text 20"/>
          <p:cNvSpPr/>
          <p:nvPr/>
        </p:nvSpPr>
        <p:spPr>
          <a:xfrm>
            <a:off x="957263" y="3786634"/>
            <a:ext cx="2903586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&amp; employee expectations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957263" y="3924151"/>
            <a:ext cx="2688506" cy="11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digital experiences are now table stakes, not differentiation.</a:t>
            </a:r>
            <a:endParaRPr lang="en-US" sz="619" dirty="0"/>
          </a:p>
        </p:txBody>
      </p:sp>
      <p:sp>
        <p:nvSpPr>
          <p:cNvPr id="25" name="Text 22"/>
          <p:cNvSpPr/>
          <p:nvPr/>
        </p:nvSpPr>
        <p:spPr>
          <a:xfrm>
            <a:off x="5152765" y="1918097"/>
            <a:ext cx="3644652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299211" y="2050256"/>
            <a:ext cx="3351758" cy="30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DATA ANALYTICS &amp; DATA ENGINEERING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299211" y="2386013"/>
            <a:ext cx="3351758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applied to healthcare &amp; pharma requires industry-specific capability, not generic technology. The right approach connects data analytics &amp; data engineering to the regulatory, operational and customer realities that define healthcare &amp; pharma.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299211" y="4214813"/>
            <a:ext cx="1477194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299211" y="4214813"/>
            <a:ext cx="1477194" cy="135731"/>
          </a:xfrm>
          <a:prstGeom prst="rect">
            <a:avLst/>
          </a:prstGeom>
          <a:noFill/>
          <a:ln/>
        </p:spPr>
        <p:txBody>
          <a:bodyPr wrap="non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INDUSTRY-SPECIFIC APPROACH</a:t>
            </a:r>
            <a:endParaRPr lang="en-US" sz="600" dirty="0"/>
          </a:p>
        </p:txBody>
      </p:sp>
      <p:sp>
        <p:nvSpPr>
          <p:cNvPr id="30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4350" y="4754166"/>
            <a:ext cx="357221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100847" y="4750594"/>
            <a:ext cx="312226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237400" y="4750594"/>
            <a:ext cx="147578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HEALTHCARE &amp; PHARMA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60834"/>
            <a:ext cx="84010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across the complete lifecycle.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42950" y="1257970"/>
            <a:ext cx="84010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for healthcare &amp; pharma.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89497"/>
            <a:ext cx="1871663" cy="492919"/>
          </a:xfrm>
          <a:prstGeom prst="roundRect">
            <a:avLst>
              <a:gd name="adj" fmla="val 1932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35794" y="185737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9" name="Text 6"/>
          <p:cNvSpPr/>
          <p:nvPr/>
        </p:nvSpPr>
        <p:spPr>
          <a:xfrm>
            <a:off x="864394" y="1860947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393156" y="18359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2596753" y="1689497"/>
            <a:ext cx="1871663" cy="492919"/>
          </a:xfrm>
          <a:prstGeom prst="roundRect">
            <a:avLst>
              <a:gd name="adj" fmla="val 1932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714625" y="185737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547" dirty="0"/>
          </a:p>
        </p:txBody>
      </p:sp>
      <p:sp>
        <p:nvSpPr>
          <p:cNvPr id="13" name="Text 10"/>
          <p:cNvSpPr/>
          <p:nvPr/>
        </p:nvSpPr>
        <p:spPr>
          <a:xfrm>
            <a:off x="2943225" y="1860947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471988" y="18359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5" name="Text 12"/>
          <p:cNvSpPr/>
          <p:nvPr/>
        </p:nvSpPr>
        <p:spPr>
          <a:xfrm>
            <a:off x="4675584" y="1689497"/>
            <a:ext cx="1871663" cy="492919"/>
          </a:xfrm>
          <a:prstGeom prst="roundRect">
            <a:avLst>
              <a:gd name="adj" fmla="val 1932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793456" y="185737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7" name="Text 14"/>
          <p:cNvSpPr/>
          <p:nvPr/>
        </p:nvSpPr>
        <p:spPr>
          <a:xfrm>
            <a:off x="5022056" y="1860947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550819" y="18359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9" name="Text 16"/>
          <p:cNvSpPr/>
          <p:nvPr/>
        </p:nvSpPr>
        <p:spPr>
          <a:xfrm>
            <a:off x="6754416" y="1689497"/>
            <a:ext cx="1871663" cy="492919"/>
          </a:xfrm>
          <a:prstGeom prst="roundRect">
            <a:avLst>
              <a:gd name="adj" fmla="val 1932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72288" y="185737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547" dirty="0"/>
          </a:p>
        </p:txBody>
      </p:sp>
      <p:sp>
        <p:nvSpPr>
          <p:cNvPr id="21" name="Text 18"/>
          <p:cNvSpPr/>
          <p:nvPr/>
        </p:nvSpPr>
        <p:spPr>
          <a:xfrm>
            <a:off x="7100888" y="1860947"/>
            <a:ext cx="14073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17922" y="2432447"/>
            <a:ext cx="2640732" cy="850106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35794" y="253603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24" name="Text 21"/>
          <p:cNvSpPr/>
          <p:nvPr/>
        </p:nvSpPr>
        <p:spPr>
          <a:xfrm>
            <a:off x="2895084" y="2544961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31" dirty="0"/>
          </a:p>
        </p:txBody>
      </p:sp>
      <p:sp>
        <p:nvSpPr>
          <p:cNvPr id="25" name="Text 22"/>
          <p:cNvSpPr/>
          <p:nvPr/>
        </p:nvSpPr>
        <p:spPr>
          <a:xfrm>
            <a:off x="635794" y="2736056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35794" y="2913199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strategy, governance, lineage, MDM aligned to industry regulations.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251522" y="2432447"/>
            <a:ext cx="2640843" cy="850106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369394" y="253603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9" name="Text 26"/>
          <p:cNvSpPr/>
          <p:nvPr/>
        </p:nvSpPr>
        <p:spPr>
          <a:xfrm>
            <a:off x="5628796" y="2544961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31" dirty="0"/>
          </a:p>
        </p:txBody>
      </p:sp>
      <p:sp>
        <p:nvSpPr>
          <p:cNvPr id="30" name="Text 27"/>
          <p:cNvSpPr/>
          <p:nvPr/>
        </p:nvSpPr>
        <p:spPr>
          <a:xfrm>
            <a:off x="3369394" y="2736056"/>
            <a:ext cx="25148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369394" y="2913199"/>
            <a:ext cx="2405100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pipelines, ETL/ELT, API integration, streaming ingestion.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985235" y="2432447"/>
            <a:ext cx="2640732" cy="850106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103107" y="253603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547" dirty="0"/>
          </a:p>
        </p:txBody>
      </p:sp>
      <p:sp>
        <p:nvSpPr>
          <p:cNvPr id="34" name="Text 31"/>
          <p:cNvSpPr/>
          <p:nvPr/>
        </p:nvSpPr>
        <p:spPr>
          <a:xfrm>
            <a:off x="8362397" y="2544961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31" dirty="0"/>
          </a:p>
        </p:txBody>
      </p:sp>
      <p:sp>
        <p:nvSpPr>
          <p:cNvPr id="35" name="Text 32"/>
          <p:cNvSpPr/>
          <p:nvPr/>
        </p:nvSpPr>
        <p:spPr>
          <a:xfrm>
            <a:off x="6103107" y="2736056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103107" y="2913199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Lakehouse, warehouse, cloud platforms, legacy modernization.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17922" y="3375422"/>
            <a:ext cx="2640732" cy="850106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635794" y="347900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39" name="Text 36"/>
          <p:cNvSpPr/>
          <p:nvPr/>
        </p:nvSpPr>
        <p:spPr>
          <a:xfrm>
            <a:off x="2895084" y="3487936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31" dirty="0"/>
          </a:p>
        </p:txBody>
      </p:sp>
      <p:sp>
        <p:nvSpPr>
          <p:cNvPr id="40" name="Text 37"/>
          <p:cNvSpPr/>
          <p:nvPr/>
        </p:nvSpPr>
        <p:spPr>
          <a:xfrm>
            <a:off x="635794" y="3679031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35794" y="3856174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Dashboards, self-service BI, executive analytics, regulatory reporting.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3251522" y="3375422"/>
            <a:ext cx="2640843" cy="850106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3369394" y="347900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547" dirty="0"/>
          </a:p>
        </p:txBody>
      </p:sp>
      <p:sp>
        <p:nvSpPr>
          <p:cNvPr id="44" name="Text 41"/>
          <p:cNvSpPr/>
          <p:nvPr/>
        </p:nvSpPr>
        <p:spPr>
          <a:xfrm>
            <a:off x="5628796" y="3487936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31" dirty="0"/>
          </a:p>
        </p:txBody>
      </p:sp>
      <p:sp>
        <p:nvSpPr>
          <p:cNvPr id="45" name="Text 42"/>
          <p:cNvSpPr/>
          <p:nvPr/>
        </p:nvSpPr>
        <p:spPr>
          <a:xfrm>
            <a:off x="3369394" y="3679031"/>
            <a:ext cx="25148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Advanced Analytics &amp; Data Science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369394" y="3856174"/>
            <a:ext cx="2405100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models, forecasting, optimisation, graph analytics.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985235" y="3375422"/>
            <a:ext cx="2640732" cy="850106"/>
          </a:xfrm>
          <a:prstGeom prst="roundRect">
            <a:avLst>
              <a:gd name="adj" fmla="val 896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103107" y="347900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49" name="Text 46"/>
          <p:cNvSpPr/>
          <p:nvPr/>
        </p:nvSpPr>
        <p:spPr>
          <a:xfrm>
            <a:off x="8362397" y="3487936"/>
            <a:ext cx="16839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spc="44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31" dirty="0"/>
          </a:p>
        </p:txBody>
      </p:sp>
      <p:sp>
        <p:nvSpPr>
          <p:cNvPr id="50" name="Text 47"/>
          <p:cNvSpPr/>
          <p:nvPr/>
        </p:nvSpPr>
        <p:spPr>
          <a:xfrm>
            <a:off x="6103107" y="3679031"/>
            <a:ext cx="2404988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103107" y="3856174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over enterprise data, conversational analytics, automated insights.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HEALTHCARE &amp; PHARMA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60834"/>
            <a:ext cx="84010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42950" y="1257970"/>
            <a:ext cx="7886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strategy, governance, lineage, MDM aligned to industry regulations.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89497"/>
            <a:ext cx="445624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4369" y="1821656"/>
            <a:ext cx="41633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64369" y="2039541"/>
            <a:ext cx="4163355" cy="37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strategy &amp; governance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64369" y="4271963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64369" y="4271963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1 OF 6 · HEALTHCARE &amp; PHARMA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152765" y="1689497"/>
            <a:ext cx="364465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99211" y="1821656"/>
            <a:ext cx="33517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02783" y="2043113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377793" y="211097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563530" y="21038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749268" y="2096691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Data Governance (HIPAA)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749268" y="2213781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 for PHI — privacy, consent, de-identification per HIPAA Safe Harbor and HITECH Act.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02783" y="2517391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377793" y="258525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563530" y="257811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749268" y="2570969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Data MDM (Informatica)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49268" y="2688059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Master data management for patient records across Epic, Cerner, and lab systems via Informatica MDM.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02783" y="2991669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377793" y="305953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563530" y="305239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749268" y="3045247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HIPAA-Compliant Data Architecture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749268" y="3162337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meeting HIPAA, HITECH, and HITRUST CSF data protection requirements.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02783" y="3465947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377793" y="353381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563530" y="352666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749268" y="3519525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Data Quality (Talend)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749268" y="3636615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controls for clinical data — completeness, accuracy, timeliness for patient safety per Joint Commission.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02783" y="3940225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377793" y="400809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563530" y="400094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749268" y="3993803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Data Governance (IRB)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749268" y="4110893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for research data — IRB approvals, consent, data sharing via Veeva Vault CDMS.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0603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34669" y="4750594"/>
            <a:ext cx="315619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305154" y="4750594"/>
            <a:ext cx="140396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STRATEGY &amp; GOVERNANCE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HEALTHCARE &amp; PHARMA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60834"/>
            <a:ext cx="84010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42950" y="1257970"/>
            <a:ext cx="7886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pipelines, ETL/ELT, API integration, streaming ingestion.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89497"/>
            <a:ext cx="445624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4369" y="1821656"/>
            <a:ext cx="41633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64369" y="2039541"/>
            <a:ext cx="4163355" cy="37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engineering &amp; integration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64369" y="4271963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64369" y="4271963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2 OF 6 · HEALTHCARE &amp; PHARMA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152765" y="1689497"/>
            <a:ext cx="364465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99211" y="1821656"/>
            <a:ext cx="33517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02783" y="2043113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377793" y="211097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563530" y="21038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749268" y="2096691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EHR Integration Pipeline (FHIR R4)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749268" y="2213781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pipeline ingesting Epic FHIR R4 API data into analytics platforms via Redox Engine.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02783" y="2517391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377793" y="258525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563530" y="257811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749268" y="2570969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Medical Device Data Stream (IoT)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49268" y="2688059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Streaming pipeline for IoT medical device data — vitals monitors, imaging equipment via Azure IoT Hub.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02783" y="2991669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377793" y="305953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563530" y="305239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749268" y="3045247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Trial Data Lake (Databricks)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749268" y="3162337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Centralised data lake for clinical trial data via Databricks — protocols, results, adverse events from Medidata.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02783" y="3465947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377793" y="353381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563530" y="352666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749268" y="3519525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Claims &amp; Billing Data Pipeline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749268" y="3636615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consolidating claims and billing data via Availity and Cognizant TriZetto into Snowflake.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02783" y="3940225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377793" y="400809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563530" y="400094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749268" y="3993803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Lab Results Integration (HL7 v2)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749268" y="4110893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of lab results into patient records via HL7 v2 → FHIR conversion using MuleSoft.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5379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66580" y="4750594"/>
            <a:ext cx="308810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68976" y="4750594"/>
            <a:ext cx="15483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ENGINEERING &amp; INTEGRATION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HEALTHCARE &amp; PHARMA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60834"/>
            <a:ext cx="84010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42950" y="1257970"/>
            <a:ext cx="7886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Lakehouse, warehouse, cloud platforms, legacy modernization.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89497"/>
            <a:ext cx="445624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4369" y="1821656"/>
            <a:ext cx="41633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64369" y="2039541"/>
            <a:ext cx="4163355" cy="37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data platforms &amp; modernization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64369" y="4271963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64369" y="4271963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3 OF 6 · HEALTHCARE &amp; PHARMA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152765" y="1689497"/>
            <a:ext cx="364465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99211" y="1821656"/>
            <a:ext cx="33517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02783" y="2043113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377793" y="211097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563530" y="21038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749268" y="2096691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360 Platform (Salesforce Health Cloud)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749268" y="2213781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Unified patient data platform across encounters, labs, imaging, devices via Salesforce Health Cloud.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02783" y="2517391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377793" y="258525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563530" y="257811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749268" y="2570969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Data Warehouse (Snowflake)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49268" y="2688059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Warehouse purpose-built for clinical analytics — outcomes, quality, safety via Snowflake on Azure.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02783" y="2991669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377793" y="305953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563530" y="305239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749268" y="3045247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Clinical Monitoring (Kafka)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749268" y="3162337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 processing platform for real-time patient monitoring and alerts via Kafka + Flink.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02783" y="3465947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377793" y="353381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563530" y="352666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749268" y="3519525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Data Platform (Veeva Vault)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749268" y="3636615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supporting clinical research — de-identified data, cohort building, analytics via Veeva Vault CDMS.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02783" y="3940225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377793" y="400809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563530" y="400094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749268" y="3993803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Health Data Lakehouse (Databricks)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749268" y="4110893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lakehouse for healthcare analytics — HIPAA-compliant, HITRUST certified on AWS.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51148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040125" y="4750594"/>
            <a:ext cx="30616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116068" y="4750594"/>
            <a:ext cx="160439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PLATFORMS &amp; MODERNIZATION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HEALTHCARE &amp; PHARMA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60834"/>
            <a:ext cx="84010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42950" y="1257970"/>
            <a:ext cx="7886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Dashboards, self-service BI, executive analytics, regulatory reporting.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89497"/>
            <a:ext cx="445624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4369" y="1821656"/>
            <a:ext cx="41633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64369" y="2039541"/>
            <a:ext cx="4163355" cy="37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BI &amp; decision intelligence capability is engineered for healthcare &amp; pharma environments with real industry platforms and tools — not generic technology.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64369" y="4271963"/>
            <a:ext cx="2082850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64369" y="4271963"/>
            <a:ext cx="2082850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4 OF 6 · HEALTHCARE &amp; PHARMA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152765" y="1689497"/>
            <a:ext cx="364465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299211" y="1821656"/>
            <a:ext cx="33517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9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302783" y="2043113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377793" y="2110978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563530" y="210383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7" name="Text 14"/>
          <p:cNvSpPr/>
          <p:nvPr/>
        </p:nvSpPr>
        <p:spPr>
          <a:xfrm>
            <a:off x="5749268" y="2096691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Outcomes Dashboard (Power BI)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749268" y="2213781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dashboard for clinical leaders via Power BI — outcomes, complications, readmissions, length of stay.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302783" y="2517391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377793" y="2585256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563530" y="257811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2" name="Text 19"/>
          <p:cNvSpPr/>
          <p:nvPr/>
        </p:nvSpPr>
        <p:spPr>
          <a:xfrm>
            <a:off x="5749268" y="2570969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Performance Analytics (Tableau)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49268" y="2688059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Dashboards tracking bed occupancy, length of stay, staff productivity, resource utilisation via Tableau.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302783" y="2991669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377793" y="3059534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563530" y="305239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27" name="Text 24"/>
          <p:cNvSpPr/>
          <p:nvPr/>
        </p:nvSpPr>
        <p:spPr>
          <a:xfrm>
            <a:off x="5749268" y="3045247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&amp; Safety Analytics (Epic Slicer Dicer)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749268" y="3162337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metrics, safety incidents, compliance dashboards for regulators and Joint Commission accreditors.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302783" y="3465947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377793" y="3533812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563530" y="352666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2" name="Text 29"/>
          <p:cNvSpPr/>
          <p:nvPr/>
        </p:nvSpPr>
        <p:spPr>
          <a:xfrm>
            <a:off x="5749268" y="3519525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Physician Performance Analytics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749268" y="3636615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Physician-level analytics via Epic Cogito — outcomes, patient satisfaction, productivity dashboards.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302783" y="3940225"/>
            <a:ext cx="3344614" cy="424272"/>
          </a:xfrm>
          <a:prstGeom prst="roundRect">
            <a:avLst>
              <a:gd name="adj" fmla="val 13470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377793" y="4008090"/>
            <a:ext cx="2057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563530" y="400094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37" name="Text 34"/>
          <p:cNvSpPr/>
          <p:nvPr/>
        </p:nvSpPr>
        <p:spPr>
          <a:xfrm>
            <a:off x="5749268" y="3993803"/>
            <a:ext cx="29328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Financial Performance Dashboard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749268" y="4110893"/>
            <a:ext cx="28231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Revenue, cost per case, payer mix, margin analytics for hospital CFOs via Oracle Health EPM.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6669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195614" y="4750594"/>
            <a:ext cx="32171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427044" y="4750594"/>
            <a:ext cx="127476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 &amp; DECISION INTELLIGENCE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 · HEALTHCARE &amp; PHARMA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60834"/>
            <a:ext cx="8401050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data analytics &amp; data engineering applies to healthcare &amp; pharma.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42950" y="1497955"/>
            <a:ext cx="7886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industry-specific applications with real technology platforms.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775222"/>
            <a:ext cx="3993356" cy="1207294"/>
          </a:xfrm>
          <a:prstGeom prst="roundRect">
            <a:avLst>
              <a:gd name="adj" fmla="val 946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78656" y="19073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9" name="Text 6"/>
          <p:cNvSpPr/>
          <p:nvPr/>
        </p:nvSpPr>
        <p:spPr>
          <a:xfrm>
            <a:off x="4189607" y="1932384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8" dirty="0"/>
          </a:p>
        </p:txBody>
      </p:sp>
      <p:sp>
        <p:nvSpPr>
          <p:cNvPr id="10" name="Text 7"/>
          <p:cNvSpPr/>
          <p:nvPr/>
        </p:nvSpPr>
        <p:spPr>
          <a:xfrm>
            <a:off x="678656" y="2164556"/>
            <a:ext cx="3671888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Document Intelligence (Epic + Azure OpenAI)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678656" y="2543175"/>
            <a:ext cx="3671888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Epic EHR clinical documentation via Azure OpenAI + Nuance DAX — discharge summaries, clinical notes.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32722" y="1775222"/>
            <a:ext cx="3993356" cy="1207294"/>
          </a:xfrm>
          <a:prstGeom prst="roundRect">
            <a:avLst>
              <a:gd name="adj" fmla="val 946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793456" y="190738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969" dirty="0"/>
          </a:p>
        </p:txBody>
      </p:sp>
      <p:sp>
        <p:nvSpPr>
          <p:cNvPr id="14" name="Text 11"/>
          <p:cNvSpPr/>
          <p:nvPr/>
        </p:nvSpPr>
        <p:spPr>
          <a:xfrm>
            <a:off x="8304407" y="1932384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8" dirty="0"/>
          </a:p>
        </p:txBody>
      </p:sp>
      <p:sp>
        <p:nvSpPr>
          <p:cNvPr id="15" name="Text 12"/>
          <p:cNvSpPr/>
          <p:nvPr/>
        </p:nvSpPr>
        <p:spPr>
          <a:xfrm>
            <a:off x="4793456" y="2164556"/>
            <a:ext cx="3671888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Engagement (MyChart + Salesforce Health Cloud)</a:t>
            </a:r>
            <a:endParaRPr lang="en-US" sz="1013" dirty="0"/>
          </a:p>
        </p:txBody>
      </p:sp>
      <p:sp>
        <p:nvSpPr>
          <p:cNvPr id="16" name="Text 13"/>
          <p:cNvSpPr/>
          <p:nvPr/>
        </p:nvSpPr>
        <p:spPr>
          <a:xfrm>
            <a:off x="4793456" y="2543175"/>
            <a:ext cx="3671888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portals, telehealth, care navigation via Epic MyChart + Salesforce Health Cloud + Twilio.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17922" y="3103959"/>
            <a:ext cx="3993356" cy="1207294"/>
          </a:xfrm>
          <a:prstGeom prst="roundRect">
            <a:avLst>
              <a:gd name="adj" fmla="val 946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8656" y="32361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969" dirty="0"/>
          </a:p>
        </p:txBody>
      </p:sp>
      <p:sp>
        <p:nvSpPr>
          <p:cNvPr id="19" name="Text 16"/>
          <p:cNvSpPr/>
          <p:nvPr/>
        </p:nvSpPr>
        <p:spPr>
          <a:xfrm>
            <a:off x="4189607" y="3261122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678656" y="3493294"/>
            <a:ext cx="3781616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Operational Decision Support (Epic Cogito)</a:t>
            </a:r>
            <a:endParaRPr lang="en-US" sz="1013" dirty="0"/>
          </a:p>
        </p:txBody>
      </p:sp>
      <p:sp>
        <p:nvSpPr>
          <p:cNvPr id="21" name="Text 18"/>
          <p:cNvSpPr/>
          <p:nvPr/>
        </p:nvSpPr>
        <p:spPr>
          <a:xfrm>
            <a:off x="678656" y="3711178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Resource allocation, capacity planning via Epic Cogito analytics + Power BI dashboards.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632722" y="3103959"/>
            <a:ext cx="3993356" cy="1207294"/>
          </a:xfrm>
          <a:prstGeom prst="roundRect">
            <a:avLst>
              <a:gd name="adj" fmla="val 946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793456" y="3236119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969" dirty="0"/>
          </a:p>
        </p:txBody>
      </p:sp>
      <p:sp>
        <p:nvSpPr>
          <p:cNvPr id="24" name="Text 21"/>
          <p:cNvSpPr/>
          <p:nvPr/>
        </p:nvSpPr>
        <p:spPr>
          <a:xfrm>
            <a:off x="8304407" y="3261122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88" dirty="0"/>
          </a:p>
        </p:txBody>
      </p:sp>
      <p:sp>
        <p:nvSpPr>
          <p:cNvPr id="25" name="Text 22"/>
          <p:cNvSpPr/>
          <p:nvPr/>
        </p:nvSpPr>
        <p:spPr>
          <a:xfrm>
            <a:off x="4793456" y="3493294"/>
            <a:ext cx="3781616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&amp; RWE (Veeva Vault + Medidata)</a:t>
            </a:r>
            <a:endParaRPr lang="en-US" sz="1013" dirty="0"/>
          </a:p>
        </p:txBody>
      </p:sp>
      <p:sp>
        <p:nvSpPr>
          <p:cNvPr id="26" name="Text 23"/>
          <p:cNvSpPr/>
          <p:nvPr/>
        </p:nvSpPr>
        <p:spPr>
          <a:xfrm>
            <a:off x="4793456" y="3711178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research support, RWE analytics via Veeva Vault CDMS + Medidata Clinical Cloud.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HEALTHCARE &amp; PHARMA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60834"/>
            <a:ext cx="8401050" cy="50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data analytics &amp; data engineering — healthcare &amp; pharma.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42950" y="1497955"/>
            <a:ext cx="7886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industry technology platforms.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89497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21494" y="1693069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1446609" y="1693069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1494" y="1693069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CONSUMPTION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64481" y="1857375"/>
            <a:ext cx="89341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564481" y="1868091"/>
            <a:ext cx="89341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BI (Outcomes)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543621" y="1857375"/>
            <a:ext cx="88794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543621" y="1868091"/>
            <a:ext cx="88794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Tableau (Operations)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517292" y="1857375"/>
            <a:ext cx="87946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517292" y="1868091"/>
            <a:ext cx="879463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Epic Cogito (Quality)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482480" y="1857375"/>
            <a:ext cx="899666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482480" y="1868091"/>
            <a:ext cx="899666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Oracle EPM (Finance)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7922" y="2303859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1494" y="2307431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1446609" y="2307431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1494" y="2307431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SEMANTIC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568053" y="2486025"/>
            <a:ext cx="1118108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564481" y="2482453"/>
            <a:ext cx="1168115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Snowflake (Clinical Metrics)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2779030" y="2486025"/>
            <a:ext cx="1071563" cy="1714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2775458" y="2482453"/>
            <a:ext cx="1121569" cy="274320"/>
          </a:xfrm>
          <a:prstGeom prst="rect">
            <a:avLst/>
          </a:prstGeom>
          <a:noFill/>
          <a:ln/>
        </p:spPr>
        <p:txBody>
          <a:bodyPr wrap="square" lIns="64294" tIns="28575" rIns="64294" bIns="28575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Informatica MDM (Patient)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3939890" y="2471738"/>
            <a:ext cx="774985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939890" y="2482453"/>
            <a:ext cx="77498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Collibra (Lineage)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800600" y="2471738"/>
            <a:ext cx="96864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800600" y="2482453"/>
            <a:ext cx="96864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LOINC/RxNorm Catalog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17922" y="2918222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21494" y="2921794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1446609" y="2921794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21494" y="2921794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564481" y="3086100"/>
            <a:ext cx="90078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564481" y="3096816"/>
            <a:ext cx="900782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Epic FHIR R4 Pipeline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2550988" y="3086100"/>
            <a:ext cx="100447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2550988" y="3096816"/>
            <a:ext cx="100447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IoT Hub (Devices)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641192" y="3086100"/>
            <a:ext cx="82476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3641192" y="3096816"/>
            <a:ext cx="824768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Veeva Vault (Trials)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551685" y="3086100"/>
            <a:ext cx="72207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551685" y="3096816"/>
            <a:ext cx="72207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Availity (Claims)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17922" y="3532584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1494" y="3536156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2"/>
          <p:cNvSpPr/>
          <p:nvPr/>
        </p:nvSpPr>
        <p:spPr>
          <a:xfrm>
            <a:off x="1446609" y="3536156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1494" y="3536156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STORAGE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564481" y="3700463"/>
            <a:ext cx="99164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1564481" y="3711178"/>
            <a:ext cx="991642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Snowflake (Clinical DW)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2641848" y="3700463"/>
            <a:ext cx="930362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2641848" y="3711178"/>
            <a:ext cx="93036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Databricks Lakehouse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3657935" y="3700463"/>
            <a:ext cx="687363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3657935" y="3711178"/>
            <a:ext cx="68736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Epic Chronicles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431023" y="3700463"/>
            <a:ext cx="895648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431023" y="3711178"/>
            <a:ext cx="89564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Blob (Imaging)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7922" y="4146947"/>
            <a:ext cx="8108156" cy="535781"/>
          </a:xfrm>
          <a:prstGeom prst="roundRect">
            <a:avLst>
              <a:gd name="adj" fmla="val 14222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521494" y="4150519"/>
            <a:ext cx="928688" cy="528638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4"/>
          <p:cNvSpPr/>
          <p:nvPr/>
        </p:nvSpPr>
        <p:spPr>
          <a:xfrm>
            <a:off x="1446609" y="4150519"/>
            <a:ext cx="0" cy="528638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21494" y="4150519"/>
            <a:ext cx="928688" cy="528638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1564481" y="4314825"/>
            <a:ext cx="59538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1476339" y="4325541"/>
            <a:ext cx="77167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(HIPAA)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2245593" y="4314825"/>
            <a:ext cx="877007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2245593" y="4325541"/>
            <a:ext cx="87700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(FHIR Service)</a:t>
            </a:r>
            <a:endParaRPr lang="en-US" sz="800" dirty="0"/>
          </a:p>
        </p:txBody>
      </p:sp>
      <p:sp>
        <p:nvSpPr>
          <p:cNvPr id="63" name="Text 60"/>
          <p:cNvSpPr/>
          <p:nvPr/>
        </p:nvSpPr>
        <p:spPr>
          <a:xfrm>
            <a:off x="3208325" y="4314825"/>
            <a:ext cx="923999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1"/>
          <p:cNvSpPr/>
          <p:nvPr/>
        </p:nvSpPr>
        <p:spPr>
          <a:xfrm>
            <a:off x="3208325" y="4325541"/>
            <a:ext cx="92399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Collibra (Governance)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4218050" y="4314825"/>
            <a:ext cx="833140" cy="200025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4218050" y="4325541"/>
            <a:ext cx="83314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OneTrust (Consent)</a:t>
            </a:r>
            <a:endParaRPr lang="en-US" sz="800" dirty="0"/>
          </a:p>
        </p:txBody>
      </p:sp>
      <p:sp>
        <p:nvSpPr>
          <p:cNvPr id="67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0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60834"/>
            <a:ext cx="84010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42950" y="1257970"/>
            <a:ext cx="7886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fixed duration, and transparent commercial frame.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7922" y="1689497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506" y="1807369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21506" y="1982391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621506" y="2168128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506" y="2375297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21506" y="249674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1506" y="2693194"/>
            <a:ext cx="1728788" cy="782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Analytics &amp; Data Engineering maturity assessment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Opportunity prioritization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ROI business case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21506" y="4089797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506" y="4086225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$25K-$75K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75322" y="1689497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678906" y="1807369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678906" y="1982391"/>
            <a:ext cx="1728787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844" dirty="0"/>
          </a:p>
        </p:txBody>
      </p:sp>
      <p:sp>
        <p:nvSpPr>
          <p:cNvPr id="19" name="Text 16"/>
          <p:cNvSpPr/>
          <p:nvPr/>
        </p:nvSpPr>
        <p:spPr>
          <a:xfrm>
            <a:off x="2678906" y="2168128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678906" y="2375297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678906" y="249674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678906" y="2693194"/>
            <a:ext cx="1728788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CoE charter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Governance framework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678906" y="4089797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678906" y="4086225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$50K-$150K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632722" y="1689497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736306" y="1807369"/>
            <a:ext cx="172878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36306" y="1982391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844" dirty="0"/>
          </a:p>
        </p:txBody>
      </p:sp>
      <p:sp>
        <p:nvSpPr>
          <p:cNvPr id="28" name="Text 25"/>
          <p:cNvSpPr/>
          <p:nvPr/>
        </p:nvSpPr>
        <p:spPr>
          <a:xfrm>
            <a:off x="4736306" y="2168128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736306" y="2375297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736306" y="249674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736306" y="2693194"/>
            <a:ext cx="1728788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complete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736306" y="4089797"/>
            <a:ext cx="17287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36306" y="4086225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$300K-$1M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690122" y="1689497"/>
            <a:ext cx="1935956" cy="2707481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793706" y="1807369"/>
            <a:ext cx="1728787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793706" y="1982391"/>
            <a:ext cx="172878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844" dirty="0"/>
          </a:p>
        </p:txBody>
      </p:sp>
      <p:sp>
        <p:nvSpPr>
          <p:cNvPr id="37" name="Text 34"/>
          <p:cNvSpPr/>
          <p:nvPr/>
        </p:nvSpPr>
        <p:spPr>
          <a:xfrm>
            <a:off x="6793706" y="2168128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793706" y="2375297"/>
            <a:ext cx="1728788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793706" y="2496741"/>
            <a:ext cx="17287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7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793706" y="2693194"/>
            <a:ext cx="1728788" cy="66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6793706" y="4089797"/>
            <a:ext cx="1728788" cy="0"/>
          </a:xfrm>
          <a:prstGeom prst="line">
            <a:avLst/>
          </a:prstGeom>
          <a:noFill/>
          <a:ln w="7144">
            <a:solidFill>
              <a:srgbClr val="FF6C0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93706" y="4086225"/>
            <a:ext cx="1728788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$50K-$500K / mo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478631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42950" y="771525"/>
            <a:ext cx="84010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HEALTHCARE &amp; PHARMA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42950" y="960834"/>
            <a:ext cx="840105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1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enterprises work with us.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742950" y="1257970"/>
            <a:ext cx="78867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services. Specific differentiators for healthcare &amp; pharma.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14350" y="1771650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14350" y="177522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96991" y="1771650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" y="283964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8638" y="1771650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0088" y="1907381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00088" y="2114550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Decision-grade data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0088" y="2314575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engineered to be operational, governed, and decision-grade.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43438" y="1771650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3438" y="1775222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26078" y="1771650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3438" y="2839641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57725" y="1771650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29175" y="1907381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29175" y="2114550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Lakehouse first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29175" y="2314575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Databricks/Snowflake lakehouse architecture — not legacy warehouses.</a:t>
            </a:r>
            <a:endParaRPr lang="en-US" sz="675" dirty="0"/>
          </a:p>
        </p:txBody>
      </p:sp>
      <p:sp>
        <p:nvSpPr>
          <p:cNvPr id="23" name="Text 20"/>
          <p:cNvSpPr/>
          <p:nvPr/>
        </p:nvSpPr>
        <p:spPr>
          <a:xfrm>
            <a:off x="514350" y="2986088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14350" y="298965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96991" y="2986088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14350" y="405407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28638" y="2986088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0088" y="3121819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00088" y="3328988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analytics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00088" y="3529013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GenAI over enterprise data via Azure OpenAI + Power BI Copilot.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643438" y="2986088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643438" y="298965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26078" y="2986088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43438" y="405407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57725" y="2986088"/>
            <a:ext cx="0" cy="10715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29175" y="3121819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29175" y="3328988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Regulatory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29175" y="3529013"/>
            <a:ext cx="3636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lineage and quality as a discipline — audit-ready for regulators.</a:t>
            </a:r>
            <a:endParaRPr lang="en-US" sz="675" dirty="0"/>
          </a:p>
        </p:txBody>
      </p:sp>
      <p:sp>
        <p:nvSpPr>
          <p:cNvPr id="39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45443922-ksi1i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0" y="685800"/>
            <a:ext cx="7144" cy="37719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69606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43100"/>
            <a:ext cx="5783580" cy="907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954610"/>
            <a:ext cx="567842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2950" y="3168923"/>
            <a:ext cx="567842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648809" y="1714500"/>
            <a:ext cx="98084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1013" dirty="0"/>
          </a:p>
        </p:txBody>
      </p:sp>
      <p:sp>
        <p:nvSpPr>
          <p:cNvPr id="10" name="Text 6"/>
          <p:cNvSpPr/>
          <p:nvPr/>
        </p:nvSpPr>
        <p:spPr>
          <a:xfrm>
            <a:off x="7648809" y="2135981"/>
            <a:ext cx="98084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7975756" y="2557463"/>
            <a:ext cx="65389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1013" dirty="0"/>
          </a:p>
        </p:txBody>
      </p:sp>
      <p:sp>
        <p:nvSpPr>
          <p:cNvPr id="12" name="Shape 8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2026-10-01T09:04:04Z</dcterms:created>
  <dcterms:modified xsi:type="dcterms:W3CDTF">2026-10-01T09:04:04Z</dcterms:modified>
</cp:coreProperties>
</file>