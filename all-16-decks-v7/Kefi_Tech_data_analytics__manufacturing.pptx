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452890-ietk4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3215" y="571500"/>
            <a:ext cx="204748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KEFI TECH · MANUFACTURING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68959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MANUFACTURING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60959"/>
            <a:ext cx="5972175" cy="1540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7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</a:t>
            </a:r>
            <a:endParaRPr lang="en-US" sz="3600" dirty="0"/>
          </a:p>
          <a:p>
            <a:pPr algn="l" indent="0" marL="0">
              <a:lnSpc>
                <a:spcPts val="3744"/>
              </a:lnSpc>
              <a:buNone/>
            </a:pPr>
            <a:r>
              <a:rPr lang="en-US" sz="3600" b="1" spc="-72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Manufacturing.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42950" y="3515730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2950" y="3665748"/>
            <a:ext cx="4320540" cy="246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Sensor data to operational intelligence.</a:t>
            </a:r>
            <a:endParaRPr lang="en-US" sz="1238" dirty="0"/>
          </a:p>
        </p:txBody>
      </p:sp>
      <p:sp>
        <p:nvSpPr>
          <p:cNvPr id="9" name="Text 5"/>
          <p:cNvSpPr/>
          <p:nvPr/>
        </p:nvSpPr>
        <p:spPr>
          <a:xfrm>
            <a:off x="6953548" y="1728788"/>
            <a:ext cx="124033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418673" y="1835944"/>
            <a:ext cx="775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1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Strategy</a:t>
            </a:r>
            <a:endParaRPr lang="en-US" sz="800" dirty="0"/>
          </a:p>
          <a:p>
            <a:pPr algn="r" indent="0" marL="0">
              <a:lnSpc>
                <a:spcPts val="91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Governance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667440" y="2311003"/>
            <a:ext cx="152644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239856" y="2418159"/>
            <a:ext cx="954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1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Engineering</a:t>
            </a:r>
            <a:endParaRPr lang="en-US" sz="800" dirty="0"/>
          </a:p>
          <a:p>
            <a:pPr algn="r" indent="0" marL="0">
              <a:lnSpc>
                <a:spcPts val="91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Integration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762810" y="2893219"/>
            <a:ext cx="143107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299461" y="3000375"/>
            <a:ext cx="894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1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Platforms</a:t>
            </a:r>
            <a:endParaRPr lang="en-US" sz="800" dirty="0"/>
          </a:p>
          <a:p>
            <a:pPr algn="r" indent="0" marL="0">
              <a:lnSpc>
                <a:spcPts val="91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Modernization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393906" y="1714500"/>
            <a:ext cx="7144" cy="17145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4350" y="4754166"/>
            <a:ext cx="560427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6132909" y="4750594"/>
            <a:ext cx="249674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DATA ANALYTICS AND DATA ENGINEERING SERVICES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28575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28650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03672"/>
            <a:ext cx="8401050" cy="546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is converging physical operations with digital intelligence.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742950" y="1380753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operations, predictive maintenance, supply chain visibility and quality at scale define the modern factory.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718072"/>
            <a:ext cx="4110447" cy="2782491"/>
          </a:xfrm>
          <a:prstGeom prst="roundRect">
            <a:avLst>
              <a:gd name="adj" fmla="val 410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78681" y="1850231"/>
            <a:ext cx="3955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MANUFACTURING NEEDS THIS NOW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82253" y="2046684"/>
            <a:ext cx="3838984" cy="529530"/>
          </a:xfrm>
          <a:prstGeom prst="roundRect">
            <a:avLst>
              <a:gd name="adj" fmla="val 1439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971550" y="213598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406" dirty="0"/>
          </a:p>
        </p:txBody>
      </p:sp>
      <p:sp>
        <p:nvSpPr>
          <p:cNvPr id="11" name="Text 8"/>
          <p:cNvSpPr/>
          <p:nvPr/>
        </p:nvSpPr>
        <p:spPr>
          <a:xfrm>
            <a:off x="1200150" y="2128838"/>
            <a:ext cx="3431791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Industry 4.0 convergence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200150" y="2266355"/>
            <a:ext cx="3431791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convergence accelerating — ISA-95, OPC UA, MTConnect connecting factory floor to cloud.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82253" y="2647652"/>
            <a:ext cx="3838984" cy="529530"/>
          </a:xfrm>
          <a:prstGeom prst="roundRect">
            <a:avLst>
              <a:gd name="adj" fmla="val 1439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971550" y="273694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5" name="Text 12"/>
          <p:cNvSpPr/>
          <p:nvPr/>
        </p:nvSpPr>
        <p:spPr>
          <a:xfrm>
            <a:off x="1200150" y="2729805"/>
            <a:ext cx="3541519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cybersecurity mandate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200150" y="2867323"/>
            <a:ext cx="3431791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 security now regulated — IEC 62443-3-3 SL2 compliance required for connected factories.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82253" y="3248620"/>
            <a:ext cx="3838984" cy="529530"/>
          </a:xfrm>
          <a:prstGeom prst="roundRect">
            <a:avLst>
              <a:gd name="adj" fmla="val 1439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971550" y="333791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9" name="Text 16"/>
          <p:cNvSpPr/>
          <p:nvPr/>
        </p:nvSpPr>
        <p:spPr>
          <a:xfrm>
            <a:off x="1200150" y="3330773"/>
            <a:ext cx="3541519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OEE optimisation pressure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200150" y="3468291"/>
            <a:ext cx="3431791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Overall Equipment Effectiveness targets rising — predictive maintenance and real-time quality data now baseline.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82253" y="3849588"/>
            <a:ext cx="3838984" cy="529530"/>
          </a:xfrm>
          <a:prstGeom prst="roundRect">
            <a:avLst>
              <a:gd name="adj" fmla="val 1439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971550" y="393888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406" dirty="0"/>
          </a:p>
        </p:txBody>
      </p:sp>
      <p:sp>
        <p:nvSpPr>
          <p:cNvPr id="23" name="Text 20"/>
          <p:cNvSpPr/>
          <p:nvPr/>
        </p:nvSpPr>
        <p:spPr>
          <a:xfrm>
            <a:off x="1200150" y="3931741"/>
            <a:ext cx="3431791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resilience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200150" y="4069259"/>
            <a:ext cx="3431791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Multi-echelon visibility, supplier risk monitoring, and demand forecasting now critical for continuity.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35562" y="1718072"/>
            <a:ext cx="3361804" cy="2782491"/>
          </a:xfrm>
          <a:prstGeom prst="roundRect">
            <a:avLst>
              <a:gd name="adj" fmla="val 410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167722" y="1850231"/>
            <a:ext cx="3097485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DATA ANALYTICS &amp; DATA ENGINEERING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167722" y="2150269"/>
            <a:ext cx="3097485" cy="117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applied to manufacturing requires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OT-aware, ISA-95 aligned, IEC 62443 compliant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capability — not generic technology. The right approach connects data analytics &amp; data engineering to equipment protocols (OPC UA, MTConnect, Profinet), plant systems (Siemens Opcenter, SAP S/4HANA, Ignition), and the operational realities of the factory floor.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167722" y="3390826"/>
            <a:ext cx="1884387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167722" y="3390826"/>
            <a:ext cx="1884387" cy="197510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OT-AWARE · ISA-95 ALIGNED · IEC 62443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4350" y="4754166"/>
            <a:ext cx="371530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243946" y="4750594"/>
            <a:ext cx="326536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523597" y="4750594"/>
            <a:ext cx="110605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28575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28650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03672"/>
            <a:ext cx="8401050" cy="27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for the connected factory.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742950" y="1127931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aligned to ISA-95 manufacturing hierarchy.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689497"/>
            <a:ext cx="1752340" cy="550069"/>
          </a:xfrm>
          <a:prstGeom prst="roundRect">
            <a:avLst>
              <a:gd name="adj" fmla="val 1385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536911" y="179732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9" name="Text 6"/>
          <p:cNvSpPr/>
          <p:nvPr/>
        </p:nvSpPr>
        <p:spPr>
          <a:xfrm>
            <a:off x="1326728" y="2011635"/>
            <a:ext cx="757523" cy="124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502433" y="1685925"/>
            <a:ext cx="206611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2712616" y="1689497"/>
            <a:ext cx="1752451" cy="550069"/>
          </a:xfrm>
          <a:prstGeom prst="roundRect">
            <a:avLst>
              <a:gd name="adj" fmla="val 1385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503116" y="179732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3" name="Text 10"/>
          <p:cNvSpPr/>
          <p:nvPr/>
        </p:nvSpPr>
        <p:spPr>
          <a:xfrm>
            <a:off x="3413038" y="2011635"/>
            <a:ext cx="555362" cy="124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468639" y="1685925"/>
            <a:ext cx="206611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5" name="Text 12"/>
          <p:cNvSpPr/>
          <p:nvPr/>
        </p:nvSpPr>
        <p:spPr>
          <a:xfrm>
            <a:off x="4678821" y="1689497"/>
            <a:ext cx="1752451" cy="550069"/>
          </a:xfrm>
          <a:prstGeom prst="roundRect">
            <a:avLst>
              <a:gd name="adj" fmla="val 1385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469322" y="179732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688" dirty="0"/>
          </a:p>
        </p:txBody>
      </p:sp>
      <p:sp>
        <p:nvSpPr>
          <p:cNvPr id="17" name="Text 14"/>
          <p:cNvSpPr/>
          <p:nvPr/>
        </p:nvSpPr>
        <p:spPr>
          <a:xfrm>
            <a:off x="5015917" y="2011635"/>
            <a:ext cx="1263720" cy="124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 (OT/IT)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434844" y="1685925"/>
            <a:ext cx="206611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9" name="Text 16"/>
          <p:cNvSpPr/>
          <p:nvPr/>
        </p:nvSpPr>
        <p:spPr>
          <a:xfrm>
            <a:off x="6645027" y="1689497"/>
            <a:ext cx="1752451" cy="550069"/>
          </a:xfrm>
          <a:prstGeom prst="roundRect">
            <a:avLst>
              <a:gd name="adj" fmla="val 1385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435528" y="179732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21" name="Text 18"/>
          <p:cNvSpPr/>
          <p:nvPr/>
        </p:nvSpPr>
        <p:spPr>
          <a:xfrm>
            <a:off x="7259278" y="2011635"/>
            <a:ext cx="670512" cy="124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46522" y="2432447"/>
            <a:ext cx="2488369" cy="853678"/>
          </a:xfrm>
          <a:prstGeom prst="roundRect">
            <a:avLst>
              <a:gd name="adj" fmla="val 1115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864394" y="25360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24" name="Text 21"/>
          <p:cNvSpPr/>
          <p:nvPr/>
        </p:nvSpPr>
        <p:spPr>
          <a:xfrm>
            <a:off x="2971321" y="2552105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25" name="Text 22"/>
          <p:cNvSpPr/>
          <p:nvPr/>
        </p:nvSpPr>
        <p:spPr>
          <a:xfrm>
            <a:off x="864394" y="2764631"/>
            <a:ext cx="236235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64394" y="2946797"/>
            <a:ext cx="2252625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ISA-95 data governance, sensor data quality, ISA-88 batch data lineage.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327760" y="2432447"/>
            <a:ext cx="2488369" cy="853678"/>
          </a:xfrm>
          <a:prstGeom prst="roundRect">
            <a:avLst>
              <a:gd name="adj" fmla="val 1115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445632" y="25360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29" name="Text 26"/>
          <p:cNvSpPr/>
          <p:nvPr/>
        </p:nvSpPr>
        <p:spPr>
          <a:xfrm>
            <a:off x="5552559" y="2552105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30" name="Text 27"/>
          <p:cNvSpPr/>
          <p:nvPr/>
        </p:nvSpPr>
        <p:spPr>
          <a:xfrm>
            <a:off x="3445632" y="2764631"/>
            <a:ext cx="236235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445632" y="2946797"/>
            <a:ext cx="2252625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+ AWS IoT SiteWise pipelines, SAP MII ERP-MES integration, OPC UA ingestion.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908997" y="2432447"/>
            <a:ext cx="2488481" cy="853678"/>
          </a:xfrm>
          <a:prstGeom prst="roundRect">
            <a:avLst>
              <a:gd name="adj" fmla="val 1115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026869" y="25360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688" dirty="0"/>
          </a:p>
        </p:txBody>
      </p:sp>
      <p:sp>
        <p:nvSpPr>
          <p:cNvPr id="34" name="Text 31"/>
          <p:cNvSpPr/>
          <p:nvPr/>
        </p:nvSpPr>
        <p:spPr>
          <a:xfrm>
            <a:off x="8133908" y="2552105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35" name="Text 32"/>
          <p:cNvSpPr/>
          <p:nvPr/>
        </p:nvSpPr>
        <p:spPr>
          <a:xfrm>
            <a:off x="6026869" y="2764631"/>
            <a:ext cx="236246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026869" y="2946797"/>
            <a:ext cx="2252737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Databricks Lakehouse, Azure Digital Twins, cloud-native historian (InfluxDB).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46522" y="3378994"/>
            <a:ext cx="2488369" cy="853678"/>
          </a:xfrm>
          <a:prstGeom prst="roundRect">
            <a:avLst>
              <a:gd name="adj" fmla="val 1115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864394" y="348257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39" name="Text 36"/>
          <p:cNvSpPr/>
          <p:nvPr/>
        </p:nvSpPr>
        <p:spPr>
          <a:xfrm>
            <a:off x="2971321" y="3498652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40" name="Text 37"/>
          <p:cNvSpPr/>
          <p:nvPr/>
        </p:nvSpPr>
        <p:spPr>
          <a:xfrm>
            <a:off x="864394" y="3711178"/>
            <a:ext cx="236235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64394" y="3893344"/>
            <a:ext cx="2252625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OEE dashboards, plant manager cockpits, ISO 50001 energy analytics.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327760" y="3378994"/>
            <a:ext cx="2488369" cy="853678"/>
          </a:xfrm>
          <a:prstGeom prst="roundRect">
            <a:avLst>
              <a:gd name="adj" fmla="val 1115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3445632" y="348257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688" dirty="0"/>
          </a:p>
        </p:txBody>
      </p:sp>
      <p:sp>
        <p:nvSpPr>
          <p:cNvPr id="44" name="Text 41"/>
          <p:cNvSpPr/>
          <p:nvPr/>
        </p:nvSpPr>
        <p:spPr>
          <a:xfrm>
            <a:off x="5552559" y="3498652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731" dirty="0"/>
          </a:p>
        </p:txBody>
      </p:sp>
      <p:sp>
        <p:nvSpPr>
          <p:cNvPr id="45" name="Text 42"/>
          <p:cNvSpPr/>
          <p:nvPr/>
        </p:nvSpPr>
        <p:spPr>
          <a:xfrm>
            <a:off x="3445632" y="3711178"/>
            <a:ext cx="236235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Advanced Analytics &amp; Data Science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3445632" y="3893344"/>
            <a:ext cx="2252625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 predictive maintenance, LightGBM demand forecasting, Gurobi scheduling optimisation.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908997" y="3378994"/>
            <a:ext cx="2488481" cy="853678"/>
          </a:xfrm>
          <a:prstGeom prst="roundRect">
            <a:avLst>
              <a:gd name="adj" fmla="val 1115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6026869" y="348257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49" name="Text 46"/>
          <p:cNvSpPr/>
          <p:nvPr/>
        </p:nvSpPr>
        <p:spPr>
          <a:xfrm>
            <a:off x="8133908" y="3498652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731" dirty="0"/>
          </a:p>
        </p:txBody>
      </p:sp>
      <p:sp>
        <p:nvSpPr>
          <p:cNvPr id="50" name="Text 47"/>
          <p:cNvSpPr/>
          <p:nvPr/>
        </p:nvSpPr>
        <p:spPr>
          <a:xfrm>
            <a:off x="6026869" y="3711178"/>
            <a:ext cx="225273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Analytics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6026869" y="3893344"/>
            <a:ext cx="2252737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OpenAI + Power BI Copilot, GenAI shift reports, anomaly root cause with SHAP.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28575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28650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03672"/>
            <a:ext cx="84010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Governance.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742950" y="1156506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ISA-95 data governance, sensor data quality, ISA-88 batch data lineage.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589484"/>
            <a:ext cx="4110447" cy="2921794"/>
          </a:xfrm>
          <a:prstGeom prst="roundRect">
            <a:avLst>
              <a:gd name="adj" fmla="val 39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07256" y="1735931"/>
            <a:ext cx="37889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7256" y="1943100"/>
            <a:ext cx="3788978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strategy &amp; governance capability is engineered for manufacturing environments. We work with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Opcenter, SAP S/4HANA, AWS IoT SiteWise, Ignition SCADA, and NVIDIA Jetson edge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07256" y="4229100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07256" y="4229100"/>
            <a:ext cx="1777901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 · MANUFACTURING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035562" y="1589484"/>
            <a:ext cx="3361804" cy="2921794"/>
          </a:xfrm>
          <a:prstGeom prst="roundRect">
            <a:avLst>
              <a:gd name="adj" fmla="val 39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153434" y="1707356"/>
            <a:ext cx="312606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157006" y="1896666"/>
            <a:ext cx="3118917" cy="535781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24872" y="1950244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24897" y="19573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624922" y="1950244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Sensor Data Governance Framework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624922" y="2078831"/>
            <a:ext cx="258313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for IoT sensor data — retention, quality, and access policies aligned with ISA-95 hierarchy (enterprise → site → area → line → cell).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57006" y="2489597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24872" y="2543175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24897" y="25503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624922" y="2543175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BOM Master Data Management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24922" y="2671763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MDM for product specs, BOMs, and engineering change records across Siemens Teamcenter, SAP PLM, and Oracle EAM.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157006" y="2982516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24872" y="3036094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24897" y="30432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624922" y="3036094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Supplier Data Quality Scorecards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24922" y="3164681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quality dashboards tracking supplier data completeness, accuracy, and timeliness — feeds into SAP SRM supplier scoring.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157006" y="3475434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24872" y="3529013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24897" y="35361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624922" y="3529013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Data Lineage Tracking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624922" y="3657600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Atlas lineage from CMM inspection → SAP QM → customer-facing COA (Certificate of Analysis) — audit-ready for ISO 9001.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157006" y="3968353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24872" y="4021931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24897" y="40290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624922" y="4021931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Industry 4.0 Data Architecture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24922" y="4150519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 connecting OT (OPC UA, MTConnect) to IT (SAP, Oracle) via AWS IoT SiteWise / Azure IoT Hub.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60603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134669" y="4750594"/>
            <a:ext cx="315619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305154" y="4750594"/>
            <a:ext cx="140396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28575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28650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03672"/>
            <a:ext cx="84010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Integration.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742950" y="1156506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+ AWS IoT SiteWise pipelines, SAP MII ERP-MES integration, OPC UA ingestion.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589484"/>
            <a:ext cx="4110447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07256" y="1735931"/>
            <a:ext cx="37889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7256" y="1943100"/>
            <a:ext cx="3788978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engineering &amp; integration capability is engineered for manufacturing environments. We work with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Opcenter, SAP S/4HANA, AWS IoT SiteWise, Ignition SCADA, and NVIDIA Jetson edge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07256" y="4157663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07256" y="4157663"/>
            <a:ext cx="1777901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 · MANUFACTURING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035562" y="1589484"/>
            <a:ext cx="3361804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153434" y="1707356"/>
            <a:ext cx="312606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157006" y="1896666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24872" y="1950244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24897" y="19573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624922" y="1950244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Sensor Data Pipeline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624922" y="2078831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Kafka + AWS IoT SiteWise pipeline ingesting OPC UA/MTConnect sensor data at 10kHz from 500+ machines.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57006" y="2389584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24872" y="2443163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24897" y="24503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624922" y="2443163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ERP-MES Integration Pipeline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24922" y="2571750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NiFi / SAP MII integration connecting SAP S/4HANA PP to Siemens Opcenter Execution (MES) for real-time work order dispatch.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157006" y="2882503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24872" y="2936081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24897" y="29432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624922" y="2936081"/>
            <a:ext cx="2583135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Data Lake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24922" y="3064669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Databricks Lakehouse consolidating supplier (SAP SRM), inventory (SAP MM), logistics (Oracle TMS), and demand data.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157006" y="3375422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24872" y="3429000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24897" y="34361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624922" y="3429000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Inspection Data Pipeline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624922" y="3557588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aggregating visual inspection data from Cognex cameras, Keyence sensors, and manual entries into Snowflake.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157006" y="3868341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24872" y="3921919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24897" y="392906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624922" y="3921919"/>
            <a:ext cx="2583135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Maintenance Event Stream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24922" y="4050506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Streams pipeline of maintenance events, SAP PM work orders, and equipment downtime — feeds into OEE calculation engine.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53794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66580" y="4750594"/>
            <a:ext cx="308810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168976" y="4750594"/>
            <a:ext cx="154831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28575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28650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03672"/>
            <a:ext cx="84010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Modernization.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742950" y="1156506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Databricks Lakehouse, Azure Digital Twins, cloud-native historian (InfluxDB).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589484"/>
            <a:ext cx="4110447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07256" y="1735931"/>
            <a:ext cx="37889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7256" y="1943100"/>
            <a:ext cx="3788978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platforms &amp; modernization capability is engineered for manufacturing environments. We work with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Opcenter, SAP S/4HANA, AWS IoT SiteWise, Ignition SCADA, and NVIDIA Jetson edge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07256" y="4157663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07256" y="4157663"/>
            <a:ext cx="1777901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 · MANUFACTURING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035562" y="1589484"/>
            <a:ext cx="3361804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153434" y="1707356"/>
            <a:ext cx="312606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157006" y="1896666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24872" y="1950244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24897" y="19573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624922" y="1950244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Factory Platform (AWS)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624922" y="2078831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 + TwinMaker + SiteWise Edge — digital twin of production lines with real-time OEE dashboards.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57006" y="2389584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24872" y="2443163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24897" y="24503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624922" y="2443163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Factory Platform (Azure)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24922" y="2571750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IoT Hub + Digital Twins + Time Series Insights — equipment hierarchy modelling per ISA-95 with predictive analytics.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157006" y="2882503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24872" y="2936081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24897" y="29432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624922" y="2936081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Data Lakehouse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24922" y="3064669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Databricks Lakehouse on AWS — streaming sensor data (Bronze), curated quality data (Silver), ML-ready feature store (Gold).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157006" y="3375422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24872" y="3429000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24897" y="34361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624922" y="3429000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Supplier Performance Platform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624922" y="3557588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Snowflake + dbt platform tracking supplier OTD (On-Time Delivery), quality PPAP, and financial risk indicators.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157006" y="3868341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24872" y="3921919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24897" y="392906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624922" y="3921919"/>
            <a:ext cx="2583135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Historian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24922" y="4050506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Replacing GE Historian / PI System with cloud-native time-series DB (InfluxDB / TimescaleDB) on Kubernetes.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51148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40125" y="4750594"/>
            <a:ext cx="30616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116068" y="4750594"/>
            <a:ext cx="160439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28575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28650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03672"/>
            <a:ext cx="84010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Intelligence.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742950" y="1156506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OEE dashboards, plant manager cockpits, ISO 50001 energy analytics.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589484"/>
            <a:ext cx="4110447" cy="2921794"/>
          </a:xfrm>
          <a:prstGeom prst="roundRect">
            <a:avLst>
              <a:gd name="adj" fmla="val 39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07256" y="1735931"/>
            <a:ext cx="37889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7256" y="1943100"/>
            <a:ext cx="3788978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bi &amp; decision intelligence capability is engineered for manufacturing environments. We work with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Opcenter, SAP S/4HANA, AWS IoT SiteWise, Ignition SCADA, and NVIDIA Jetson edge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07256" y="4229100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07256" y="4229100"/>
            <a:ext cx="1777901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 · MANUFACTURING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035562" y="1589484"/>
            <a:ext cx="3361804" cy="2921794"/>
          </a:xfrm>
          <a:prstGeom prst="roundRect">
            <a:avLst>
              <a:gd name="adj" fmla="val 39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153434" y="1707356"/>
            <a:ext cx="312606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157006" y="1896666"/>
            <a:ext cx="3118917" cy="535781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24872" y="1950244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24897" y="19573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624922" y="1950244"/>
            <a:ext cx="2583135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OEE Dashboard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624922" y="2078831"/>
            <a:ext cx="258313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Grafana / Power BI dashboard computing Overall Equipment Effectiveness (Availability × Performance × Quality) in real-time per ISA-95.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57006" y="2489597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24872" y="2543175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24897" y="25503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624922" y="2543175"/>
            <a:ext cx="2583135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Plant Manager Cockpit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24922" y="2671763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Tableau dashboard for plant managers — throughput, downtime, quality, safety, and energy in one view with drill-down per ISA-95 level.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157006" y="2982516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24872" y="3036094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24897" y="30432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624922" y="3036094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Visibility Dashboard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24922" y="3164681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 BI dashboard with end-to-end supplier, inventory, and logistics visibility — connected to SAP IBP for scenario planning.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157006" y="3475434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24872" y="3529013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24897" y="35361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624922" y="3529013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Energy &amp; Sustainability Analytics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624922" y="3657600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Schneider EcoStruxure + Power BI dashboards for ISO 50001 EnMS — energy per unit, peak demand, and Scope 1/2/3 emissions.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157006" y="3968353"/>
            <a:ext cx="3118917" cy="435769"/>
          </a:xfrm>
          <a:prstGeom prst="roundRect">
            <a:avLst>
              <a:gd name="adj" fmla="val 1311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24872" y="4021931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24897" y="40290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624922" y="4021931"/>
            <a:ext cx="269286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Maintenance Effectiveness Dashboard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24922" y="4150519"/>
            <a:ext cx="2583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MTBF, MTTR, and maintenance cost analytics per equipment — connected to SAP PM for work order analysis.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6669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195614" y="4750594"/>
            <a:ext cx="32171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427044" y="4750594"/>
            <a:ext cx="127476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28575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28650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APPLICATIONS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03672"/>
            <a:ext cx="8401050" cy="546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data analytics &amp; data engineering applies to the factory floor.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742950" y="1380753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manufacturing-specific applications with real technology stacks.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775222"/>
            <a:ext cx="3764756" cy="1081497"/>
          </a:xfrm>
          <a:prstGeom prst="roundRect">
            <a:avLst>
              <a:gd name="adj" fmla="val 880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21544" y="19216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4229837" y="1925241"/>
            <a:ext cx="13908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013" dirty="0"/>
          </a:p>
        </p:txBody>
      </p:sp>
      <p:sp>
        <p:nvSpPr>
          <p:cNvPr id="10" name="Text 7"/>
          <p:cNvSpPr/>
          <p:nvPr/>
        </p:nvSpPr>
        <p:spPr>
          <a:xfrm>
            <a:off x="921544" y="2193131"/>
            <a:ext cx="3524441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Computer Vision Quality Control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921544" y="2453097"/>
            <a:ext cx="34147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YOLOv8 on NVIDIA Jetson — real-time defect detection on Cognex/Keyence camera feeds at 60fps.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32722" y="1775222"/>
            <a:ext cx="3764756" cy="1081497"/>
          </a:xfrm>
          <a:prstGeom prst="roundRect">
            <a:avLst>
              <a:gd name="adj" fmla="val 880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07744" y="19216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8023279" y="1925241"/>
            <a:ext cx="23315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1013" dirty="0"/>
          </a:p>
        </p:txBody>
      </p:sp>
      <p:sp>
        <p:nvSpPr>
          <p:cNvPr id="15" name="Text 12"/>
          <p:cNvSpPr/>
          <p:nvPr/>
        </p:nvSpPr>
        <p:spPr>
          <a:xfrm>
            <a:off x="4807744" y="2193131"/>
            <a:ext cx="3414712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Maintenance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4807744" y="2453097"/>
            <a:ext cx="34147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Lookout for Equipment + LSTM on vibration FFT data — bearing failure predicted 14-30 days ahead.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46522" y="2978162"/>
            <a:ext cx="3764756" cy="1081497"/>
          </a:xfrm>
          <a:prstGeom prst="roundRect">
            <a:avLst>
              <a:gd name="adj" fmla="val 880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921544" y="312460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4048798" y="3128181"/>
            <a:ext cx="32722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1013" dirty="0"/>
          </a:p>
        </p:txBody>
      </p:sp>
      <p:sp>
        <p:nvSpPr>
          <p:cNvPr id="20" name="Text 17"/>
          <p:cNvSpPr/>
          <p:nvPr/>
        </p:nvSpPr>
        <p:spPr>
          <a:xfrm>
            <a:off x="921544" y="3396072"/>
            <a:ext cx="3524441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Intelligence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921544" y="3656037"/>
            <a:ext cx="34147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IBP + LightGBM forecasting — demand, inventory, and supplier risk across multi-echelon supply chain.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32722" y="2978162"/>
            <a:ext cx="3764756" cy="1081497"/>
          </a:xfrm>
          <a:prstGeom prst="roundRect">
            <a:avLst>
              <a:gd name="adj" fmla="val 880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807744" y="312460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8023279" y="3128181"/>
            <a:ext cx="23315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1013" dirty="0"/>
          </a:p>
        </p:txBody>
      </p:sp>
      <p:sp>
        <p:nvSpPr>
          <p:cNvPr id="25" name="Text 22"/>
          <p:cNvSpPr/>
          <p:nvPr/>
        </p:nvSpPr>
        <p:spPr>
          <a:xfrm>
            <a:off x="4807744" y="3396072"/>
            <a:ext cx="3524440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Factory Operations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4807744" y="3656037"/>
            <a:ext cx="34147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 + Siemens Opcenter — real-time OEE, digital twin, and ISA-95 hierarchy visibility.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28575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00075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775097"/>
            <a:ext cx="8401050" cy="50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data analytics &amp; data engineering — manufacturing.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42950" y="1312218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manufacturing technology platforms — not generic terms.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560909"/>
            <a:ext cx="76509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50094" y="1564481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675209" y="1564481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0094" y="1564481"/>
            <a:ext cx="928688" cy="5000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CONSUMPTION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793081" y="1714500"/>
            <a:ext cx="108696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793081" y="1725216"/>
            <a:ext cx="108696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 BI (OEE Dashboard)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965772" y="1714500"/>
            <a:ext cx="96529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965772" y="1725216"/>
            <a:ext cx="96529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Tableau (Plant Cockpit)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016797" y="1714500"/>
            <a:ext cx="102512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016797" y="1725216"/>
            <a:ext cx="102512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Grafana (Real-Time OEE)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31222" y="1728788"/>
            <a:ext cx="1127038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127650" y="1725216"/>
            <a:ext cx="3151956" cy="274320"/>
          </a:xfrm>
          <a:prstGeom prst="rect">
            <a:avLst/>
          </a:prstGeom>
          <a:noFill/>
          <a:ln/>
        </p:spPr>
        <p:txBody>
          <a:bodyPr wrap="square" lIns="64294" tIns="28575" rIns="64294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Analytics Cloud (S&amp;OP)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46522" y="2139553"/>
            <a:ext cx="76509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50094" y="2143125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1675209" y="2143125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0094" y="2143125"/>
            <a:ext cx="928688" cy="5000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SEMANTIC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793081" y="2293144"/>
            <a:ext cx="76862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793081" y="2303859"/>
            <a:ext cx="76862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dbt (OEE Metrics)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647429" y="2293144"/>
            <a:ext cx="96898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647429" y="2303859"/>
            <a:ext cx="96898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Atlas (Lineage)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702137" y="2293144"/>
            <a:ext cx="90558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702137" y="2303859"/>
            <a:ext cx="90558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Master Data Gov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693444" y="2293144"/>
            <a:ext cx="76739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693444" y="2303859"/>
            <a:ext cx="76739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Collibra (Catalog)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46522" y="2718197"/>
            <a:ext cx="76509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750094" y="2721769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1675209" y="2721769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0094" y="2721769"/>
            <a:ext cx="928688" cy="5000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PROCESSING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793081" y="2871788"/>
            <a:ext cx="97400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1793081" y="2882503"/>
            <a:ext cx="97400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(OPC UA Stream)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852812" y="2871788"/>
            <a:ext cx="73290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2852812" y="2882503"/>
            <a:ext cx="732904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Databricks (ETL)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671441" y="2871788"/>
            <a:ext cx="76493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3671441" y="2882503"/>
            <a:ext cx="76493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522105" y="2871788"/>
            <a:ext cx="80065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522105" y="2882503"/>
            <a:ext cx="80065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MII (ERP-MES)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46522" y="3296841"/>
            <a:ext cx="76509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750094" y="3300413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2"/>
          <p:cNvSpPr/>
          <p:nvPr/>
        </p:nvSpPr>
        <p:spPr>
          <a:xfrm>
            <a:off x="1675209" y="3300413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50094" y="3300413"/>
            <a:ext cx="928688" cy="5000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STORAGE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793081" y="3450431"/>
            <a:ext cx="93036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1793081" y="3461147"/>
            <a:ext cx="93036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Databricks Lakehouse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2809168" y="3450431"/>
            <a:ext cx="84095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2809168" y="3461147"/>
            <a:ext cx="84095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Snowflake (Quality)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3735846" y="3450431"/>
            <a:ext cx="94453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3735846" y="3461147"/>
            <a:ext cx="94453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InfluxDB (Time-Series)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766109" y="3450431"/>
            <a:ext cx="72542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4651871" y="3461147"/>
            <a:ext cx="95390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HANA (ERP)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746522" y="3875484"/>
            <a:ext cx="76509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750094" y="3879056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4"/>
          <p:cNvSpPr/>
          <p:nvPr/>
        </p:nvSpPr>
        <p:spPr>
          <a:xfrm>
            <a:off x="1675209" y="3879056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50094" y="3879056"/>
            <a:ext cx="928688" cy="5000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1793081" y="4029075"/>
            <a:ext cx="92042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1793081" y="4039791"/>
            <a:ext cx="92042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(IoT + Analytics)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2799234" y="4029075"/>
            <a:ext cx="70019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2799234" y="4039791"/>
            <a:ext cx="70019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(IoT Hub)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3585158" y="4029075"/>
            <a:ext cx="95436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3585158" y="4039791"/>
            <a:ext cx="95436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Airflow (Orchestration)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4625243" y="4029075"/>
            <a:ext cx="92399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4625243" y="4039791"/>
            <a:ext cx="92399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Collibra (Governance)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28575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00075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775097"/>
            <a:ext cx="8401050" cy="27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managed operations.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742950" y="1085069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632347"/>
            <a:ext cx="1821656" cy="2707481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50106" y="1750219"/>
            <a:ext cx="16144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50106" y="19252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1266" dirty="0"/>
          </a:p>
        </p:txBody>
      </p:sp>
      <p:sp>
        <p:nvSpPr>
          <p:cNvPr id="10" name="Text 7"/>
          <p:cNvSpPr/>
          <p:nvPr/>
        </p:nvSpPr>
        <p:spPr>
          <a:xfrm>
            <a:off x="1035844" y="1925241"/>
            <a:ext cx="142875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844" dirty="0"/>
          </a:p>
        </p:txBody>
      </p:sp>
      <p:sp>
        <p:nvSpPr>
          <p:cNvPr id="11" name="Text 8"/>
          <p:cNvSpPr/>
          <p:nvPr/>
        </p:nvSpPr>
        <p:spPr>
          <a:xfrm>
            <a:off x="850106" y="2110978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50106" y="2275284"/>
            <a:ext cx="16144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50106" y="2339578"/>
            <a:ext cx="1614488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50106" y="2493169"/>
            <a:ext cx="1614488" cy="732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maturity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landscape mapping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ISA-95 gap analysis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850106" y="4032647"/>
            <a:ext cx="16144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0106" y="4029075"/>
            <a:ext cx="16144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$25K-$75K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689622" y="1632347"/>
            <a:ext cx="1821656" cy="2707481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793206" y="1750219"/>
            <a:ext cx="16144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793206" y="19252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1266" dirty="0"/>
          </a:p>
        </p:txBody>
      </p:sp>
      <p:sp>
        <p:nvSpPr>
          <p:cNvPr id="20" name="Text 17"/>
          <p:cNvSpPr/>
          <p:nvPr/>
        </p:nvSpPr>
        <p:spPr>
          <a:xfrm>
            <a:off x="2978944" y="1925241"/>
            <a:ext cx="142875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844" dirty="0"/>
          </a:p>
        </p:txBody>
      </p:sp>
      <p:sp>
        <p:nvSpPr>
          <p:cNvPr id="21" name="Text 18"/>
          <p:cNvSpPr/>
          <p:nvPr/>
        </p:nvSpPr>
        <p:spPr>
          <a:xfrm>
            <a:off x="2793206" y="2110978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793206" y="2275284"/>
            <a:ext cx="16144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793206" y="2339578"/>
            <a:ext cx="1614488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793206" y="2493169"/>
            <a:ext cx="1614488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 (OT/IT)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security design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selection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793206" y="4032647"/>
            <a:ext cx="16144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93206" y="4029075"/>
            <a:ext cx="1614487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$50K-$150K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632722" y="1632347"/>
            <a:ext cx="1821656" cy="2707481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736306" y="1750219"/>
            <a:ext cx="16144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36306" y="19252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266" dirty="0"/>
          </a:p>
        </p:txBody>
      </p:sp>
      <p:sp>
        <p:nvSpPr>
          <p:cNvPr id="30" name="Text 27"/>
          <p:cNvSpPr/>
          <p:nvPr/>
        </p:nvSpPr>
        <p:spPr>
          <a:xfrm>
            <a:off x="4922044" y="1925241"/>
            <a:ext cx="142875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844" dirty="0"/>
          </a:p>
        </p:txBody>
      </p:sp>
      <p:sp>
        <p:nvSpPr>
          <p:cNvPr id="31" name="Text 28"/>
          <p:cNvSpPr/>
          <p:nvPr/>
        </p:nvSpPr>
        <p:spPr>
          <a:xfrm>
            <a:off x="4736306" y="2110978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736306" y="2275284"/>
            <a:ext cx="16144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736306" y="2339578"/>
            <a:ext cx="1614488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736306" y="2493169"/>
            <a:ext cx="1614488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integration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validation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736306" y="4032647"/>
            <a:ext cx="16144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36306" y="4029075"/>
            <a:ext cx="16144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$300K-$1M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575822" y="1632347"/>
            <a:ext cx="1821656" cy="2707481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679406" y="1750219"/>
            <a:ext cx="16144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679406" y="19252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1266" dirty="0"/>
          </a:p>
        </p:txBody>
      </p:sp>
      <p:sp>
        <p:nvSpPr>
          <p:cNvPr id="40" name="Text 37"/>
          <p:cNvSpPr/>
          <p:nvPr/>
        </p:nvSpPr>
        <p:spPr>
          <a:xfrm>
            <a:off x="6865144" y="1925241"/>
            <a:ext cx="142875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844" dirty="0"/>
          </a:p>
        </p:txBody>
      </p:sp>
      <p:sp>
        <p:nvSpPr>
          <p:cNvPr id="41" name="Text 38"/>
          <p:cNvSpPr/>
          <p:nvPr/>
        </p:nvSpPr>
        <p:spPr>
          <a:xfrm>
            <a:off x="6679406" y="2110978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679406" y="2275284"/>
            <a:ext cx="16144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6679406" y="2339578"/>
            <a:ext cx="1614488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679406" y="2493169"/>
            <a:ext cx="1614488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 (OT-aware)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679406" y="4032647"/>
            <a:ext cx="16144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679406" y="4029075"/>
            <a:ext cx="16144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$50K-$500K / mo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28575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00075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775097"/>
            <a:ext cx="84010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manufacturing enterprises work with us.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116211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IT services. OT-aware, ISA-95 aligned, IEC 62443 compliant.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2950" y="1771650"/>
            <a:ext cx="3757613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742950" y="1775222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96991" y="1771650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2950" y="2911078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7238" y="1771650"/>
            <a:ext cx="0" cy="114300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28688" y="1907381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828" dirty="0"/>
          </a:p>
        </p:txBody>
      </p:sp>
      <p:sp>
        <p:nvSpPr>
          <p:cNvPr id="13" name="Text 10"/>
          <p:cNvSpPr/>
          <p:nvPr/>
        </p:nvSpPr>
        <p:spPr>
          <a:xfrm>
            <a:off x="928688" y="2178844"/>
            <a:ext cx="34075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928688" y="2386013"/>
            <a:ext cx="34075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ISA-95 structured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28688" y="2586038"/>
            <a:ext cx="340756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architecture aligned to ISA-95 hierarchy — from sensor to enterprise, not flat data lakes.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643438" y="1771650"/>
            <a:ext cx="3757613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643438" y="1775222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97478" y="1771650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43438" y="2911078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57725" y="1771650"/>
            <a:ext cx="0" cy="114300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29175" y="1907381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22" name="Text 19"/>
          <p:cNvSpPr/>
          <p:nvPr/>
        </p:nvSpPr>
        <p:spPr>
          <a:xfrm>
            <a:off x="4829175" y="2178844"/>
            <a:ext cx="34075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829175" y="2386013"/>
            <a:ext cx="34075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OT ingestion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829175" y="2586038"/>
            <a:ext cx="340756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+ OPC UA + MTConnect pipelines ingesting 10kHz sensor data from 500+ machines.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42950" y="3057525"/>
            <a:ext cx="3757613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742950" y="3061097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496991" y="3057525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2950" y="4196953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57238" y="3057525"/>
            <a:ext cx="0" cy="114300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28688" y="3193256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828" dirty="0"/>
          </a:p>
        </p:txBody>
      </p:sp>
      <p:sp>
        <p:nvSpPr>
          <p:cNvPr id="31" name="Text 28"/>
          <p:cNvSpPr/>
          <p:nvPr/>
        </p:nvSpPr>
        <p:spPr>
          <a:xfrm>
            <a:off x="928688" y="3464719"/>
            <a:ext cx="34075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928688" y="3671888"/>
            <a:ext cx="34075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Lakehouse + Historian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28688" y="3871913"/>
            <a:ext cx="340756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Databricks Lakehouse replacing legacy PI System / GE Historian with cloud-native InfluxDB.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643438" y="3057525"/>
            <a:ext cx="3757613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4643438" y="3061097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397478" y="3057525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43438" y="4196953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657725" y="3057525"/>
            <a:ext cx="0" cy="1143000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29175" y="3193256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40" name="Text 37"/>
          <p:cNvSpPr/>
          <p:nvPr/>
        </p:nvSpPr>
        <p:spPr>
          <a:xfrm>
            <a:off x="4829175" y="3464719"/>
            <a:ext cx="34075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829175" y="3671888"/>
            <a:ext cx="34075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SAP-native analytics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829175" y="3871913"/>
            <a:ext cx="34075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Embedded analytics in SAP S/4HANA and SAP IBP — not parallel BI stacks.</a:t>
            </a:r>
            <a:endParaRPr lang="en-US" sz="675" dirty="0"/>
          </a:p>
        </p:txBody>
      </p:sp>
      <p:sp>
        <p:nvSpPr>
          <p:cNvPr id="43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461005-lij9r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1771650"/>
            <a:ext cx="45677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2018109"/>
            <a:ext cx="3743660" cy="91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39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  <a:p>
            <a:pPr algn="l" indent="0" marL="0">
              <a:lnSpc>
                <a:spcPts val="3339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2994794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42950" y="3173388"/>
            <a:ext cx="3675593" cy="166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spc="9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42950" y="3367608"/>
            <a:ext cx="3675593" cy="20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spc="9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269123" y="1928813"/>
            <a:ext cx="92475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431317" y="2035969"/>
            <a:ext cx="76256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84"/>
              </a:lnSpc>
              <a:buNone/>
            </a:pPr>
            <a:r>
              <a:rPr lang="en-US" sz="800" spc="3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269123" y="2418159"/>
            <a:ext cx="92475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431317" y="2525316"/>
            <a:ext cx="76256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84"/>
              </a:lnSpc>
              <a:buNone/>
            </a:pPr>
            <a:r>
              <a:rPr lang="en-US" sz="800" spc="3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577376" y="2907506"/>
            <a:ext cx="61650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685505" y="3014663"/>
            <a:ext cx="50837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84"/>
              </a:lnSpc>
              <a:buNone/>
            </a:pPr>
            <a:r>
              <a:rPr lang="en-US" sz="800" spc="32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393906" y="1914525"/>
            <a:ext cx="7144" cy="157162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2026-10-01T09:04:21Z</dcterms:created>
  <dcterms:modified xsi:type="dcterms:W3CDTF">2026-10-01T09:04:21Z</dcterms:modified>
</cp:coreProperties>
</file>