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45506546-mu6iv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35167" y="557213"/>
            <a:ext cx="245554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KEFI TECH · HEALTHCARE &amp; PHARMA · 2026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6400800" y="1428750"/>
            <a:ext cx="7144" cy="257175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742950" y="1714500"/>
            <a:ext cx="62642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KEFI TECH · HEALTHCARE &amp; PHARMA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742950" y="1960959"/>
            <a:ext cx="5257800" cy="923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4"/>
              </a:lnSpc>
              <a:buNone/>
            </a:pPr>
            <a:r>
              <a:rPr lang="en-US" sz="3600" b="1" spc="-9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742950" y="2911748"/>
            <a:ext cx="5520690" cy="1026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44"/>
              </a:lnSpc>
              <a:buNone/>
            </a:pPr>
            <a:r>
              <a:rPr lang="en-US" sz="3600" b="1" spc="-90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Healthcare &amp; Pharma.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742950" y="4048274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742950" y="4226868"/>
            <a:ext cx="4857750" cy="509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deep-tech capability brief on Kefi Tech Digital Engineering &amp; Transformation Services for Healthcare &amp; Pharma.</a:t>
            </a:r>
            <a:endParaRPr lang="en-US" sz="1238" dirty="0"/>
          </a:p>
        </p:txBody>
      </p:sp>
      <p:sp>
        <p:nvSpPr>
          <p:cNvPr id="11" name="Shape 7"/>
          <p:cNvSpPr/>
          <p:nvPr/>
        </p:nvSpPr>
        <p:spPr>
          <a:xfrm>
            <a:off x="6461522" y="1714500"/>
            <a:ext cx="0" cy="957263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665119" y="1714500"/>
            <a:ext cx="17930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&amp; Platform Engineering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665119" y="2128838"/>
            <a:ext cx="17930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Cloud-Native &amp; Platform Engineering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665119" y="2543175"/>
            <a:ext cx="190066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 Modernization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14350" y="4754166"/>
            <a:ext cx="541931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5947953" y="4750594"/>
            <a:ext cx="268169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DIGITAL ENGINEERING AND TRANSFORMATION SERVICES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71488"/>
            <a:ext cx="7207039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35677" y="467916"/>
            <a:ext cx="11608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INDUSTRY CONTEXT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42950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HEALTHCARE &amp; PHARMA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32259"/>
            <a:ext cx="8629650" cy="48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84"/>
              </a:lnSpc>
              <a:buNone/>
            </a:pPr>
            <a:r>
              <a:rPr lang="en-US" sz="1463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Healthcare &amp; Pharma balances patient outcomes, regulatory compliance and operational efficiency.</a:t>
            </a:r>
            <a:endParaRPr lang="en-US" sz="1463" dirty="0"/>
          </a:p>
        </p:txBody>
      </p:sp>
      <p:sp>
        <p:nvSpPr>
          <p:cNvPr id="6" name="Text 4"/>
          <p:cNvSpPr/>
          <p:nvPr/>
        </p:nvSpPr>
        <p:spPr>
          <a:xfrm>
            <a:off x="514350" y="1442591"/>
            <a:ext cx="7858125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privacy, clinical accuracy, regulatory oversight and patient experience define every technology decision.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747205"/>
            <a:ext cx="3993356" cy="2421731"/>
          </a:xfrm>
          <a:prstGeom prst="roundRect">
            <a:avLst>
              <a:gd name="adj" fmla="val 472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4369" y="1879364"/>
            <a:ext cx="38101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HEALTHCARE &amp; PHARMA NEEDS THIS NOW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67941" y="2090105"/>
            <a:ext cx="3693319" cy="394246"/>
          </a:xfrm>
          <a:prstGeom prst="roundRect">
            <a:avLst>
              <a:gd name="adj" fmla="val 1932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57238" y="217225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11" name="Text 9"/>
          <p:cNvSpPr/>
          <p:nvPr/>
        </p:nvSpPr>
        <p:spPr>
          <a:xfrm>
            <a:off x="971550" y="2165114"/>
            <a:ext cx="2535062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transformation pressure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71550" y="2295488"/>
            <a:ext cx="2347280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digital adoption accelerating across the industry.</a:t>
            </a:r>
            <a:endParaRPr lang="en-US" sz="619" dirty="0"/>
          </a:p>
        </p:txBody>
      </p:sp>
      <p:sp>
        <p:nvSpPr>
          <p:cNvPr id="13" name="Text 11"/>
          <p:cNvSpPr/>
          <p:nvPr/>
        </p:nvSpPr>
        <p:spPr>
          <a:xfrm>
            <a:off x="667941" y="2548644"/>
            <a:ext cx="3693319" cy="394246"/>
          </a:xfrm>
          <a:prstGeom prst="roundRect">
            <a:avLst>
              <a:gd name="adj" fmla="val 1932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57238" y="263079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5" name="Text 13"/>
          <p:cNvSpPr/>
          <p:nvPr/>
        </p:nvSpPr>
        <p:spPr>
          <a:xfrm>
            <a:off x="971550" y="2623654"/>
            <a:ext cx="3050658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&amp; compliance demands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71550" y="2754027"/>
            <a:ext cx="2824683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regulations require continuous compliance technology.</a:t>
            </a:r>
            <a:endParaRPr lang="en-US" sz="619" dirty="0"/>
          </a:p>
        </p:txBody>
      </p:sp>
      <p:sp>
        <p:nvSpPr>
          <p:cNvPr id="17" name="Text 15"/>
          <p:cNvSpPr/>
          <p:nvPr/>
        </p:nvSpPr>
        <p:spPr>
          <a:xfrm>
            <a:off x="667941" y="3007184"/>
            <a:ext cx="3693319" cy="394246"/>
          </a:xfrm>
          <a:prstGeom prst="roundRect">
            <a:avLst>
              <a:gd name="adj" fmla="val 1932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57238" y="308933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9" name="Text 17"/>
          <p:cNvSpPr/>
          <p:nvPr/>
        </p:nvSpPr>
        <p:spPr>
          <a:xfrm>
            <a:off x="971550" y="3082193"/>
            <a:ext cx="2745062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efficiency mandate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71550" y="3212567"/>
            <a:ext cx="2541724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Cost-to-serve reduction while maintaining quality and resilience.</a:t>
            </a:r>
            <a:endParaRPr lang="en-US" sz="619" dirty="0"/>
          </a:p>
        </p:txBody>
      </p:sp>
      <p:sp>
        <p:nvSpPr>
          <p:cNvPr id="21" name="Text 19"/>
          <p:cNvSpPr/>
          <p:nvPr/>
        </p:nvSpPr>
        <p:spPr>
          <a:xfrm>
            <a:off x="667941" y="3465723"/>
            <a:ext cx="3693319" cy="394246"/>
          </a:xfrm>
          <a:prstGeom prst="roundRect">
            <a:avLst>
              <a:gd name="adj" fmla="val 1932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57238" y="354787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06" dirty="0"/>
          </a:p>
        </p:txBody>
      </p:sp>
      <p:sp>
        <p:nvSpPr>
          <p:cNvPr id="23" name="Text 21"/>
          <p:cNvSpPr/>
          <p:nvPr/>
        </p:nvSpPr>
        <p:spPr>
          <a:xfrm>
            <a:off x="971550" y="3540733"/>
            <a:ext cx="2903586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&amp; employee expectations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71550" y="3671106"/>
            <a:ext cx="2688506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digital experiences are now table stakes, not differentiation.</a:t>
            </a:r>
            <a:endParaRPr lang="en-US" sz="619" dirty="0"/>
          </a:p>
        </p:txBody>
      </p:sp>
      <p:sp>
        <p:nvSpPr>
          <p:cNvPr id="25" name="Text 23"/>
          <p:cNvSpPr/>
          <p:nvPr/>
        </p:nvSpPr>
        <p:spPr>
          <a:xfrm>
            <a:off x="4689872" y="1747205"/>
            <a:ext cx="3936206" cy="2421731"/>
          </a:xfrm>
          <a:prstGeom prst="roundRect">
            <a:avLst>
              <a:gd name="adj" fmla="val 472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50606" y="1879364"/>
            <a:ext cx="36147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101" kern="0" dirty="0">
                <a:solidFill>
                  <a:srgbClr val="D43F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THIS MEANS FOR DIGITAL ENGINEERING &amp; TRANSFORMATION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850606" y="2086533"/>
            <a:ext cx="3614738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 applied to healthcare &amp; pharma requires industry-specific capability, not generic technology. The right approach connects digital engineering &amp; transformation to the regulatory, operational and customer realities that define healthcare &amp; pharma.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50606" y="3901046"/>
            <a:ext cx="1477194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50606" y="3901046"/>
            <a:ext cx="1477194" cy="135731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APPROACH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4350" y="4754166"/>
            <a:ext cx="357221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100847" y="4750594"/>
            <a:ext cx="312226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237400" y="4750594"/>
            <a:ext cx="147578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HEALTHCARE &amp; PHARMA CONTEXT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71488"/>
            <a:ext cx="7430505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930727" y="467916"/>
            <a:ext cx="9275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4295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32259"/>
            <a:ext cx="8629650" cy="244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4"/>
              </a:lnSpc>
              <a:buNone/>
            </a:pPr>
            <a:r>
              <a:rPr lang="en-US" sz="1463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 across the complete lifecycle.</a:t>
            </a:r>
            <a:endParaRPr lang="en-US" sz="1463" dirty="0"/>
          </a:p>
        </p:txBody>
      </p:sp>
      <p:sp>
        <p:nvSpPr>
          <p:cNvPr id="6" name="Text 4"/>
          <p:cNvSpPr/>
          <p:nvPr/>
        </p:nvSpPr>
        <p:spPr>
          <a:xfrm>
            <a:off x="514350" y="1216000"/>
            <a:ext cx="8629650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for healthcare &amp; pharma.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492039"/>
            <a:ext cx="1882378" cy="550069"/>
          </a:xfrm>
          <a:prstGeom prst="roundRect">
            <a:avLst>
              <a:gd name="adj" fmla="val 17316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50081" y="1674205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828" dirty="0"/>
          </a:p>
        </p:txBody>
      </p:sp>
      <p:sp>
        <p:nvSpPr>
          <p:cNvPr id="9" name="Text 7"/>
          <p:cNvSpPr/>
          <p:nvPr/>
        </p:nvSpPr>
        <p:spPr>
          <a:xfrm>
            <a:off x="921544" y="1631342"/>
            <a:ext cx="851166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21544" y="1752786"/>
            <a:ext cx="8353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4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403872" y="1674205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2593181" y="1492039"/>
            <a:ext cx="1882378" cy="550069"/>
          </a:xfrm>
          <a:prstGeom prst="roundRect">
            <a:avLst>
              <a:gd name="adj" fmla="val 17316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725341" y="1674205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828" dirty="0"/>
          </a:p>
        </p:txBody>
      </p:sp>
      <p:sp>
        <p:nvSpPr>
          <p:cNvPr id="14" name="Text 12"/>
          <p:cNvSpPr/>
          <p:nvPr/>
        </p:nvSpPr>
        <p:spPr>
          <a:xfrm>
            <a:off x="2983596" y="1631342"/>
            <a:ext cx="589443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996803" y="1752786"/>
            <a:ext cx="66026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4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479131" y="1674205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4668441" y="1492039"/>
            <a:ext cx="1882378" cy="550069"/>
          </a:xfrm>
          <a:prstGeom prst="roundRect">
            <a:avLst>
              <a:gd name="adj" fmla="val 17316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00600" y="1674205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19" name="Text 17"/>
          <p:cNvSpPr/>
          <p:nvPr/>
        </p:nvSpPr>
        <p:spPr>
          <a:xfrm>
            <a:off x="5072063" y="1631342"/>
            <a:ext cx="923353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72063" y="1752786"/>
            <a:ext cx="9062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4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554391" y="1674205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22" name="Text 20"/>
          <p:cNvSpPr/>
          <p:nvPr/>
        </p:nvSpPr>
        <p:spPr>
          <a:xfrm>
            <a:off x="6743700" y="1492039"/>
            <a:ext cx="1882378" cy="550069"/>
          </a:xfrm>
          <a:prstGeom prst="roundRect">
            <a:avLst>
              <a:gd name="adj" fmla="val 17316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875859" y="1674205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828" dirty="0"/>
          </a:p>
        </p:txBody>
      </p:sp>
      <p:sp>
        <p:nvSpPr>
          <p:cNvPr id="24" name="Text 22"/>
          <p:cNvSpPr/>
          <p:nvPr/>
        </p:nvSpPr>
        <p:spPr>
          <a:xfrm>
            <a:off x="7147322" y="1631342"/>
            <a:ext cx="752937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147322" y="1752786"/>
            <a:ext cx="73896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4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14350" y="2145692"/>
            <a:ext cx="2647876" cy="828675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514350" y="2149264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58654" y="2145692"/>
            <a:ext cx="0" cy="8286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4350" y="2970795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5066" y="2145692"/>
            <a:ext cx="0" cy="828675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794" y="223856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688" dirty="0"/>
          </a:p>
        </p:txBody>
      </p:sp>
      <p:sp>
        <p:nvSpPr>
          <p:cNvPr id="32" name="Text 30"/>
          <p:cNvSpPr/>
          <p:nvPr/>
        </p:nvSpPr>
        <p:spPr>
          <a:xfrm>
            <a:off x="2911213" y="2254634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b="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31" dirty="0"/>
          </a:p>
        </p:txBody>
      </p:sp>
      <p:sp>
        <p:nvSpPr>
          <p:cNvPr id="33" name="Text 31"/>
          <p:cNvSpPr/>
          <p:nvPr/>
        </p:nvSpPr>
        <p:spPr>
          <a:xfrm>
            <a:off x="635794" y="2467161"/>
            <a:ext cx="25290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&amp; Platform Engineering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5794" y="2635039"/>
            <a:ext cx="2419276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platform deployment, SaaS, MVP, product modernization.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247951" y="2145692"/>
            <a:ext cx="2647987" cy="828675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3247951" y="2149264"/>
            <a:ext cx="264798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2366" y="2145692"/>
            <a:ext cx="0" cy="8286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47951" y="2970795"/>
            <a:ext cx="264798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58666" y="2145692"/>
            <a:ext cx="0" cy="828675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69394" y="223856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688" dirty="0"/>
          </a:p>
        </p:txBody>
      </p:sp>
      <p:sp>
        <p:nvSpPr>
          <p:cNvPr id="41" name="Text 39"/>
          <p:cNvSpPr/>
          <p:nvPr/>
        </p:nvSpPr>
        <p:spPr>
          <a:xfrm>
            <a:off x="5644925" y="2254634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b="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31" dirty="0"/>
          </a:p>
        </p:txBody>
      </p:sp>
      <p:sp>
        <p:nvSpPr>
          <p:cNvPr id="42" name="Text 40"/>
          <p:cNvSpPr/>
          <p:nvPr/>
        </p:nvSpPr>
        <p:spPr>
          <a:xfrm>
            <a:off x="3369394" y="2467161"/>
            <a:ext cx="252911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&amp; Platform Engineering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369394" y="2635039"/>
            <a:ext cx="2419387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Cloud-native, microservices, containers, platform engineering, event-driven.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981663" y="2145692"/>
            <a:ext cx="2647876" cy="828675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5981663" y="2149264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625967" y="2145692"/>
            <a:ext cx="0" cy="8286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81663" y="2970795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92378" y="2145692"/>
            <a:ext cx="0" cy="828675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03107" y="223856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688" dirty="0"/>
          </a:p>
        </p:txBody>
      </p:sp>
      <p:sp>
        <p:nvSpPr>
          <p:cNvPr id="50" name="Text 48"/>
          <p:cNvSpPr/>
          <p:nvPr/>
        </p:nvSpPr>
        <p:spPr>
          <a:xfrm>
            <a:off x="8378526" y="2254634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b="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31" dirty="0"/>
          </a:p>
        </p:txBody>
      </p:sp>
      <p:sp>
        <p:nvSpPr>
          <p:cNvPr id="51" name="Text 49"/>
          <p:cNvSpPr/>
          <p:nvPr/>
        </p:nvSpPr>
        <p:spPr>
          <a:xfrm>
            <a:off x="6103107" y="2467161"/>
            <a:ext cx="25290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Modernization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103107" y="2635039"/>
            <a:ext cx="2419276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Legacy migration, mainframe modernization, monolith-to-microservices.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14350" y="3060092"/>
            <a:ext cx="2647876" cy="828675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514350" y="3063664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158654" y="3060092"/>
            <a:ext cx="0" cy="8286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14350" y="3885195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25066" y="3060092"/>
            <a:ext cx="0" cy="828675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5794" y="315296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59" name="Text 57"/>
          <p:cNvSpPr/>
          <p:nvPr/>
        </p:nvSpPr>
        <p:spPr>
          <a:xfrm>
            <a:off x="2911213" y="3169034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b="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31" dirty="0"/>
          </a:p>
        </p:txBody>
      </p:sp>
      <p:sp>
        <p:nvSpPr>
          <p:cNvPr id="60" name="Text 58"/>
          <p:cNvSpPr/>
          <p:nvPr/>
        </p:nvSpPr>
        <p:spPr>
          <a:xfrm>
            <a:off x="635794" y="3381561"/>
            <a:ext cx="25290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&amp; Integration Engineering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35794" y="3549439"/>
            <a:ext cx="2419276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development, platform integration, middleware, interoperability.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247951" y="3060092"/>
            <a:ext cx="2647987" cy="828675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Shape 61"/>
          <p:cNvSpPr/>
          <p:nvPr/>
        </p:nvSpPr>
        <p:spPr>
          <a:xfrm>
            <a:off x="3247951" y="3063664"/>
            <a:ext cx="264798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892366" y="3060092"/>
            <a:ext cx="0" cy="8286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247951" y="3885195"/>
            <a:ext cx="264798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58666" y="3060092"/>
            <a:ext cx="0" cy="828675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69394" y="315296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1688" dirty="0"/>
          </a:p>
        </p:txBody>
      </p:sp>
      <p:sp>
        <p:nvSpPr>
          <p:cNvPr id="68" name="Text 66"/>
          <p:cNvSpPr/>
          <p:nvPr/>
        </p:nvSpPr>
        <p:spPr>
          <a:xfrm>
            <a:off x="5644925" y="3169034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b="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731" dirty="0"/>
          </a:p>
        </p:txBody>
      </p:sp>
      <p:sp>
        <p:nvSpPr>
          <p:cNvPr id="69" name="Text 67"/>
          <p:cNvSpPr/>
          <p:nvPr/>
        </p:nvSpPr>
        <p:spPr>
          <a:xfrm>
            <a:off x="3369394" y="3381561"/>
            <a:ext cx="252911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UI/UX &amp; Experience Engineering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3369394" y="3549439"/>
            <a:ext cx="2419387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UX strategy, modern web/mobile, design systems, accessibility (WCAG 2.1 AA).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981663" y="3060092"/>
            <a:ext cx="2647876" cy="828675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Shape 70"/>
          <p:cNvSpPr/>
          <p:nvPr/>
        </p:nvSpPr>
        <p:spPr>
          <a:xfrm>
            <a:off x="5981663" y="3063664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625967" y="3060092"/>
            <a:ext cx="0" cy="8286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981663" y="3885195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992378" y="3060092"/>
            <a:ext cx="0" cy="828675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03107" y="315296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77" name="Text 75"/>
          <p:cNvSpPr/>
          <p:nvPr/>
        </p:nvSpPr>
        <p:spPr>
          <a:xfrm>
            <a:off x="8378526" y="3169034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b="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731" dirty="0"/>
          </a:p>
        </p:txBody>
      </p:sp>
      <p:sp>
        <p:nvSpPr>
          <p:cNvPr id="78" name="Text 76"/>
          <p:cNvSpPr/>
          <p:nvPr/>
        </p:nvSpPr>
        <p:spPr>
          <a:xfrm>
            <a:off x="6103107" y="3381561"/>
            <a:ext cx="25290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DevSecOps &amp; Engineering Consulting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6103107" y="3549439"/>
            <a:ext cx="2419276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CI/CD, DevSecOps, solution architecture, DR, SRE, engineering standards.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71488"/>
            <a:ext cx="7039496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568133" y="467916"/>
            <a:ext cx="13784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 OF 06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28663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 · HEALTHCARE &amp; PHARMA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17972"/>
            <a:ext cx="862965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&amp; Platform Engineering.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14350" y="1215107"/>
            <a:ext cx="8115300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platform deployment, SaaS, MVP, product modernization.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505434"/>
            <a:ext cx="3993356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651881"/>
            <a:ext cx="3671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8656" y="1859049"/>
            <a:ext cx="3671888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product &amp; platform engineering capability is engineered for healthcare &amp; pharma environments with real industry platforms and tools — not generic technology.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78656" y="2461133"/>
            <a:ext cx="1800225" cy="754112"/>
          </a:xfrm>
          <a:prstGeom prst="roundRect">
            <a:avLst>
              <a:gd name="adj" fmla="val 75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78656" y="2464705"/>
            <a:ext cx="180022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75309" y="2461133"/>
            <a:ext cx="0" cy="754112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8656" y="3211674"/>
            <a:ext cx="180022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9372" y="2461133"/>
            <a:ext cx="0" cy="754112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5813" y="2539715"/>
            <a:ext cx="1600200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85813" y="2664730"/>
            <a:ext cx="1600200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platforms first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5813" y="2795104"/>
            <a:ext cx="1600200" cy="341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Salesforce Health Cloud, Epic App Orchard, Veeva Vault, Redox, Azure IoT Hub.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50319" y="2461133"/>
            <a:ext cx="1800225" cy="754112"/>
          </a:xfrm>
          <a:prstGeom prst="roundRect">
            <a:avLst>
              <a:gd name="adj" fmla="val 75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550319" y="2464705"/>
            <a:ext cx="180022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46972" y="2461133"/>
            <a:ext cx="0" cy="754112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0319" y="3211674"/>
            <a:ext cx="180022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1034" y="2461133"/>
            <a:ext cx="0" cy="754112"/>
          </a:xfrm>
          <a:prstGeom prst="line">
            <a:avLst/>
          </a:prstGeom>
          <a:noFill/>
          <a:ln w="21431">
            <a:solidFill>
              <a:srgbClr val="FF6C0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7475" y="2539715"/>
            <a:ext cx="1600200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 MODES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57475" y="2664730"/>
            <a:ext cx="1600200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SaaS · MVP · Modernization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657475" y="2795104"/>
            <a:ext cx="1600200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greenfield SaaS to legacy platform modernization with dual-run.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8656" y="3930737"/>
            <a:ext cx="2082850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78656" y="3930737"/>
            <a:ext cx="2082850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CAPABILITY 1 OF 6 · HEALTHCARE &amp; PHARMA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689872" y="1505434"/>
            <a:ext cx="3936206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50606" y="1651881"/>
            <a:ext cx="3614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54178" y="1848334"/>
            <a:ext cx="3607594" cy="45005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929188" y="1923343"/>
            <a:ext cx="1828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00638" y="191619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33" name="Text 31"/>
          <p:cNvSpPr/>
          <p:nvPr/>
        </p:nvSpPr>
        <p:spPr>
          <a:xfrm>
            <a:off x="5286375" y="1909056"/>
            <a:ext cx="3100388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Engagement Platform (Salesforce Health Cloud)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86375" y="2030499"/>
            <a:ext cx="310038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SaaS platform for patient engagement — portals, messaging, telehealth via Salesforce Health Cloud + Twilio.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54178" y="2355540"/>
            <a:ext cx="3607594" cy="45005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929188" y="2430549"/>
            <a:ext cx="1828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00638" y="242340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38" name="Text 36"/>
          <p:cNvSpPr/>
          <p:nvPr/>
        </p:nvSpPr>
        <p:spPr>
          <a:xfrm>
            <a:off x="5286375" y="2416262"/>
            <a:ext cx="3210115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Workflow Platform (Epic App Orchard)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286375" y="2537706"/>
            <a:ext cx="310038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for clinical workflows via Epic App Orchard — order entry, results, care plans, CDS Hooks.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54178" y="2862746"/>
            <a:ext cx="3607594" cy="45005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929188" y="2937756"/>
            <a:ext cx="1828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100638" y="293061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43" name="Text 41"/>
          <p:cNvSpPr/>
          <p:nvPr/>
        </p:nvSpPr>
        <p:spPr>
          <a:xfrm>
            <a:off x="5286375" y="2923468"/>
            <a:ext cx="3210115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Trial Management System (Veeva Vault)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286375" y="3044912"/>
            <a:ext cx="310038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CTMS via Veeva Vault CDMS for trial sponsors and sites — protocols, enrollment, monitoring, reporting.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54178" y="3369952"/>
            <a:ext cx="3607594" cy="45005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929188" y="3444962"/>
            <a:ext cx="1828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100638" y="343781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48" name="Text 46"/>
          <p:cNvSpPr/>
          <p:nvPr/>
        </p:nvSpPr>
        <p:spPr>
          <a:xfrm>
            <a:off x="5286375" y="3430674"/>
            <a:ext cx="3210115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Health Information Exchange (Redox)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286375" y="3552118"/>
            <a:ext cx="310038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HIE platform via Redox Engine for secure health data exchange across providers — FHIR R4 native.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854178" y="3877159"/>
            <a:ext cx="3607594" cy="45005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929188" y="3952168"/>
            <a:ext cx="1828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100638" y="394502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53" name="Text 51"/>
          <p:cNvSpPr/>
          <p:nvPr/>
        </p:nvSpPr>
        <p:spPr>
          <a:xfrm>
            <a:off x="5286375" y="3937881"/>
            <a:ext cx="3210115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Remote Patient Monitoring Platform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286375" y="4059324"/>
            <a:ext cx="310038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for RPM via Azure IoT Hub — device integration, vitals capture, alerts, care team workflows.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4350" y="4754166"/>
            <a:ext cx="350657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035214" y="4750594"/>
            <a:ext cx="305674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106245" y="4750594"/>
            <a:ext cx="161480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&amp; PLATFORM ENGINEERING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71488"/>
            <a:ext cx="7039496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568133" y="467916"/>
            <a:ext cx="13784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 OF 06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28663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 · HEALTHCARE &amp; PHARMA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17972"/>
            <a:ext cx="862965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&amp; Platform Engineering.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14350" y="1215107"/>
            <a:ext cx="8115300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Cloud-native, microservices, containers, platform engineering, event-driven.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505434"/>
            <a:ext cx="3993356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651881"/>
            <a:ext cx="3671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8656" y="1859049"/>
            <a:ext cx="3671888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cloud-native &amp; platform engineering capability is engineered for healthcare &amp; pharma environments with real industry platforms and tools — not generic technology.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78656" y="2461133"/>
            <a:ext cx="1800225" cy="870198"/>
          </a:xfrm>
          <a:prstGeom prst="roundRect">
            <a:avLst>
              <a:gd name="adj" fmla="val 65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78656" y="2464705"/>
            <a:ext cx="180022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75309" y="2461133"/>
            <a:ext cx="0" cy="87019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8656" y="3327760"/>
            <a:ext cx="180022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9372" y="2461133"/>
            <a:ext cx="0" cy="870198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5813" y="2539715"/>
            <a:ext cx="1600200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PRIMITIVES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85813" y="2664730"/>
            <a:ext cx="1600200" cy="219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Microservices · Containers · Event-driven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5813" y="2911190"/>
            <a:ext cx="1600200" cy="341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Kubernetes (EKS), Kafka + Flink, serverless — engineered in, not bolted on.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50319" y="2461133"/>
            <a:ext cx="1800225" cy="870198"/>
          </a:xfrm>
          <a:prstGeom prst="roundRect">
            <a:avLst>
              <a:gd name="adj" fmla="val 65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550319" y="2464705"/>
            <a:ext cx="180022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46972" y="2461133"/>
            <a:ext cx="0" cy="87019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0319" y="3327760"/>
            <a:ext cx="180022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1034" y="2461133"/>
            <a:ext cx="0" cy="870198"/>
          </a:xfrm>
          <a:prstGeom prst="line">
            <a:avLst/>
          </a:prstGeom>
          <a:noFill/>
          <a:ln w="21431">
            <a:solidFill>
              <a:srgbClr val="FF6C0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7475" y="2539715"/>
            <a:ext cx="1600200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COMPLIANCE BASE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57475" y="2664730"/>
            <a:ext cx="1600200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HIPAA · HITRUST CSF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657475" y="2795104"/>
            <a:ext cx="1600200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Compliant environments, audit trails, PHI controls baked into platform.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8656" y="3930737"/>
            <a:ext cx="2082850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78656" y="3930737"/>
            <a:ext cx="2082850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CAPABILITY 2 OF 6 · HEALTHCARE &amp; PHARMA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689872" y="1505434"/>
            <a:ext cx="3936206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50606" y="1651881"/>
            <a:ext cx="3614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54178" y="1848334"/>
            <a:ext cx="3607594" cy="45005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929188" y="1923343"/>
            <a:ext cx="1828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00638" y="191619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33" name="Text 31"/>
          <p:cNvSpPr/>
          <p:nvPr/>
        </p:nvSpPr>
        <p:spPr>
          <a:xfrm>
            <a:off x="5286375" y="1909056"/>
            <a:ext cx="3210115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HIPAA-Compliant Cloud Platform (AWS)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86375" y="2030499"/>
            <a:ext cx="310038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platform engineered for HIPAA, HITRUST CSF on AWS — compliant environments, audit trails.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54178" y="2355540"/>
            <a:ext cx="3607594" cy="45005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929188" y="2430549"/>
            <a:ext cx="1828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00638" y="242340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38" name="Text 36"/>
          <p:cNvSpPr/>
          <p:nvPr/>
        </p:nvSpPr>
        <p:spPr>
          <a:xfrm>
            <a:off x="5286375" y="2416262"/>
            <a:ext cx="3210115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Data Platform (Snowflake)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286375" y="2537706"/>
            <a:ext cx="310038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for clinical data — Epic FHIR integration, normalisation, analytics readiness via Snowflake.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54178" y="2862746"/>
            <a:ext cx="3607594" cy="45005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929188" y="2937756"/>
            <a:ext cx="1828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100638" y="293061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43" name="Text 41"/>
          <p:cNvSpPr/>
          <p:nvPr/>
        </p:nvSpPr>
        <p:spPr>
          <a:xfrm>
            <a:off x="5286375" y="2923468"/>
            <a:ext cx="3210115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Healthcare Interoperability Platform (FHIR)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286375" y="3044912"/>
            <a:ext cx="310038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FHIR-based platform via Microsoft Azure FHIR Service for interoperability across EHRs, devices, apps.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54178" y="3369952"/>
            <a:ext cx="3607594" cy="45005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929188" y="3444962"/>
            <a:ext cx="1828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100638" y="343781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48" name="Text 46"/>
          <p:cNvSpPr/>
          <p:nvPr/>
        </p:nvSpPr>
        <p:spPr>
          <a:xfrm>
            <a:off x="5286375" y="3430674"/>
            <a:ext cx="3210115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Internal Developer Platform (Backstage)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286375" y="3552118"/>
            <a:ext cx="310038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engineering for healthcare dev teams via Backstage.io — HIPAA-compliant environments, guardrails.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854178" y="3877159"/>
            <a:ext cx="3607594" cy="45005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929188" y="3952168"/>
            <a:ext cx="1828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100638" y="394502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53" name="Text 51"/>
          <p:cNvSpPr/>
          <p:nvPr/>
        </p:nvSpPr>
        <p:spPr>
          <a:xfrm>
            <a:off x="5286375" y="3937881"/>
            <a:ext cx="3210115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Clinical Platform (Kafka)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286375" y="4059324"/>
            <a:ext cx="310038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Stream processing platform for real-time clinical alerts and decision support via Kafka + Flink.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4350" y="4754166"/>
            <a:ext cx="340120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929844" y="4750594"/>
            <a:ext cx="295137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895505" y="4750594"/>
            <a:ext cx="183819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&amp; PLATFORM ENGINEERING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71488"/>
            <a:ext cx="7039496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568133" y="467916"/>
            <a:ext cx="13784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 OF 06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28663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 · HEALTHCARE &amp; PHARMA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17972"/>
            <a:ext cx="862965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Modernization.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14350" y="1215107"/>
            <a:ext cx="8115300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Legacy migration, mainframe modernization, monolith-to-microservices.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505434"/>
            <a:ext cx="3993356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651881"/>
            <a:ext cx="3671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8656" y="1859049"/>
            <a:ext cx="3671888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application modernization capability is engineered for healthcare &amp; pharma environments with real industry platforms and tools — not generic technology.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78656" y="2461133"/>
            <a:ext cx="1800225" cy="640259"/>
          </a:xfrm>
          <a:prstGeom prst="roundRect">
            <a:avLst>
              <a:gd name="adj" fmla="val 89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78656" y="2464705"/>
            <a:ext cx="180022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75309" y="2461133"/>
            <a:ext cx="0" cy="64025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8656" y="3097820"/>
            <a:ext cx="180022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9372" y="2461133"/>
            <a:ext cx="0" cy="640259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5813" y="2539715"/>
            <a:ext cx="1600200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MODERNIZATION PATHS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85813" y="2664730"/>
            <a:ext cx="1600200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Legacy → FHIR-native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5813" y="2795104"/>
            <a:ext cx="1600200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Epic/Cerner, Cache, MUMPS migrated incrementally via Redox Engine.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50319" y="2461133"/>
            <a:ext cx="1800225" cy="640259"/>
          </a:xfrm>
          <a:prstGeom prst="roundRect">
            <a:avLst>
              <a:gd name="adj" fmla="val 89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550319" y="2464705"/>
            <a:ext cx="180022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46972" y="2461133"/>
            <a:ext cx="0" cy="64025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0319" y="3097820"/>
            <a:ext cx="180022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1034" y="2461133"/>
            <a:ext cx="0" cy="640259"/>
          </a:xfrm>
          <a:prstGeom prst="line">
            <a:avLst/>
          </a:prstGeom>
          <a:noFill/>
          <a:ln w="21431">
            <a:solidFill>
              <a:srgbClr val="FF6C0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7475" y="2539715"/>
            <a:ext cx="1600200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57475" y="2664730"/>
            <a:ext cx="1600200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Dual-run · Decoupled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657475" y="2795104"/>
            <a:ext cx="1600200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Domain-aligned microservices with API gateway and dual-run validation.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8656" y="3930737"/>
            <a:ext cx="2082850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78656" y="3930737"/>
            <a:ext cx="2082850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CAPABILITY 3 OF 6 · HEALTHCARE &amp; PHARMA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689872" y="1505434"/>
            <a:ext cx="3936206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50606" y="1651881"/>
            <a:ext cx="3614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54178" y="1848334"/>
            <a:ext cx="3607594" cy="45005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929188" y="1923343"/>
            <a:ext cx="1828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00638" y="191619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33" name="Text 31"/>
          <p:cNvSpPr/>
          <p:nvPr/>
        </p:nvSpPr>
        <p:spPr>
          <a:xfrm>
            <a:off x="5286375" y="1909056"/>
            <a:ext cx="3210115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Legacy EHR Migration (Epic/Cerner)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86375" y="2030499"/>
            <a:ext cx="310038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Incremental migration from legacy EHR to modern FHIR-based architecture via Redox Engine.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54178" y="2355540"/>
            <a:ext cx="3607594" cy="45005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929188" y="2430549"/>
            <a:ext cx="1828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00638" y="242340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38" name="Text 36"/>
          <p:cNvSpPr/>
          <p:nvPr/>
        </p:nvSpPr>
        <p:spPr>
          <a:xfrm>
            <a:off x="5286375" y="2416262"/>
            <a:ext cx="3210115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System Decoupling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286375" y="2537706"/>
            <a:ext cx="310038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Decoupling monolithic Epic/Cerner clinical systems into domain-aligned microservices via API gateway.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54178" y="2862746"/>
            <a:ext cx="3607594" cy="45005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929188" y="2937756"/>
            <a:ext cx="1828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100638" y="293061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43" name="Text 41"/>
          <p:cNvSpPr/>
          <p:nvPr/>
        </p:nvSpPr>
        <p:spPr>
          <a:xfrm>
            <a:off x="5286375" y="2923468"/>
            <a:ext cx="3210115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Healthcare Data Modernization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286375" y="3044912"/>
            <a:ext cx="310038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Modernising legacy healthcare data stores (Cache, MUMPS) with cloud-native Snowflake/Databricks.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54178" y="3369952"/>
            <a:ext cx="3607594" cy="45005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929188" y="3444962"/>
            <a:ext cx="1828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100638" y="343781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48" name="Text 46"/>
          <p:cNvSpPr/>
          <p:nvPr/>
        </p:nvSpPr>
        <p:spPr>
          <a:xfrm>
            <a:off x="5286375" y="3430674"/>
            <a:ext cx="3210115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Portal Modernization (React)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286375" y="3552118"/>
            <a:ext cx="310038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Modernising legacy patient portals with React + .NET modern web and mobile experiences.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854178" y="3877159"/>
            <a:ext cx="3607594" cy="45005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929188" y="3952168"/>
            <a:ext cx="1828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100638" y="394502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53" name="Text 51"/>
          <p:cNvSpPr/>
          <p:nvPr/>
        </p:nvSpPr>
        <p:spPr>
          <a:xfrm>
            <a:off x="5286375" y="3937881"/>
            <a:ext cx="3210115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Revenue Cycle Modernization (Epic Resolute)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286375" y="4059324"/>
            <a:ext cx="310038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Modernising legacy revenue cycle with Epic Resolute + cloud-native billing and claims on AWS.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4350" y="4754166"/>
            <a:ext cx="364934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177978" y="4750594"/>
            <a:ext cx="319950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391772" y="4750594"/>
            <a:ext cx="131215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MODERNIZATION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71488"/>
            <a:ext cx="7039496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568133" y="467916"/>
            <a:ext cx="13784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 OF 06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28663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 · HEALTHCARE &amp; PHARMA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17972"/>
            <a:ext cx="862965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&amp; Integration Engineering.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14350" y="1215107"/>
            <a:ext cx="8115300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development, platform integration, middleware, interoperability.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505434"/>
            <a:ext cx="3993356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651881"/>
            <a:ext cx="3671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8656" y="1859049"/>
            <a:ext cx="3671888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api &amp; integration engineering capability is engineered for healthcare &amp; pharma environments with real industry platforms and tools — not generic technology.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78656" y="2461133"/>
            <a:ext cx="1800225" cy="756345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78656" y="2464705"/>
            <a:ext cx="180022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75309" y="2461133"/>
            <a:ext cx="0" cy="75634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8656" y="3213906"/>
            <a:ext cx="180022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9372" y="2461133"/>
            <a:ext cx="0" cy="756345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5813" y="2539715"/>
            <a:ext cx="1600200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85813" y="2664730"/>
            <a:ext cx="1600200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FHIR R4 · HL7 v2 · EDI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5813" y="2795104"/>
            <a:ext cx="1600200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837/835 EDI, NCPDP Script, LOINC — native protocol handling.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50319" y="2461133"/>
            <a:ext cx="1800225" cy="756345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550319" y="2464705"/>
            <a:ext cx="180022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46972" y="2461133"/>
            <a:ext cx="0" cy="75634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0319" y="3213906"/>
            <a:ext cx="180022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1034" y="2461133"/>
            <a:ext cx="0" cy="756345"/>
          </a:xfrm>
          <a:prstGeom prst="line">
            <a:avLst/>
          </a:prstGeom>
          <a:noFill/>
          <a:ln w="21431">
            <a:solidFill>
              <a:srgbClr val="FF6C0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7475" y="2539715"/>
            <a:ext cx="1600200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ENDPOINTS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57475" y="2664730"/>
            <a:ext cx="1600200" cy="219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EHR · Payer · Lab · Pharmacy · Device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657475" y="2911190"/>
            <a:ext cx="1600200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Epic, Cerner, Allscripts, Availity, IoT — via Redox Engine middleware.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8656" y="3930737"/>
            <a:ext cx="2082850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78656" y="3930737"/>
            <a:ext cx="2082850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CAPABILITY 4 OF 6 · HEALTHCARE &amp; PHARMA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689872" y="1505434"/>
            <a:ext cx="3936206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50606" y="1651881"/>
            <a:ext cx="3614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54178" y="1848334"/>
            <a:ext cx="3607594" cy="346472"/>
          </a:xfrm>
          <a:prstGeom prst="roundRect">
            <a:avLst>
              <a:gd name="adj" fmla="val 1924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929188" y="1923343"/>
            <a:ext cx="1828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00638" y="191619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3" name="Text 31"/>
          <p:cNvSpPr/>
          <p:nvPr/>
        </p:nvSpPr>
        <p:spPr>
          <a:xfrm>
            <a:off x="5286375" y="1909056"/>
            <a:ext cx="3210115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EHR Integration (Epic FHIR / Cerner)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86375" y="2030499"/>
            <a:ext cx="3100388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FHIR R4 and HL7 v2 integration with Epic, Cerner, and Allscripts via Redox Engine.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4854178" y="2251956"/>
            <a:ext cx="3607594" cy="45005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929188" y="2326965"/>
            <a:ext cx="1828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00638" y="231982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8" name="Text 36"/>
          <p:cNvSpPr/>
          <p:nvPr/>
        </p:nvSpPr>
        <p:spPr>
          <a:xfrm>
            <a:off x="5286375" y="2312677"/>
            <a:ext cx="3210115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Medical Device Integration (HL7/IoT)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286375" y="2434121"/>
            <a:ext cx="310038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with medical devices — vitals monitors, imaging equipment via HL7 v2 and Azure IoT Hub.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54178" y="2759162"/>
            <a:ext cx="3607594" cy="45005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929188" y="2834171"/>
            <a:ext cx="1828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100638" y="282702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43" name="Text 41"/>
          <p:cNvSpPr/>
          <p:nvPr/>
        </p:nvSpPr>
        <p:spPr>
          <a:xfrm>
            <a:off x="5286375" y="2819884"/>
            <a:ext cx="3210115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Payer Integration (Availity)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286375" y="2941327"/>
            <a:ext cx="310038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with payers via Availity — eligibility, prior auth, claims, remittances (837/835 EDI).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54178" y="3266368"/>
            <a:ext cx="3607594" cy="45005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929188" y="3341377"/>
            <a:ext cx="1828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100638" y="333423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48" name="Text 46"/>
          <p:cNvSpPr/>
          <p:nvPr/>
        </p:nvSpPr>
        <p:spPr>
          <a:xfrm>
            <a:off x="5286375" y="3327090"/>
            <a:ext cx="3100387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Lab Integration (LOINC)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286375" y="3448534"/>
            <a:ext cx="310038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with lab systems via HL7 v2, LOINC coding — orders, results, specimen tracking.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854178" y="3773574"/>
            <a:ext cx="3607594" cy="45005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929188" y="3848584"/>
            <a:ext cx="1828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100638" y="384144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53" name="Text 51"/>
          <p:cNvSpPr/>
          <p:nvPr/>
        </p:nvSpPr>
        <p:spPr>
          <a:xfrm>
            <a:off x="5286375" y="3834296"/>
            <a:ext cx="3210115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Pharmacy Integration (NCPDP)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286375" y="3955740"/>
            <a:ext cx="310038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with pharmacy systems via NCPDP Script — e-prescribing, medication history, dispensing.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4350" y="4754166"/>
            <a:ext cx="357634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104977" y="4750594"/>
            <a:ext cx="312650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245772" y="4750594"/>
            <a:ext cx="146691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&amp; INTEGRATION ENGINEERING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71488"/>
            <a:ext cx="7430505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930727" y="467916"/>
            <a:ext cx="9275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42950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 · HEALTHCARE &amp; PHARMA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32259"/>
            <a:ext cx="8629650" cy="244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4"/>
              </a:lnSpc>
              <a:buNone/>
            </a:pPr>
            <a:r>
              <a:rPr lang="en-US" sz="1463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digital engineering &amp; transformation applies to healthcare &amp; pharma.</a:t>
            </a:r>
            <a:endParaRPr lang="en-US" sz="1463" dirty="0"/>
          </a:p>
        </p:txBody>
      </p:sp>
      <p:sp>
        <p:nvSpPr>
          <p:cNvPr id="6" name="Text 4"/>
          <p:cNvSpPr/>
          <p:nvPr/>
        </p:nvSpPr>
        <p:spPr>
          <a:xfrm>
            <a:off x="514350" y="1216000"/>
            <a:ext cx="8115300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industry-specific applications with real technology platforms.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520614"/>
            <a:ext cx="3993356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65277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969" dirty="0"/>
          </a:p>
        </p:txBody>
      </p:sp>
      <p:sp>
        <p:nvSpPr>
          <p:cNvPr id="9" name="Text 7"/>
          <p:cNvSpPr/>
          <p:nvPr/>
        </p:nvSpPr>
        <p:spPr>
          <a:xfrm>
            <a:off x="4193625" y="1677777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4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88" dirty="0"/>
          </a:p>
        </p:txBody>
      </p:sp>
      <p:sp>
        <p:nvSpPr>
          <p:cNvPr id="10" name="Text 8"/>
          <p:cNvSpPr/>
          <p:nvPr/>
        </p:nvSpPr>
        <p:spPr>
          <a:xfrm>
            <a:off x="678656" y="1938524"/>
            <a:ext cx="3671888" cy="33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Document Intelligence (Epic + Azure OpenAI)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678656" y="2318482"/>
            <a:ext cx="3671888" cy="241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Epic EHR clinical documentation via Azure OpenAI + Nuance DAX — discharge summaries, clinical notes.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32722" y="1520614"/>
            <a:ext cx="3993356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93456" y="165277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969" dirty="0"/>
          </a:p>
        </p:txBody>
      </p:sp>
      <p:sp>
        <p:nvSpPr>
          <p:cNvPr id="14" name="Text 12"/>
          <p:cNvSpPr/>
          <p:nvPr/>
        </p:nvSpPr>
        <p:spPr>
          <a:xfrm>
            <a:off x="8308425" y="1677777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4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88" dirty="0"/>
          </a:p>
        </p:txBody>
      </p:sp>
      <p:sp>
        <p:nvSpPr>
          <p:cNvPr id="15" name="Text 13"/>
          <p:cNvSpPr/>
          <p:nvPr/>
        </p:nvSpPr>
        <p:spPr>
          <a:xfrm>
            <a:off x="4793456" y="1938524"/>
            <a:ext cx="3671888" cy="33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Engagement (MyChart + Salesforce Health Cloud)</a:t>
            </a:r>
            <a:endParaRPr lang="en-US" sz="1013" dirty="0"/>
          </a:p>
        </p:txBody>
      </p:sp>
      <p:sp>
        <p:nvSpPr>
          <p:cNvPr id="16" name="Text 14"/>
          <p:cNvSpPr/>
          <p:nvPr/>
        </p:nvSpPr>
        <p:spPr>
          <a:xfrm>
            <a:off x="4793456" y="2318482"/>
            <a:ext cx="3671888" cy="241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portals, telehealth, care navigation via Epic MyChart + Salesforce Health Cloud + Twilio.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7922" y="2813633"/>
            <a:ext cx="3993356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78656" y="294579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969" dirty="0"/>
          </a:p>
        </p:txBody>
      </p:sp>
      <p:sp>
        <p:nvSpPr>
          <p:cNvPr id="19" name="Text 17"/>
          <p:cNvSpPr/>
          <p:nvPr/>
        </p:nvSpPr>
        <p:spPr>
          <a:xfrm>
            <a:off x="4193625" y="2970795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4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678656" y="3231542"/>
            <a:ext cx="3781616" cy="16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Decision Support (Epic Cogito)</a:t>
            </a:r>
            <a:endParaRPr lang="en-US" sz="1013" dirty="0"/>
          </a:p>
        </p:txBody>
      </p:sp>
      <p:sp>
        <p:nvSpPr>
          <p:cNvPr id="21" name="Text 19"/>
          <p:cNvSpPr/>
          <p:nvPr/>
        </p:nvSpPr>
        <p:spPr>
          <a:xfrm>
            <a:off x="678656" y="3457240"/>
            <a:ext cx="3671888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Resource allocation, capacity planning via Epic Cogito analytics + Power BI dashboards.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32722" y="2813633"/>
            <a:ext cx="3993356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93456" y="294579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969" dirty="0"/>
          </a:p>
        </p:txBody>
      </p:sp>
      <p:sp>
        <p:nvSpPr>
          <p:cNvPr id="24" name="Text 22"/>
          <p:cNvSpPr/>
          <p:nvPr/>
        </p:nvSpPr>
        <p:spPr>
          <a:xfrm>
            <a:off x="8308425" y="2970795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4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88" dirty="0"/>
          </a:p>
        </p:txBody>
      </p:sp>
      <p:sp>
        <p:nvSpPr>
          <p:cNvPr id="25" name="Text 23"/>
          <p:cNvSpPr/>
          <p:nvPr/>
        </p:nvSpPr>
        <p:spPr>
          <a:xfrm>
            <a:off x="4793456" y="3231542"/>
            <a:ext cx="3781616" cy="16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Research &amp; RWE (Veeva Vault + Medidata)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4793456" y="3457240"/>
            <a:ext cx="3671888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research support, RWE analytics via Veeva Vault CDMS + Medidata Clinical Cloud.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4350" y="4754166"/>
            <a:ext cx="397962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08264" y="4750594"/>
            <a:ext cx="35296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99312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71153"/>
            <a:ext cx="6871841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400479" y="467581"/>
            <a:ext cx="15076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 ARCHITECTURE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14350" y="713817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 · HEALTHCARE &amp; PHARMA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03126"/>
            <a:ext cx="8629650" cy="48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84"/>
              </a:lnSpc>
              <a:buNone/>
            </a:pPr>
            <a:r>
              <a:rPr lang="en-US" sz="1463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digital engineering &amp; transformation — healthcare &amp; pharma.</a:t>
            </a:r>
            <a:endParaRPr lang="en-US" sz="1463" dirty="0"/>
          </a:p>
        </p:txBody>
      </p:sp>
      <p:sp>
        <p:nvSpPr>
          <p:cNvPr id="6" name="Text 4"/>
          <p:cNvSpPr/>
          <p:nvPr/>
        </p:nvSpPr>
        <p:spPr>
          <a:xfrm>
            <a:off x="514350" y="1413458"/>
            <a:ext cx="8115300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industry technology platforms.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689497"/>
            <a:ext cx="81081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1494" y="1693069"/>
            <a:ext cx="1000125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518047" y="1693069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7219" y="1860947"/>
            <a:ext cx="8215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7219" y="1957388"/>
            <a:ext cx="7805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EXPERIENCE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635919" y="1835644"/>
            <a:ext cx="1051247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635919" y="1848445"/>
            <a:ext cx="105124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Epic MyChart (Patient)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762176" y="1852017"/>
            <a:ext cx="1157176" cy="210741"/>
          </a:xfrm>
          <a:prstGeom prst="roundRect">
            <a:avLst>
              <a:gd name="adj" fmla="val 1807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758604" y="1848445"/>
            <a:ext cx="1200038" cy="304246"/>
          </a:xfrm>
          <a:prstGeom prst="rect">
            <a:avLst/>
          </a:prstGeom>
          <a:noFill/>
          <a:ln/>
        </p:spPr>
        <p:txBody>
          <a:bodyPr wrap="square" lIns="78581" tIns="42863" rIns="78581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Epic Hyperdrive (Clinical)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994361" y="1835644"/>
            <a:ext cx="1051359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994361" y="1848445"/>
            <a:ext cx="1051359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React Care Dashboard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17157" y="1835644"/>
            <a:ext cx="1036960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17157" y="1848445"/>
            <a:ext cx="103696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Epic Resolute (Admin)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17922" y="2303859"/>
            <a:ext cx="81081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21494" y="2307431"/>
            <a:ext cx="1000125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1518047" y="2307431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7219" y="2475309"/>
            <a:ext cx="8215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02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91386" y="2571750"/>
            <a:ext cx="8531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635919" y="2450006"/>
            <a:ext cx="853901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635919" y="2462808"/>
            <a:ext cx="85390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Epic App Orchard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561258" y="2450006"/>
            <a:ext cx="1110965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561258" y="2462808"/>
            <a:ext cx="111096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Salesforce Health Cloud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743660" y="2450006"/>
            <a:ext cx="879239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743660" y="2462808"/>
            <a:ext cx="879239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Veeva Vault CTMS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94337" y="2450006"/>
            <a:ext cx="864171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694337" y="2462808"/>
            <a:ext cx="86417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Redox HIE Engine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7922" y="2918222"/>
            <a:ext cx="81081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21494" y="2921794"/>
            <a:ext cx="1000125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1518047" y="2921794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7219" y="3089672"/>
            <a:ext cx="72966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03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07219" y="3186113"/>
            <a:ext cx="7304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635919" y="3064369"/>
            <a:ext cx="850441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635919" y="3077170"/>
            <a:ext cx="85044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GitLab CI (HIPAA)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557797" y="3064369"/>
            <a:ext cx="853678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557797" y="3077170"/>
            <a:ext cx="85367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Kubernetes (EKS)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482913" y="3064369"/>
            <a:ext cx="1050466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482913" y="3077170"/>
            <a:ext cx="105046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Kafka (Clinical Events)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604817" y="3064369"/>
            <a:ext cx="1011510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604817" y="3077170"/>
            <a:ext cx="101151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Backstage Dev Portal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17922" y="3532584"/>
            <a:ext cx="81081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21494" y="3536156"/>
            <a:ext cx="1000125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1518047" y="3536156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7219" y="3704034"/>
            <a:ext cx="8215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04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91386" y="3800475"/>
            <a:ext cx="8531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635919" y="3678731"/>
            <a:ext cx="672740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1635919" y="3691533"/>
            <a:ext cx="6727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Epic FHIR R4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380097" y="3678731"/>
            <a:ext cx="743731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2380097" y="3691533"/>
            <a:ext cx="74373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HL7 v2 → FHIR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195265" y="3678731"/>
            <a:ext cx="763600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3195265" y="3691533"/>
            <a:ext cx="76360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Availity (Payer)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030303" y="3678731"/>
            <a:ext cx="917414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4030303" y="3691533"/>
            <a:ext cx="91741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NCPDP (Pharmacy)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17922" y="4146947"/>
            <a:ext cx="81081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521494" y="4150519"/>
            <a:ext cx="1000125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1518047" y="4150519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7219" y="4318397"/>
            <a:ext cx="8215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05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07219" y="4414838"/>
            <a:ext cx="8215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6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INFRASTRUCTURE</a:t>
            </a:r>
            <a:endParaRPr lang="en-US" sz="619" dirty="0"/>
          </a:p>
        </p:txBody>
      </p:sp>
      <p:sp>
        <p:nvSpPr>
          <p:cNvPr id="64" name="Text 62"/>
          <p:cNvSpPr/>
          <p:nvPr/>
        </p:nvSpPr>
        <p:spPr>
          <a:xfrm>
            <a:off x="1635919" y="4293094"/>
            <a:ext cx="607888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1635919" y="4305895"/>
            <a:ext cx="60788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HIPAA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2315245" y="4293094"/>
            <a:ext cx="760475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2315245" y="4305895"/>
            <a:ext cx="76047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HITRUST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3147157" y="4293094"/>
            <a:ext cx="800993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3147157" y="4305895"/>
            <a:ext cx="80099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 Multi-Region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4019587" y="4293094"/>
            <a:ext cx="818852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4019587" y="4305895"/>
            <a:ext cx="81885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Macie (PHI)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71488"/>
            <a:ext cx="7095306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23944" y="467916"/>
            <a:ext cx="130597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ENGAGEMENT PATHWAY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4295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32259"/>
            <a:ext cx="8629650" cy="244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4"/>
              </a:lnSpc>
              <a:buNone/>
            </a:pPr>
            <a:r>
              <a:rPr lang="en-US" sz="1463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managed operations.</a:t>
            </a:r>
            <a:endParaRPr lang="en-US" sz="1463" dirty="0"/>
          </a:p>
        </p:txBody>
      </p:sp>
      <p:sp>
        <p:nvSpPr>
          <p:cNvPr id="6" name="Text 4"/>
          <p:cNvSpPr/>
          <p:nvPr/>
        </p:nvSpPr>
        <p:spPr>
          <a:xfrm>
            <a:off x="514350" y="1216000"/>
            <a:ext cx="8115300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fixed duration, and transparent commercial frame.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520614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5794" y="1638486"/>
            <a:ext cx="170021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35794" y="1813508"/>
            <a:ext cx="1700213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635794" y="1999245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35794" y="2234989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5794" y="2342145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35794" y="2538599"/>
            <a:ext cx="1700213" cy="761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 maturity assessment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Opportunity prioritization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90-day roadmap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business case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35794" y="3920914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794" y="3917342"/>
            <a:ext cx="1700213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 – $75K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75322" y="1520614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93194" y="1638486"/>
            <a:ext cx="170021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93194" y="1813508"/>
            <a:ext cx="1700213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844" dirty="0"/>
          </a:p>
        </p:txBody>
      </p:sp>
      <p:sp>
        <p:nvSpPr>
          <p:cNvPr id="19" name="Text 17"/>
          <p:cNvSpPr/>
          <p:nvPr/>
        </p:nvSpPr>
        <p:spPr>
          <a:xfrm>
            <a:off x="2693194" y="1999245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3–4 WEEKS · FIXED FEE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93194" y="2234989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693194" y="2342145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93194" y="2538599"/>
            <a:ext cx="1700213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CoE charter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framework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693194" y="3920914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93194" y="3917342"/>
            <a:ext cx="1700213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 – $150K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32722" y="1520614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50594" y="1638486"/>
            <a:ext cx="170021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50594" y="1813508"/>
            <a:ext cx="1700213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844" dirty="0"/>
          </a:p>
        </p:txBody>
      </p:sp>
      <p:sp>
        <p:nvSpPr>
          <p:cNvPr id="28" name="Text 26"/>
          <p:cNvSpPr/>
          <p:nvPr/>
        </p:nvSpPr>
        <p:spPr>
          <a:xfrm>
            <a:off x="4750594" y="1999245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8–24 WEEKS · T&amp;M OR FIXED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50594" y="2234989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50594" y="2342145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50594" y="2538599"/>
            <a:ext cx="1700213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complete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50594" y="3920914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0594" y="3917342"/>
            <a:ext cx="1700213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 – $1M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690122" y="1520614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807994" y="1638486"/>
            <a:ext cx="170021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07994" y="1813508"/>
            <a:ext cx="1700212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844" dirty="0"/>
          </a:p>
        </p:txBody>
      </p:sp>
      <p:sp>
        <p:nvSpPr>
          <p:cNvPr id="37" name="Text 35"/>
          <p:cNvSpPr/>
          <p:nvPr/>
        </p:nvSpPr>
        <p:spPr>
          <a:xfrm>
            <a:off x="6807994" y="1999245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07994" y="2234989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807994" y="2342145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807994" y="2538599"/>
            <a:ext cx="1700213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807994" y="3920914"/>
            <a:ext cx="1700213" cy="0"/>
          </a:xfrm>
          <a:prstGeom prst="line">
            <a:avLst/>
          </a:prstGeom>
          <a:noFill/>
          <a:ln w="7144">
            <a:solidFill>
              <a:srgbClr val="FF6C0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07994" y="3917342"/>
            <a:ext cx="1700212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3F0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 – $500K / mo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4350" y="4754166"/>
            <a:ext cx="378607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314713" y="4750594"/>
            <a:ext cx="333624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665244" y="4750594"/>
            <a:ext cx="9644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71488"/>
            <a:ext cx="7374694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903332" y="467916"/>
            <a:ext cx="94317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KEFI TECH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57238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 · HEALTHCARE &amp; PHARMA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46547"/>
            <a:ext cx="862965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enterprises work with us.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14350" y="1243682"/>
            <a:ext cx="8115300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services. Specific differentiators for healthcare &amp; pharma.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4350" y="1559012"/>
            <a:ext cx="3986213" cy="1178719"/>
          </a:xfrm>
          <a:prstGeom prst="roundRect">
            <a:avLst>
              <a:gd name="adj" fmla="val 646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14350" y="1562584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6991" y="1559012"/>
            <a:ext cx="0" cy="117871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4350" y="2734159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8638" y="1559012"/>
            <a:ext cx="0" cy="1178719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8663" y="1726890"/>
            <a:ext cx="2248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69206" y="172331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547" dirty="0"/>
          </a:p>
        </p:txBody>
      </p:sp>
      <p:sp>
        <p:nvSpPr>
          <p:cNvPr id="14" name="Text 12"/>
          <p:cNvSpPr/>
          <p:nvPr/>
        </p:nvSpPr>
        <p:spPr>
          <a:xfrm>
            <a:off x="728663" y="1937631"/>
            <a:ext cx="3688747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Platform-native engineering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28663" y="2151943"/>
            <a:ext cx="3579019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Engineers who build on industry-specific platforms — not generic frameworks.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4643438" y="1559012"/>
            <a:ext cx="3986213" cy="1178719"/>
          </a:xfrm>
          <a:prstGeom prst="roundRect">
            <a:avLst>
              <a:gd name="adj" fmla="val 646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43438" y="1562584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26078" y="1559012"/>
            <a:ext cx="0" cy="117871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43438" y="2734159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57725" y="1559012"/>
            <a:ext cx="0" cy="1178719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57750" y="1726890"/>
            <a:ext cx="2248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98293" y="172331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547" dirty="0"/>
          </a:p>
        </p:txBody>
      </p:sp>
      <p:sp>
        <p:nvSpPr>
          <p:cNvPr id="23" name="Text 21"/>
          <p:cNvSpPr/>
          <p:nvPr/>
        </p:nvSpPr>
        <p:spPr>
          <a:xfrm>
            <a:off x="4857750" y="1937631"/>
            <a:ext cx="357901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by default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57750" y="2151943"/>
            <a:ext cx="3579019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Microservices, containers, serverless — engineered in, not bolted on.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514350" y="2880606"/>
            <a:ext cx="3986213" cy="1178719"/>
          </a:xfrm>
          <a:prstGeom prst="roundRect">
            <a:avLst>
              <a:gd name="adj" fmla="val 646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14350" y="2884177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96991" y="2880606"/>
            <a:ext cx="0" cy="117871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4350" y="405575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8638" y="2880606"/>
            <a:ext cx="0" cy="1178719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8663" y="3048484"/>
            <a:ext cx="2248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69206" y="304491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547" dirty="0"/>
          </a:p>
        </p:txBody>
      </p:sp>
      <p:sp>
        <p:nvSpPr>
          <p:cNvPr id="32" name="Text 30"/>
          <p:cNvSpPr/>
          <p:nvPr/>
        </p:nvSpPr>
        <p:spPr>
          <a:xfrm>
            <a:off x="728663" y="3259224"/>
            <a:ext cx="357901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Modernization depth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28663" y="3473537"/>
            <a:ext cx="3579019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Legacy-to-cloud migration with engineering discipline and dual-run validation.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4643438" y="2880606"/>
            <a:ext cx="3986213" cy="1178719"/>
          </a:xfrm>
          <a:prstGeom prst="roundRect">
            <a:avLst>
              <a:gd name="adj" fmla="val 646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643438" y="2884177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26078" y="2880606"/>
            <a:ext cx="0" cy="117871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43438" y="405575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57725" y="2880606"/>
            <a:ext cx="0" cy="1178719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57750" y="3048484"/>
            <a:ext cx="2248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098293" y="304491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547" dirty="0"/>
          </a:p>
        </p:txBody>
      </p:sp>
      <p:sp>
        <p:nvSpPr>
          <p:cNvPr id="41" name="Text 39"/>
          <p:cNvSpPr/>
          <p:nvPr/>
        </p:nvSpPr>
        <p:spPr>
          <a:xfrm>
            <a:off x="4857750" y="3259224"/>
            <a:ext cx="357901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DevSecOps embedded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57750" y="3473537"/>
            <a:ext cx="3579019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and quality in every pipeline — not a gate before release.</a:t>
            </a:r>
            <a:endParaRPr lang="en-US" sz="675" dirty="0"/>
          </a:p>
        </p:txBody>
      </p:sp>
      <p:sp>
        <p:nvSpPr>
          <p:cNvPr id="43" name="Shape 41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4350" y="4754166"/>
            <a:ext cx="39511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479801" y="4750594"/>
            <a:ext cx="350133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967409" y="4750594"/>
            <a:ext cx="6902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45509296-tuf0f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0" y="1428750"/>
            <a:ext cx="7144" cy="257175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742950" y="1714500"/>
            <a:ext cx="70567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42950" y="1960959"/>
            <a:ext cx="5520690" cy="3925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742950" y="2380990"/>
            <a:ext cx="6162142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8" name="Text 4"/>
          <p:cNvSpPr/>
          <p:nvPr/>
        </p:nvSpPr>
        <p:spPr>
          <a:xfrm>
            <a:off x="742950" y="2986757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42950" y="3179638"/>
            <a:ext cx="5678424" cy="166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42950" y="3373859"/>
            <a:ext cx="5678424" cy="20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461522" y="1714500"/>
            <a:ext cx="0" cy="1362894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966764" y="1714500"/>
            <a:ext cx="1491436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265051" y="1850231"/>
            <a:ext cx="1193149" cy="220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609"/>
              </a:lnSpc>
              <a:buNone/>
            </a:pPr>
            <a:r>
              <a:rPr lang="en-US" sz="1463" b="1" spc="-15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Discover.</a:t>
            </a:r>
            <a:endParaRPr lang="en-US" sz="1463" dirty="0"/>
          </a:p>
        </p:txBody>
      </p:sp>
      <p:sp>
        <p:nvSpPr>
          <p:cNvPr id="14" name="Text 10"/>
          <p:cNvSpPr/>
          <p:nvPr/>
        </p:nvSpPr>
        <p:spPr>
          <a:xfrm>
            <a:off x="6923901" y="2225948"/>
            <a:ext cx="1534299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230761" y="2361679"/>
            <a:ext cx="1227439" cy="220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609"/>
              </a:lnSpc>
              <a:buNone/>
            </a:pPr>
            <a:r>
              <a:rPr lang="en-US" sz="1463" b="1" spc="-15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Engineer.</a:t>
            </a:r>
            <a:endParaRPr lang="en-US" sz="1463" dirty="0"/>
          </a:p>
        </p:txBody>
      </p:sp>
      <p:sp>
        <p:nvSpPr>
          <p:cNvPr id="16" name="Text 12"/>
          <p:cNvSpPr/>
          <p:nvPr/>
        </p:nvSpPr>
        <p:spPr>
          <a:xfrm>
            <a:off x="7468969" y="2737396"/>
            <a:ext cx="989231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7666815" y="2873127"/>
            <a:ext cx="791385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609"/>
              </a:lnSpc>
              <a:buNone/>
            </a:pPr>
            <a:r>
              <a:rPr lang="en-US" sz="1463" b="1" spc="-15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Scale.</a:t>
            </a:r>
            <a:endParaRPr lang="en-US" sz="1463" dirty="0"/>
          </a:p>
        </p:txBody>
      </p:sp>
      <p:sp>
        <p:nvSpPr>
          <p:cNvPr id="18" name="Shape 1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4350" y="4754166"/>
            <a:ext cx="33608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889437" y="4750594"/>
            <a:ext cx="29108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145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2026-10-01T09:05:09Z</dcterms:created>
  <dcterms:modified xsi:type="dcterms:W3CDTF">2026-10-01T09:05:09Z</dcterms:modified>
</cp:coreProperties>
</file>