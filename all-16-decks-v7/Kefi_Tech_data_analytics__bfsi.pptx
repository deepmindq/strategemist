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-171450"/>
            <a:ext cx="42863" cy="5143500"/>
          </a:xfrm>
          <a:prstGeom prst="rect">
            <a:avLst/>
          </a:prstGeom>
        </p:spPr>
      </p:pic>
      <p:pic>
        <p:nvPicPr>
          <p:cNvPr id="3" name="Image 1" descr="/tmp/h2p-fit-1790845402100-bfx3cv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950" y="285750"/>
            <a:ext cx="1857375" cy="30215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417208" y="400050"/>
            <a:ext cx="229956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87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KEFI TECH · BFSI &amp; INSURANCE · 2026</a:t>
            </a:r>
            <a:endParaRPr lang="en-US" sz="800" dirty="0"/>
          </a:p>
        </p:txBody>
      </p:sp>
      <p:sp>
        <p:nvSpPr>
          <p:cNvPr id="5" name="Text 1"/>
          <p:cNvSpPr/>
          <p:nvPr/>
        </p:nvSpPr>
        <p:spPr>
          <a:xfrm>
            <a:off x="742950" y="1514475"/>
            <a:ext cx="631737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 · BFSI &amp; INSURANCE</a:t>
            </a:r>
            <a:endParaRPr lang="en-US" sz="800" dirty="0"/>
          </a:p>
        </p:txBody>
      </p:sp>
      <p:sp>
        <p:nvSpPr>
          <p:cNvPr id="6" name="Text 2"/>
          <p:cNvSpPr/>
          <p:nvPr/>
        </p:nvSpPr>
        <p:spPr>
          <a:xfrm>
            <a:off x="742950" y="1760934"/>
            <a:ext cx="5429250" cy="9325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80"/>
              </a:lnSpc>
              <a:buNone/>
            </a:pPr>
            <a:r>
              <a:rPr lang="en-US" sz="3600" b="1" spc="-126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 Analytics &amp; Data Engineering</a:t>
            </a:r>
            <a:endParaRPr lang="en-US" sz="3600" dirty="0"/>
          </a:p>
        </p:txBody>
      </p:sp>
      <p:sp>
        <p:nvSpPr>
          <p:cNvPr id="7" name="Text 3"/>
          <p:cNvSpPr/>
          <p:nvPr/>
        </p:nvSpPr>
        <p:spPr>
          <a:xfrm>
            <a:off x="742950" y="2720876"/>
            <a:ext cx="5700713" cy="518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780"/>
              </a:lnSpc>
              <a:buNone/>
            </a:pPr>
            <a:r>
              <a:rPr lang="en-US" sz="3600" b="1" spc="-126" kern="0" dirty="0">
                <a:solidFill>
                  <a:srgbClr val="FF6C0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for BFSI &amp; Insurance.</a:t>
            </a:r>
            <a:endParaRPr lang="en-US" sz="3600" dirty="0"/>
          </a:p>
        </p:txBody>
      </p:sp>
      <p:sp>
        <p:nvSpPr>
          <p:cNvPr id="8" name="Text 4"/>
          <p:cNvSpPr/>
          <p:nvPr/>
        </p:nvSpPr>
        <p:spPr>
          <a:xfrm>
            <a:off x="742950" y="3400871"/>
            <a:ext cx="342900" cy="21431"/>
          </a:xfrm>
          <a:prstGeom prst="roundRect">
            <a:avLst>
              <a:gd name="adj" fmla="val 88890"/>
            </a:avLst>
          </a:prstGeom>
          <a:solidFill>
            <a:srgbClr val="FF6C0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5"/>
          <p:cNvSpPr/>
          <p:nvPr/>
        </p:nvSpPr>
        <p:spPr>
          <a:xfrm>
            <a:off x="742950" y="3579465"/>
            <a:ext cx="4857750" cy="492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94"/>
              </a:lnSpc>
              <a:buNone/>
            </a:pPr>
            <a:r>
              <a:rPr lang="en-US" sz="1238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deep-tech capability brief on Kefi Tech Data Analytics &amp; Data Engineering Services for BFSI &amp; Insurance.</a:t>
            </a:r>
            <a:endParaRPr lang="en-US" sz="1238" dirty="0"/>
          </a:p>
        </p:txBody>
      </p:sp>
      <p:sp>
        <p:nvSpPr>
          <p:cNvPr id="10" name="Text 6"/>
          <p:cNvSpPr/>
          <p:nvPr/>
        </p:nvSpPr>
        <p:spPr>
          <a:xfrm>
            <a:off x="6300006" y="1743075"/>
            <a:ext cx="7144" cy="2143125"/>
          </a:xfrm>
          <a:prstGeom prst="rect">
            <a:avLst/>
          </a:prstGeom>
          <a:solidFill>
            <a:srgbClr val="94A3B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7"/>
          <p:cNvSpPr/>
          <p:nvPr/>
        </p:nvSpPr>
        <p:spPr>
          <a:xfrm>
            <a:off x="6478600" y="1785938"/>
            <a:ext cx="2137968" cy="1535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4"/>
              </a:lnSpc>
              <a:buNone/>
            </a:pPr>
            <a:r>
              <a:rPr lang="en-US" sz="800" spc="29" kern="0" dirty="0">
                <a:solidFill>
                  <a:srgbClr val="FF6C0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pPr algn="l" indent="0" marL="0">
              <a:lnSpc>
                <a:spcPts val="1024"/>
              </a:lnSpc>
              <a:buNone/>
            </a:pPr>
            <a:r>
              <a:rPr lang="en-US" sz="800" spc="29" kern="0" dirty="0">
                <a:solidFill>
                  <a:srgbClr val="004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Strategy &amp; Governance</a:t>
            </a:r>
            <a:endParaRPr lang="en-US" sz="800" dirty="0"/>
          </a:p>
        </p:txBody>
      </p:sp>
      <p:sp>
        <p:nvSpPr>
          <p:cNvPr id="12" name="Text 8"/>
          <p:cNvSpPr/>
          <p:nvPr/>
        </p:nvSpPr>
        <p:spPr>
          <a:xfrm>
            <a:off x="6478600" y="2144464"/>
            <a:ext cx="2137968" cy="1535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4"/>
              </a:lnSpc>
              <a:buNone/>
            </a:pPr>
            <a:r>
              <a:rPr lang="en-US" sz="800" spc="29" kern="0" dirty="0">
                <a:solidFill>
                  <a:srgbClr val="FF6C0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pPr algn="l" indent="0" marL="0">
              <a:lnSpc>
                <a:spcPts val="1024"/>
              </a:lnSpc>
              <a:buNone/>
            </a:pPr>
            <a:r>
              <a:rPr lang="en-US" sz="800" spc="29" kern="0" dirty="0">
                <a:solidFill>
                  <a:srgbClr val="004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Engineering &amp; Integration</a:t>
            </a:r>
            <a:endParaRPr lang="en-US" sz="800" dirty="0"/>
          </a:p>
        </p:txBody>
      </p:sp>
      <p:sp>
        <p:nvSpPr>
          <p:cNvPr id="13" name="Text 9"/>
          <p:cNvSpPr/>
          <p:nvPr/>
        </p:nvSpPr>
        <p:spPr>
          <a:xfrm>
            <a:off x="6478600" y="2502991"/>
            <a:ext cx="2137968" cy="1535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4"/>
              </a:lnSpc>
              <a:buNone/>
            </a:pPr>
            <a:r>
              <a:rPr lang="en-US" sz="800" spc="29" kern="0" dirty="0">
                <a:solidFill>
                  <a:srgbClr val="FF6C0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pPr algn="l" indent="0" marL="0">
              <a:lnSpc>
                <a:spcPts val="1024"/>
              </a:lnSpc>
              <a:buNone/>
            </a:pPr>
            <a:r>
              <a:rPr lang="en-US" sz="800" spc="29" kern="0" dirty="0">
                <a:solidFill>
                  <a:srgbClr val="004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Platforms &amp; Modernization</a:t>
            </a:r>
            <a:endParaRPr lang="en-US" sz="800" dirty="0"/>
          </a:p>
        </p:txBody>
      </p:sp>
      <p:sp>
        <p:nvSpPr>
          <p:cNvPr id="14" name="Shape 10"/>
          <p:cNvSpPr/>
          <p:nvPr/>
        </p:nvSpPr>
        <p:spPr>
          <a:xfrm>
            <a:off x="514350" y="447555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514350" y="4582716"/>
            <a:ext cx="5604272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16" name="Text 12"/>
          <p:cNvSpPr/>
          <p:nvPr/>
        </p:nvSpPr>
        <p:spPr>
          <a:xfrm>
            <a:off x="6132909" y="4579144"/>
            <a:ext cx="2496741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01 / 12 · DATA ANALYTICS AND DATA ENGINEERING SERVICES</a:t>
            </a:r>
            <a:endParaRPr lang="en-US" sz="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-171450"/>
            <a:ext cx="21431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192881"/>
            <a:ext cx="1154710" cy="11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514350" y="542925"/>
            <a:ext cx="8629650" cy="1618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 CONTEXT · BFSI &amp; INSURANCE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514350" y="732234"/>
            <a:ext cx="8629650" cy="5177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1"/>
              </a:lnSpc>
              <a:buNone/>
            </a:pPr>
            <a:r>
              <a:rPr lang="en-US" sz="1575" b="1" spc="-24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BFSI &amp; Insurance operates in a regulated, document-intensive, high-stakes environment.</a:t>
            </a:r>
            <a:endParaRPr lang="en-US" sz="1575" dirty="0"/>
          </a:p>
        </p:txBody>
      </p:sp>
      <p:sp>
        <p:nvSpPr>
          <p:cNvPr id="6" name="Text 3"/>
          <p:cNvSpPr/>
          <p:nvPr/>
        </p:nvSpPr>
        <p:spPr>
          <a:xfrm>
            <a:off x="514350" y="1277392"/>
            <a:ext cx="65722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Customer trust, regulatory compliance, transaction integrity and operational resilience define competitive position.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517922" y="1588145"/>
            <a:ext cx="4361929" cy="2707481"/>
          </a:xfrm>
          <a:prstGeom prst="roundRect">
            <a:avLst>
              <a:gd name="adj" fmla="val 4222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692944" y="1748879"/>
            <a:ext cx="412161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WHY BFSI &amp; INSURANCE NEEDS THIS NOW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696516" y="1970336"/>
            <a:ext cx="4004742" cy="421370"/>
          </a:xfrm>
          <a:prstGeom prst="roundRect">
            <a:avLst>
              <a:gd name="adj" fmla="val 27126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800100" y="2059632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↗</a:t>
            </a:r>
            <a:endParaRPr lang="en-US" sz="1406" dirty="0"/>
          </a:p>
        </p:txBody>
      </p:sp>
      <p:sp>
        <p:nvSpPr>
          <p:cNvPr id="11" name="Text 8"/>
          <p:cNvSpPr/>
          <p:nvPr/>
        </p:nvSpPr>
        <p:spPr>
          <a:xfrm>
            <a:off x="1028700" y="2059632"/>
            <a:ext cx="3678701" cy="1053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77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Digital transformation pressure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1028700" y="2192462"/>
            <a:ext cx="3568973" cy="1099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Enterprise digital adoption accelerating across the industry.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696516" y="2470286"/>
            <a:ext cx="4004742" cy="421370"/>
          </a:xfrm>
          <a:prstGeom prst="roundRect">
            <a:avLst>
              <a:gd name="adj" fmla="val 27126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800100" y="2559583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⛨</a:t>
            </a:r>
            <a:endParaRPr lang="en-US" sz="1406" dirty="0"/>
          </a:p>
        </p:txBody>
      </p:sp>
      <p:sp>
        <p:nvSpPr>
          <p:cNvPr id="15" name="Text 12"/>
          <p:cNvSpPr/>
          <p:nvPr/>
        </p:nvSpPr>
        <p:spPr>
          <a:xfrm>
            <a:off x="1028700" y="2559583"/>
            <a:ext cx="3678701" cy="1053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77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Regulatory &amp; compliance demands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1028700" y="2692412"/>
            <a:ext cx="3568973" cy="1099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619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Industry-specific regulations require continuous compliance technology.</a:t>
            </a:r>
            <a:endParaRPr lang="en-US" sz="619" dirty="0"/>
          </a:p>
        </p:txBody>
      </p:sp>
      <p:sp>
        <p:nvSpPr>
          <p:cNvPr id="17" name="Text 14"/>
          <p:cNvSpPr/>
          <p:nvPr/>
        </p:nvSpPr>
        <p:spPr>
          <a:xfrm>
            <a:off x="696516" y="2970237"/>
            <a:ext cx="4004742" cy="421370"/>
          </a:xfrm>
          <a:prstGeom prst="roundRect">
            <a:avLst>
              <a:gd name="adj" fmla="val 27126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800100" y="3059534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406" dirty="0"/>
          </a:p>
        </p:txBody>
      </p:sp>
      <p:sp>
        <p:nvSpPr>
          <p:cNvPr id="19" name="Text 16"/>
          <p:cNvSpPr/>
          <p:nvPr/>
        </p:nvSpPr>
        <p:spPr>
          <a:xfrm>
            <a:off x="1028700" y="3059534"/>
            <a:ext cx="3678701" cy="1053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77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Operational efficiency mandate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1028700" y="3192363"/>
            <a:ext cx="3568973" cy="1099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619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Cost-to-serve reduction while maintaining quality and resilience.</a:t>
            </a:r>
            <a:endParaRPr lang="en-US" sz="619" dirty="0"/>
          </a:p>
        </p:txBody>
      </p:sp>
      <p:sp>
        <p:nvSpPr>
          <p:cNvPr id="21" name="Text 18"/>
          <p:cNvSpPr/>
          <p:nvPr/>
        </p:nvSpPr>
        <p:spPr>
          <a:xfrm>
            <a:off x="696516" y="3470188"/>
            <a:ext cx="4004742" cy="421370"/>
          </a:xfrm>
          <a:prstGeom prst="roundRect">
            <a:avLst>
              <a:gd name="adj" fmla="val 27126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19"/>
          <p:cNvSpPr/>
          <p:nvPr/>
        </p:nvSpPr>
        <p:spPr>
          <a:xfrm>
            <a:off x="800100" y="3559485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♟</a:t>
            </a:r>
            <a:endParaRPr lang="en-US" sz="1406" dirty="0"/>
          </a:p>
        </p:txBody>
      </p:sp>
      <p:sp>
        <p:nvSpPr>
          <p:cNvPr id="23" name="Text 20"/>
          <p:cNvSpPr/>
          <p:nvPr/>
        </p:nvSpPr>
        <p:spPr>
          <a:xfrm>
            <a:off x="1028700" y="3559485"/>
            <a:ext cx="3678701" cy="1053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77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Customer &amp; employee expectations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1028700" y="3692314"/>
            <a:ext cx="3568973" cy="1099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619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Modern digital experiences are now table stakes, not differentiation.</a:t>
            </a:r>
            <a:endParaRPr lang="en-US" sz="619" dirty="0"/>
          </a:p>
        </p:txBody>
      </p:sp>
      <p:sp>
        <p:nvSpPr>
          <p:cNvPr id="25" name="Text 22"/>
          <p:cNvSpPr/>
          <p:nvPr/>
        </p:nvSpPr>
        <p:spPr>
          <a:xfrm>
            <a:off x="5058445" y="1588145"/>
            <a:ext cx="3567522" cy="2707481"/>
          </a:xfrm>
          <a:prstGeom prst="roundRect">
            <a:avLst>
              <a:gd name="adj" fmla="val 4222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3"/>
          <p:cNvSpPr/>
          <p:nvPr/>
        </p:nvSpPr>
        <p:spPr>
          <a:xfrm>
            <a:off x="5233467" y="1748879"/>
            <a:ext cx="3217478" cy="3083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D43F0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WHAT THIS MEANS FOR DATA ANALYTICS &amp; DATA ENGINEERING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5233467" y="2084636"/>
            <a:ext cx="3217478" cy="18513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24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 Analytics &amp; Data Engineering applied to bfsi &amp; insurance requires industry-specific capability, not generic technology. The right approach connects data analytics &amp; data engineering to the regulatory, operational and customer realities that define bfsi &amp; insurance.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5233467" y="3999161"/>
            <a:ext cx="1477194" cy="128588"/>
          </a:xfrm>
          <a:prstGeom prst="roundRect">
            <a:avLst>
              <a:gd name="adj" fmla="val 29630"/>
            </a:avLst>
          </a:prstGeom>
          <a:solidFill>
            <a:srgbClr val="004C9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6"/>
          <p:cNvSpPr/>
          <p:nvPr/>
        </p:nvSpPr>
        <p:spPr>
          <a:xfrm>
            <a:off x="5233467" y="3999161"/>
            <a:ext cx="1477194" cy="135731"/>
          </a:xfrm>
          <a:prstGeom prst="rect">
            <a:avLst/>
          </a:prstGeom>
          <a:noFill/>
          <a:ln/>
        </p:spPr>
        <p:txBody>
          <a:bodyPr wrap="none" lIns="57150" tIns="21431" rIns="57150" bIns="21431" rtlCol="0" anchor="t"/>
          <a:lstStyle/>
          <a:p>
            <a:pPr algn="l" indent="0" marL="0">
              <a:lnSpc>
                <a:spcPts val="675"/>
              </a:lnSpc>
              <a:buNone/>
            </a:pPr>
            <a:r>
              <a:rPr lang="en-US" sz="600" spc="34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INDUSTRY-SPECIFIC APPROACH</a:t>
            </a:r>
            <a:endParaRPr lang="en-US" sz="600" dirty="0"/>
          </a:p>
        </p:txBody>
      </p:sp>
      <p:sp>
        <p:nvSpPr>
          <p:cNvPr id="30" name="Shape 27"/>
          <p:cNvSpPr/>
          <p:nvPr/>
        </p:nvSpPr>
        <p:spPr>
          <a:xfrm>
            <a:off x="514350" y="447555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14350" y="4582716"/>
            <a:ext cx="3682268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32" name="Text 29"/>
          <p:cNvSpPr/>
          <p:nvPr/>
        </p:nvSpPr>
        <p:spPr>
          <a:xfrm>
            <a:off x="4210906" y="4579144"/>
            <a:ext cx="3232324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 / 12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7457517" y="4579144"/>
            <a:ext cx="1172133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BFSI &amp; INSURANCE CONTEXT</a:t>
            </a:r>
            <a:endParaRPr lang="en-US" sz="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-171450"/>
            <a:ext cx="21431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192881"/>
            <a:ext cx="1154710" cy="11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514350" y="542925"/>
            <a:ext cx="8629650" cy="1618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CAPABILITIES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514350" y="732234"/>
            <a:ext cx="8629650" cy="2635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1"/>
              </a:lnSpc>
              <a:buNone/>
            </a:pPr>
            <a:r>
              <a:rPr lang="en-US" sz="1575" b="1" spc="-24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 Analytics &amp; Data Engineering across the complete lifecycle.</a:t>
            </a:r>
            <a:endParaRPr lang="en-US" sz="1575" dirty="0"/>
          </a:p>
        </p:txBody>
      </p:sp>
      <p:sp>
        <p:nvSpPr>
          <p:cNvPr id="6" name="Text 3"/>
          <p:cNvSpPr/>
          <p:nvPr/>
        </p:nvSpPr>
        <p:spPr>
          <a:xfrm>
            <a:off x="514350" y="1033388"/>
            <a:ext cx="86296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Six capability pillars for bfsi &amp; insurance.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517922" y="1329854"/>
            <a:ext cx="1850231" cy="550069"/>
          </a:xfrm>
          <a:prstGeom prst="roundRect">
            <a:avLst>
              <a:gd name="adj" fmla="val 20779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650081" y="1519163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◆</a:t>
            </a:r>
            <a:endParaRPr lang="en-US" sz="1688" dirty="0"/>
          </a:p>
        </p:txBody>
      </p:sp>
      <p:sp>
        <p:nvSpPr>
          <p:cNvPr id="9" name="Text 6"/>
          <p:cNvSpPr/>
          <p:nvPr/>
        </p:nvSpPr>
        <p:spPr>
          <a:xfrm>
            <a:off x="907256" y="1489472"/>
            <a:ext cx="773533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spc="51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STAGE 01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907256" y="1600200"/>
            <a:ext cx="737092" cy="131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STRATEGY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2371725" y="1490588"/>
            <a:ext cx="22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38" b="1" dirty="0">
                <a:solidFill>
                  <a:srgbClr val="FF6C0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►</a:t>
            </a:r>
            <a:endParaRPr lang="en-US" sz="1238" dirty="0"/>
          </a:p>
        </p:txBody>
      </p:sp>
      <p:sp>
        <p:nvSpPr>
          <p:cNvPr id="12" name="Text 9"/>
          <p:cNvSpPr/>
          <p:nvPr/>
        </p:nvSpPr>
        <p:spPr>
          <a:xfrm>
            <a:off x="2603897" y="1329854"/>
            <a:ext cx="1850231" cy="550069"/>
          </a:xfrm>
          <a:prstGeom prst="roundRect">
            <a:avLst>
              <a:gd name="adj" fmla="val 20779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2736056" y="1519163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⚒</a:t>
            </a:r>
            <a:endParaRPr lang="en-US" sz="1688" dirty="0"/>
          </a:p>
        </p:txBody>
      </p:sp>
      <p:sp>
        <p:nvSpPr>
          <p:cNvPr id="14" name="Text 11"/>
          <p:cNvSpPr/>
          <p:nvPr/>
        </p:nvSpPr>
        <p:spPr>
          <a:xfrm>
            <a:off x="2993231" y="1489472"/>
            <a:ext cx="485201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600" spc="51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STAGE 02</a:t>
            </a:r>
            <a:endParaRPr lang="en-US" sz="600" dirty="0"/>
          </a:p>
        </p:txBody>
      </p:sp>
      <p:sp>
        <p:nvSpPr>
          <p:cNvPr id="15" name="Text 12"/>
          <p:cNvSpPr/>
          <p:nvPr/>
        </p:nvSpPr>
        <p:spPr>
          <a:xfrm>
            <a:off x="2993231" y="1600200"/>
            <a:ext cx="570705" cy="131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BUILD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4457700" y="1490588"/>
            <a:ext cx="22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38" b="1" dirty="0">
                <a:solidFill>
                  <a:srgbClr val="FF6C0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►</a:t>
            </a:r>
            <a:endParaRPr lang="en-US" sz="1238" dirty="0"/>
          </a:p>
        </p:txBody>
      </p:sp>
      <p:sp>
        <p:nvSpPr>
          <p:cNvPr id="17" name="Text 14"/>
          <p:cNvSpPr/>
          <p:nvPr/>
        </p:nvSpPr>
        <p:spPr>
          <a:xfrm>
            <a:off x="4689872" y="1329854"/>
            <a:ext cx="1850231" cy="550069"/>
          </a:xfrm>
          <a:prstGeom prst="roundRect">
            <a:avLst>
              <a:gd name="adj" fmla="val 20779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4822031" y="1519163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688" dirty="0"/>
          </a:p>
        </p:txBody>
      </p:sp>
      <p:sp>
        <p:nvSpPr>
          <p:cNvPr id="19" name="Text 16"/>
          <p:cNvSpPr/>
          <p:nvPr/>
        </p:nvSpPr>
        <p:spPr>
          <a:xfrm>
            <a:off x="5079206" y="1489472"/>
            <a:ext cx="836507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spc="51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STAGE 03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5079206" y="1600200"/>
            <a:ext cx="797100" cy="131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INTEGRATE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6543675" y="1490588"/>
            <a:ext cx="22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38" b="1" dirty="0">
                <a:solidFill>
                  <a:srgbClr val="FF6C0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►</a:t>
            </a:r>
            <a:endParaRPr lang="en-US" sz="1238" dirty="0"/>
          </a:p>
        </p:txBody>
      </p:sp>
      <p:sp>
        <p:nvSpPr>
          <p:cNvPr id="22" name="Text 19"/>
          <p:cNvSpPr/>
          <p:nvPr/>
        </p:nvSpPr>
        <p:spPr>
          <a:xfrm>
            <a:off x="6775847" y="1329854"/>
            <a:ext cx="1850231" cy="550069"/>
          </a:xfrm>
          <a:prstGeom prst="roundRect">
            <a:avLst>
              <a:gd name="adj" fmla="val 20779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0"/>
          <p:cNvSpPr/>
          <p:nvPr/>
        </p:nvSpPr>
        <p:spPr>
          <a:xfrm>
            <a:off x="6908006" y="1519163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⌇</a:t>
            </a:r>
            <a:endParaRPr lang="en-US" sz="1688" dirty="0"/>
          </a:p>
        </p:txBody>
      </p:sp>
      <p:sp>
        <p:nvSpPr>
          <p:cNvPr id="24" name="Text 21"/>
          <p:cNvSpPr/>
          <p:nvPr/>
        </p:nvSpPr>
        <p:spPr>
          <a:xfrm>
            <a:off x="7165181" y="1489472"/>
            <a:ext cx="684919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spc="51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STAGE 04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7165181" y="1600200"/>
            <a:ext cx="652653" cy="131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OPERATE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517922" y="2015654"/>
            <a:ext cx="2640732" cy="864394"/>
          </a:xfrm>
          <a:prstGeom prst="roundRect">
            <a:avLst>
              <a:gd name="adj" fmla="val 13223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4"/>
          <p:cNvSpPr/>
          <p:nvPr/>
        </p:nvSpPr>
        <p:spPr>
          <a:xfrm>
            <a:off x="635794" y="2119238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◆</a:t>
            </a:r>
            <a:endParaRPr lang="en-US" sz="1688" dirty="0"/>
          </a:p>
        </p:txBody>
      </p:sp>
      <p:sp>
        <p:nvSpPr>
          <p:cNvPr id="28" name="Text 25"/>
          <p:cNvSpPr/>
          <p:nvPr/>
        </p:nvSpPr>
        <p:spPr>
          <a:xfrm>
            <a:off x="2896926" y="2135312"/>
            <a:ext cx="16839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731" spc="29" kern="0" dirty="0">
                <a:solidFill>
                  <a:srgbClr val="FF6C0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731" dirty="0"/>
          </a:p>
        </p:txBody>
      </p:sp>
      <p:sp>
        <p:nvSpPr>
          <p:cNvPr id="29" name="Text 26"/>
          <p:cNvSpPr/>
          <p:nvPr/>
        </p:nvSpPr>
        <p:spPr>
          <a:xfrm>
            <a:off x="635794" y="2333551"/>
            <a:ext cx="2514716" cy="1316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 Strategy &amp; Governance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635794" y="2496406"/>
            <a:ext cx="2404988" cy="2800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7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 strategy, governance, lineage, MDM aligned to industry regulations.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3251522" y="2015654"/>
            <a:ext cx="2640843" cy="864394"/>
          </a:xfrm>
          <a:prstGeom prst="roundRect">
            <a:avLst>
              <a:gd name="adj" fmla="val 13223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29"/>
          <p:cNvSpPr/>
          <p:nvPr/>
        </p:nvSpPr>
        <p:spPr>
          <a:xfrm>
            <a:off x="3369394" y="2119238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688" dirty="0"/>
          </a:p>
        </p:txBody>
      </p:sp>
      <p:sp>
        <p:nvSpPr>
          <p:cNvPr id="33" name="Text 30"/>
          <p:cNvSpPr/>
          <p:nvPr/>
        </p:nvSpPr>
        <p:spPr>
          <a:xfrm>
            <a:off x="5630638" y="2135312"/>
            <a:ext cx="16839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731" spc="29" kern="0" dirty="0">
                <a:solidFill>
                  <a:srgbClr val="FF6C0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731" dirty="0"/>
          </a:p>
        </p:txBody>
      </p:sp>
      <p:sp>
        <p:nvSpPr>
          <p:cNvPr id="34" name="Text 31"/>
          <p:cNvSpPr/>
          <p:nvPr/>
        </p:nvSpPr>
        <p:spPr>
          <a:xfrm>
            <a:off x="3369394" y="2333551"/>
            <a:ext cx="2514828" cy="1316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 Engineering &amp; Integration</a:t>
            </a:r>
            <a:endParaRPr lang="en-US" sz="800" dirty="0"/>
          </a:p>
        </p:txBody>
      </p:sp>
      <p:sp>
        <p:nvSpPr>
          <p:cNvPr id="35" name="Text 32"/>
          <p:cNvSpPr/>
          <p:nvPr/>
        </p:nvSpPr>
        <p:spPr>
          <a:xfrm>
            <a:off x="3369394" y="2496406"/>
            <a:ext cx="2405100" cy="2800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7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Real-time pipelines, ETL/ELT, API integration, streaming ingestion.</a:t>
            </a:r>
            <a:endParaRPr lang="en-US" sz="800" dirty="0"/>
          </a:p>
        </p:txBody>
      </p:sp>
      <p:sp>
        <p:nvSpPr>
          <p:cNvPr id="36" name="Text 33"/>
          <p:cNvSpPr/>
          <p:nvPr/>
        </p:nvSpPr>
        <p:spPr>
          <a:xfrm>
            <a:off x="5985235" y="2015654"/>
            <a:ext cx="2640732" cy="864394"/>
          </a:xfrm>
          <a:prstGeom prst="roundRect">
            <a:avLst>
              <a:gd name="adj" fmla="val 13223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4"/>
          <p:cNvSpPr/>
          <p:nvPr/>
        </p:nvSpPr>
        <p:spPr>
          <a:xfrm>
            <a:off x="6103107" y="2119238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☁</a:t>
            </a:r>
            <a:endParaRPr lang="en-US" sz="1688" dirty="0"/>
          </a:p>
        </p:txBody>
      </p:sp>
      <p:sp>
        <p:nvSpPr>
          <p:cNvPr id="38" name="Text 35"/>
          <p:cNvSpPr/>
          <p:nvPr/>
        </p:nvSpPr>
        <p:spPr>
          <a:xfrm>
            <a:off x="8364238" y="2135312"/>
            <a:ext cx="16839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731" spc="29" kern="0" dirty="0">
                <a:solidFill>
                  <a:srgbClr val="FF6C0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731" dirty="0"/>
          </a:p>
        </p:txBody>
      </p:sp>
      <p:sp>
        <p:nvSpPr>
          <p:cNvPr id="39" name="Text 36"/>
          <p:cNvSpPr/>
          <p:nvPr/>
        </p:nvSpPr>
        <p:spPr>
          <a:xfrm>
            <a:off x="6103107" y="2333551"/>
            <a:ext cx="2514716" cy="1316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 Platforms &amp; Modernization</a:t>
            </a:r>
            <a:endParaRPr lang="en-US" sz="800" dirty="0"/>
          </a:p>
        </p:txBody>
      </p:sp>
      <p:sp>
        <p:nvSpPr>
          <p:cNvPr id="40" name="Text 37"/>
          <p:cNvSpPr/>
          <p:nvPr/>
        </p:nvSpPr>
        <p:spPr>
          <a:xfrm>
            <a:off x="6103107" y="2496406"/>
            <a:ext cx="2404988" cy="2800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7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Lakehouse, warehouse, cloud platforms, legacy modernization.</a:t>
            </a:r>
            <a:endParaRPr lang="en-US" sz="800" dirty="0"/>
          </a:p>
        </p:txBody>
      </p:sp>
      <p:sp>
        <p:nvSpPr>
          <p:cNvPr id="41" name="Text 38"/>
          <p:cNvSpPr/>
          <p:nvPr/>
        </p:nvSpPr>
        <p:spPr>
          <a:xfrm>
            <a:off x="517922" y="2972916"/>
            <a:ext cx="2640732" cy="864394"/>
          </a:xfrm>
          <a:prstGeom prst="roundRect">
            <a:avLst>
              <a:gd name="adj" fmla="val 13223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39"/>
          <p:cNvSpPr/>
          <p:nvPr/>
        </p:nvSpPr>
        <p:spPr>
          <a:xfrm>
            <a:off x="635794" y="3076501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688" dirty="0"/>
          </a:p>
        </p:txBody>
      </p:sp>
      <p:sp>
        <p:nvSpPr>
          <p:cNvPr id="43" name="Text 40"/>
          <p:cNvSpPr/>
          <p:nvPr/>
        </p:nvSpPr>
        <p:spPr>
          <a:xfrm>
            <a:off x="2896926" y="3092574"/>
            <a:ext cx="16839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731" spc="29" kern="0" dirty="0">
                <a:solidFill>
                  <a:srgbClr val="FF6C0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731" dirty="0"/>
          </a:p>
        </p:txBody>
      </p:sp>
      <p:sp>
        <p:nvSpPr>
          <p:cNvPr id="44" name="Text 41"/>
          <p:cNvSpPr/>
          <p:nvPr/>
        </p:nvSpPr>
        <p:spPr>
          <a:xfrm>
            <a:off x="635794" y="3290813"/>
            <a:ext cx="2514716" cy="1316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BI &amp; Decision Intelligence</a:t>
            </a:r>
            <a:endParaRPr lang="en-US" sz="800" dirty="0"/>
          </a:p>
        </p:txBody>
      </p:sp>
      <p:sp>
        <p:nvSpPr>
          <p:cNvPr id="45" name="Text 42"/>
          <p:cNvSpPr/>
          <p:nvPr/>
        </p:nvSpPr>
        <p:spPr>
          <a:xfrm>
            <a:off x="635794" y="3453668"/>
            <a:ext cx="2404988" cy="2800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7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Dashboards, self-service BI, executive analytics, regulatory reporting.</a:t>
            </a:r>
            <a:endParaRPr lang="en-US" sz="800" dirty="0"/>
          </a:p>
        </p:txBody>
      </p:sp>
      <p:sp>
        <p:nvSpPr>
          <p:cNvPr id="46" name="Text 43"/>
          <p:cNvSpPr/>
          <p:nvPr/>
        </p:nvSpPr>
        <p:spPr>
          <a:xfrm>
            <a:off x="3251522" y="2972916"/>
            <a:ext cx="2640843" cy="864394"/>
          </a:xfrm>
          <a:prstGeom prst="roundRect">
            <a:avLst>
              <a:gd name="adj" fmla="val 13223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4"/>
          <p:cNvSpPr/>
          <p:nvPr/>
        </p:nvSpPr>
        <p:spPr>
          <a:xfrm>
            <a:off x="3369394" y="3076501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⚗</a:t>
            </a:r>
            <a:endParaRPr lang="en-US" sz="1688" dirty="0"/>
          </a:p>
        </p:txBody>
      </p:sp>
      <p:sp>
        <p:nvSpPr>
          <p:cNvPr id="48" name="Text 45"/>
          <p:cNvSpPr/>
          <p:nvPr/>
        </p:nvSpPr>
        <p:spPr>
          <a:xfrm>
            <a:off x="5630638" y="3092574"/>
            <a:ext cx="16839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731" spc="29" kern="0" dirty="0">
                <a:solidFill>
                  <a:srgbClr val="FF6C0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</a:t>
            </a:r>
            <a:endParaRPr lang="en-US" sz="731" dirty="0"/>
          </a:p>
        </p:txBody>
      </p:sp>
      <p:sp>
        <p:nvSpPr>
          <p:cNvPr id="49" name="Text 46"/>
          <p:cNvSpPr/>
          <p:nvPr/>
        </p:nvSpPr>
        <p:spPr>
          <a:xfrm>
            <a:off x="3369394" y="3290813"/>
            <a:ext cx="2514828" cy="1316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Advanced Analytics &amp; Data Science</a:t>
            </a:r>
            <a:endParaRPr lang="en-US" sz="800" dirty="0"/>
          </a:p>
        </p:txBody>
      </p:sp>
      <p:sp>
        <p:nvSpPr>
          <p:cNvPr id="50" name="Text 47"/>
          <p:cNvSpPr/>
          <p:nvPr/>
        </p:nvSpPr>
        <p:spPr>
          <a:xfrm>
            <a:off x="3369394" y="3453668"/>
            <a:ext cx="2405100" cy="2800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7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Predictive models, forecasting, optimisation, graph analytics.</a:t>
            </a:r>
            <a:endParaRPr lang="en-US" sz="800" dirty="0"/>
          </a:p>
        </p:txBody>
      </p:sp>
      <p:sp>
        <p:nvSpPr>
          <p:cNvPr id="51" name="Text 48"/>
          <p:cNvSpPr/>
          <p:nvPr/>
        </p:nvSpPr>
        <p:spPr>
          <a:xfrm>
            <a:off x="5985235" y="2972916"/>
            <a:ext cx="2640732" cy="864394"/>
          </a:xfrm>
          <a:prstGeom prst="roundRect">
            <a:avLst>
              <a:gd name="adj" fmla="val 13223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2" name="Text 49"/>
          <p:cNvSpPr/>
          <p:nvPr/>
        </p:nvSpPr>
        <p:spPr>
          <a:xfrm>
            <a:off x="6103107" y="3076501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688" dirty="0"/>
          </a:p>
        </p:txBody>
      </p:sp>
      <p:sp>
        <p:nvSpPr>
          <p:cNvPr id="53" name="Text 50"/>
          <p:cNvSpPr/>
          <p:nvPr/>
        </p:nvSpPr>
        <p:spPr>
          <a:xfrm>
            <a:off x="8364238" y="3092574"/>
            <a:ext cx="16839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731" spc="29" kern="0" dirty="0">
                <a:solidFill>
                  <a:srgbClr val="FF6C0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06</a:t>
            </a:r>
            <a:endParaRPr lang="en-US" sz="731" dirty="0"/>
          </a:p>
        </p:txBody>
      </p:sp>
      <p:sp>
        <p:nvSpPr>
          <p:cNvPr id="54" name="Text 51"/>
          <p:cNvSpPr/>
          <p:nvPr/>
        </p:nvSpPr>
        <p:spPr>
          <a:xfrm>
            <a:off x="6103107" y="3290813"/>
            <a:ext cx="2404988" cy="131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AI-Powered Analytics</a:t>
            </a:r>
            <a:endParaRPr lang="en-US" sz="800" dirty="0"/>
          </a:p>
        </p:txBody>
      </p:sp>
      <p:sp>
        <p:nvSpPr>
          <p:cNvPr id="55" name="Text 52"/>
          <p:cNvSpPr/>
          <p:nvPr/>
        </p:nvSpPr>
        <p:spPr>
          <a:xfrm>
            <a:off x="6103107" y="3453668"/>
            <a:ext cx="2404988" cy="2800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7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GenAI over enterprise data, conversational analytics, automated insights.</a:t>
            </a:r>
            <a:endParaRPr lang="en-US" sz="800" dirty="0"/>
          </a:p>
        </p:txBody>
      </p:sp>
      <p:sp>
        <p:nvSpPr>
          <p:cNvPr id="56" name="Shape 53"/>
          <p:cNvSpPr/>
          <p:nvPr/>
        </p:nvSpPr>
        <p:spPr>
          <a:xfrm>
            <a:off x="514350" y="447555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514350" y="4582716"/>
            <a:ext cx="3997821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58" name="Text 55"/>
          <p:cNvSpPr/>
          <p:nvPr/>
        </p:nvSpPr>
        <p:spPr>
          <a:xfrm>
            <a:off x="4526459" y="4579144"/>
            <a:ext cx="3547988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 / 12</a:t>
            </a:r>
            <a:endParaRPr lang="en-US" sz="800" dirty="0"/>
          </a:p>
        </p:txBody>
      </p:sp>
      <p:sp>
        <p:nvSpPr>
          <p:cNvPr id="59" name="Text 56"/>
          <p:cNvSpPr/>
          <p:nvPr/>
        </p:nvSpPr>
        <p:spPr>
          <a:xfrm>
            <a:off x="8011370" y="4579144"/>
            <a:ext cx="695645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CAPABILITIES</a:t>
            </a:r>
            <a:endParaRPr lang="en-US" sz="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-171450"/>
            <a:ext cx="21431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192881"/>
            <a:ext cx="1154710" cy="11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514350" y="542925"/>
            <a:ext cx="8629650" cy="1618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01 · BFSI &amp; INSURANCE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514350" y="732234"/>
            <a:ext cx="8629650" cy="2961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spc="-27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 Strategy &amp; Governance.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514350" y="1063637"/>
            <a:ext cx="81153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 strategy, governance, lineage, MDM aligned to industry regulations.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517922" y="1374391"/>
            <a:ext cx="4361929" cy="2850356"/>
          </a:xfrm>
          <a:prstGeom prst="roundRect">
            <a:avLst>
              <a:gd name="adj" fmla="val 4010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707231" y="1535125"/>
            <a:ext cx="398331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WHAT WE DO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707231" y="1753009"/>
            <a:ext cx="3983310" cy="21121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24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Our data strategy &amp; governance capability is engineered for bfsi &amp; insurance environments with real industry platforms and tools — not generic technology.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707231" y="3928281"/>
            <a:ext cx="1851906" cy="128588"/>
          </a:xfrm>
          <a:prstGeom prst="roundRect">
            <a:avLst>
              <a:gd name="adj" fmla="val 29630"/>
            </a:avLst>
          </a:prstGeom>
          <a:solidFill>
            <a:srgbClr val="004C9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707231" y="3928281"/>
            <a:ext cx="1851906" cy="135731"/>
          </a:xfrm>
          <a:prstGeom prst="rect">
            <a:avLst/>
          </a:prstGeom>
          <a:noFill/>
          <a:ln/>
        </p:spPr>
        <p:txBody>
          <a:bodyPr wrap="square" lIns="57150" tIns="21431" rIns="57150" bIns="21431" rtlCol="0" anchor="t"/>
          <a:lstStyle/>
          <a:p>
            <a:pPr algn="l" indent="0" marL="0">
              <a:lnSpc>
                <a:spcPts val="675"/>
              </a:lnSpc>
              <a:buNone/>
            </a:pPr>
            <a:r>
              <a:rPr lang="en-US" sz="600" spc="34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1 OF 6 · BFSI &amp; INSURANCE</a:t>
            </a:r>
            <a:endParaRPr lang="en-US" sz="600" dirty="0"/>
          </a:p>
        </p:txBody>
      </p:sp>
      <p:sp>
        <p:nvSpPr>
          <p:cNvPr id="12" name="Text 9"/>
          <p:cNvSpPr/>
          <p:nvPr/>
        </p:nvSpPr>
        <p:spPr>
          <a:xfrm>
            <a:off x="5058445" y="1374391"/>
            <a:ext cx="3567522" cy="2850356"/>
          </a:xfrm>
          <a:prstGeom prst="roundRect">
            <a:avLst>
              <a:gd name="adj" fmla="val 4010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5204892" y="1506550"/>
            <a:ext cx="327462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4C81B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SUB-SERVICES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5208463" y="1713719"/>
            <a:ext cx="3267484" cy="417128"/>
          </a:xfrm>
          <a:prstGeom prst="roundRect">
            <a:avLst>
              <a:gd name="adj" fmla="val 27402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5283473" y="1767297"/>
            <a:ext cx="205740" cy="174567"/>
          </a:xfrm>
          <a:prstGeom prst="rect">
            <a:avLst/>
          </a:prstGeom>
          <a:noFill/>
          <a:ln/>
        </p:spPr>
        <p:txBody>
          <a:bodyPr wrap="none" lIns="0" tIns="7144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5483498" y="1767297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◆</a:t>
            </a:r>
            <a:endParaRPr lang="en-US" sz="1266" dirty="0"/>
          </a:p>
        </p:txBody>
      </p:sp>
      <p:sp>
        <p:nvSpPr>
          <p:cNvPr id="17" name="Text 14"/>
          <p:cNvSpPr/>
          <p:nvPr/>
        </p:nvSpPr>
        <p:spPr>
          <a:xfrm>
            <a:off x="5683523" y="1767297"/>
            <a:ext cx="2717416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BCBS 239 Data Lineage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5683523" y="1884387"/>
            <a:ext cx="2717416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End-to-end lineage tracking from source systems to regulatory reports per Basel BCBS 239 principles — audit-ready for OCC/FRB.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5208463" y="2180853"/>
            <a:ext cx="3267484" cy="417128"/>
          </a:xfrm>
          <a:prstGeom prst="roundRect">
            <a:avLst>
              <a:gd name="adj" fmla="val 27402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5283473" y="2234431"/>
            <a:ext cx="205740" cy="174567"/>
          </a:xfrm>
          <a:prstGeom prst="rect">
            <a:avLst/>
          </a:prstGeom>
          <a:noFill/>
          <a:ln/>
        </p:spPr>
        <p:txBody>
          <a:bodyPr wrap="none" lIns="0" tIns="7144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5483498" y="2234431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◆</a:t>
            </a:r>
            <a:endParaRPr lang="en-US" sz="1266" dirty="0"/>
          </a:p>
        </p:txBody>
      </p:sp>
      <p:sp>
        <p:nvSpPr>
          <p:cNvPr id="22" name="Text 19"/>
          <p:cNvSpPr/>
          <p:nvPr/>
        </p:nvSpPr>
        <p:spPr>
          <a:xfrm>
            <a:off x="5683523" y="2234431"/>
            <a:ext cx="282714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Risk Data Governance (Collibra)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5683523" y="2351522"/>
            <a:ext cx="2717416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Governance framework for risk data via Collibra — completeness, accuracy, timeliness controls per SR 11-7.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5208463" y="2647987"/>
            <a:ext cx="3267484" cy="417128"/>
          </a:xfrm>
          <a:prstGeom prst="roundRect">
            <a:avLst>
              <a:gd name="adj" fmla="val 27402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2"/>
          <p:cNvSpPr/>
          <p:nvPr/>
        </p:nvSpPr>
        <p:spPr>
          <a:xfrm>
            <a:off x="5283473" y="2701565"/>
            <a:ext cx="205740" cy="174567"/>
          </a:xfrm>
          <a:prstGeom prst="rect">
            <a:avLst/>
          </a:prstGeom>
          <a:noFill/>
          <a:ln/>
        </p:spPr>
        <p:txBody>
          <a:bodyPr wrap="none" lIns="0" tIns="7144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5483498" y="2701565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◆</a:t>
            </a:r>
            <a:endParaRPr lang="en-US" sz="1266" dirty="0"/>
          </a:p>
        </p:txBody>
      </p:sp>
      <p:sp>
        <p:nvSpPr>
          <p:cNvPr id="27" name="Text 24"/>
          <p:cNvSpPr/>
          <p:nvPr/>
        </p:nvSpPr>
        <p:spPr>
          <a:xfrm>
            <a:off x="5683523" y="2701565"/>
            <a:ext cx="282714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Customer MDM (Informatica)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5683523" y="2818656"/>
            <a:ext cx="2717416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Master data management for customer records across banking (Finacle), insurance (Guidewire), and wealth (Fiserv) channels.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5208463" y="3115121"/>
            <a:ext cx="3267484" cy="417128"/>
          </a:xfrm>
          <a:prstGeom prst="roundRect">
            <a:avLst>
              <a:gd name="adj" fmla="val 27402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7"/>
          <p:cNvSpPr/>
          <p:nvPr/>
        </p:nvSpPr>
        <p:spPr>
          <a:xfrm>
            <a:off x="5283473" y="3168700"/>
            <a:ext cx="205740" cy="174567"/>
          </a:xfrm>
          <a:prstGeom prst="rect">
            <a:avLst/>
          </a:prstGeom>
          <a:noFill/>
          <a:ln/>
        </p:spPr>
        <p:txBody>
          <a:bodyPr wrap="none" lIns="0" tIns="7144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5483498" y="3168700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◆</a:t>
            </a:r>
            <a:endParaRPr lang="en-US" sz="1266" dirty="0"/>
          </a:p>
        </p:txBody>
      </p:sp>
      <p:sp>
        <p:nvSpPr>
          <p:cNvPr id="32" name="Text 29"/>
          <p:cNvSpPr/>
          <p:nvPr/>
        </p:nvSpPr>
        <p:spPr>
          <a:xfrm>
            <a:off x="5683523" y="3168700"/>
            <a:ext cx="282714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 Quality Scorecards (Talend)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5683523" y="3285790"/>
            <a:ext cx="2717416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Executive dashboards tracking data quality via Talend Data Quality across critical business dimensions.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5208463" y="3582256"/>
            <a:ext cx="3267484" cy="417128"/>
          </a:xfrm>
          <a:prstGeom prst="roundRect">
            <a:avLst>
              <a:gd name="adj" fmla="val 27402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2"/>
          <p:cNvSpPr/>
          <p:nvPr/>
        </p:nvSpPr>
        <p:spPr>
          <a:xfrm>
            <a:off x="5283473" y="3635834"/>
            <a:ext cx="205740" cy="174567"/>
          </a:xfrm>
          <a:prstGeom prst="rect">
            <a:avLst/>
          </a:prstGeom>
          <a:noFill/>
          <a:ln/>
        </p:spPr>
        <p:txBody>
          <a:bodyPr wrap="none" lIns="0" tIns="7144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</a:t>
            </a:r>
            <a:endParaRPr lang="en-US" sz="800" dirty="0"/>
          </a:p>
        </p:txBody>
      </p:sp>
      <p:sp>
        <p:nvSpPr>
          <p:cNvPr id="36" name="Text 33"/>
          <p:cNvSpPr/>
          <p:nvPr/>
        </p:nvSpPr>
        <p:spPr>
          <a:xfrm>
            <a:off x="5483498" y="3635834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◆</a:t>
            </a:r>
            <a:endParaRPr lang="en-US" sz="1266" dirty="0"/>
          </a:p>
        </p:txBody>
      </p:sp>
      <p:sp>
        <p:nvSpPr>
          <p:cNvPr id="37" name="Text 34"/>
          <p:cNvSpPr/>
          <p:nvPr/>
        </p:nvSpPr>
        <p:spPr>
          <a:xfrm>
            <a:off x="5683523" y="3635834"/>
            <a:ext cx="282714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 Architecture Roadmap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5683523" y="3752924"/>
            <a:ext cx="2717416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Multi-year roadmap modernising core banking (Temenos T24) and policy admin (Guidewire) data architectures.</a:t>
            </a:r>
            <a:endParaRPr lang="en-US" sz="800" dirty="0"/>
          </a:p>
        </p:txBody>
      </p:sp>
      <p:sp>
        <p:nvSpPr>
          <p:cNvPr id="39" name="Shape 36"/>
          <p:cNvSpPr/>
          <p:nvPr/>
        </p:nvSpPr>
        <p:spPr>
          <a:xfrm>
            <a:off x="514350" y="447555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514350" y="4582716"/>
            <a:ext cx="3606031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1" name="Text 38"/>
          <p:cNvSpPr/>
          <p:nvPr/>
        </p:nvSpPr>
        <p:spPr>
          <a:xfrm>
            <a:off x="4134669" y="4579144"/>
            <a:ext cx="3156198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 / 12</a:t>
            </a:r>
            <a:endParaRPr lang="en-US" sz="800" dirty="0"/>
          </a:p>
        </p:txBody>
      </p:sp>
      <p:sp>
        <p:nvSpPr>
          <p:cNvPr id="42" name="Text 39"/>
          <p:cNvSpPr/>
          <p:nvPr/>
        </p:nvSpPr>
        <p:spPr>
          <a:xfrm>
            <a:off x="7305154" y="4579144"/>
            <a:ext cx="1403966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 STRATEGY &amp; GOVERNANCE</a:t>
            </a:r>
            <a:endParaRPr lang="en-US" sz="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-171450"/>
            <a:ext cx="21431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192881"/>
            <a:ext cx="1154710" cy="11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514350" y="542925"/>
            <a:ext cx="8629650" cy="1618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02 · BFSI &amp; INSURANCE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514350" y="732234"/>
            <a:ext cx="8629650" cy="2961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spc="-27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 Engineering &amp; Integration.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514350" y="1063637"/>
            <a:ext cx="81153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Real-time pipelines, ETL/ELT, API integration, streaming ingestion.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517922" y="1374391"/>
            <a:ext cx="4361929" cy="2850356"/>
          </a:xfrm>
          <a:prstGeom prst="roundRect">
            <a:avLst>
              <a:gd name="adj" fmla="val 4010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707231" y="1535125"/>
            <a:ext cx="398331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WHAT WE DO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707231" y="1753009"/>
            <a:ext cx="3983310" cy="21121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24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Our data engineering &amp; integration capability is engineered for bfsi &amp; insurance environments with real industry platforms and tools — not generic technology.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707231" y="3928281"/>
            <a:ext cx="1851906" cy="128588"/>
          </a:xfrm>
          <a:prstGeom prst="roundRect">
            <a:avLst>
              <a:gd name="adj" fmla="val 29630"/>
            </a:avLst>
          </a:prstGeom>
          <a:solidFill>
            <a:srgbClr val="004C9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707231" y="3928281"/>
            <a:ext cx="1851906" cy="135731"/>
          </a:xfrm>
          <a:prstGeom prst="rect">
            <a:avLst/>
          </a:prstGeom>
          <a:noFill/>
          <a:ln/>
        </p:spPr>
        <p:txBody>
          <a:bodyPr wrap="square" lIns="57150" tIns="21431" rIns="57150" bIns="21431" rtlCol="0" anchor="t"/>
          <a:lstStyle/>
          <a:p>
            <a:pPr algn="l" indent="0" marL="0">
              <a:lnSpc>
                <a:spcPts val="675"/>
              </a:lnSpc>
              <a:buNone/>
            </a:pPr>
            <a:r>
              <a:rPr lang="en-US" sz="600" spc="34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2 OF 6 · BFSI &amp; INSURANCE</a:t>
            </a:r>
            <a:endParaRPr lang="en-US" sz="600" dirty="0"/>
          </a:p>
        </p:txBody>
      </p:sp>
      <p:sp>
        <p:nvSpPr>
          <p:cNvPr id="12" name="Text 9"/>
          <p:cNvSpPr/>
          <p:nvPr/>
        </p:nvSpPr>
        <p:spPr>
          <a:xfrm>
            <a:off x="5058445" y="1374391"/>
            <a:ext cx="3567522" cy="2850356"/>
          </a:xfrm>
          <a:prstGeom prst="roundRect">
            <a:avLst>
              <a:gd name="adj" fmla="val 4010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5204892" y="1506550"/>
            <a:ext cx="327462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4C81B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SUB-SERVICES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5208463" y="1713719"/>
            <a:ext cx="3267484" cy="417128"/>
          </a:xfrm>
          <a:prstGeom prst="roundRect">
            <a:avLst>
              <a:gd name="adj" fmla="val 27402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5283473" y="1767297"/>
            <a:ext cx="205740" cy="174567"/>
          </a:xfrm>
          <a:prstGeom prst="rect">
            <a:avLst/>
          </a:prstGeom>
          <a:noFill/>
          <a:ln/>
        </p:spPr>
        <p:txBody>
          <a:bodyPr wrap="none" lIns="0" tIns="7144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5483498" y="1767297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266" dirty="0"/>
          </a:p>
        </p:txBody>
      </p:sp>
      <p:sp>
        <p:nvSpPr>
          <p:cNvPr id="17" name="Text 14"/>
          <p:cNvSpPr/>
          <p:nvPr/>
        </p:nvSpPr>
        <p:spPr>
          <a:xfrm>
            <a:off x="5683523" y="1767297"/>
            <a:ext cx="282714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Real-Time Transaction Pipeline (Kafka)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5683523" y="1884387"/>
            <a:ext cx="2717416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Streaming pipeline ingesting SWIFT ISO 20022 messages via Kafka for fraud detection and real-time risk scoring.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5208463" y="2180853"/>
            <a:ext cx="3267484" cy="417128"/>
          </a:xfrm>
          <a:prstGeom prst="roundRect">
            <a:avLst>
              <a:gd name="adj" fmla="val 27402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5283473" y="2234431"/>
            <a:ext cx="205740" cy="174567"/>
          </a:xfrm>
          <a:prstGeom prst="rect">
            <a:avLst/>
          </a:prstGeom>
          <a:noFill/>
          <a:ln/>
        </p:spPr>
        <p:txBody>
          <a:bodyPr wrap="none" lIns="0" tIns="7144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5483498" y="2234431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266" dirty="0"/>
          </a:p>
        </p:txBody>
      </p:sp>
      <p:sp>
        <p:nvSpPr>
          <p:cNvPr id="22" name="Text 19"/>
          <p:cNvSpPr/>
          <p:nvPr/>
        </p:nvSpPr>
        <p:spPr>
          <a:xfrm>
            <a:off x="5683523" y="2234431"/>
            <a:ext cx="282714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Policy Admin ETL (Informatica IDW)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5683523" y="2351522"/>
            <a:ext cx="2717416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Batch ETL consolidating policy data from Guidewire PolicyCenter and Majestro into Snowflake data warehouse.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5208463" y="2647987"/>
            <a:ext cx="3267484" cy="417128"/>
          </a:xfrm>
          <a:prstGeom prst="roundRect">
            <a:avLst>
              <a:gd name="adj" fmla="val 27402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2"/>
          <p:cNvSpPr/>
          <p:nvPr/>
        </p:nvSpPr>
        <p:spPr>
          <a:xfrm>
            <a:off x="5283473" y="2701565"/>
            <a:ext cx="205740" cy="174567"/>
          </a:xfrm>
          <a:prstGeom prst="rect">
            <a:avLst/>
          </a:prstGeom>
          <a:noFill/>
          <a:ln/>
        </p:spPr>
        <p:txBody>
          <a:bodyPr wrap="none" lIns="0" tIns="7144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5483498" y="2701565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266" dirty="0"/>
          </a:p>
        </p:txBody>
      </p:sp>
      <p:sp>
        <p:nvSpPr>
          <p:cNvPr id="27" name="Text 24"/>
          <p:cNvSpPr/>
          <p:nvPr/>
        </p:nvSpPr>
        <p:spPr>
          <a:xfrm>
            <a:off x="5683523" y="2701565"/>
            <a:ext cx="282714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Claims Data Lake (Databricks)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5683523" y="2818656"/>
            <a:ext cx="2717416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Centralised data lake for claims data in Databricks Lakehouse — structured, unstructured, and document formats.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5208463" y="3115121"/>
            <a:ext cx="3267484" cy="417128"/>
          </a:xfrm>
          <a:prstGeom prst="roundRect">
            <a:avLst>
              <a:gd name="adj" fmla="val 27402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7"/>
          <p:cNvSpPr/>
          <p:nvPr/>
        </p:nvSpPr>
        <p:spPr>
          <a:xfrm>
            <a:off x="5283473" y="3168700"/>
            <a:ext cx="205740" cy="174567"/>
          </a:xfrm>
          <a:prstGeom prst="rect">
            <a:avLst/>
          </a:prstGeom>
          <a:noFill/>
          <a:ln/>
        </p:spPr>
        <p:txBody>
          <a:bodyPr wrap="none" lIns="0" tIns="7144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5483498" y="3168700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266" dirty="0"/>
          </a:p>
        </p:txBody>
      </p:sp>
      <p:sp>
        <p:nvSpPr>
          <p:cNvPr id="32" name="Text 29"/>
          <p:cNvSpPr/>
          <p:nvPr/>
        </p:nvSpPr>
        <p:spPr>
          <a:xfrm>
            <a:off x="5683523" y="3168700"/>
            <a:ext cx="282714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Regulatory Reporting Pipeline (AxiomSL)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5683523" y="3285790"/>
            <a:ext cx="2717416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Automated pipeline producing regulator-ready submissions via AxiomSL for FFIEC, FinCEN, Basel.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5208463" y="3582256"/>
            <a:ext cx="3267484" cy="417128"/>
          </a:xfrm>
          <a:prstGeom prst="roundRect">
            <a:avLst>
              <a:gd name="adj" fmla="val 27402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2"/>
          <p:cNvSpPr/>
          <p:nvPr/>
        </p:nvSpPr>
        <p:spPr>
          <a:xfrm>
            <a:off x="5283473" y="3635834"/>
            <a:ext cx="205740" cy="174567"/>
          </a:xfrm>
          <a:prstGeom prst="rect">
            <a:avLst/>
          </a:prstGeom>
          <a:noFill/>
          <a:ln/>
        </p:spPr>
        <p:txBody>
          <a:bodyPr wrap="none" lIns="0" tIns="7144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</a:t>
            </a:r>
            <a:endParaRPr lang="en-US" sz="800" dirty="0"/>
          </a:p>
        </p:txBody>
      </p:sp>
      <p:sp>
        <p:nvSpPr>
          <p:cNvPr id="36" name="Text 33"/>
          <p:cNvSpPr/>
          <p:nvPr/>
        </p:nvSpPr>
        <p:spPr>
          <a:xfrm>
            <a:off x="5483498" y="3635834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266" dirty="0"/>
          </a:p>
        </p:txBody>
      </p:sp>
      <p:sp>
        <p:nvSpPr>
          <p:cNvPr id="37" name="Text 34"/>
          <p:cNvSpPr/>
          <p:nvPr/>
        </p:nvSpPr>
        <p:spPr>
          <a:xfrm>
            <a:off x="5683523" y="3635834"/>
            <a:ext cx="282714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Third-Party Data Integration (MuleSoft)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5683523" y="3752924"/>
            <a:ext cx="2717416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Integration of Bloomberg, Experian, LexisNexis, and Dow Jones feeds via MuleSoft Anypoint API gateway.</a:t>
            </a:r>
            <a:endParaRPr lang="en-US" sz="800" dirty="0"/>
          </a:p>
        </p:txBody>
      </p:sp>
      <p:sp>
        <p:nvSpPr>
          <p:cNvPr id="39" name="Shape 36"/>
          <p:cNvSpPr/>
          <p:nvPr/>
        </p:nvSpPr>
        <p:spPr>
          <a:xfrm>
            <a:off x="514350" y="447555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514350" y="4582716"/>
            <a:ext cx="3537942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1" name="Text 38"/>
          <p:cNvSpPr/>
          <p:nvPr/>
        </p:nvSpPr>
        <p:spPr>
          <a:xfrm>
            <a:off x="4066580" y="4579144"/>
            <a:ext cx="3088109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 / 12</a:t>
            </a:r>
            <a:endParaRPr lang="en-US" sz="800" dirty="0"/>
          </a:p>
        </p:txBody>
      </p:sp>
      <p:sp>
        <p:nvSpPr>
          <p:cNvPr id="42" name="Text 39"/>
          <p:cNvSpPr/>
          <p:nvPr/>
        </p:nvSpPr>
        <p:spPr>
          <a:xfrm>
            <a:off x="7168976" y="4579144"/>
            <a:ext cx="1548314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 ENGINEERING &amp; INTEGRATION</a:t>
            </a:r>
            <a:endParaRPr lang="en-US" sz="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-171450"/>
            <a:ext cx="21431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192881"/>
            <a:ext cx="1154710" cy="11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514350" y="542925"/>
            <a:ext cx="8629650" cy="1618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03 · BFSI &amp; INSURANCE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514350" y="732234"/>
            <a:ext cx="8629650" cy="2961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spc="-27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 Platforms &amp; Modernization.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514350" y="1063637"/>
            <a:ext cx="81153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Lakehouse, warehouse, cloud platforms, legacy modernization.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517922" y="1374391"/>
            <a:ext cx="4361929" cy="2850356"/>
          </a:xfrm>
          <a:prstGeom prst="roundRect">
            <a:avLst>
              <a:gd name="adj" fmla="val 4010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707231" y="1535125"/>
            <a:ext cx="398331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WHAT WE DO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707231" y="1753009"/>
            <a:ext cx="3983310" cy="21121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24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Our data platforms &amp; modernization capability is engineered for bfsi &amp; insurance environments with real industry platforms and tools — not generic technology.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707231" y="3928281"/>
            <a:ext cx="1851906" cy="128588"/>
          </a:xfrm>
          <a:prstGeom prst="roundRect">
            <a:avLst>
              <a:gd name="adj" fmla="val 29630"/>
            </a:avLst>
          </a:prstGeom>
          <a:solidFill>
            <a:srgbClr val="004C9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707231" y="3928281"/>
            <a:ext cx="1851906" cy="135731"/>
          </a:xfrm>
          <a:prstGeom prst="rect">
            <a:avLst/>
          </a:prstGeom>
          <a:noFill/>
          <a:ln/>
        </p:spPr>
        <p:txBody>
          <a:bodyPr wrap="square" lIns="57150" tIns="21431" rIns="57150" bIns="21431" rtlCol="0" anchor="t"/>
          <a:lstStyle/>
          <a:p>
            <a:pPr algn="l" indent="0" marL="0">
              <a:lnSpc>
                <a:spcPts val="675"/>
              </a:lnSpc>
              <a:buNone/>
            </a:pPr>
            <a:r>
              <a:rPr lang="en-US" sz="600" spc="34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3 OF 6 · BFSI &amp; INSURANCE</a:t>
            </a:r>
            <a:endParaRPr lang="en-US" sz="600" dirty="0"/>
          </a:p>
        </p:txBody>
      </p:sp>
      <p:sp>
        <p:nvSpPr>
          <p:cNvPr id="12" name="Text 9"/>
          <p:cNvSpPr/>
          <p:nvPr/>
        </p:nvSpPr>
        <p:spPr>
          <a:xfrm>
            <a:off x="5058445" y="1374391"/>
            <a:ext cx="3567522" cy="2850356"/>
          </a:xfrm>
          <a:prstGeom prst="roundRect">
            <a:avLst>
              <a:gd name="adj" fmla="val 4010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5204892" y="1506550"/>
            <a:ext cx="327462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4C81B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SUB-SERVICES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5208463" y="1713719"/>
            <a:ext cx="3267484" cy="417128"/>
          </a:xfrm>
          <a:prstGeom prst="roundRect">
            <a:avLst>
              <a:gd name="adj" fmla="val 27402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5283473" y="1767297"/>
            <a:ext cx="205740" cy="174567"/>
          </a:xfrm>
          <a:prstGeom prst="rect">
            <a:avLst/>
          </a:prstGeom>
          <a:noFill/>
          <a:ln/>
        </p:spPr>
        <p:txBody>
          <a:bodyPr wrap="none" lIns="0" tIns="7144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5483498" y="1767297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☁</a:t>
            </a:r>
            <a:endParaRPr lang="en-US" sz="1266" dirty="0"/>
          </a:p>
        </p:txBody>
      </p:sp>
      <p:sp>
        <p:nvSpPr>
          <p:cNvPr id="17" name="Text 14"/>
          <p:cNvSpPr/>
          <p:nvPr/>
        </p:nvSpPr>
        <p:spPr>
          <a:xfrm>
            <a:off x="5683523" y="1767297"/>
            <a:ext cx="282714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Lakehouse Migration (Databricks on AWS)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5683523" y="1884387"/>
            <a:ext cx="2717416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Migration from legacy Oracle/Teradata warehouse to Databricks Lakehouse — warehouse + lake converged.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5208463" y="2180853"/>
            <a:ext cx="3267484" cy="417128"/>
          </a:xfrm>
          <a:prstGeom prst="roundRect">
            <a:avLst>
              <a:gd name="adj" fmla="val 27402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5283473" y="2234431"/>
            <a:ext cx="205740" cy="174567"/>
          </a:xfrm>
          <a:prstGeom prst="rect">
            <a:avLst/>
          </a:prstGeom>
          <a:noFill/>
          <a:ln/>
        </p:spPr>
        <p:txBody>
          <a:bodyPr wrap="none" lIns="0" tIns="7144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5483498" y="2234431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☁</a:t>
            </a:r>
            <a:endParaRPr lang="en-US" sz="1266" dirty="0"/>
          </a:p>
        </p:txBody>
      </p:sp>
      <p:sp>
        <p:nvSpPr>
          <p:cNvPr id="22" name="Text 19"/>
          <p:cNvSpPr/>
          <p:nvPr/>
        </p:nvSpPr>
        <p:spPr>
          <a:xfrm>
            <a:off x="5683523" y="2234431"/>
            <a:ext cx="282714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Real-Time Risk Platform (Kafka + Flink)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5683523" y="2351522"/>
            <a:ext cx="2717416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Stream processing platform for real-time risk and fraud analytics via Apache Flink on Kubernetes.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5208463" y="2647987"/>
            <a:ext cx="3267484" cy="417128"/>
          </a:xfrm>
          <a:prstGeom prst="roundRect">
            <a:avLst>
              <a:gd name="adj" fmla="val 27402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2"/>
          <p:cNvSpPr/>
          <p:nvPr/>
        </p:nvSpPr>
        <p:spPr>
          <a:xfrm>
            <a:off x="5283473" y="2701565"/>
            <a:ext cx="205740" cy="174567"/>
          </a:xfrm>
          <a:prstGeom prst="rect">
            <a:avLst/>
          </a:prstGeom>
          <a:noFill/>
          <a:ln/>
        </p:spPr>
        <p:txBody>
          <a:bodyPr wrap="none" lIns="0" tIns="7144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5483498" y="2701565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☁</a:t>
            </a:r>
            <a:endParaRPr lang="en-US" sz="1266" dirty="0"/>
          </a:p>
        </p:txBody>
      </p:sp>
      <p:sp>
        <p:nvSpPr>
          <p:cNvPr id="27" name="Text 24"/>
          <p:cNvSpPr/>
          <p:nvPr/>
        </p:nvSpPr>
        <p:spPr>
          <a:xfrm>
            <a:off x="5683523" y="2701565"/>
            <a:ext cx="282714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Customer 360 Platform (Salesforce CDP)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5683523" y="2818656"/>
            <a:ext cx="2717416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Unified customer data platform via Salesforce Data Cloud across banking, insurance, wealth management.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5208463" y="3115121"/>
            <a:ext cx="3267484" cy="417128"/>
          </a:xfrm>
          <a:prstGeom prst="roundRect">
            <a:avLst>
              <a:gd name="adj" fmla="val 27402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7"/>
          <p:cNvSpPr/>
          <p:nvPr/>
        </p:nvSpPr>
        <p:spPr>
          <a:xfrm>
            <a:off x="5283473" y="3168700"/>
            <a:ext cx="205740" cy="174567"/>
          </a:xfrm>
          <a:prstGeom prst="rect">
            <a:avLst/>
          </a:prstGeom>
          <a:noFill/>
          <a:ln/>
        </p:spPr>
        <p:txBody>
          <a:bodyPr wrap="none" lIns="0" tIns="7144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5483498" y="3168700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☁</a:t>
            </a:r>
            <a:endParaRPr lang="en-US" sz="1266" dirty="0"/>
          </a:p>
        </p:txBody>
      </p:sp>
      <p:sp>
        <p:nvSpPr>
          <p:cNvPr id="32" name="Text 29"/>
          <p:cNvSpPr/>
          <p:nvPr/>
        </p:nvSpPr>
        <p:spPr>
          <a:xfrm>
            <a:off x="5683523" y="3168700"/>
            <a:ext cx="282714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Regulatory Data Mart (Snowflake)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5683523" y="3285790"/>
            <a:ext cx="2717416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Purpose-built data mart in Snowflake for regulatory reporting — pre-aggregated, audit-ready for OCC/FRB.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5208463" y="3582256"/>
            <a:ext cx="3267484" cy="417128"/>
          </a:xfrm>
          <a:prstGeom prst="roundRect">
            <a:avLst>
              <a:gd name="adj" fmla="val 27402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2"/>
          <p:cNvSpPr/>
          <p:nvPr/>
        </p:nvSpPr>
        <p:spPr>
          <a:xfrm>
            <a:off x="5283473" y="3635834"/>
            <a:ext cx="205740" cy="174567"/>
          </a:xfrm>
          <a:prstGeom prst="rect">
            <a:avLst/>
          </a:prstGeom>
          <a:noFill/>
          <a:ln/>
        </p:spPr>
        <p:txBody>
          <a:bodyPr wrap="none" lIns="0" tIns="7144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</a:t>
            </a:r>
            <a:endParaRPr lang="en-US" sz="800" dirty="0"/>
          </a:p>
        </p:txBody>
      </p:sp>
      <p:sp>
        <p:nvSpPr>
          <p:cNvPr id="36" name="Text 33"/>
          <p:cNvSpPr/>
          <p:nvPr/>
        </p:nvSpPr>
        <p:spPr>
          <a:xfrm>
            <a:off x="5483498" y="3635834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☁</a:t>
            </a:r>
            <a:endParaRPr lang="en-US" sz="1266" dirty="0"/>
          </a:p>
        </p:txBody>
      </p:sp>
      <p:sp>
        <p:nvSpPr>
          <p:cNvPr id="37" name="Text 34"/>
          <p:cNvSpPr/>
          <p:nvPr/>
        </p:nvSpPr>
        <p:spPr>
          <a:xfrm>
            <a:off x="5683523" y="3635834"/>
            <a:ext cx="282714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Cloud Data Platform (Snowflake on Azure)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5683523" y="3752924"/>
            <a:ext cx="2717416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Cloud-native data platform on Azure — elastic scale, pay-per-use, modern governance via Collibra.</a:t>
            </a:r>
            <a:endParaRPr lang="en-US" sz="800" dirty="0"/>
          </a:p>
        </p:txBody>
      </p:sp>
      <p:sp>
        <p:nvSpPr>
          <p:cNvPr id="39" name="Shape 36"/>
          <p:cNvSpPr/>
          <p:nvPr/>
        </p:nvSpPr>
        <p:spPr>
          <a:xfrm>
            <a:off x="514350" y="447555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514350" y="4582716"/>
            <a:ext cx="3511488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1" name="Text 38"/>
          <p:cNvSpPr/>
          <p:nvPr/>
        </p:nvSpPr>
        <p:spPr>
          <a:xfrm>
            <a:off x="4040125" y="4579144"/>
            <a:ext cx="3061655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06 / 12</a:t>
            </a:r>
            <a:endParaRPr lang="en-US" sz="800" dirty="0"/>
          </a:p>
        </p:txBody>
      </p:sp>
      <p:sp>
        <p:nvSpPr>
          <p:cNvPr id="42" name="Text 39"/>
          <p:cNvSpPr/>
          <p:nvPr/>
        </p:nvSpPr>
        <p:spPr>
          <a:xfrm>
            <a:off x="7116068" y="4579144"/>
            <a:ext cx="1604397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 PLATFORMS &amp; MODERNIZATION</a:t>
            </a:r>
            <a:endParaRPr lang="en-US" sz="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-171450"/>
            <a:ext cx="21431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192881"/>
            <a:ext cx="1154710" cy="11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514350" y="542925"/>
            <a:ext cx="8629650" cy="1618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04 · BFSI &amp; INSURANCE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514350" y="732234"/>
            <a:ext cx="8629650" cy="2961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spc="-27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BI &amp; Decision Intelligence.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514350" y="1063637"/>
            <a:ext cx="81153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Dashboards, self-service BI, executive analytics, regulatory reporting.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517922" y="1374391"/>
            <a:ext cx="4361929" cy="2850356"/>
          </a:xfrm>
          <a:prstGeom prst="roundRect">
            <a:avLst>
              <a:gd name="adj" fmla="val 4010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707231" y="1535125"/>
            <a:ext cx="398331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WHAT WE DO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707231" y="1753009"/>
            <a:ext cx="3983310" cy="21121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24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Our bi &amp; decision intelligence capability is engineered for bfsi &amp; insurance environments with real industry platforms and tools — not generic technology.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707231" y="3928281"/>
            <a:ext cx="1851906" cy="128588"/>
          </a:xfrm>
          <a:prstGeom prst="roundRect">
            <a:avLst>
              <a:gd name="adj" fmla="val 29630"/>
            </a:avLst>
          </a:prstGeom>
          <a:solidFill>
            <a:srgbClr val="004C9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707231" y="3928281"/>
            <a:ext cx="1851906" cy="135731"/>
          </a:xfrm>
          <a:prstGeom prst="rect">
            <a:avLst/>
          </a:prstGeom>
          <a:noFill/>
          <a:ln/>
        </p:spPr>
        <p:txBody>
          <a:bodyPr wrap="square" lIns="57150" tIns="21431" rIns="57150" bIns="21431" rtlCol="0" anchor="t"/>
          <a:lstStyle/>
          <a:p>
            <a:pPr algn="l" indent="0" marL="0">
              <a:lnSpc>
                <a:spcPts val="675"/>
              </a:lnSpc>
              <a:buNone/>
            </a:pPr>
            <a:r>
              <a:rPr lang="en-US" sz="600" spc="34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4 OF 6 · BFSI &amp; INSURANCE</a:t>
            </a:r>
            <a:endParaRPr lang="en-US" sz="600" dirty="0"/>
          </a:p>
        </p:txBody>
      </p:sp>
      <p:sp>
        <p:nvSpPr>
          <p:cNvPr id="12" name="Text 9"/>
          <p:cNvSpPr/>
          <p:nvPr/>
        </p:nvSpPr>
        <p:spPr>
          <a:xfrm>
            <a:off x="5058445" y="1374391"/>
            <a:ext cx="3567522" cy="2850356"/>
          </a:xfrm>
          <a:prstGeom prst="roundRect">
            <a:avLst>
              <a:gd name="adj" fmla="val 4010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5204892" y="1506550"/>
            <a:ext cx="327462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4C81B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SUB-SERVICES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5208463" y="1713719"/>
            <a:ext cx="3267484" cy="417128"/>
          </a:xfrm>
          <a:prstGeom prst="roundRect">
            <a:avLst>
              <a:gd name="adj" fmla="val 27402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5283473" y="1767297"/>
            <a:ext cx="205740" cy="174567"/>
          </a:xfrm>
          <a:prstGeom prst="rect">
            <a:avLst/>
          </a:prstGeom>
          <a:noFill/>
          <a:ln/>
        </p:spPr>
        <p:txBody>
          <a:bodyPr wrap="none" lIns="0" tIns="7144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5483498" y="1767297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266" dirty="0"/>
          </a:p>
        </p:txBody>
      </p:sp>
      <p:sp>
        <p:nvSpPr>
          <p:cNvPr id="17" name="Text 14"/>
          <p:cNvSpPr/>
          <p:nvPr/>
        </p:nvSpPr>
        <p:spPr>
          <a:xfrm>
            <a:off x="5683523" y="1767297"/>
            <a:ext cx="282714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Executive Risk Dashboard (Power BI)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5683523" y="1884387"/>
            <a:ext cx="2717416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Real-time dashboard for CRO via Power BI — credit risk, market risk, operational risk in one view.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5208463" y="2180853"/>
            <a:ext cx="3267484" cy="417128"/>
          </a:xfrm>
          <a:prstGeom prst="roundRect">
            <a:avLst>
              <a:gd name="adj" fmla="val 27402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5283473" y="2234431"/>
            <a:ext cx="205740" cy="174567"/>
          </a:xfrm>
          <a:prstGeom prst="rect">
            <a:avLst/>
          </a:prstGeom>
          <a:noFill/>
          <a:ln/>
        </p:spPr>
        <p:txBody>
          <a:bodyPr wrap="none" lIns="0" tIns="7144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5483498" y="2234431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266" dirty="0"/>
          </a:p>
        </p:txBody>
      </p:sp>
      <p:sp>
        <p:nvSpPr>
          <p:cNvPr id="22" name="Text 19"/>
          <p:cNvSpPr/>
          <p:nvPr/>
        </p:nvSpPr>
        <p:spPr>
          <a:xfrm>
            <a:off x="5683523" y="2234431"/>
            <a:ext cx="282714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Branch Performance Analytics (Tableau)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5683523" y="2351522"/>
            <a:ext cx="2717416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Branch-level dashboards in Tableau — deposits, loans, customer satisfaction, employee productivity.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5208463" y="2647987"/>
            <a:ext cx="3267484" cy="417128"/>
          </a:xfrm>
          <a:prstGeom prst="roundRect">
            <a:avLst>
              <a:gd name="adj" fmla="val 27402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2"/>
          <p:cNvSpPr/>
          <p:nvPr/>
        </p:nvSpPr>
        <p:spPr>
          <a:xfrm>
            <a:off x="5283473" y="2701565"/>
            <a:ext cx="205740" cy="174567"/>
          </a:xfrm>
          <a:prstGeom prst="rect">
            <a:avLst/>
          </a:prstGeom>
          <a:noFill/>
          <a:ln/>
        </p:spPr>
        <p:txBody>
          <a:bodyPr wrap="none" lIns="0" tIns="7144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5483498" y="2701565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266" dirty="0"/>
          </a:p>
        </p:txBody>
      </p:sp>
      <p:sp>
        <p:nvSpPr>
          <p:cNvPr id="27" name="Text 24"/>
          <p:cNvSpPr/>
          <p:nvPr/>
        </p:nvSpPr>
        <p:spPr>
          <a:xfrm>
            <a:off x="5683523" y="2701565"/>
            <a:ext cx="282714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Product Profitability Analytics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5683523" y="2818656"/>
            <a:ext cx="2717416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Profitability analytics per product, segment, channel via Oracle Financial Services Analytical Applications.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5208463" y="3115121"/>
            <a:ext cx="3267484" cy="417128"/>
          </a:xfrm>
          <a:prstGeom prst="roundRect">
            <a:avLst>
              <a:gd name="adj" fmla="val 27402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7"/>
          <p:cNvSpPr/>
          <p:nvPr/>
        </p:nvSpPr>
        <p:spPr>
          <a:xfrm>
            <a:off x="5283473" y="3168700"/>
            <a:ext cx="205740" cy="174567"/>
          </a:xfrm>
          <a:prstGeom prst="rect">
            <a:avLst/>
          </a:prstGeom>
          <a:noFill/>
          <a:ln/>
        </p:spPr>
        <p:txBody>
          <a:bodyPr wrap="none" lIns="0" tIns="7144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5483498" y="3168700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266" dirty="0"/>
          </a:p>
        </p:txBody>
      </p:sp>
      <p:sp>
        <p:nvSpPr>
          <p:cNvPr id="32" name="Text 29"/>
          <p:cNvSpPr/>
          <p:nvPr/>
        </p:nvSpPr>
        <p:spPr>
          <a:xfrm>
            <a:off x="5683523" y="3168700"/>
            <a:ext cx="282714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Self-Service BI for Underwriters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5683523" y="3285790"/>
            <a:ext cx="2717416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Underwriters explore policy and claims data via Power BI Paginated Reports without IT intervention.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5208463" y="3582256"/>
            <a:ext cx="3267484" cy="417128"/>
          </a:xfrm>
          <a:prstGeom prst="roundRect">
            <a:avLst>
              <a:gd name="adj" fmla="val 27402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2"/>
          <p:cNvSpPr/>
          <p:nvPr/>
        </p:nvSpPr>
        <p:spPr>
          <a:xfrm>
            <a:off x="5283473" y="3635834"/>
            <a:ext cx="205740" cy="174567"/>
          </a:xfrm>
          <a:prstGeom prst="rect">
            <a:avLst/>
          </a:prstGeom>
          <a:noFill/>
          <a:ln/>
        </p:spPr>
        <p:txBody>
          <a:bodyPr wrap="none" lIns="0" tIns="7144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</a:t>
            </a:r>
            <a:endParaRPr lang="en-US" sz="800" dirty="0"/>
          </a:p>
        </p:txBody>
      </p:sp>
      <p:sp>
        <p:nvSpPr>
          <p:cNvPr id="36" name="Text 33"/>
          <p:cNvSpPr/>
          <p:nvPr/>
        </p:nvSpPr>
        <p:spPr>
          <a:xfrm>
            <a:off x="5483498" y="3635834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266" dirty="0"/>
          </a:p>
        </p:txBody>
      </p:sp>
      <p:sp>
        <p:nvSpPr>
          <p:cNvPr id="37" name="Text 34"/>
          <p:cNvSpPr/>
          <p:nvPr/>
        </p:nvSpPr>
        <p:spPr>
          <a:xfrm>
            <a:off x="5683523" y="3635834"/>
            <a:ext cx="282714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Regulatory Metrics Dashboard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5683523" y="3752924"/>
            <a:ext cx="2717416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Dashboards tracking key regulatory metrics via AxiomSL — capital adequacy, liquidity coverage ratio (LCR).</a:t>
            </a:r>
            <a:endParaRPr lang="en-US" sz="800" dirty="0"/>
          </a:p>
        </p:txBody>
      </p:sp>
      <p:sp>
        <p:nvSpPr>
          <p:cNvPr id="39" name="Shape 36"/>
          <p:cNvSpPr/>
          <p:nvPr/>
        </p:nvSpPr>
        <p:spPr>
          <a:xfrm>
            <a:off x="514350" y="447555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514350" y="4582716"/>
            <a:ext cx="3666976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1" name="Text 38"/>
          <p:cNvSpPr/>
          <p:nvPr/>
        </p:nvSpPr>
        <p:spPr>
          <a:xfrm>
            <a:off x="4195614" y="4579144"/>
            <a:ext cx="3217143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07 / 12</a:t>
            </a:r>
            <a:endParaRPr lang="en-US" sz="800" dirty="0"/>
          </a:p>
        </p:txBody>
      </p:sp>
      <p:sp>
        <p:nvSpPr>
          <p:cNvPr id="42" name="Text 39"/>
          <p:cNvSpPr/>
          <p:nvPr/>
        </p:nvSpPr>
        <p:spPr>
          <a:xfrm>
            <a:off x="7427044" y="4579144"/>
            <a:ext cx="1274762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BI &amp; DECISION INTELLIGENCE</a:t>
            </a:r>
            <a:endParaRPr lang="en-US" sz="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-171450"/>
            <a:ext cx="21431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192881"/>
            <a:ext cx="1154710" cy="11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514350" y="542925"/>
            <a:ext cx="8629650" cy="1618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APPLICATIONS · BFSI &amp; INSURANCE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514350" y="732234"/>
            <a:ext cx="8629650" cy="2635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1"/>
              </a:lnSpc>
              <a:buNone/>
            </a:pPr>
            <a:r>
              <a:rPr lang="en-US" sz="1575" b="1" spc="-24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How data analytics &amp; data engineering applies to bfsi &amp; insurance.</a:t>
            </a:r>
            <a:endParaRPr lang="en-US" sz="1575" dirty="0"/>
          </a:p>
        </p:txBody>
      </p:sp>
      <p:sp>
        <p:nvSpPr>
          <p:cNvPr id="6" name="Text 3"/>
          <p:cNvSpPr/>
          <p:nvPr/>
        </p:nvSpPr>
        <p:spPr>
          <a:xfrm>
            <a:off x="514350" y="1033388"/>
            <a:ext cx="81153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Four industry-specific applications with real technology platforms.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517922" y="1358429"/>
            <a:ext cx="3993356" cy="1278731"/>
          </a:xfrm>
          <a:prstGeom prst="roundRect">
            <a:avLst>
              <a:gd name="adj" fmla="val 8939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692944" y="1519163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▤</a:t>
            </a:r>
            <a:endParaRPr lang="en-US" sz="1969" dirty="0"/>
          </a:p>
        </p:txBody>
      </p:sp>
      <p:sp>
        <p:nvSpPr>
          <p:cNvPr id="9" name="Text 6"/>
          <p:cNvSpPr/>
          <p:nvPr/>
        </p:nvSpPr>
        <p:spPr>
          <a:xfrm>
            <a:off x="4179338" y="1544166"/>
            <a:ext cx="18134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788" spc="47" kern="0" dirty="0">
                <a:solidFill>
                  <a:srgbClr val="FF6C0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788" dirty="0"/>
          </a:p>
        </p:txBody>
      </p:sp>
      <p:sp>
        <p:nvSpPr>
          <p:cNvPr id="10" name="Text 7"/>
          <p:cNvSpPr/>
          <p:nvPr/>
        </p:nvSpPr>
        <p:spPr>
          <a:xfrm>
            <a:off x="692944" y="1790626"/>
            <a:ext cx="3753041" cy="203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238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Claims Document Intelligence</a:t>
            </a:r>
            <a:endParaRPr lang="en-US" sz="1238" dirty="0"/>
          </a:p>
        </p:txBody>
      </p:sp>
      <p:sp>
        <p:nvSpPr>
          <p:cNvPr id="11" name="Text 8"/>
          <p:cNvSpPr/>
          <p:nvPr/>
        </p:nvSpPr>
        <p:spPr>
          <a:xfrm>
            <a:off x="692944" y="2050591"/>
            <a:ext cx="364331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Guidewire ClaimCenter claims document processing via GenAI — coverage decisions, settlement drafts.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4632722" y="1358429"/>
            <a:ext cx="3993356" cy="1278731"/>
          </a:xfrm>
          <a:prstGeom prst="roundRect">
            <a:avLst>
              <a:gd name="adj" fmla="val 8939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4807744" y="1519163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⛨</a:t>
            </a:r>
            <a:endParaRPr lang="en-US" sz="1969" dirty="0"/>
          </a:p>
        </p:txBody>
      </p:sp>
      <p:sp>
        <p:nvSpPr>
          <p:cNvPr id="14" name="Text 11"/>
          <p:cNvSpPr/>
          <p:nvPr/>
        </p:nvSpPr>
        <p:spPr>
          <a:xfrm>
            <a:off x="8294138" y="1544166"/>
            <a:ext cx="18134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788" spc="47" kern="0" dirty="0">
                <a:solidFill>
                  <a:srgbClr val="FF6C0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788" dirty="0"/>
          </a:p>
        </p:txBody>
      </p:sp>
      <p:sp>
        <p:nvSpPr>
          <p:cNvPr id="15" name="Text 12"/>
          <p:cNvSpPr/>
          <p:nvPr/>
        </p:nvSpPr>
        <p:spPr>
          <a:xfrm>
            <a:off x="4807744" y="1790626"/>
            <a:ext cx="3753040" cy="203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238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Fraud Detection (FICO Falcon)</a:t>
            </a:r>
            <a:endParaRPr lang="en-US" sz="1238" dirty="0"/>
          </a:p>
        </p:txBody>
      </p:sp>
      <p:sp>
        <p:nvSpPr>
          <p:cNvPr id="16" name="Text 13"/>
          <p:cNvSpPr/>
          <p:nvPr/>
        </p:nvSpPr>
        <p:spPr>
          <a:xfrm>
            <a:off x="4807744" y="2050591"/>
            <a:ext cx="364331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Real-time fraud scoring via FICO Falcon Fraud Manager on SWIFT ISO 20022 transaction streams.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517922" y="2758604"/>
            <a:ext cx="3993356" cy="1278731"/>
          </a:xfrm>
          <a:prstGeom prst="roundRect">
            <a:avLst>
              <a:gd name="adj" fmla="val 8939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692944" y="2919338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♟</a:t>
            </a:r>
            <a:endParaRPr lang="en-US" sz="1969" dirty="0"/>
          </a:p>
        </p:txBody>
      </p:sp>
      <p:sp>
        <p:nvSpPr>
          <p:cNvPr id="19" name="Text 16"/>
          <p:cNvSpPr/>
          <p:nvPr/>
        </p:nvSpPr>
        <p:spPr>
          <a:xfrm>
            <a:off x="4179338" y="2944341"/>
            <a:ext cx="18134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788" spc="47" kern="0" dirty="0">
                <a:solidFill>
                  <a:srgbClr val="FF6C0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788" dirty="0"/>
          </a:p>
        </p:txBody>
      </p:sp>
      <p:sp>
        <p:nvSpPr>
          <p:cNvPr id="20" name="Text 17"/>
          <p:cNvSpPr/>
          <p:nvPr/>
        </p:nvSpPr>
        <p:spPr>
          <a:xfrm>
            <a:off x="692944" y="3190801"/>
            <a:ext cx="3753041" cy="203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238" b="1" dirty="0">
                <a:solidFill>
                  <a:srgbClr val="0F172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Customer 360 (Salesforce CDP)</a:t>
            </a:r>
            <a:endParaRPr lang="en-US" sz="1238" dirty="0"/>
          </a:p>
        </p:txBody>
      </p:sp>
      <p:sp>
        <p:nvSpPr>
          <p:cNvPr id="21" name="Text 18"/>
          <p:cNvSpPr/>
          <p:nvPr/>
        </p:nvSpPr>
        <p:spPr>
          <a:xfrm>
            <a:off x="692944" y="3450766"/>
            <a:ext cx="364331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Unified customer data across banking, insurance, wealth via Salesforce Data Cloud + Temenos T24.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4632722" y="2758604"/>
            <a:ext cx="3993356" cy="1278731"/>
          </a:xfrm>
          <a:prstGeom prst="roundRect">
            <a:avLst>
              <a:gd name="adj" fmla="val 8939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0"/>
          <p:cNvSpPr/>
          <p:nvPr/>
        </p:nvSpPr>
        <p:spPr>
          <a:xfrm>
            <a:off x="4807744" y="2919338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⚖</a:t>
            </a:r>
            <a:endParaRPr lang="en-US" sz="1969" dirty="0"/>
          </a:p>
        </p:txBody>
      </p:sp>
      <p:sp>
        <p:nvSpPr>
          <p:cNvPr id="24" name="Text 21"/>
          <p:cNvSpPr/>
          <p:nvPr/>
        </p:nvSpPr>
        <p:spPr>
          <a:xfrm>
            <a:off x="8294138" y="2944341"/>
            <a:ext cx="18134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788" spc="47" kern="0" dirty="0">
                <a:solidFill>
                  <a:srgbClr val="FF6C0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788" dirty="0"/>
          </a:p>
        </p:txBody>
      </p:sp>
      <p:sp>
        <p:nvSpPr>
          <p:cNvPr id="25" name="Text 22"/>
          <p:cNvSpPr/>
          <p:nvPr/>
        </p:nvSpPr>
        <p:spPr>
          <a:xfrm>
            <a:off x="4807744" y="3190801"/>
            <a:ext cx="3753040" cy="203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238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Regulatory Operations (AxiomSL)</a:t>
            </a:r>
            <a:endParaRPr lang="en-US" sz="1238" dirty="0"/>
          </a:p>
        </p:txBody>
      </p:sp>
      <p:sp>
        <p:nvSpPr>
          <p:cNvPr id="26" name="Text 23"/>
          <p:cNvSpPr/>
          <p:nvPr/>
        </p:nvSpPr>
        <p:spPr>
          <a:xfrm>
            <a:off x="4807744" y="3450766"/>
            <a:ext cx="364331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Automated compliance reporting via AxiomSL for FFIEC, FinCEN, Basel III, OCC/FRB submissions.</a:t>
            </a:r>
            <a:endParaRPr lang="en-US" sz="800" dirty="0"/>
          </a:p>
        </p:txBody>
      </p:sp>
      <p:sp>
        <p:nvSpPr>
          <p:cNvPr id="27" name="Shape 24"/>
          <p:cNvSpPr/>
          <p:nvPr/>
        </p:nvSpPr>
        <p:spPr>
          <a:xfrm>
            <a:off x="514350" y="447555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14350" y="4582716"/>
            <a:ext cx="3979627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4508264" y="4579144"/>
            <a:ext cx="3529682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08 / 12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7993120" y="4579144"/>
            <a:ext cx="695645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APPLICATIONS</a:t>
            </a:r>
            <a:endParaRPr lang="en-US" sz="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-171450"/>
            <a:ext cx="21431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192881"/>
            <a:ext cx="1154710" cy="11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514350" y="542925"/>
            <a:ext cx="8629650" cy="1618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REFERENCE ARCHITECTURE · BFSI &amp; INSURANCE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514350" y="732234"/>
            <a:ext cx="8629650" cy="4686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84"/>
              </a:lnSpc>
              <a:buNone/>
            </a:pPr>
            <a:r>
              <a:rPr lang="en-US" sz="1463" b="1" spc="-22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reference architecture for data analytics &amp; data engineering — bfsi &amp; insurance.</a:t>
            </a:r>
            <a:endParaRPr lang="en-US" sz="1463" dirty="0"/>
          </a:p>
        </p:txBody>
      </p:sp>
      <p:sp>
        <p:nvSpPr>
          <p:cNvPr id="6" name="Text 3"/>
          <p:cNvSpPr/>
          <p:nvPr/>
        </p:nvSpPr>
        <p:spPr>
          <a:xfrm>
            <a:off x="514350" y="1228279"/>
            <a:ext cx="81153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Five layers with real industry technology platforms.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517922" y="1510457"/>
            <a:ext cx="8108156" cy="507206"/>
          </a:xfrm>
          <a:prstGeom prst="roundRect">
            <a:avLst>
              <a:gd name="adj" fmla="val 15023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521494" y="1514029"/>
            <a:ext cx="928688" cy="500063"/>
          </a:xfrm>
          <a:prstGeom prst="rect">
            <a:avLst/>
          </a:prstGeom>
          <a:solidFill>
            <a:srgbClr val="004C9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6"/>
          <p:cNvSpPr/>
          <p:nvPr/>
        </p:nvSpPr>
        <p:spPr>
          <a:xfrm>
            <a:off x="1446609" y="1514029"/>
            <a:ext cx="0" cy="500063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21494" y="1514029"/>
            <a:ext cx="928688" cy="500063"/>
          </a:xfrm>
          <a:prstGeom prst="rect">
            <a:avLst/>
          </a:prstGeom>
          <a:noFill/>
          <a:ln/>
        </p:spPr>
        <p:txBody>
          <a:bodyPr wrap="none" lIns="85725" tIns="71438" rIns="85725" bIns="71438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37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LAYER 1</a:t>
            </a:r>
            <a:endParaRPr lang="en-US" sz="800" dirty="0"/>
          </a:p>
          <a:p>
            <a:pPr algn="l" indent="0" marL="0">
              <a:lnSpc>
                <a:spcPts val="928"/>
              </a:lnSpc>
              <a:buNone/>
            </a:pPr>
            <a:r>
              <a:rPr lang="en-US" sz="800" b="1" spc="37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CONSUMPTION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1568053" y="1678335"/>
            <a:ext cx="1081385" cy="17145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1564481" y="1674763"/>
            <a:ext cx="1131391" cy="274320"/>
          </a:xfrm>
          <a:prstGeom prst="rect">
            <a:avLst/>
          </a:prstGeom>
          <a:noFill/>
          <a:ln/>
        </p:spPr>
        <p:txBody>
          <a:bodyPr wrap="none" lIns="64294" tIns="28575" rIns="64294" bIns="28575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Power BI (Risk Dashboard)</a:t>
            </a:r>
            <a:endParaRPr lang="en-US" sz="600" dirty="0"/>
          </a:p>
        </p:txBody>
      </p:sp>
      <p:sp>
        <p:nvSpPr>
          <p:cNvPr id="13" name="Text 10"/>
          <p:cNvSpPr/>
          <p:nvPr/>
        </p:nvSpPr>
        <p:spPr>
          <a:xfrm>
            <a:off x="2742307" y="1678335"/>
            <a:ext cx="1087078" cy="17145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2738735" y="1674763"/>
            <a:ext cx="1137084" cy="274320"/>
          </a:xfrm>
          <a:prstGeom prst="rect">
            <a:avLst/>
          </a:prstGeom>
          <a:noFill/>
          <a:ln/>
        </p:spPr>
        <p:txBody>
          <a:bodyPr wrap="square" lIns="64294" tIns="28575" rIns="64294" bIns="28575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Tableau (Branch Analytics)</a:t>
            </a:r>
            <a:endParaRPr lang="en-US" sz="600" dirty="0"/>
          </a:p>
        </p:txBody>
      </p:sp>
      <p:sp>
        <p:nvSpPr>
          <p:cNvPr id="15" name="Text 12"/>
          <p:cNvSpPr/>
          <p:nvPr/>
        </p:nvSpPr>
        <p:spPr>
          <a:xfrm>
            <a:off x="3918682" y="1664047"/>
            <a:ext cx="918753" cy="200025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3918682" y="1674763"/>
            <a:ext cx="918753" cy="178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AxiomSL (Regulatory)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4926732" y="1678335"/>
            <a:ext cx="1260983" cy="17145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4923160" y="1674763"/>
            <a:ext cx="3585046" cy="274320"/>
          </a:xfrm>
          <a:prstGeom prst="rect">
            <a:avLst/>
          </a:prstGeom>
          <a:noFill/>
          <a:ln/>
        </p:spPr>
        <p:txBody>
          <a:bodyPr wrap="square" lIns="64294" tIns="28575" rIns="64294" bIns="28575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Salesforce CDP (Customer 360)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517922" y="2096244"/>
            <a:ext cx="8108156" cy="507206"/>
          </a:xfrm>
          <a:prstGeom prst="roundRect">
            <a:avLst>
              <a:gd name="adj" fmla="val 15023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521494" y="2099816"/>
            <a:ext cx="928688" cy="500063"/>
          </a:xfrm>
          <a:prstGeom prst="rect">
            <a:avLst/>
          </a:prstGeom>
          <a:solidFill>
            <a:srgbClr val="004C9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Shape 18"/>
          <p:cNvSpPr/>
          <p:nvPr/>
        </p:nvSpPr>
        <p:spPr>
          <a:xfrm>
            <a:off x="1446609" y="2099816"/>
            <a:ext cx="0" cy="500063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21494" y="2099816"/>
            <a:ext cx="928688" cy="500063"/>
          </a:xfrm>
          <a:prstGeom prst="rect">
            <a:avLst/>
          </a:prstGeom>
          <a:noFill/>
          <a:ln/>
        </p:spPr>
        <p:txBody>
          <a:bodyPr wrap="none" lIns="85725" tIns="71438" rIns="85725" bIns="71438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37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LAYER 2</a:t>
            </a:r>
            <a:endParaRPr lang="en-US" sz="800" dirty="0"/>
          </a:p>
          <a:p>
            <a:pPr algn="l" indent="0" marL="0">
              <a:lnSpc>
                <a:spcPts val="928"/>
              </a:lnSpc>
              <a:buNone/>
            </a:pPr>
            <a:r>
              <a:rPr lang="en-US" sz="800" b="1" spc="37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SEMANTIC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1564481" y="2249835"/>
            <a:ext cx="774985" cy="200025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1"/>
          <p:cNvSpPr/>
          <p:nvPr/>
        </p:nvSpPr>
        <p:spPr>
          <a:xfrm>
            <a:off x="1564481" y="2260550"/>
            <a:ext cx="774985" cy="178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Collibra (Lineage)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2425192" y="2249835"/>
            <a:ext cx="751545" cy="200025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3"/>
          <p:cNvSpPr/>
          <p:nvPr/>
        </p:nvSpPr>
        <p:spPr>
          <a:xfrm>
            <a:off x="2425192" y="2260550"/>
            <a:ext cx="751545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Informatica MDM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3262461" y="2249835"/>
            <a:ext cx="774762" cy="200025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5"/>
          <p:cNvSpPr/>
          <p:nvPr/>
        </p:nvSpPr>
        <p:spPr>
          <a:xfrm>
            <a:off x="3262461" y="2260550"/>
            <a:ext cx="774762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BCBS 239 Metrics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4122948" y="2249835"/>
            <a:ext cx="610567" cy="200025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7"/>
          <p:cNvSpPr/>
          <p:nvPr/>
        </p:nvSpPr>
        <p:spPr>
          <a:xfrm>
            <a:off x="4038799" y="2260550"/>
            <a:ext cx="778866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 Catalog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517922" y="2682032"/>
            <a:ext cx="8108156" cy="507206"/>
          </a:xfrm>
          <a:prstGeom prst="roundRect">
            <a:avLst>
              <a:gd name="adj" fmla="val 15023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29"/>
          <p:cNvSpPr/>
          <p:nvPr/>
        </p:nvSpPr>
        <p:spPr>
          <a:xfrm>
            <a:off x="521494" y="2685604"/>
            <a:ext cx="928688" cy="500063"/>
          </a:xfrm>
          <a:prstGeom prst="rect">
            <a:avLst/>
          </a:prstGeom>
          <a:solidFill>
            <a:srgbClr val="004C9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Shape 30"/>
          <p:cNvSpPr/>
          <p:nvPr/>
        </p:nvSpPr>
        <p:spPr>
          <a:xfrm>
            <a:off x="1446609" y="2685604"/>
            <a:ext cx="0" cy="500063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521494" y="2685604"/>
            <a:ext cx="928688" cy="500063"/>
          </a:xfrm>
          <a:prstGeom prst="rect">
            <a:avLst/>
          </a:prstGeom>
          <a:noFill/>
          <a:ln/>
        </p:spPr>
        <p:txBody>
          <a:bodyPr wrap="none" lIns="85725" tIns="71438" rIns="85725" bIns="71438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37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LAYER 3</a:t>
            </a:r>
            <a:endParaRPr lang="en-US" sz="800" dirty="0"/>
          </a:p>
          <a:p>
            <a:pPr algn="l" indent="0" marL="0">
              <a:lnSpc>
                <a:spcPts val="928"/>
              </a:lnSpc>
              <a:buNone/>
            </a:pPr>
            <a:r>
              <a:rPr lang="en-US" sz="800" b="1" spc="37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PROCESSING</a:t>
            </a:r>
            <a:endParaRPr lang="en-US" sz="800" dirty="0"/>
          </a:p>
        </p:txBody>
      </p:sp>
      <p:sp>
        <p:nvSpPr>
          <p:cNvPr id="35" name="Text 32"/>
          <p:cNvSpPr/>
          <p:nvPr/>
        </p:nvSpPr>
        <p:spPr>
          <a:xfrm>
            <a:off x="1564481" y="2835622"/>
            <a:ext cx="1035621" cy="200025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3"/>
          <p:cNvSpPr/>
          <p:nvPr/>
        </p:nvSpPr>
        <p:spPr>
          <a:xfrm>
            <a:off x="1564481" y="2846338"/>
            <a:ext cx="1035621" cy="178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Kafka (SWIFT ISO 20022)</a:t>
            </a:r>
            <a:endParaRPr lang="en-US" sz="800" dirty="0"/>
          </a:p>
        </p:txBody>
      </p:sp>
      <p:sp>
        <p:nvSpPr>
          <p:cNvPr id="37" name="Text 34"/>
          <p:cNvSpPr/>
          <p:nvPr/>
        </p:nvSpPr>
        <p:spPr>
          <a:xfrm>
            <a:off x="2685827" y="2835622"/>
            <a:ext cx="701762" cy="200025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5"/>
          <p:cNvSpPr/>
          <p:nvPr/>
        </p:nvSpPr>
        <p:spPr>
          <a:xfrm>
            <a:off x="2685827" y="2846338"/>
            <a:ext cx="701762" cy="178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Informatica ETL</a:t>
            </a:r>
            <a:endParaRPr lang="en-US" sz="800" dirty="0"/>
          </a:p>
        </p:txBody>
      </p:sp>
      <p:sp>
        <p:nvSpPr>
          <p:cNvPr id="39" name="Text 36"/>
          <p:cNvSpPr/>
          <p:nvPr/>
        </p:nvSpPr>
        <p:spPr>
          <a:xfrm>
            <a:off x="3473314" y="2835622"/>
            <a:ext cx="918753" cy="200025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7"/>
          <p:cNvSpPr/>
          <p:nvPr/>
        </p:nvSpPr>
        <p:spPr>
          <a:xfrm>
            <a:off x="3473314" y="2846338"/>
            <a:ext cx="918753" cy="178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AxiomSL (Regulatory)</a:t>
            </a:r>
            <a:endParaRPr lang="en-US" sz="800" dirty="0"/>
          </a:p>
        </p:txBody>
      </p:sp>
      <p:sp>
        <p:nvSpPr>
          <p:cNvPr id="41" name="Text 38"/>
          <p:cNvSpPr/>
          <p:nvPr/>
        </p:nvSpPr>
        <p:spPr>
          <a:xfrm>
            <a:off x="4477792" y="2835622"/>
            <a:ext cx="857920" cy="200025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39"/>
          <p:cNvSpPr/>
          <p:nvPr/>
        </p:nvSpPr>
        <p:spPr>
          <a:xfrm>
            <a:off x="4477792" y="2846338"/>
            <a:ext cx="857920" cy="178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MuleSoft (3rd Party)</a:t>
            </a:r>
            <a:endParaRPr lang="en-US" sz="800" dirty="0"/>
          </a:p>
        </p:txBody>
      </p:sp>
      <p:sp>
        <p:nvSpPr>
          <p:cNvPr id="43" name="Text 40"/>
          <p:cNvSpPr/>
          <p:nvPr/>
        </p:nvSpPr>
        <p:spPr>
          <a:xfrm>
            <a:off x="517922" y="3267819"/>
            <a:ext cx="8108156" cy="507206"/>
          </a:xfrm>
          <a:prstGeom prst="roundRect">
            <a:avLst>
              <a:gd name="adj" fmla="val 15023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1"/>
          <p:cNvSpPr/>
          <p:nvPr/>
        </p:nvSpPr>
        <p:spPr>
          <a:xfrm>
            <a:off x="521494" y="3271391"/>
            <a:ext cx="928688" cy="500063"/>
          </a:xfrm>
          <a:prstGeom prst="rect">
            <a:avLst/>
          </a:prstGeom>
          <a:solidFill>
            <a:srgbClr val="004C9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Shape 42"/>
          <p:cNvSpPr/>
          <p:nvPr/>
        </p:nvSpPr>
        <p:spPr>
          <a:xfrm>
            <a:off x="1446609" y="3271391"/>
            <a:ext cx="0" cy="500063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521494" y="3271391"/>
            <a:ext cx="928688" cy="500063"/>
          </a:xfrm>
          <a:prstGeom prst="rect">
            <a:avLst/>
          </a:prstGeom>
          <a:noFill/>
          <a:ln/>
        </p:spPr>
        <p:txBody>
          <a:bodyPr wrap="none" lIns="85725" tIns="71438" rIns="85725" bIns="71438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37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LAYER 4</a:t>
            </a:r>
            <a:endParaRPr lang="en-US" sz="800" dirty="0"/>
          </a:p>
          <a:p>
            <a:pPr algn="l" indent="0" marL="0">
              <a:lnSpc>
                <a:spcPts val="928"/>
              </a:lnSpc>
              <a:buNone/>
            </a:pPr>
            <a:r>
              <a:rPr lang="en-US" sz="800" b="1" spc="37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STORAGE</a:t>
            </a:r>
            <a:endParaRPr lang="en-US" sz="800" dirty="0"/>
          </a:p>
        </p:txBody>
      </p:sp>
      <p:sp>
        <p:nvSpPr>
          <p:cNvPr id="47" name="Text 44"/>
          <p:cNvSpPr/>
          <p:nvPr/>
        </p:nvSpPr>
        <p:spPr>
          <a:xfrm>
            <a:off x="1564481" y="3421410"/>
            <a:ext cx="930362" cy="200025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45"/>
          <p:cNvSpPr/>
          <p:nvPr/>
        </p:nvSpPr>
        <p:spPr>
          <a:xfrm>
            <a:off x="1564481" y="3432125"/>
            <a:ext cx="930362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Databricks Lakehouse</a:t>
            </a:r>
            <a:endParaRPr lang="en-US" sz="800" dirty="0"/>
          </a:p>
        </p:txBody>
      </p:sp>
      <p:sp>
        <p:nvSpPr>
          <p:cNvPr id="49" name="Text 46"/>
          <p:cNvSpPr/>
          <p:nvPr/>
        </p:nvSpPr>
        <p:spPr>
          <a:xfrm>
            <a:off x="2580568" y="3421410"/>
            <a:ext cx="825884" cy="200025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Text 47"/>
          <p:cNvSpPr/>
          <p:nvPr/>
        </p:nvSpPr>
        <p:spPr>
          <a:xfrm>
            <a:off x="2580568" y="3432125"/>
            <a:ext cx="825884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Snowflake (Claims)</a:t>
            </a:r>
            <a:endParaRPr lang="en-US" sz="800" dirty="0"/>
          </a:p>
        </p:txBody>
      </p:sp>
      <p:sp>
        <p:nvSpPr>
          <p:cNvPr id="51" name="Text 48"/>
          <p:cNvSpPr/>
          <p:nvPr/>
        </p:nvSpPr>
        <p:spPr>
          <a:xfrm>
            <a:off x="3492178" y="3421410"/>
            <a:ext cx="850888" cy="200025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2" name="Text 49"/>
          <p:cNvSpPr/>
          <p:nvPr/>
        </p:nvSpPr>
        <p:spPr>
          <a:xfrm>
            <a:off x="3492178" y="3432125"/>
            <a:ext cx="850888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Oracle (Warehouse)</a:t>
            </a:r>
            <a:endParaRPr lang="en-US" sz="800" dirty="0"/>
          </a:p>
        </p:txBody>
      </p:sp>
      <p:sp>
        <p:nvSpPr>
          <p:cNvPr id="53" name="Text 50"/>
          <p:cNvSpPr/>
          <p:nvPr/>
        </p:nvSpPr>
        <p:spPr>
          <a:xfrm>
            <a:off x="4428790" y="3421410"/>
            <a:ext cx="520154" cy="200025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4" name="Text 51"/>
          <p:cNvSpPr/>
          <p:nvPr/>
        </p:nvSpPr>
        <p:spPr>
          <a:xfrm>
            <a:off x="4367171" y="3432125"/>
            <a:ext cx="643392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SAP FS-CD</a:t>
            </a:r>
            <a:endParaRPr lang="en-US" sz="800" dirty="0"/>
          </a:p>
        </p:txBody>
      </p:sp>
      <p:sp>
        <p:nvSpPr>
          <p:cNvPr id="55" name="Text 52"/>
          <p:cNvSpPr/>
          <p:nvPr/>
        </p:nvSpPr>
        <p:spPr>
          <a:xfrm>
            <a:off x="517922" y="3853607"/>
            <a:ext cx="8108156" cy="507206"/>
          </a:xfrm>
          <a:prstGeom prst="roundRect">
            <a:avLst>
              <a:gd name="adj" fmla="val 15023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6" name="Text 53"/>
          <p:cNvSpPr/>
          <p:nvPr/>
        </p:nvSpPr>
        <p:spPr>
          <a:xfrm>
            <a:off x="521494" y="3857179"/>
            <a:ext cx="928688" cy="500063"/>
          </a:xfrm>
          <a:prstGeom prst="rect">
            <a:avLst/>
          </a:prstGeom>
          <a:solidFill>
            <a:srgbClr val="004C9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7" name="Shape 54"/>
          <p:cNvSpPr/>
          <p:nvPr/>
        </p:nvSpPr>
        <p:spPr>
          <a:xfrm>
            <a:off x="1446609" y="3857179"/>
            <a:ext cx="0" cy="500063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521494" y="3857179"/>
            <a:ext cx="928688" cy="500063"/>
          </a:xfrm>
          <a:prstGeom prst="rect">
            <a:avLst/>
          </a:prstGeom>
          <a:noFill/>
          <a:ln/>
        </p:spPr>
        <p:txBody>
          <a:bodyPr wrap="none" lIns="85725" tIns="71438" rIns="85725" bIns="71438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37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LAYER 5</a:t>
            </a:r>
            <a:endParaRPr lang="en-US" sz="800" dirty="0"/>
          </a:p>
          <a:p>
            <a:pPr algn="l" indent="0" marL="0">
              <a:lnSpc>
                <a:spcPts val="928"/>
              </a:lnSpc>
              <a:buNone/>
            </a:pPr>
            <a:r>
              <a:rPr lang="en-US" sz="800" b="1" spc="37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PLATFORM</a:t>
            </a:r>
            <a:endParaRPr lang="en-US" sz="800" dirty="0"/>
          </a:p>
        </p:txBody>
      </p:sp>
      <p:sp>
        <p:nvSpPr>
          <p:cNvPr id="59" name="Text 56"/>
          <p:cNvSpPr/>
          <p:nvPr/>
        </p:nvSpPr>
        <p:spPr>
          <a:xfrm>
            <a:off x="1564481" y="4007197"/>
            <a:ext cx="844972" cy="200025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0" name="Text 57"/>
          <p:cNvSpPr/>
          <p:nvPr/>
        </p:nvSpPr>
        <p:spPr>
          <a:xfrm>
            <a:off x="1564481" y="4017913"/>
            <a:ext cx="844972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Snowflake on Azure</a:t>
            </a:r>
            <a:endParaRPr lang="en-US" sz="800" dirty="0"/>
          </a:p>
        </p:txBody>
      </p:sp>
      <p:sp>
        <p:nvSpPr>
          <p:cNvPr id="61" name="Text 58"/>
          <p:cNvSpPr/>
          <p:nvPr/>
        </p:nvSpPr>
        <p:spPr>
          <a:xfrm>
            <a:off x="2495178" y="4007197"/>
            <a:ext cx="821308" cy="200025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2" name="Text 59"/>
          <p:cNvSpPr/>
          <p:nvPr/>
        </p:nvSpPr>
        <p:spPr>
          <a:xfrm>
            <a:off x="2495178" y="4017913"/>
            <a:ext cx="821308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Databricks on AWS</a:t>
            </a:r>
            <a:endParaRPr lang="en-US" sz="800" dirty="0"/>
          </a:p>
        </p:txBody>
      </p:sp>
      <p:sp>
        <p:nvSpPr>
          <p:cNvPr id="63" name="Text 60"/>
          <p:cNvSpPr/>
          <p:nvPr/>
        </p:nvSpPr>
        <p:spPr>
          <a:xfrm>
            <a:off x="3402211" y="4007197"/>
            <a:ext cx="923999" cy="200025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4" name="Text 61"/>
          <p:cNvSpPr/>
          <p:nvPr/>
        </p:nvSpPr>
        <p:spPr>
          <a:xfrm>
            <a:off x="3402211" y="4017913"/>
            <a:ext cx="923999" cy="178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Collibra (Governance)</a:t>
            </a:r>
            <a:endParaRPr lang="en-US" sz="800" dirty="0"/>
          </a:p>
        </p:txBody>
      </p:sp>
      <p:sp>
        <p:nvSpPr>
          <p:cNvPr id="65" name="Text 62"/>
          <p:cNvSpPr/>
          <p:nvPr/>
        </p:nvSpPr>
        <p:spPr>
          <a:xfrm>
            <a:off x="4411935" y="4007197"/>
            <a:ext cx="798537" cy="200025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6" name="Text 63"/>
          <p:cNvSpPr/>
          <p:nvPr/>
        </p:nvSpPr>
        <p:spPr>
          <a:xfrm>
            <a:off x="4411935" y="4017913"/>
            <a:ext cx="798537" cy="178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OneTrust (Privacy)</a:t>
            </a:r>
            <a:endParaRPr lang="en-US" sz="800" dirty="0"/>
          </a:p>
        </p:txBody>
      </p:sp>
      <p:sp>
        <p:nvSpPr>
          <p:cNvPr id="67" name="Shape 64"/>
          <p:cNvSpPr/>
          <p:nvPr/>
        </p:nvSpPr>
        <p:spPr>
          <a:xfrm>
            <a:off x="514350" y="447555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68" name="Text 65"/>
          <p:cNvSpPr/>
          <p:nvPr/>
        </p:nvSpPr>
        <p:spPr>
          <a:xfrm>
            <a:off x="514350" y="4582716"/>
            <a:ext cx="3959535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69" name="Text 66"/>
          <p:cNvSpPr/>
          <p:nvPr/>
        </p:nvSpPr>
        <p:spPr>
          <a:xfrm>
            <a:off x="4488173" y="4579144"/>
            <a:ext cx="3509590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09 / 12</a:t>
            </a:r>
            <a:endParaRPr lang="en-US" sz="800" dirty="0"/>
          </a:p>
        </p:txBody>
      </p:sp>
      <p:sp>
        <p:nvSpPr>
          <p:cNvPr id="70" name="Text 67"/>
          <p:cNvSpPr/>
          <p:nvPr/>
        </p:nvSpPr>
        <p:spPr>
          <a:xfrm>
            <a:off x="7973028" y="4579144"/>
            <a:ext cx="695645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ARCHITECTURE</a:t>
            </a:r>
            <a:endParaRPr lang="en-US" sz="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-171450"/>
            <a:ext cx="21431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192881"/>
            <a:ext cx="1154710" cy="11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514350" y="542925"/>
            <a:ext cx="8629650" cy="1618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ENGAGEMENT PATHWAY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514350" y="732234"/>
            <a:ext cx="8629650" cy="2635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1"/>
              </a:lnSpc>
              <a:buNone/>
            </a:pPr>
            <a:r>
              <a:rPr lang="en-US" sz="1575" b="1" spc="-24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four-stage pathway from discovery to managed operations.</a:t>
            </a:r>
            <a:endParaRPr lang="en-US" sz="1575" dirty="0"/>
          </a:p>
        </p:txBody>
      </p:sp>
      <p:sp>
        <p:nvSpPr>
          <p:cNvPr id="6" name="Text 3"/>
          <p:cNvSpPr/>
          <p:nvPr/>
        </p:nvSpPr>
        <p:spPr>
          <a:xfrm>
            <a:off x="514350" y="1033388"/>
            <a:ext cx="81153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Each stage carries concrete deliverables, fixed duration, and transparent commercial frame.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517922" y="1344141"/>
            <a:ext cx="1935956" cy="2707481"/>
          </a:xfrm>
          <a:prstGeom prst="roundRect">
            <a:avLst>
              <a:gd name="adj" fmla="val 4920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621506" y="1462013"/>
            <a:ext cx="1728788" cy="1475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62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621506" y="1637035"/>
            <a:ext cx="1728788" cy="138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44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Discovery</a:t>
            </a:r>
            <a:endParaRPr lang="en-US" sz="844" dirty="0"/>
          </a:p>
        </p:txBody>
      </p:sp>
      <p:sp>
        <p:nvSpPr>
          <p:cNvPr id="10" name="Text 7"/>
          <p:cNvSpPr/>
          <p:nvPr/>
        </p:nvSpPr>
        <p:spPr>
          <a:xfrm>
            <a:off x="621506" y="1822772"/>
            <a:ext cx="172878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 WEEKS · FIXED FEE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621506" y="2029941"/>
            <a:ext cx="1728788" cy="7144"/>
          </a:xfrm>
          <a:prstGeom prst="rect">
            <a:avLst/>
          </a:prstGeom>
          <a:solidFill>
            <a:srgbClr val="CBD5E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621506" y="2137097"/>
            <a:ext cx="172878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b="1" spc="61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DELIVERABLES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621506" y="2333551"/>
            <a:ext cx="1728788" cy="1443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866"/>
              </a:lnSpc>
              <a:spcAft>
                <a:spcPts val="338"/>
              </a:spcAft>
              <a:buSzPct val="100000"/>
              <a:buChar char="•"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 Analytics &amp; Data Engineering maturity assessment</a:t>
            </a:r>
            <a:endParaRPr lang="en-US" sz="800" dirty="0"/>
          </a:p>
          <a:p>
            <a:pPr algn="l" marL="342900" indent="-342900">
              <a:lnSpc>
                <a:spcPts val="866"/>
              </a:lnSpc>
              <a:spcAft>
                <a:spcPts val="338"/>
              </a:spcAft>
              <a:buSzPct val="100000"/>
              <a:buChar char="•"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Opportunity prioritization</a:t>
            </a:r>
            <a:endParaRPr lang="en-US" sz="800" dirty="0"/>
          </a:p>
          <a:p>
            <a:pPr algn="l" marL="342900" indent="-342900">
              <a:lnSpc>
                <a:spcPts val="866"/>
              </a:lnSpc>
              <a:spcAft>
                <a:spcPts val="338"/>
              </a:spcAft>
              <a:buSzPct val="100000"/>
              <a:buChar char="•"/>
            </a:pPr>
            <a:r>
              <a:rPr lang="en-US" sz="800" dirty="0">
                <a:solidFill>
                  <a:srgbClr val="47556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90-day roadmap</a:t>
            </a:r>
            <a:endParaRPr lang="en-US" sz="800" dirty="0"/>
          </a:p>
          <a:p>
            <a:pPr algn="l" marL="342900" indent="-342900">
              <a:lnSpc>
                <a:spcPts val="866"/>
              </a:lnSpc>
              <a:spcAft>
                <a:spcPts val="338"/>
              </a:spcAft>
              <a:buSzPct val="100000"/>
              <a:buChar char="•"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ROI business case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621506" y="3744441"/>
            <a:ext cx="1728788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21506" y="3740869"/>
            <a:ext cx="1728788" cy="192881"/>
          </a:xfrm>
          <a:prstGeom prst="rect">
            <a:avLst/>
          </a:prstGeom>
          <a:noFill/>
          <a:ln/>
        </p:spPr>
        <p:txBody>
          <a:bodyPr wrap="none" lIns="0" tIns="5715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$25K-$75K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2575322" y="1344141"/>
            <a:ext cx="1935956" cy="2707481"/>
          </a:xfrm>
          <a:prstGeom prst="roundRect">
            <a:avLst>
              <a:gd name="adj" fmla="val 4920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2678906" y="1462013"/>
            <a:ext cx="1728787" cy="1475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62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2678906" y="1637035"/>
            <a:ext cx="1728787" cy="138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44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Solution Design</a:t>
            </a:r>
            <a:endParaRPr lang="en-US" sz="844" dirty="0"/>
          </a:p>
        </p:txBody>
      </p:sp>
      <p:sp>
        <p:nvSpPr>
          <p:cNvPr id="19" name="Text 16"/>
          <p:cNvSpPr/>
          <p:nvPr/>
        </p:nvSpPr>
        <p:spPr>
          <a:xfrm>
            <a:off x="2678906" y="1822772"/>
            <a:ext cx="172878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3-4 WEEKS · FIXED FEE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2678906" y="2029941"/>
            <a:ext cx="1728788" cy="7144"/>
          </a:xfrm>
          <a:prstGeom prst="rect">
            <a:avLst/>
          </a:prstGeom>
          <a:solidFill>
            <a:srgbClr val="CBD5E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8"/>
          <p:cNvSpPr/>
          <p:nvPr/>
        </p:nvSpPr>
        <p:spPr>
          <a:xfrm>
            <a:off x="2678906" y="2137097"/>
            <a:ext cx="172878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b="1" spc="61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DELIVERABLES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2678906" y="2333551"/>
            <a:ext cx="1728788" cy="1443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866"/>
              </a:lnSpc>
              <a:spcAft>
                <a:spcPts val="338"/>
              </a:spcAft>
              <a:buSzPct val="100000"/>
              <a:buChar char="•"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Target architecture</a:t>
            </a:r>
            <a:endParaRPr lang="en-US" sz="800" dirty="0"/>
          </a:p>
          <a:p>
            <a:pPr algn="l" marL="342900" indent="-342900">
              <a:lnSpc>
                <a:spcPts val="866"/>
              </a:lnSpc>
              <a:spcAft>
                <a:spcPts val="338"/>
              </a:spcAft>
              <a:buSzPct val="100000"/>
              <a:buChar char="•"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CoE charter</a:t>
            </a:r>
            <a:endParaRPr lang="en-US" sz="800" dirty="0"/>
          </a:p>
          <a:p>
            <a:pPr algn="l" marL="342900" indent="-342900">
              <a:lnSpc>
                <a:spcPts val="866"/>
              </a:lnSpc>
              <a:spcAft>
                <a:spcPts val="338"/>
              </a:spcAft>
              <a:buSzPct val="100000"/>
              <a:buChar char="•"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Governance framework</a:t>
            </a:r>
            <a:endParaRPr lang="en-US" sz="800" dirty="0"/>
          </a:p>
          <a:p>
            <a:pPr algn="l" marL="342900" indent="-342900">
              <a:lnSpc>
                <a:spcPts val="866"/>
              </a:lnSpc>
              <a:spcAft>
                <a:spcPts val="338"/>
              </a:spcAft>
              <a:buSzPct val="100000"/>
              <a:buChar char="•"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Build plan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2678906" y="3744441"/>
            <a:ext cx="1728788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2678906" y="3740869"/>
            <a:ext cx="1728788" cy="192881"/>
          </a:xfrm>
          <a:prstGeom prst="rect">
            <a:avLst/>
          </a:prstGeom>
          <a:noFill/>
          <a:ln/>
        </p:spPr>
        <p:txBody>
          <a:bodyPr wrap="none" lIns="0" tIns="5715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$50K-$150K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4632722" y="1344141"/>
            <a:ext cx="1935956" cy="2707481"/>
          </a:xfrm>
          <a:prstGeom prst="roundRect">
            <a:avLst>
              <a:gd name="adj" fmla="val 4920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3"/>
          <p:cNvSpPr/>
          <p:nvPr/>
        </p:nvSpPr>
        <p:spPr>
          <a:xfrm>
            <a:off x="4736306" y="1462013"/>
            <a:ext cx="1728787" cy="1475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62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4736306" y="1637035"/>
            <a:ext cx="1728788" cy="138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44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Delivery</a:t>
            </a:r>
            <a:endParaRPr lang="en-US" sz="844" dirty="0"/>
          </a:p>
        </p:txBody>
      </p:sp>
      <p:sp>
        <p:nvSpPr>
          <p:cNvPr id="28" name="Text 25"/>
          <p:cNvSpPr/>
          <p:nvPr/>
        </p:nvSpPr>
        <p:spPr>
          <a:xfrm>
            <a:off x="4736306" y="1822772"/>
            <a:ext cx="172878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8-24 WEEKS · T&amp;M OR FIXED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4736306" y="2029941"/>
            <a:ext cx="1728788" cy="7144"/>
          </a:xfrm>
          <a:prstGeom prst="rect">
            <a:avLst/>
          </a:prstGeom>
          <a:solidFill>
            <a:srgbClr val="CBD5E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7"/>
          <p:cNvSpPr/>
          <p:nvPr/>
        </p:nvSpPr>
        <p:spPr>
          <a:xfrm>
            <a:off x="4736306" y="2137097"/>
            <a:ext cx="172878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b="1" spc="61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DELIVERABLES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4736306" y="2333551"/>
            <a:ext cx="1728788" cy="1443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866"/>
              </a:lnSpc>
              <a:spcAft>
                <a:spcPts val="338"/>
              </a:spcAft>
              <a:buSzPct val="100000"/>
              <a:buChar char="•"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Production system</a:t>
            </a:r>
            <a:endParaRPr lang="en-US" sz="800" dirty="0"/>
          </a:p>
          <a:p>
            <a:pPr algn="l" marL="342900" indent="-342900">
              <a:lnSpc>
                <a:spcPts val="866"/>
              </a:lnSpc>
              <a:spcAft>
                <a:spcPts val="338"/>
              </a:spcAft>
              <a:buSzPct val="100000"/>
              <a:buChar char="•"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Integration complete</a:t>
            </a:r>
            <a:endParaRPr lang="en-US" sz="800" dirty="0"/>
          </a:p>
          <a:p>
            <a:pPr algn="l" marL="342900" indent="-342900">
              <a:lnSpc>
                <a:spcPts val="866"/>
              </a:lnSpc>
              <a:spcAft>
                <a:spcPts val="338"/>
              </a:spcAft>
              <a:buSzPct val="100000"/>
              <a:buChar char="•"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Documentation</a:t>
            </a:r>
            <a:endParaRPr lang="en-US" sz="800" dirty="0"/>
          </a:p>
          <a:p>
            <a:pPr algn="l" marL="342900" indent="-342900">
              <a:lnSpc>
                <a:spcPts val="866"/>
              </a:lnSpc>
              <a:spcAft>
                <a:spcPts val="338"/>
              </a:spcAft>
              <a:buSzPct val="100000"/>
              <a:buChar char="•"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Knowledge transfer</a:t>
            </a:r>
            <a:endParaRPr lang="en-US" sz="800" dirty="0"/>
          </a:p>
        </p:txBody>
      </p:sp>
      <p:sp>
        <p:nvSpPr>
          <p:cNvPr id="32" name="Shape 29"/>
          <p:cNvSpPr/>
          <p:nvPr/>
        </p:nvSpPr>
        <p:spPr>
          <a:xfrm>
            <a:off x="4736306" y="3744441"/>
            <a:ext cx="1728788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736306" y="3740869"/>
            <a:ext cx="1728788" cy="192881"/>
          </a:xfrm>
          <a:prstGeom prst="rect">
            <a:avLst/>
          </a:prstGeom>
          <a:noFill/>
          <a:ln/>
        </p:spPr>
        <p:txBody>
          <a:bodyPr wrap="none" lIns="0" tIns="5715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$300K-$1M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6690122" y="1344141"/>
            <a:ext cx="1935956" cy="2707481"/>
          </a:xfrm>
          <a:prstGeom prst="roundRect">
            <a:avLst>
              <a:gd name="adj" fmla="val 4920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2"/>
          <p:cNvSpPr/>
          <p:nvPr/>
        </p:nvSpPr>
        <p:spPr>
          <a:xfrm>
            <a:off x="6793706" y="1462013"/>
            <a:ext cx="1728787" cy="1475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62" kern="0" dirty="0">
                <a:solidFill>
                  <a:srgbClr val="FF6C0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800" dirty="0"/>
          </a:p>
        </p:txBody>
      </p:sp>
      <p:sp>
        <p:nvSpPr>
          <p:cNvPr id="36" name="Text 33"/>
          <p:cNvSpPr/>
          <p:nvPr/>
        </p:nvSpPr>
        <p:spPr>
          <a:xfrm>
            <a:off x="6793706" y="1637035"/>
            <a:ext cx="1728788" cy="138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44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Managed Operations</a:t>
            </a:r>
            <a:endParaRPr lang="en-US" sz="844" dirty="0"/>
          </a:p>
        </p:txBody>
      </p:sp>
      <p:sp>
        <p:nvSpPr>
          <p:cNvPr id="37" name="Text 34"/>
          <p:cNvSpPr/>
          <p:nvPr/>
        </p:nvSpPr>
        <p:spPr>
          <a:xfrm>
            <a:off x="6793706" y="1822772"/>
            <a:ext cx="172878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ONGOING · RETAINER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6793706" y="2029941"/>
            <a:ext cx="1728788" cy="7144"/>
          </a:xfrm>
          <a:prstGeom prst="rect">
            <a:avLst/>
          </a:prstGeom>
          <a:solidFill>
            <a:srgbClr val="CBD5E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6"/>
          <p:cNvSpPr/>
          <p:nvPr/>
        </p:nvSpPr>
        <p:spPr>
          <a:xfrm>
            <a:off x="6793706" y="2137097"/>
            <a:ext cx="172878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b="1" spc="61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DELIVERABLES</a:t>
            </a:r>
            <a:endParaRPr lang="en-US" sz="800" dirty="0"/>
          </a:p>
        </p:txBody>
      </p:sp>
      <p:sp>
        <p:nvSpPr>
          <p:cNvPr id="40" name="Text 37"/>
          <p:cNvSpPr/>
          <p:nvPr/>
        </p:nvSpPr>
        <p:spPr>
          <a:xfrm>
            <a:off x="6793706" y="2333551"/>
            <a:ext cx="1728788" cy="1443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866"/>
              </a:lnSpc>
              <a:spcAft>
                <a:spcPts val="338"/>
              </a:spcAft>
              <a:buSzPct val="100000"/>
              <a:buChar char="•"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Managed services</a:t>
            </a:r>
            <a:endParaRPr lang="en-US" sz="800" dirty="0"/>
          </a:p>
          <a:p>
            <a:pPr algn="l" marL="342900" indent="-342900">
              <a:lnSpc>
                <a:spcPts val="866"/>
              </a:lnSpc>
              <a:spcAft>
                <a:spcPts val="338"/>
              </a:spcAft>
              <a:buSzPct val="100000"/>
              <a:buChar char="•"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Continuous optimization</a:t>
            </a:r>
            <a:endParaRPr lang="en-US" sz="800" dirty="0"/>
          </a:p>
          <a:p>
            <a:pPr algn="l" marL="342900" indent="-342900">
              <a:lnSpc>
                <a:spcPts val="866"/>
              </a:lnSpc>
              <a:spcAft>
                <a:spcPts val="338"/>
              </a:spcAft>
              <a:buSzPct val="100000"/>
              <a:buChar char="•"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Quarterly reviews</a:t>
            </a:r>
            <a:endParaRPr lang="en-US" sz="800" dirty="0"/>
          </a:p>
          <a:p>
            <a:pPr algn="l" marL="342900" indent="-342900">
              <a:lnSpc>
                <a:spcPts val="866"/>
              </a:lnSpc>
              <a:spcAft>
                <a:spcPts val="338"/>
              </a:spcAft>
              <a:buSzPct val="100000"/>
              <a:buChar char="•"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SLA-backed operations</a:t>
            </a:r>
            <a:endParaRPr lang="en-US" sz="800" dirty="0"/>
          </a:p>
        </p:txBody>
      </p:sp>
      <p:sp>
        <p:nvSpPr>
          <p:cNvPr id="41" name="Shape 38"/>
          <p:cNvSpPr/>
          <p:nvPr/>
        </p:nvSpPr>
        <p:spPr>
          <a:xfrm>
            <a:off x="6793706" y="3744441"/>
            <a:ext cx="1728788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6793706" y="3740869"/>
            <a:ext cx="1728788" cy="192881"/>
          </a:xfrm>
          <a:prstGeom prst="rect">
            <a:avLst/>
          </a:prstGeom>
          <a:noFill/>
          <a:ln/>
        </p:spPr>
        <p:txBody>
          <a:bodyPr wrap="none" lIns="0" tIns="5715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D43F0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$50K-$500K / mo</a:t>
            </a:r>
            <a:endParaRPr lang="en-US" sz="800" dirty="0"/>
          </a:p>
        </p:txBody>
      </p:sp>
      <p:sp>
        <p:nvSpPr>
          <p:cNvPr id="43" name="Shape 40"/>
          <p:cNvSpPr/>
          <p:nvPr/>
        </p:nvSpPr>
        <p:spPr>
          <a:xfrm>
            <a:off x="514350" y="447555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514350" y="4582716"/>
            <a:ext cx="3786076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5" name="Text 42"/>
          <p:cNvSpPr/>
          <p:nvPr/>
        </p:nvSpPr>
        <p:spPr>
          <a:xfrm>
            <a:off x="4314713" y="4579144"/>
            <a:ext cx="3336243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10 / 12</a:t>
            </a:r>
            <a:endParaRPr lang="en-US" sz="800" dirty="0"/>
          </a:p>
        </p:txBody>
      </p:sp>
      <p:sp>
        <p:nvSpPr>
          <p:cNvPr id="46" name="Text 43"/>
          <p:cNvSpPr/>
          <p:nvPr/>
        </p:nvSpPr>
        <p:spPr>
          <a:xfrm>
            <a:off x="7665244" y="4579144"/>
            <a:ext cx="964406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ENGAGEMENT PATHWAY</a:t>
            </a:r>
            <a:endParaRPr lang="en-US" sz="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-171450"/>
            <a:ext cx="21431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192881"/>
            <a:ext cx="1154710" cy="11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514350" y="542925"/>
            <a:ext cx="8629650" cy="1618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WHY KEFI TECH · BFSI &amp; INSURANCE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514350" y="732234"/>
            <a:ext cx="8629650" cy="2635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1"/>
              </a:lnSpc>
              <a:buNone/>
            </a:pPr>
            <a:r>
              <a:rPr lang="en-US" sz="1575" b="1" spc="-24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Four reasons enterprises work with us.</a:t>
            </a:r>
            <a:endParaRPr lang="en-US" sz="1575" dirty="0"/>
          </a:p>
        </p:txBody>
      </p:sp>
      <p:sp>
        <p:nvSpPr>
          <p:cNvPr id="6" name="Text 3"/>
          <p:cNvSpPr/>
          <p:nvPr/>
        </p:nvSpPr>
        <p:spPr>
          <a:xfrm>
            <a:off x="514350" y="1033388"/>
            <a:ext cx="81153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Not generic services. Specific differentiators for bfsi &amp; insurance.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514350" y="1354857"/>
            <a:ext cx="3986213" cy="1214438"/>
          </a:xfrm>
          <a:prstGeom prst="roundRect">
            <a:avLst>
              <a:gd name="adj" fmla="val 6275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5"/>
          <p:cNvSpPr/>
          <p:nvPr/>
        </p:nvSpPr>
        <p:spPr>
          <a:xfrm>
            <a:off x="514350" y="1358429"/>
            <a:ext cx="398621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496991" y="1354857"/>
            <a:ext cx="0" cy="1214438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14350" y="2565722"/>
            <a:ext cx="398621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28638" y="1354857"/>
            <a:ext cx="0" cy="1214438"/>
          </a:xfrm>
          <a:prstGeom prst="line">
            <a:avLst/>
          </a:prstGeom>
          <a:noFill/>
          <a:ln w="28575">
            <a:solidFill>
              <a:srgbClr val="004C9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00088" y="1490588"/>
            <a:ext cx="363616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spc="79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700088" y="1697757"/>
            <a:ext cx="3636169" cy="154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Decision-grade data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700088" y="1897782"/>
            <a:ext cx="363616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 engineered to be operational, governed, and decision-grade.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4643438" y="1354857"/>
            <a:ext cx="3986213" cy="1214438"/>
          </a:xfrm>
          <a:prstGeom prst="roundRect">
            <a:avLst>
              <a:gd name="adj" fmla="val 6275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3"/>
          <p:cNvSpPr/>
          <p:nvPr/>
        </p:nvSpPr>
        <p:spPr>
          <a:xfrm>
            <a:off x="4643438" y="1358429"/>
            <a:ext cx="398621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626078" y="1354857"/>
            <a:ext cx="0" cy="1214438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643438" y="2565722"/>
            <a:ext cx="398621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657725" y="1354857"/>
            <a:ext cx="0" cy="1214438"/>
          </a:xfrm>
          <a:prstGeom prst="line">
            <a:avLst/>
          </a:prstGeom>
          <a:noFill/>
          <a:ln w="28575">
            <a:solidFill>
              <a:srgbClr val="004C97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829175" y="1490588"/>
            <a:ext cx="363616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spc="79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4829175" y="1697757"/>
            <a:ext cx="3636169" cy="154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Lakehouse first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4829175" y="1897782"/>
            <a:ext cx="363616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675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Modern Databricks/Snowflake lakehouse architecture — not legacy warehouses.</a:t>
            </a:r>
            <a:endParaRPr lang="en-US" sz="675" dirty="0"/>
          </a:p>
        </p:txBody>
      </p:sp>
      <p:sp>
        <p:nvSpPr>
          <p:cNvPr id="23" name="Text 20"/>
          <p:cNvSpPr/>
          <p:nvPr/>
        </p:nvSpPr>
        <p:spPr>
          <a:xfrm>
            <a:off x="514350" y="2712169"/>
            <a:ext cx="3986213" cy="1214438"/>
          </a:xfrm>
          <a:prstGeom prst="roundRect">
            <a:avLst>
              <a:gd name="adj" fmla="val 6275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Shape 21"/>
          <p:cNvSpPr/>
          <p:nvPr/>
        </p:nvSpPr>
        <p:spPr>
          <a:xfrm>
            <a:off x="514350" y="2715741"/>
            <a:ext cx="398621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4496991" y="2712169"/>
            <a:ext cx="0" cy="1214438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514350" y="3923035"/>
            <a:ext cx="398621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528638" y="2712169"/>
            <a:ext cx="0" cy="1214438"/>
          </a:xfrm>
          <a:prstGeom prst="line">
            <a:avLst/>
          </a:prstGeom>
          <a:noFill/>
          <a:ln w="28575">
            <a:solidFill>
              <a:srgbClr val="004C97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700088" y="2847901"/>
            <a:ext cx="363616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spc="79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700088" y="3055069"/>
            <a:ext cx="3636169" cy="154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AI-powered analytics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700088" y="3255094"/>
            <a:ext cx="363616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GenAI over enterprise data via Azure OpenAI + Power BI Copilot.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4643438" y="2712169"/>
            <a:ext cx="3986213" cy="1214438"/>
          </a:xfrm>
          <a:prstGeom prst="roundRect">
            <a:avLst>
              <a:gd name="adj" fmla="val 6275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Shape 29"/>
          <p:cNvSpPr/>
          <p:nvPr/>
        </p:nvSpPr>
        <p:spPr>
          <a:xfrm>
            <a:off x="4643438" y="2715741"/>
            <a:ext cx="398621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8626078" y="2712169"/>
            <a:ext cx="0" cy="1214438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4643438" y="3923035"/>
            <a:ext cx="398621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4657725" y="2712169"/>
            <a:ext cx="0" cy="1214438"/>
          </a:xfrm>
          <a:prstGeom prst="line">
            <a:avLst/>
          </a:prstGeom>
          <a:noFill/>
          <a:ln w="28575">
            <a:solidFill>
              <a:srgbClr val="FF6C0E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829175" y="2847901"/>
            <a:ext cx="363616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spc="79" kern="0" dirty="0">
                <a:solidFill>
                  <a:srgbClr val="FF6C0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800" dirty="0"/>
          </a:p>
        </p:txBody>
      </p:sp>
      <p:sp>
        <p:nvSpPr>
          <p:cNvPr id="37" name="Text 34"/>
          <p:cNvSpPr/>
          <p:nvPr/>
        </p:nvSpPr>
        <p:spPr>
          <a:xfrm>
            <a:off x="4829175" y="3055069"/>
            <a:ext cx="3636169" cy="154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Regulatory governance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4829175" y="3255094"/>
            <a:ext cx="363616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675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 lineage and quality as a discipline — audit-ready for regulators.</a:t>
            </a:r>
            <a:endParaRPr lang="en-US" sz="675" dirty="0"/>
          </a:p>
        </p:txBody>
      </p:sp>
      <p:sp>
        <p:nvSpPr>
          <p:cNvPr id="39" name="Shape 36"/>
          <p:cNvSpPr/>
          <p:nvPr/>
        </p:nvSpPr>
        <p:spPr>
          <a:xfrm>
            <a:off x="514350" y="447555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514350" y="4582716"/>
            <a:ext cx="3951163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1" name="Text 38"/>
          <p:cNvSpPr/>
          <p:nvPr/>
        </p:nvSpPr>
        <p:spPr>
          <a:xfrm>
            <a:off x="4479801" y="4579144"/>
            <a:ext cx="3501330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11 / 12</a:t>
            </a:r>
            <a:endParaRPr lang="en-US" sz="800" dirty="0"/>
          </a:p>
        </p:txBody>
      </p:sp>
      <p:sp>
        <p:nvSpPr>
          <p:cNvPr id="42" name="Text 39"/>
          <p:cNvSpPr/>
          <p:nvPr/>
        </p:nvSpPr>
        <p:spPr>
          <a:xfrm>
            <a:off x="7967409" y="4579144"/>
            <a:ext cx="690250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WHY KEFI TECH</a:t>
            </a:r>
            <a:endParaRPr lang="en-US" sz="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-171450"/>
            <a:ext cx="42863" cy="5143500"/>
          </a:xfrm>
          <a:prstGeom prst="rect">
            <a:avLst/>
          </a:prstGeom>
        </p:spPr>
      </p:pic>
      <p:pic>
        <p:nvPicPr>
          <p:cNvPr id="3" name="Image 1" descr="/tmp/h2p-fit-1790845409525-l13578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950" y="514350"/>
            <a:ext cx="1857375" cy="30215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42950" y="1743075"/>
            <a:ext cx="720291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GET IN TOUCH</a:t>
            </a:r>
            <a:endParaRPr lang="en-US" sz="800" dirty="0"/>
          </a:p>
        </p:txBody>
      </p:sp>
      <p:sp>
        <p:nvSpPr>
          <p:cNvPr id="5" name="Text 1"/>
          <p:cNvSpPr/>
          <p:nvPr/>
        </p:nvSpPr>
        <p:spPr>
          <a:xfrm>
            <a:off x="742950" y="1989534"/>
            <a:ext cx="5700713" cy="39259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3307"/>
              </a:lnSpc>
              <a:buNone/>
            </a:pPr>
            <a:r>
              <a:rPr lang="en-US" sz="3150" b="1" spc="-110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Let us engineer</a:t>
            </a:r>
            <a:endParaRPr lang="en-US" sz="3150" dirty="0"/>
          </a:p>
        </p:txBody>
      </p:sp>
      <p:sp>
        <p:nvSpPr>
          <p:cNvPr id="6" name="Text 2"/>
          <p:cNvSpPr/>
          <p:nvPr/>
        </p:nvSpPr>
        <p:spPr>
          <a:xfrm>
            <a:off x="742950" y="2409565"/>
            <a:ext cx="6363081" cy="453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7"/>
              </a:lnSpc>
              <a:buNone/>
            </a:pPr>
            <a:r>
              <a:rPr lang="en-US" sz="3150" b="1" spc="-110" kern="0" dirty="0">
                <a:solidFill>
                  <a:srgbClr val="FF6C0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what is next.</a:t>
            </a:r>
            <a:endParaRPr lang="en-US" sz="3150" dirty="0"/>
          </a:p>
        </p:txBody>
      </p:sp>
      <p:sp>
        <p:nvSpPr>
          <p:cNvPr id="7" name="Text 3"/>
          <p:cNvSpPr/>
          <p:nvPr/>
        </p:nvSpPr>
        <p:spPr>
          <a:xfrm>
            <a:off x="742950" y="3029620"/>
            <a:ext cx="342900" cy="21431"/>
          </a:xfrm>
          <a:prstGeom prst="roundRect">
            <a:avLst>
              <a:gd name="adj" fmla="val 88890"/>
            </a:avLst>
          </a:prstGeom>
          <a:solidFill>
            <a:srgbClr val="FF6C0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4"/>
          <p:cNvSpPr/>
          <p:nvPr/>
        </p:nvSpPr>
        <p:spPr>
          <a:xfrm>
            <a:off x="742950" y="3208213"/>
            <a:ext cx="5863590" cy="1727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spc="9" kern="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info@kefitech.com · www.kefitech.com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742950" y="3425317"/>
            <a:ext cx="5863590" cy="1727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spc="9" kern="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Bengaluru, India · Hyderabad, India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7419119" y="1785938"/>
            <a:ext cx="1101423" cy="203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350" b="1" spc="-13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Discover.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7394451" y="2231641"/>
            <a:ext cx="1132999" cy="203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350" b="1" spc="-13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Engineer.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7708888" y="2677344"/>
            <a:ext cx="730520" cy="203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350" b="1" spc="-13" kern="0" dirty="0">
                <a:solidFill>
                  <a:srgbClr val="FF6C0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Scale.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8451056" y="1743075"/>
            <a:ext cx="7144" cy="2000250"/>
          </a:xfrm>
          <a:prstGeom prst="rect">
            <a:avLst/>
          </a:prstGeom>
          <a:solidFill>
            <a:srgbClr val="94A3B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0"/>
          <p:cNvSpPr/>
          <p:nvPr/>
        </p:nvSpPr>
        <p:spPr>
          <a:xfrm>
            <a:off x="514350" y="447555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514350" y="4582716"/>
            <a:ext cx="3360800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16" name="Text 12"/>
          <p:cNvSpPr/>
          <p:nvPr/>
        </p:nvSpPr>
        <p:spPr>
          <a:xfrm>
            <a:off x="3889437" y="4579144"/>
            <a:ext cx="2910855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12 / 12</a:t>
            </a:r>
            <a:endParaRPr lang="en-US" sz="800" dirty="0"/>
          </a:p>
        </p:txBody>
      </p:sp>
      <p:sp>
        <p:nvSpPr>
          <p:cNvPr id="17" name="Text 13"/>
          <p:cNvSpPr/>
          <p:nvPr/>
        </p:nvSpPr>
        <p:spPr>
          <a:xfrm>
            <a:off x="6814579" y="4579144"/>
            <a:ext cx="1923975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INFO@KEFITECH.COM · WWW.KEFITECH.COM</a:t>
            </a:r>
            <a:endParaRPr lang="en-US" sz="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2026-10-01T09:03:29Z</dcterms:created>
  <dcterms:modified xsi:type="dcterms:W3CDTF">2026-10-01T09:03:29Z</dcterms:modified>
</cp:coreProperties>
</file>