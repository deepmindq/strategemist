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519626-9vt3s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84168" y="571500"/>
            <a:ext cx="23748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KEFI TECH · MANUFACTURING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66126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4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MANUFACTURING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85963"/>
            <a:ext cx="5143500" cy="93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7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742950" y="2945904"/>
            <a:ext cx="5400675" cy="51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72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Manufacturing.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742950" y="3625900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3790206"/>
            <a:ext cx="5554980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spc="-6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factory to cloud-native MES.</a:t>
            </a:r>
            <a:endParaRPr lang="en-US" sz="1238" dirty="0"/>
          </a:p>
        </p:txBody>
      </p:sp>
      <p:sp>
        <p:nvSpPr>
          <p:cNvPr id="10" name="Shape 6"/>
          <p:cNvSpPr/>
          <p:nvPr/>
        </p:nvSpPr>
        <p:spPr>
          <a:xfrm>
            <a:off x="6404372" y="1714500"/>
            <a:ext cx="0" cy="1753791"/>
          </a:xfrm>
          <a:prstGeom prst="line">
            <a:avLst/>
          </a:prstGeom>
          <a:noFill/>
          <a:ln w="7144">
            <a:solidFill>
              <a:srgbClr val="CBD5E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607969" y="1714500"/>
            <a:ext cx="17930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52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CAPABILITY INDEX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607969" y="2053828"/>
            <a:ext cx="181630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607969" y="2196703"/>
            <a:ext cx="19006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607969" y="2550319"/>
            <a:ext cx="181630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607969" y="2693194"/>
            <a:ext cx="17930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607969" y="3186113"/>
            <a:ext cx="181630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607969" y="3328988"/>
            <a:ext cx="190066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742950" y="4647009"/>
            <a:ext cx="7658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42950" y="4754166"/>
            <a:ext cx="496211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719353" y="4750594"/>
            <a:ext cx="268169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DIGITAL ENGINEERING AND TRANSFORMATION SERVICES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800100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MANUFACTURING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89409"/>
            <a:ext cx="8486775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is converging physical operations with digital intelligence.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575197"/>
            <a:ext cx="700087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operations, predictive maintenance, supply chain visibility and quality at scale define the modern factory.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905149"/>
            <a:ext cx="4456249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4369" y="2037308"/>
            <a:ext cx="427308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MANUFACTURING NEEDS THIS NOW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7941" y="2258764"/>
            <a:ext cx="4156211" cy="523280"/>
          </a:xfrm>
          <a:prstGeom prst="roundRect">
            <a:avLst>
              <a:gd name="adj" fmla="val 1456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7238" y="234806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406" dirty="0"/>
          </a:p>
        </p:txBody>
      </p:sp>
      <p:sp>
        <p:nvSpPr>
          <p:cNvPr id="10" name="Text 8"/>
          <p:cNvSpPr/>
          <p:nvPr/>
        </p:nvSpPr>
        <p:spPr>
          <a:xfrm>
            <a:off x="1042988" y="2333774"/>
            <a:ext cx="3691868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Industry 4.0 convergence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42988" y="2471291"/>
            <a:ext cx="369186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convergence accelerating — ISA-95, OPC UA, MTConnect connecting factory floor to cloud.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7941" y="2860625"/>
            <a:ext cx="4156211" cy="405408"/>
          </a:xfrm>
          <a:prstGeom prst="roundRect">
            <a:avLst>
              <a:gd name="adj" fmla="val 18796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7238" y="294992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1042988" y="2935635"/>
            <a:ext cx="3801596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cybersecurity mandate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42988" y="3073152"/>
            <a:ext cx="3691868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 security now regulated — IEC 62443-3-3 SL2 compliance required for connected factories.</a:t>
            </a:r>
            <a:endParaRPr lang="en-US" sz="619" dirty="0"/>
          </a:p>
        </p:txBody>
      </p:sp>
      <p:sp>
        <p:nvSpPr>
          <p:cNvPr id="16" name="Text 14"/>
          <p:cNvSpPr/>
          <p:nvPr/>
        </p:nvSpPr>
        <p:spPr>
          <a:xfrm>
            <a:off x="667941" y="3344614"/>
            <a:ext cx="4156211" cy="523280"/>
          </a:xfrm>
          <a:prstGeom prst="roundRect">
            <a:avLst>
              <a:gd name="adj" fmla="val 1456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7238" y="343391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18" name="Text 16"/>
          <p:cNvSpPr/>
          <p:nvPr/>
        </p:nvSpPr>
        <p:spPr>
          <a:xfrm>
            <a:off x="1042988" y="3419624"/>
            <a:ext cx="3801596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OEE optimisation pressure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42988" y="3557141"/>
            <a:ext cx="369186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Overall Equipment Effectiveness targets rising — predictive maintenance and real-time quality data now baseline.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67941" y="3946475"/>
            <a:ext cx="4156211" cy="523280"/>
          </a:xfrm>
          <a:prstGeom prst="roundRect">
            <a:avLst>
              <a:gd name="adj" fmla="val 1456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7238" y="403577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406" dirty="0"/>
          </a:p>
        </p:txBody>
      </p:sp>
      <p:sp>
        <p:nvSpPr>
          <p:cNvPr id="22" name="Text 20"/>
          <p:cNvSpPr/>
          <p:nvPr/>
        </p:nvSpPr>
        <p:spPr>
          <a:xfrm>
            <a:off x="1042988" y="4021485"/>
            <a:ext cx="3691868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resilience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42988" y="4159002"/>
            <a:ext cx="369186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Multi-echelon visibility, supplier risk monitoring, and demand forecasting now critical for continuity.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52765" y="1905149"/>
            <a:ext cx="3644652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99211" y="2037308"/>
            <a:ext cx="3351758" cy="308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DIGITAL ENGINEERING &amp; TRANSFORMATION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299211" y="2373064"/>
            <a:ext cx="3351758" cy="111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applied to manufacturing requires OT-aware, ISA-95 aligned, IEC 62443 compliant capability — not generic technology. The right approach connects digital engineering &amp; transformation to equipment protocols (OPC UA, MTConnect, Profinet), plant systems (Siemens Opcenter, SAP S/4HANA, Ignition), and the operational realities of the factory floor.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99211" y="4201864"/>
            <a:ext cx="1884387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99211" y="4201864"/>
            <a:ext cx="1884387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OT-AWARE · ISA-95 ALIGNED · IEC 62443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4350" y="4754166"/>
            <a:ext cx="371530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43946" y="4750594"/>
            <a:ext cx="326536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523597" y="4750594"/>
            <a:ext cx="110605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800100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75122"/>
            <a:ext cx="8629650" cy="25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for the connected factory.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14350" y="125797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aligned to ISA-95 manufacturing hierarchy.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529432"/>
            <a:ext cx="1850231" cy="492919"/>
          </a:xfrm>
          <a:prstGeom prst="roundRect">
            <a:avLst>
              <a:gd name="adj" fmla="val 1932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0081" y="169016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8" name="Text 6"/>
          <p:cNvSpPr/>
          <p:nvPr/>
        </p:nvSpPr>
        <p:spPr>
          <a:xfrm>
            <a:off x="907256" y="1700882"/>
            <a:ext cx="1328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71725" y="1661592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2603897" y="1529432"/>
            <a:ext cx="1850231" cy="492919"/>
          </a:xfrm>
          <a:prstGeom prst="roundRect">
            <a:avLst>
              <a:gd name="adj" fmla="val 1932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36056" y="169016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2" name="Text 10"/>
          <p:cNvSpPr/>
          <p:nvPr/>
        </p:nvSpPr>
        <p:spPr>
          <a:xfrm>
            <a:off x="2993231" y="1700882"/>
            <a:ext cx="1328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57700" y="1661592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4689872" y="1529432"/>
            <a:ext cx="1850231" cy="492919"/>
          </a:xfrm>
          <a:prstGeom prst="roundRect">
            <a:avLst>
              <a:gd name="adj" fmla="val 1932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22031" y="169016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6" name="Text 14"/>
          <p:cNvSpPr/>
          <p:nvPr/>
        </p:nvSpPr>
        <p:spPr>
          <a:xfrm>
            <a:off x="5079206" y="1700882"/>
            <a:ext cx="13287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 (OT/IT)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43675" y="1661592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8" name="Text 16"/>
          <p:cNvSpPr/>
          <p:nvPr/>
        </p:nvSpPr>
        <p:spPr>
          <a:xfrm>
            <a:off x="6775847" y="1529432"/>
            <a:ext cx="1850231" cy="492919"/>
          </a:xfrm>
          <a:prstGeom prst="roundRect">
            <a:avLst>
              <a:gd name="adj" fmla="val 1932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08006" y="169016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20" name="Text 18"/>
          <p:cNvSpPr/>
          <p:nvPr/>
        </p:nvSpPr>
        <p:spPr>
          <a:xfrm>
            <a:off x="7165181" y="1700882"/>
            <a:ext cx="1328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7922" y="2158082"/>
            <a:ext cx="2640732" cy="850106"/>
          </a:xfrm>
          <a:prstGeom prst="roundRect">
            <a:avLst>
              <a:gd name="adj" fmla="val 1120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5794" y="226166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688" dirty="0"/>
          </a:p>
        </p:txBody>
      </p:sp>
      <p:sp>
        <p:nvSpPr>
          <p:cNvPr id="23" name="Text 21"/>
          <p:cNvSpPr/>
          <p:nvPr/>
        </p:nvSpPr>
        <p:spPr>
          <a:xfrm>
            <a:off x="2902844" y="2283098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635794" y="2475979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5794" y="2638834"/>
            <a:ext cx="2404988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Opcenter MES, SAP QM, SAP Ariba supplier portal, React operator dashboards.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51522" y="2158082"/>
            <a:ext cx="2640843" cy="850106"/>
          </a:xfrm>
          <a:prstGeom prst="roundRect">
            <a:avLst>
              <a:gd name="adj" fmla="val 1120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69394" y="226166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688" dirty="0"/>
          </a:p>
        </p:txBody>
      </p:sp>
      <p:sp>
        <p:nvSpPr>
          <p:cNvPr id="28" name="Text 26"/>
          <p:cNvSpPr/>
          <p:nvPr/>
        </p:nvSpPr>
        <p:spPr>
          <a:xfrm>
            <a:off x="5636556" y="2283098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3369394" y="2475979"/>
            <a:ext cx="2514828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69394" y="2638834"/>
            <a:ext cx="2405100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SiteWise, Azure IoT Hub + Digital Twins, NVIDIA Omniverse digital twin, Ignition SCADA.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85235" y="2158082"/>
            <a:ext cx="2640732" cy="850106"/>
          </a:xfrm>
          <a:prstGeom prst="roundRect">
            <a:avLst>
              <a:gd name="adj" fmla="val 1120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103107" y="226166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688" dirty="0"/>
          </a:p>
        </p:txBody>
      </p:sp>
      <p:sp>
        <p:nvSpPr>
          <p:cNvPr id="33" name="Text 31"/>
          <p:cNvSpPr/>
          <p:nvPr/>
        </p:nvSpPr>
        <p:spPr>
          <a:xfrm>
            <a:off x="8370157" y="2283098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6103107" y="2475979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03107" y="2638834"/>
            <a:ext cx="2404988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 MES to Siemens Opcenter, SAP ECC to S/4HANA, Wonderware to Ignition SCADA migration.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7922" y="3101057"/>
            <a:ext cx="2640732" cy="850106"/>
          </a:xfrm>
          <a:prstGeom prst="roundRect">
            <a:avLst>
              <a:gd name="adj" fmla="val 1120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35794" y="320464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688" dirty="0"/>
          </a:p>
        </p:txBody>
      </p:sp>
      <p:sp>
        <p:nvSpPr>
          <p:cNvPr id="38" name="Text 36"/>
          <p:cNvSpPr/>
          <p:nvPr/>
        </p:nvSpPr>
        <p:spPr>
          <a:xfrm>
            <a:off x="2902844" y="3226073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635794" y="3418954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5794" y="3581809"/>
            <a:ext cx="2404988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MII ERP-MES, OPC UA / MTConnect equipment, Teamcenter-SAP PLM, EDI supplier integration.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51522" y="3101057"/>
            <a:ext cx="2640843" cy="850106"/>
          </a:xfrm>
          <a:prstGeom prst="roundRect">
            <a:avLst>
              <a:gd name="adj" fmla="val 1120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369394" y="320464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688" dirty="0"/>
          </a:p>
        </p:txBody>
      </p:sp>
      <p:sp>
        <p:nvSpPr>
          <p:cNvPr id="43" name="Text 41"/>
          <p:cNvSpPr/>
          <p:nvPr/>
        </p:nvSpPr>
        <p:spPr>
          <a:xfrm>
            <a:off x="5636556" y="3226073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75" dirty="0"/>
          </a:p>
        </p:txBody>
      </p:sp>
      <p:sp>
        <p:nvSpPr>
          <p:cNvPr id="44" name="Text 42"/>
          <p:cNvSpPr/>
          <p:nvPr/>
        </p:nvSpPr>
        <p:spPr>
          <a:xfrm>
            <a:off x="3369394" y="3418954"/>
            <a:ext cx="2514828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UI/UX &amp; Experience Engineering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369394" y="3581809"/>
            <a:ext cx="2405100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Ignition Perspective HMI, Power BI Embedded dashboards, React Native maintenance app, SAP Fiori.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85235" y="3101057"/>
            <a:ext cx="2640732" cy="850106"/>
          </a:xfrm>
          <a:prstGeom prst="roundRect">
            <a:avLst>
              <a:gd name="adj" fmla="val 1120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103107" y="320464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688" dirty="0"/>
          </a:p>
        </p:txBody>
      </p:sp>
      <p:sp>
        <p:nvSpPr>
          <p:cNvPr id="48" name="Text 46"/>
          <p:cNvSpPr/>
          <p:nvPr/>
        </p:nvSpPr>
        <p:spPr>
          <a:xfrm>
            <a:off x="8370157" y="3226073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6103107" y="3418954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DevSecOps &amp; Engineering Consulting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03107" y="3581809"/>
            <a:ext cx="2404988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IEC 62443 OT/IT security, GitLab CI for industrial software, GAMP 5 validation, IATF 16949 standards.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800100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 · MANUFACTURING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75122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295140"/>
            <a:ext cx="81153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Opcenter MES, SAP QM, SAP Ariba supplier portal, React operator dashboards.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610804"/>
            <a:ext cx="4456249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757251"/>
            <a:ext cx="41347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8656" y="1989423"/>
            <a:ext cx="413478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product &amp; platform engineering capability is engineered for manufacturing environments. We work with Siemens Opcenter, SAP S/4HANA, AWS IoT SiteWise, Ignition SCADA, and NVIDIA Jetson edge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4178982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8656" y="4178982"/>
            <a:ext cx="1777901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 · MANUFACTURING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152765" y="1610804"/>
            <a:ext cx="3644652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84924" y="1742963"/>
            <a:ext cx="33803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88496" y="1950132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56361" y="2017998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84961" y="20108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799274" y="2003710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MES Platform (Siemens Opcenter)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99274" y="2127945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Opcenter Execution (Camstar) deployment — production orders, routing, shop floor control, electronic batch records per ISA-88.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8496" y="2431554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56361" y="2499420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84961" y="24922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799274" y="2485132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Management System (SAP QM)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99274" y="2609366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S/4HANA QM module — inspection plans, defect tracking, CAPA (Corrective and Preventive Action), supplier quality management.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88496" y="2912976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56361" y="2980841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84961" y="29736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799274" y="2966554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Maintenance Platform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99274" y="3090788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SaaS platform on AWS IoT SiteWise — equipment health monitoring, failure prediction, SAP PM work order automation.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88496" y="3394397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56361" y="3462263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84961" y="34551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799274" y="3447976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Supplier Portal (SAP Ariba)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99274" y="3572210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Ariba supplier portal — purchase orders, ASNs (Advance Shipping Notices), quality documents, performance scorecards.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88496" y="3875819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56361" y="3943685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84961" y="39365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799274" y="3929397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Operator Dashboard (Tablet-First)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99274" y="4053632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React + .NET tablet app for line operators — work instructions (SOP), quality checks, and downtime logging via SAP MII integration.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50657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35214" y="4750594"/>
            <a:ext cx="305674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106245" y="4750594"/>
            <a:ext cx="161480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800100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 · MANUFACTURING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75122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295140"/>
            <a:ext cx="81153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SiteWise, Azure IoT Hub + Digital Twins, NVIDIA Omniverse digital twin, Ignition SCADA.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610804"/>
            <a:ext cx="4456249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757251"/>
            <a:ext cx="41347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8656" y="1989423"/>
            <a:ext cx="413478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cloud-native &amp; platform engineering capability is engineered for manufacturing environments. We work with Siemens Opcenter, SAP S/4HANA, AWS IoT SiteWise, Ignition SCADA, and NVIDIA Jetson edge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4178982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8656" y="4178982"/>
            <a:ext cx="1777901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 · MANUFACTURING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152765" y="1610804"/>
            <a:ext cx="3644652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84924" y="1742963"/>
            <a:ext cx="33803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88496" y="1950132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56361" y="2017998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84961" y="20108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799274" y="2003710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Factory Platform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99274" y="2127945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SiteWise + TwinMaker + Greengrass — connecting equipment (OPC UA/MTConnect) to cloud analytics with edge processing.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8496" y="2431554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56361" y="2499420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84961" y="24922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799274" y="2485132"/>
            <a:ext cx="2794546" cy="9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Industrial IoT Platform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99274" y="2609366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IoT Hub + IoT Edge + Digital Twins — device management, telemetry, and edge analytics for 500+ factory devices.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88496" y="2912976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56361" y="2980841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84961" y="29736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799274" y="2966554"/>
            <a:ext cx="2794546" cy="9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Twin Platform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99274" y="3090788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NVIDIA Omniverse + Siemens Xcelerator — physics-based digital twin of production line for simulation and optimisation.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88496" y="3394397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56361" y="3462263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84961" y="34551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799274" y="3447976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Internal Developer Platform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99274" y="3572210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Backstage.io developer portal with golden paths for OT/IT integration — templated OPC UA connectors, SAP MII adapters.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88496" y="3875819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56361" y="3943685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84961" y="39365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799274" y="3929397"/>
            <a:ext cx="2794546" cy="9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 Computing Platform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99274" y="4053632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NVIDIA Jetson + Azure IoT Edge — real-time vision inference and vibration analysis at factory floor with &lt;50ms latency.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40120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929844" y="4750594"/>
            <a:ext cx="295137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95505" y="4750594"/>
            <a:ext cx="183819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800100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 · MANUFACTURING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75122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295140"/>
            <a:ext cx="81153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 MES to Siemens Opcenter, SAP ECC to S/4HANA, Wonderware to Ignition SCADA migration.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610804"/>
            <a:ext cx="4456249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757251"/>
            <a:ext cx="41347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8656" y="1989423"/>
            <a:ext cx="413478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application modernization capability is engineered for manufacturing environments. We work with Siemens Opcenter, SAP S/4HANA, AWS IoT SiteWise, Ignition SCADA, and NVIDIA Jetson edge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4178982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8656" y="4178982"/>
            <a:ext cx="1777901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 · MANUFACTURING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152765" y="1610804"/>
            <a:ext cx="3644652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84924" y="1742963"/>
            <a:ext cx="33803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88496" y="1950132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56361" y="2017998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84961" y="20108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799274" y="2003710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 MES Migration to Siemens Opcenter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99274" y="2127945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Incremental migration from legacy MES (Rockwell FactoryTalk, GE Proficy) to Siemens Opcenter — strangler pattern with dual-run.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8496" y="2431554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56361" y="2499420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84961" y="24922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799274" y="2485132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ERP Modernization (S/4HANA Migration)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99274" y="2609366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ECC to S/4HANA migration for manufacturing — Fiori apps for plant managers, embedded analytics, MRP live.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88496" y="2912976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56361" y="2980841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84961" y="29736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799274" y="2966554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SCADA System Modernization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99274" y="3090788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Replacing legacy Wonderware / iFix SCADA with Ignition (Inductive Automation) — web-based, cross-platform, OPC UA native.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88496" y="3394397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56361" y="3462263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84961" y="34551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799274" y="3447976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Plant Historian Modernization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99274" y="3572210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Migrating from GE Historian / PI System (OSIsoft) to cloud-native InfluxDB + TimescaleDB on Kubernetes.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88496" y="3875819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56361" y="3943685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84961" y="39365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799274" y="3929397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System Migration to Cloud QMS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99274" y="4053632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Migrating on-premise QMS (MasterControl / Veeva) to cloud-based Sparta Systems TrackWise on AWS.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64934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177978" y="4750594"/>
            <a:ext cx="319950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91772" y="4750594"/>
            <a:ext cx="131215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800100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 · MANUFACTURING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75122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295140"/>
            <a:ext cx="81153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MII ERP-MES, OPC UA / MTConnect equipment, Teamcenter-SAP PLM, EDI supplier integration.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610804"/>
            <a:ext cx="4456249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757251"/>
            <a:ext cx="41347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8656" y="1989423"/>
            <a:ext cx="413478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api &amp; integration engineering capability is engineered for manufacturing environments. We work with Siemens Opcenter, SAP S/4HANA, AWS IoT SiteWise, Ignition SCADA, and NVIDIA Jetson edge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4178982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8656" y="4178982"/>
            <a:ext cx="1777901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 · MANUFACTURING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152765" y="1610804"/>
            <a:ext cx="3644652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84924" y="1742963"/>
            <a:ext cx="33803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88496" y="1950132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56361" y="2017998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84961" y="20108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799274" y="2003710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ERP-MES Integration (SAP MII)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99274" y="2127945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Manufacturing Integration and Intelligence (MII) — real-time SAP S/4HANA to Siemens Opcenter integration for work order dispatch.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8496" y="2431554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56361" y="2499420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84961" y="24922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799274" y="2485132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Equipment Connectivity (OPC UA / MTConnect)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99274" y="2609366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OPC UA (Unified Architecture) and MTConnect protocol integration with CNC, PLC (Siemens S7, Allen-Bradley), and robots (FANUC, KUKA).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88496" y="2912976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56361" y="2980841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84961" y="29736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799274" y="2966554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PLM-ERP Integration (Teamcenter-SAP)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99274" y="3090788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Teamcenter to SAP S/4HANA integration — BOM synchronisation, ECR/ECN routing, engineering data handoff.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88496" y="3394397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56361" y="3462263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84961" y="34551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799274" y="3447976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Supplier EDI &amp; API Integration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99274" y="3572210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 (ANSI X12 / EDIFACT) + REST API integration with suppliers via SAP Ariba — POs, ASNs, invoices, PPAP documents.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88496" y="3875819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56361" y="3943685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84961" y="39365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799274" y="3929397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Lab Equipment Integration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99274" y="4053632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with CMM (Hexagon/Zeiss), spectrometers (OBLF/ARL), and test rigs via OPC UA / SECS/GEM protocols.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57634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104977" y="4750594"/>
            <a:ext cx="312650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245772" y="4750594"/>
            <a:ext cx="146691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800100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APPLICATIONS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75122"/>
            <a:ext cx="8486775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digital engineering &amp; transformation applies to the factory floor.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546622"/>
            <a:ext cx="81153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manufacturing-specific applications with real technology stacks.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862286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99444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969" dirty="0"/>
          </a:p>
        </p:txBody>
      </p:sp>
      <p:sp>
        <p:nvSpPr>
          <p:cNvPr id="8" name="Text 6"/>
          <p:cNvSpPr/>
          <p:nvPr/>
        </p:nvSpPr>
        <p:spPr>
          <a:xfrm>
            <a:off x="4280222" y="2019449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2265908"/>
            <a:ext cx="3781616" cy="195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Computer Vision Quality Control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678656" y="2518060"/>
            <a:ext cx="3671888" cy="276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YOLOv8 on NVIDIA Jetson — real-time defect detection on Cognex/Keyence camera feeds at 60fps.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32722" y="1862286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93456" y="199444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969" dirty="0"/>
          </a:p>
        </p:txBody>
      </p:sp>
      <p:sp>
        <p:nvSpPr>
          <p:cNvPr id="13" name="Text 11"/>
          <p:cNvSpPr/>
          <p:nvPr/>
        </p:nvSpPr>
        <p:spPr>
          <a:xfrm>
            <a:off x="8304407" y="2019449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4793456" y="2265908"/>
            <a:ext cx="3671888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Maintenance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4793456" y="2518060"/>
            <a:ext cx="3671888" cy="276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Lookout for Equipment + LSTM on vibration FFT data — bearing failure predicted 14-30 days ahead.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7922" y="3048149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8656" y="318030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969" dirty="0"/>
          </a:p>
        </p:txBody>
      </p:sp>
      <p:sp>
        <p:nvSpPr>
          <p:cNvPr id="18" name="Text 16"/>
          <p:cNvSpPr/>
          <p:nvPr/>
        </p:nvSpPr>
        <p:spPr>
          <a:xfrm>
            <a:off x="4117918" y="3205311"/>
            <a:ext cx="2545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678656" y="3451771"/>
            <a:ext cx="3781616" cy="195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Intelligence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678656" y="3703923"/>
            <a:ext cx="3671888" cy="276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IBP + LightGBM forecasting — demand, inventory, and supplier risk across multi-echelon supply chain.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32722" y="3048149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93456" y="318030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23" name="Text 21"/>
          <p:cNvSpPr/>
          <p:nvPr/>
        </p:nvSpPr>
        <p:spPr>
          <a:xfrm>
            <a:off x="8304407" y="3205311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4793456" y="3451771"/>
            <a:ext cx="3781616" cy="195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Factory Operations</a:t>
            </a:r>
            <a:endParaRPr lang="en-US" sz="1238" dirty="0"/>
          </a:p>
        </p:txBody>
      </p:sp>
      <p:sp>
        <p:nvSpPr>
          <p:cNvPr id="25" name="Text 23"/>
          <p:cNvSpPr/>
          <p:nvPr/>
        </p:nvSpPr>
        <p:spPr>
          <a:xfrm>
            <a:off x="4793456" y="3703923"/>
            <a:ext cx="3671888" cy="276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SiteWise + Siemens Opcenter — real-time OEE, digital twin, and ISA-95 hierarchy visibility.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800100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 · MANUFACTURING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75122"/>
            <a:ext cx="8629650" cy="461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2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digital engineering &amp; transformation — manufacturing.</a:t>
            </a:r>
            <a:endParaRPr lang="en-US" sz="1463" dirty="0"/>
          </a:p>
        </p:txBody>
      </p:sp>
      <p:sp>
        <p:nvSpPr>
          <p:cNvPr id="5" name="Text 3"/>
          <p:cNvSpPr/>
          <p:nvPr/>
        </p:nvSpPr>
        <p:spPr>
          <a:xfrm>
            <a:off x="514350" y="1463576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manufacturing technology platforms — not generic terms.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735038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1494" y="1738610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446609" y="1738610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494" y="1738610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EXPERIENCE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68053" y="1904702"/>
            <a:ext cx="1190327" cy="210741"/>
          </a:xfrm>
          <a:prstGeom prst="roundRect">
            <a:avLst>
              <a:gd name="adj" fmla="val 1807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64481" y="1901130"/>
            <a:ext cx="1240334" cy="304246"/>
          </a:xfrm>
          <a:prstGeom prst="rect">
            <a:avLst/>
          </a:prstGeom>
          <a:noFill/>
          <a:ln/>
        </p:spPr>
        <p:txBody>
          <a:bodyPr wrap="squar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Ignition Perspective (HMI)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847677" y="1888329"/>
            <a:ext cx="972778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47677" y="1901130"/>
            <a:ext cx="97277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Power BI Embedded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906180" y="1888329"/>
            <a:ext cx="1170012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906180" y="1901130"/>
            <a:ext cx="117001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React Native (Maint App)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61917" y="1888329"/>
            <a:ext cx="936836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61917" y="1901130"/>
            <a:ext cx="93683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Fiori (Supplier)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7922" y="2363688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1494" y="2367260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446609" y="2367260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494" y="2367260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564481" y="2516979"/>
            <a:ext cx="1164654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64481" y="2529780"/>
            <a:ext cx="116465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Opcenter (MES)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14861" y="2516979"/>
            <a:ext cx="869640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814861" y="2529780"/>
            <a:ext cx="8696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SAP S/4HANA QM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770226" y="2516979"/>
            <a:ext cx="838721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770226" y="2529780"/>
            <a:ext cx="83872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Ignition (SCADA)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94672" y="2516979"/>
            <a:ext cx="979252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94672" y="2529780"/>
            <a:ext cx="97925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Ariba (Supplier)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7922" y="2992338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1494" y="2995910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1446609" y="2995910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494" y="2995910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564481" y="3145629"/>
            <a:ext cx="957932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564481" y="3158430"/>
            <a:ext cx="95793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GitLab CI + ArgoCD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608138" y="3145629"/>
            <a:ext cx="1049573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608138" y="3158430"/>
            <a:ext cx="104957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Kubernetes (EKS/AKS)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743437" y="3145629"/>
            <a:ext cx="982266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743437" y="3158430"/>
            <a:ext cx="98226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Greengrass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11427" y="3145629"/>
            <a:ext cx="1087078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11427" y="3158430"/>
            <a:ext cx="108707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Backstage (Dev Portal)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7922" y="3620988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21494" y="3624560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1446609" y="3624560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494" y="3624560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564481" y="3774279"/>
            <a:ext cx="909265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564481" y="3787080"/>
            <a:ext cx="90926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MII (ERP-MES)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59472" y="3774279"/>
            <a:ext cx="998674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559472" y="3787080"/>
            <a:ext cx="99867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OPC UA / MTConnect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643871" y="3774279"/>
            <a:ext cx="1067321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643871" y="3787080"/>
            <a:ext cx="106732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Teamcenter-SAP (PLM)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96917" y="3774279"/>
            <a:ext cx="939626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796917" y="3787080"/>
            <a:ext cx="93962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Ariba (EDI/API)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7922" y="4249638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21494" y="4253210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1446609" y="4253210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1494" y="4253210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564481" y="4402929"/>
            <a:ext cx="869975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564481" y="4415730"/>
            <a:ext cx="86997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SiteWise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520181" y="4402929"/>
            <a:ext cx="1009166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2520181" y="4415730"/>
            <a:ext cx="100916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NVIDIA Jetson (Edge)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615072" y="4402929"/>
            <a:ext cx="838721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3615072" y="4415730"/>
            <a:ext cx="83872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Ignition (SCADA)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539518" y="4402929"/>
            <a:ext cx="958155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539518" y="4415730"/>
            <a:ext cx="95815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InfluxDB (Historian)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800100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75122"/>
            <a:ext cx="7858125" cy="25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managed operations.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14350" y="1257970"/>
            <a:ext cx="671512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562584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5794" y="1680456"/>
            <a:ext cx="170021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35794" y="1841190"/>
            <a:ext cx="1700213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635794" y="2029718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35794" y="2222599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5794" y="2301180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35794" y="2508349"/>
            <a:ext cx="1700213" cy="13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maturity assessment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landscape mapping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ISA-95 gap analysis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35794" y="3820009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794" y="3816437"/>
            <a:ext cx="170021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75322" y="1562584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93194" y="1680456"/>
            <a:ext cx="170021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93194" y="1841190"/>
            <a:ext cx="1700213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956" dirty="0"/>
          </a:p>
        </p:txBody>
      </p:sp>
      <p:sp>
        <p:nvSpPr>
          <p:cNvPr id="18" name="Text 16"/>
          <p:cNvSpPr/>
          <p:nvPr/>
        </p:nvSpPr>
        <p:spPr>
          <a:xfrm>
            <a:off x="2693194" y="2029718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93194" y="2222599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93194" y="2301180"/>
            <a:ext cx="17002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93194" y="2508349"/>
            <a:ext cx="1700213" cy="13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 (OT/IT)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security design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selection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93194" y="3820009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3194" y="3816437"/>
            <a:ext cx="170021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32722" y="1562584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50594" y="1680456"/>
            <a:ext cx="170021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0594" y="1841190"/>
            <a:ext cx="1700213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956" dirty="0"/>
          </a:p>
        </p:txBody>
      </p:sp>
      <p:sp>
        <p:nvSpPr>
          <p:cNvPr id="27" name="Text 25"/>
          <p:cNvSpPr/>
          <p:nvPr/>
        </p:nvSpPr>
        <p:spPr>
          <a:xfrm>
            <a:off x="4750594" y="2029718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0594" y="2222599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50594" y="2301180"/>
            <a:ext cx="17002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0594" y="2508349"/>
            <a:ext cx="1700213" cy="13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integration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validation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0594" y="3820009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0594" y="3816437"/>
            <a:ext cx="170021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690122" y="1562584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807994" y="1680456"/>
            <a:ext cx="170021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07994" y="1841190"/>
            <a:ext cx="1700212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956" dirty="0"/>
          </a:p>
        </p:txBody>
      </p:sp>
      <p:sp>
        <p:nvSpPr>
          <p:cNvPr id="36" name="Text 34"/>
          <p:cNvSpPr/>
          <p:nvPr/>
        </p:nvSpPr>
        <p:spPr>
          <a:xfrm>
            <a:off x="6807994" y="2029718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07994" y="2222599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807994" y="2301180"/>
            <a:ext cx="17002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07994" y="2508349"/>
            <a:ext cx="1700213" cy="13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 (OT-aware)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07994" y="3820009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07994" y="3816437"/>
            <a:ext cx="1700212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4350" y="4754166"/>
            <a:ext cx="37860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314713" y="4750594"/>
            <a:ext cx="33362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665244" y="475059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800100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 · MANUFACTURING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75122"/>
            <a:ext cx="7858125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manufacturing enterprises work with us.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289447"/>
            <a:ext cx="81153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IT services. OT-aware, ISA-95 aligned, IEC 62443 compliant.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615827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4350" y="161939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96991" y="1615827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350" y="268381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8638" y="1615827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0088" y="1751558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0088" y="1958727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OT-native engineering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0088" y="2158752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Engineers who code PLCs (IEC 61131-3) AND build cloud-native platforms — not IT-only teams.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43438" y="1615827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43438" y="161939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26078" y="1615827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3438" y="268381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57725" y="1615827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9175" y="1751558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29175" y="1958727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+ SAP expertise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29175" y="2158752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expertise in Siemens Opcenter, Teamcenter, and SAP S/4HANA manufacturing modules.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4350" y="2830264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14350" y="2833836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6991" y="2830264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4350" y="3898255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8638" y="2830264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0088" y="2965996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0088" y="3173164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Ignition-first SCADA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0088" y="3373189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web-based SCADA via Ignition (Inductive Automation) — replacing Wonderware, iFix, FactoryTalk.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43438" y="2830264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43438" y="2833836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26078" y="2830264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43438" y="3898255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57725" y="2830264"/>
            <a:ext cx="0" cy="1071563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9175" y="2965996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29175" y="3173164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security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29175" y="3373189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security engineering per IEC 62443 — Purdue Model segmentation, zone/conduit design.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951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79801" y="4750594"/>
            <a:ext cx="35013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967409" y="475059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526314-gr18e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" y="1714500"/>
            <a:ext cx="46204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4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985963"/>
            <a:ext cx="3573494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742950" y="2405993"/>
            <a:ext cx="3988699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2997473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2950" y="3190354"/>
            <a:ext cx="367559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42950" y="3404667"/>
            <a:ext cx="367559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8397478" y="1714500"/>
            <a:ext cx="0" cy="1714500"/>
          </a:xfrm>
          <a:prstGeom prst="line">
            <a:avLst/>
          </a:prstGeom>
          <a:noFill/>
          <a:ln w="7144">
            <a:solidFill>
              <a:srgbClr val="CBD5E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427602" y="1714500"/>
            <a:ext cx="76627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6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1013" dirty="0"/>
          </a:p>
        </p:txBody>
      </p:sp>
      <p:sp>
        <p:nvSpPr>
          <p:cNvPr id="12" name="Text 8"/>
          <p:cNvSpPr/>
          <p:nvPr/>
        </p:nvSpPr>
        <p:spPr>
          <a:xfrm>
            <a:off x="7427602" y="2475309"/>
            <a:ext cx="76627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6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1013" dirty="0"/>
          </a:p>
        </p:txBody>
      </p:sp>
      <p:sp>
        <p:nvSpPr>
          <p:cNvPr id="13" name="Text 9"/>
          <p:cNvSpPr/>
          <p:nvPr/>
        </p:nvSpPr>
        <p:spPr>
          <a:xfrm>
            <a:off x="7676954" y="3236119"/>
            <a:ext cx="52296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61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1013" dirty="0"/>
          </a:p>
        </p:txBody>
      </p:sp>
      <p:sp>
        <p:nvSpPr>
          <p:cNvPr id="14" name="Shape 10"/>
          <p:cNvSpPr/>
          <p:nvPr/>
        </p:nvSpPr>
        <p:spPr>
          <a:xfrm>
            <a:off x="742950" y="4647009"/>
            <a:ext cx="7658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42950" y="4754166"/>
            <a:ext cx="31322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889437" y="4750594"/>
            <a:ext cx="26822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5859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2026-10-01T09:05:26Z</dcterms:created>
  <dcterms:modified xsi:type="dcterms:W3CDTF">2026-10-01T09:05:26Z</dcterms:modified>
</cp:coreProperties>
</file>