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350703-cvw5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07076" y="571500"/>
            <a:ext cx="20874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EDUCATION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59787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EDUCATION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71675"/>
            <a:ext cx="4682226" cy="45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7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2451646"/>
            <a:ext cx="4682226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72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Education.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10306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295948"/>
            <a:ext cx="4286250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deep-tech capability brief on Kefi Tech AI Transformation Services for Education.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6279356" y="1714500"/>
            <a:ext cx="7144" cy="25717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543675" y="1771650"/>
            <a:ext cx="260032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543675" y="1928813"/>
            <a:ext cx="195024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844" dirty="0"/>
          </a:p>
        </p:txBody>
      </p:sp>
      <p:sp>
        <p:nvSpPr>
          <p:cNvPr id="13" name="Text 9"/>
          <p:cNvSpPr/>
          <p:nvPr/>
        </p:nvSpPr>
        <p:spPr>
          <a:xfrm>
            <a:off x="6543675" y="2319933"/>
            <a:ext cx="260032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543675" y="2477095"/>
            <a:ext cx="195024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844" dirty="0"/>
          </a:p>
        </p:txBody>
      </p:sp>
      <p:sp>
        <p:nvSpPr>
          <p:cNvPr id="15" name="Text 11"/>
          <p:cNvSpPr/>
          <p:nvPr/>
        </p:nvSpPr>
        <p:spPr>
          <a:xfrm>
            <a:off x="6543675" y="2868216"/>
            <a:ext cx="260032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543675" y="3025378"/>
            <a:ext cx="2005965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844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64495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978216" y="4750594"/>
            <a:ext cx="175052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 · AI TRANSFORMATION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00038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947855" y="328613"/>
            <a:ext cx="21101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 · INDUSTRY CONTEXT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001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EDUCATION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989409"/>
            <a:ext cx="7858125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is being reshaped by digital learning, institutional automation and student lifecycle intelligence.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1575197"/>
            <a:ext cx="7715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success, faculty productivity, institutional efficiency and digital experience define modern education.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928813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2944" y="2089547"/>
            <a:ext cx="37530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EDUCATION NEEDS THIS NOW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6516" y="2314575"/>
            <a:ext cx="3636169" cy="418914"/>
          </a:xfrm>
          <a:prstGeom prst="roundRect">
            <a:avLst>
              <a:gd name="adj" fmla="val 181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00100" y="240387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2" name="Text 9"/>
          <p:cNvSpPr/>
          <p:nvPr/>
        </p:nvSpPr>
        <p:spPr>
          <a:xfrm>
            <a:off x="1028700" y="2403872"/>
            <a:ext cx="2535062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28700" y="2534245"/>
            <a:ext cx="234728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4" name="Text 11"/>
          <p:cNvSpPr/>
          <p:nvPr/>
        </p:nvSpPr>
        <p:spPr>
          <a:xfrm>
            <a:off x="696516" y="2812070"/>
            <a:ext cx="3636169" cy="418914"/>
          </a:xfrm>
          <a:prstGeom prst="roundRect">
            <a:avLst>
              <a:gd name="adj" fmla="val 181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0100" y="290136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6" name="Text 13"/>
          <p:cNvSpPr/>
          <p:nvPr/>
        </p:nvSpPr>
        <p:spPr>
          <a:xfrm>
            <a:off x="1028700" y="2901367"/>
            <a:ext cx="3050658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28700" y="3031741"/>
            <a:ext cx="282468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8" name="Text 15"/>
          <p:cNvSpPr/>
          <p:nvPr/>
        </p:nvSpPr>
        <p:spPr>
          <a:xfrm>
            <a:off x="696516" y="3309565"/>
            <a:ext cx="3636169" cy="418914"/>
          </a:xfrm>
          <a:prstGeom prst="roundRect">
            <a:avLst>
              <a:gd name="adj" fmla="val 181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00100" y="339886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20" name="Text 17"/>
          <p:cNvSpPr/>
          <p:nvPr/>
        </p:nvSpPr>
        <p:spPr>
          <a:xfrm>
            <a:off x="1028700" y="3398862"/>
            <a:ext cx="2745062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28700" y="3529236"/>
            <a:ext cx="254172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2" name="Text 19"/>
          <p:cNvSpPr/>
          <p:nvPr/>
        </p:nvSpPr>
        <p:spPr>
          <a:xfrm>
            <a:off x="696516" y="3807061"/>
            <a:ext cx="3636169" cy="418914"/>
          </a:xfrm>
          <a:prstGeom prst="roundRect">
            <a:avLst>
              <a:gd name="adj" fmla="val 181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00100" y="389635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4" name="Text 21"/>
          <p:cNvSpPr/>
          <p:nvPr/>
        </p:nvSpPr>
        <p:spPr>
          <a:xfrm>
            <a:off x="1028700" y="3896358"/>
            <a:ext cx="2903586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28700" y="4026731"/>
            <a:ext cx="2688506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6" name="Text 23"/>
          <p:cNvSpPr/>
          <p:nvPr/>
        </p:nvSpPr>
        <p:spPr>
          <a:xfrm>
            <a:off x="4775597" y="1928813"/>
            <a:ext cx="313610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50619" y="2089547"/>
            <a:ext cx="28957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AI TRANSFORMATION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50619" y="2311003"/>
            <a:ext cx="2786063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applied to education requires industry-specific capability, not generic technology. The right approach connects ai transformation to the regulatory, operational and customer realities that define education.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950619" y="3120926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50619" y="3120926"/>
            <a:ext cx="1477194" cy="197510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4350" y="4754166"/>
            <a:ext cx="382849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357129" y="4750594"/>
            <a:ext cx="337865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750076" y="4750594"/>
            <a:ext cx="8795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00038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305935" y="328613"/>
            <a:ext cx="16608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 · 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001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989409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across the complete lifecycle.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1303734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for education.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628775"/>
            <a:ext cx="1893094" cy="635794"/>
          </a:xfrm>
          <a:prstGeom prst="roundRect">
            <a:avLst>
              <a:gd name="adj" fmla="val 1198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385888" y="171807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10" name="Text 7"/>
          <p:cNvSpPr/>
          <p:nvPr/>
        </p:nvSpPr>
        <p:spPr>
          <a:xfrm>
            <a:off x="1167333" y="1918097"/>
            <a:ext cx="8039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14588" y="186094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2589609" y="1628775"/>
            <a:ext cx="1893094" cy="635794"/>
          </a:xfrm>
          <a:prstGeom prst="roundRect">
            <a:avLst>
              <a:gd name="adj" fmla="val 1198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457575" y="171807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547" dirty="0"/>
          </a:p>
        </p:txBody>
      </p:sp>
      <p:sp>
        <p:nvSpPr>
          <p:cNvPr id="14" name="Text 11"/>
          <p:cNvSpPr/>
          <p:nvPr/>
        </p:nvSpPr>
        <p:spPr>
          <a:xfrm>
            <a:off x="3359014" y="1918097"/>
            <a:ext cx="566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486275" y="186094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661297" y="1628775"/>
            <a:ext cx="1893094" cy="635794"/>
          </a:xfrm>
          <a:prstGeom prst="roundRect">
            <a:avLst>
              <a:gd name="adj" fmla="val 1198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529263" y="171807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547" dirty="0"/>
          </a:p>
        </p:txBody>
      </p:sp>
      <p:sp>
        <p:nvSpPr>
          <p:cNvPr id="18" name="Text 15"/>
          <p:cNvSpPr/>
          <p:nvPr/>
        </p:nvSpPr>
        <p:spPr>
          <a:xfrm>
            <a:off x="5285259" y="1918097"/>
            <a:ext cx="8729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57963" y="186094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20" name="Text 17"/>
          <p:cNvSpPr/>
          <p:nvPr/>
        </p:nvSpPr>
        <p:spPr>
          <a:xfrm>
            <a:off x="6732984" y="1628775"/>
            <a:ext cx="1893094" cy="635794"/>
          </a:xfrm>
          <a:prstGeom prst="roundRect">
            <a:avLst>
              <a:gd name="adj" fmla="val 1198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600950" y="171807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547" dirty="0"/>
          </a:p>
        </p:txBody>
      </p:sp>
      <p:sp>
        <p:nvSpPr>
          <p:cNvPr id="22" name="Text 19"/>
          <p:cNvSpPr/>
          <p:nvPr/>
        </p:nvSpPr>
        <p:spPr>
          <a:xfrm>
            <a:off x="7416775" y="1918097"/>
            <a:ext cx="7110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4350" y="2396728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2400300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158654" y="2396728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3250406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5066" y="2396728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5794" y="24895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29" name="Text 26"/>
          <p:cNvSpPr/>
          <p:nvPr/>
        </p:nvSpPr>
        <p:spPr>
          <a:xfrm>
            <a:off x="878681" y="2516386"/>
            <a:ext cx="21763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5794" y="2689622"/>
            <a:ext cx="2419276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35794" y="2838190"/>
            <a:ext cx="241927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copilots, knowledge assistants, document intelligence grounded in enterprise data.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247951" y="2396728"/>
            <a:ext cx="2647987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3247951" y="2400300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92366" y="2396728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47951" y="3250406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58666" y="2396728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69394" y="24895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38" name="Text 35"/>
          <p:cNvSpPr/>
          <p:nvPr/>
        </p:nvSpPr>
        <p:spPr>
          <a:xfrm>
            <a:off x="3612282" y="2516386"/>
            <a:ext cx="2176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369394" y="2689622"/>
            <a:ext cx="2419387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369394" y="2838190"/>
            <a:ext cx="2419387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systems for automated workflows with human-in-the-loop controls.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981663" y="2396728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5981663" y="2400300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625967" y="2396728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981663" y="3250406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992378" y="2396728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03107" y="24895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47" name="Text 44"/>
          <p:cNvSpPr/>
          <p:nvPr/>
        </p:nvSpPr>
        <p:spPr>
          <a:xfrm>
            <a:off x="6345994" y="2516386"/>
            <a:ext cx="21763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103107" y="2689622"/>
            <a:ext cx="2529004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103107" y="2838190"/>
            <a:ext cx="241927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 with cited answers over enterprise knowledge bases.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14350" y="3339703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8"/>
          <p:cNvSpPr/>
          <p:nvPr/>
        </p:nvSpPr>
        <p:spPr>
          <a:xfrm>
            <a:off x="514350" y="3343275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158654" y="3339703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14350" y="4193381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25066" y="3339703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35794" y="34325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56" name="Text 53"/>
          <p:cNvSpPr/>
          <p:nvPr/>
        </p:nvSpPr>
        <p:spPr>
          <a:xfrm>
            <a:off x="878681" y="3459361"/>
            <a:ext cx="21763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635794" y="3632597"/>
            <a:ext cx="2529004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635794" y="3781165"/>
            <a:ext cx="241927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models for risk, churn, demand, anomaly detection.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3247951" y="3339703"/>
            <a:ext cx="2647987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7"/>
          <p:cNvSpPr/>
          <p:nvPr/>
        </p:nvSpPr>
        <p:spPr>
          <a:xfrm>
            <a:off x="3247951" y="3343275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892366" y="3339703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247951" y="4193381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258666" y="3339703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369394" y="34325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65" name="Text 62"/>
          <p:cNvSpPr/>
          <p:nvPr/>
        </p:nvSpPr>
        <p:spPr>
          <a:xfrm>
            <a:off x="3612282" y="3459361"/>
            <a:ext cx="2176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3369394" y="3632597"/>
            <a:ext cx="2419387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Engineering &amp; LLMOps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3369394" y="3781165"/>
            <a:ext cx="2419387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lifecycle, evaluation, monitoring, drift detection, governance.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5981663" y="3339703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6"/>
          <p:cNvSpPr/>
          <p:nvPr/>
        </p:nvSpPr>
        <p:spPr>
          <a:xfrm>
            <a:off x="5981663" y="3343275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625967" y="3339703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981663" y="4193381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992378" y="3339703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103107" y="34325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74" name="Text 71"/>
          <p:cNvSpPr/>
          <p:nvPr/>
        </p:nvSpPr>
        <p:spPr>
          <a:xfrm>
            <a:off x="6345994" y="3459361"/>
            <a:ext cx="21763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6103107" y="3632597"/>
            <a:ext cx="2529004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 &amp; Governance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6103107" y="3781165"/>
            <a:ext cx="241927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Bias assessment, explainability, privacy, regulatory compliance.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00038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522802" y="328613"/>
            <a:ext cx="24808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 · GENERATIVE AI SOLUTIONS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EDUCATION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975122"/>
            <a:ext cx="8521065" cy="30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Solutions.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514350" y="1311548"/>
            <a:ext cx="7858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copilots, knowledge assistants, document intelligence grounded in enterprise data.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636588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2944" y="1797323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2004492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generative ai solutions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92944" y="4190479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190479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EDUCATION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775597" y="1636588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07756" y="1768748"/>
            <a:ext cx="2871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11328" y="1965201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979194" y="2018779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50644" y="201877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336381" y="2018779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Faculty Course Assistant (Azure OpenAI)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36381" y="2140223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helping faculty draft syllabi, assignments, rubrics via Azure OpenAI — grounded in Canvas LMS course content.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911328" y="2450976"/>
            <a:ext cx="2864644" cy="52863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79194" y="2504554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50644" y="25045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336381" y="2504554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Student Query Assistant (GPT-4)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36381" y="2625998"/>
            <a:ext cx="23717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answering student questions about course content, deadlines, policies — grounded in Canvas/Brightspace course materials.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911328" y="3036763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79194" y="3090342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50644" y="309034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336381" y="3090342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Content Personalisation Engine (Claude)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36381" y="3211785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adapting learning content to individual student pace via Anthropic Claude + Brightspace LMS APIs.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911328" y="3522538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79194" y="3576117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150644" y="35761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336381" y="3576117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 Essay Reader (GenAI)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36381" y="3697560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summarising and scoring admissions essays via Slate CRM for review committees.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911328" y="4008313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979194" y="4061892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150644" y="40618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336381" y="4061892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Literature Summariser (Claude)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336381" y="4183335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summarising research papers via Semantic Scholar API and producing structured literature reviews.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71608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244727" y="4750594"/>
            <a:ext cx="326614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525159" y="4750594"/>
            <a:ext cx="11044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00038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507398" y="328613"/>
            <a:ext cx="24915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 · AGENTIC AI &amp; AUTOMATION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EDUCATION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975122"/>
            <a:ext cx="8521065" cy="30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Automation.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514350" y="1311548"/>
            <a:ext cx="7858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systems for automated workflows with human-in-the-loop controls.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636588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2944" y="1797323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2004492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agentic ai &amp; automation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92944" y="4190479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190479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EDUCATION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775597" y="1636588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07756" y="1768748"/>
            <a:ext cx="2871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11328" y="1965201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979194" y="2018779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50644" y="201877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336381" y="2018779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 Workflow Agent (Pega)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36381" y="2140223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ingesting applications from Slate CRM, validating transcripts, routing to reviewers via Pega.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911328" y="2450976"/>
            <a:ext cx="2864644" cy="535781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79194" y="2504554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50644" y="25045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336381" y="2504554"/>
            <a:ext cx="23717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Support Triage Agent (Salesforce Education Cloud)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36381" y="2733154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handling student queries — academic, financial, administrative — routing via Salesforce Education Cloud.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911328" y="3043907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79194" y="3097485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50644" y="30974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336381" y="3097485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Plagiarism Detection Workflow (Turnitin API)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5336381" y="3218929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that flags potential plagiarism via Turnitin API and routes to academic integrity committee.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911328" y="3529682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79194" y="3583260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150644" y="358326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336381" y="3583260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Alumni Engagement Agent (Salesforce)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36381" y="3704704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managing alumni communications, events, giving campaigns via Salesforce Marketing Cloud.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911328" y="4015457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979194" y="4069035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150644" y="40690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336381" y="4069035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Accreditation Reporting Agent (Watermark)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336381" y="4190479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compiling accreditation evidence from Watermark + Banner SIS into regional accreditor reports.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70738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236021" y="4750594"/>
            <a:ext cx="325755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507858" y="4750594"/>
            <a:ext cx="11217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00038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228569" y="328613"/>
            <a:ext cx="28439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 · ENTERPRISE KNOWLEDGE &amp; RAG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EDUCATION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975122"/>
            <a:ext cx="862965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RAG.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514350" y="1311548"/>
            <a:ext cx="7858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 with cited answers over enterprise knowledge bases.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636588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2944" y="1797323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2004492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enterprise knowledge &amp; rag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92944" y="4190479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190479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EDUCATION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775597" y="1636588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07756" y="1768748"/>
            <a:ext cx="2871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11328" y="1965201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979194" y="2018779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50644" y="201877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336381" y="2018779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Institutional Knowledge Base (Azure AI Search)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5336381" y="2140223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policies, procedures, handbooks via Azure AI Search — students and staff query in natural language.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911328" y="2450976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79194" y="2504554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50644" y="25045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336381" y="2504554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Academic Catalog RAG (Pinecone)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36381" y="2625998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search across course catalogs, program requirements, degree pathways via Pinecone + Banner SIS.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911328" y="2936751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79194" y="2990329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50644" y="29903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336381" y="2990329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Faculty Research RAG (Semantic Scholar)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36381" y="3111773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Searchable repository of faculty publications, grants, research interests via Semantic Scholar API.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911328" y="3422526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79194" y="3476104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150644" y="347610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336381" y="3476104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Services Knowledge Assistant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36381" y="3597548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answering financial aid, registration, advising questions via Salesforce Education Cloud.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911328" y="3908301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979194" y="3961879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150644" y="396187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336381" y="3961879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Library &amp; Research Database RAG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336381" y="4083323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search across library catalogs (Alma/Ex Libris), journal subscriptions (EBSCO), digital archives.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6027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131432" y="4750594"/>
            <a:ext cx="31529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298680" y="4750594"/>
            <a:ext cx="141082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00038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052654" y="328613"/>
            <a:ext cx="30913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 / 12 · AI/ML &amp; PREDICTIVE INTELLIGENCE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EDUCATION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975122"/>
            <a:ext cx="862965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Intelligence.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514350" y="1311548"/>
            <a:ext cx="7858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models for risk, churn, demand, anomaly detection.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636588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2944" y="1797323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2004492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ai/ml &amp; predictive intelligence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92944" y="4190479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190479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EDUCATION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775597" y="1636588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07756" y="1768748"/>
            <a:ext cx="2871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11328" y="1965201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979194" y="2018779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50644" y="201877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5336381" y="2018779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At-Risk Student Prediction (XGBoost)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36381" y="2140223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 model identifying students at risk of dropping out via Banner SIS + LMS engagement data — enables early intervention.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911328" y="2450976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79194" y="2504554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50644" y="25045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5336381" y="2504554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Enrollment Forecasting (Prophet)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36381" y="2625998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Time-series forecasting of enrollment per program, demographic, term via Prophet + Banner SIS.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911328" y="2936751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79194" y="2990329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50644" y="299032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336381" y="2990329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Course Demand Prediction (LightGBM)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36381" y="3111773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Predicting course demand to optimise scheduling and faculty allocation via LightGBM + Banner.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911328" y="3422526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79194" y="3476104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150644" y="347610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5336381" y="3476104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Alumni Giving Prediction (scikit-learn)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36381" y="3597548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 predicting alumni giving likelihood via Salesforce + historical giving data.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911328" y="3908301"/>
            <a:ext cx="286464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979194" y="3961879"/>
            <a:ext cx="18288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150644" y="396187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336381" y="3961879"/>
            <a:ext cx="248145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Career Outcome Prediction (ML)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336381" y="4083323"/>
            <a:ext cx="2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Predicting student career outcomes based on academic and extracurricular data via Handshake career platform.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5523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080979" y="4750594"/>
            <a:ext cx="310250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197775" y="4750594"/>
            <a:ext cx="15177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00038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257492" y="328613"/>
            <a:ext cx="17216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 · APPLICATIONS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001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· EDUCATION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989409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ai transformation applies to education.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1303734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with real technology platforms.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685925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4369" y="190660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969" dirty="0"/>
          </a:p>
        </p:txBody>
      </p:sp>
      <p:sp>
        <p:nvSpPr>
          <p:cNvPr id="10" name="Text 7"/>
          <p:cNvSpPr/>
          <p:nvPr/>
        </p:nvSpPr>
        <p:spPr>
          <a:xfrm>
            <a:off x="950119" y="1936961"/>
            <a:ext cx="196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8850" y="1818084"/>
            <a:ext cx="3098825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&amp; Faculty Assistants (Azure OpenAI + Canvas)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664369" y="2252290"/>
            <a:ext cx="3593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assistants via Azure OpenAI grounded in Canvas LMS — course help, advising, research.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25566" y="1685925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72013" y="190660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5" name="Text 12"/>
          <p:cNvSpPr/>
          <p:nvPr/>
        </p:nvSpPr>
        <p:spPr>
          <a:xfrm>
            <a:off x="4957763" y="1936961"/>
            <a:ext cx="196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66494" y="1818084"/>
            <a:ext cx="3098825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Institutional Knowledge Systems (Azure AI Search)</a:t>
            </a:r>
            <a:endParaRPr lang="en-US" sz="1238" dirty="0"/>
          </a:p>
        </p:txBody>
      </p:sp>
      <p:sp>
        <p:nvSpPr>
          <p:cNvPr id="17" name="Text 14"/>
          <p:cNvSpPr/>
          <p:nvPr/>
        </p:nvSpPr>
        <p:spPr>
          <a:xfrm>
            <a:off x="4672013" y="2252290"/>
            <a:ext cx="3593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policies, catalogs, research via Azure AI Search + Pinecone + Alma library system.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7922" y="2871788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64369" y="309246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20" name="Text 17"/>
          <p:cNvSpPr/>
          <p:nvPr/>
        </p:nvSpPr>
        <p:spPr>
          <a:xfrm>
            <a:off x="950119" y="3122823"/>
            <a:ext cx="196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58850" y="3003947"/>
            <a:ext cx="3098825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Lifecycle Platform (Salesforce Education Cloud)</a:t>
            </a:r>
            <a:endParaRPr lang="en-US" sz="1238" dirty="0"/>
          </a:p>
        </p:txBody>
      </p:sp>
      <p:sp>
        <p:nvSpPr>
          <p:cNvPr id="22" name="Text 19"/>
          <p:cNvSpPr/>
          <p:nvPr/>
        </p:nvSpPr>
        <p:spPr>
          <a:xfrm>
            <a:off x="664369" y="3438153"/>
            <a:ext cx="3593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 through alumni via Salesforce Education Cloud + Banner SIS + Slate CRM.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525566" y="2871788"/>
            <a:ext cx="3886200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672013" y="309246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25" name="Text 22"/>
          <p:cNvSpPr/>
          <p:nvPr/>
        </p:nvSpPr>
        <p:spPr>
          <a:xfrm>
            <a:off x="4957763" y="3122823"/>
            <a:ext cx="1968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66494" y="3003947"/>
            <a:ext cx="3098825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Insights (XGBoost + Banner SIS)</a:t>
            </a:r>
            <a:endParaRPr lang="en-US" sz="1238" dirty="0"/>
          </a:p>
        </p:txBody>
      </p:sp>
      <p:sp>
        <p:nvSpPr>
          <p:cNvPr id="27" name="Text 24"/>
          <p:cNvSpPr/>
          <p:nvPr/>
        </p:nvSpPr>
        <p:spPr>
          <a:xfrm>
            <a:off x="4672013" y="3438153"/>
            <a:ext cx="3593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At-risk prediction, enrollment forecasting via XGBoost + Prophet + Banner SIS data.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00038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226573" y="328613"/>
            <a:ext cx="17604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 · ARCHITECTURE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001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EDUCATION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989409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ai transformation — education.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514350" y="1286545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industry technology platforms.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572295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21494" y="1575867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1446609" y="1575867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494" y="1575867"/>
            <a:ext cx="928688" cy="6143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 · APPLICATION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568053" y="1797323"/>
            <a:ext cx="1128043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564481" y="1793751"/>
            <a:ext cx="1178049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Faculty Asst (Azure OpenAI)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788965" y="1797323"/>
            <a:ext cx="1085404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785393" y="1793751"/>
            <a:ext cx="1135410" cy="274320"/>
          </a:xfrm>
          <a:prstGeom prst="rect">
            <a:avLst/>
          </a:prstGeom>
          <a:noFill/>
          <a:ln/>
        </p:spPr>
        <p:txBody>
          <a:bodyPr wrap="non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Student Query Bot (GPT-4)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967237" y="1797323"/>
            <a:ext cx="1107170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963665" y="1793751"/>
            <a:ext cx="1157176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 Reader (GenAI)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167275" y="1797323"/>
            <a:ext cx="1246026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163703" y="1793751"/>
            <a:ext cx="3344503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Summariser (Claude)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7922" y="2272382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21494" y="2275954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1446609" y="2275954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1494" y="2275954"/>
            <a:ext cx="928688" cy="6143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 · ORCHESTRATION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564481" y="2483123"/>
            <a:ext cx="98360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564481" y="2493838"/>
            <a:ext cx="98360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 Flow (Pega)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633811" y="2483123"/>
            <a:ext cx="96742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633811" y="2493838"/>
            <a:ext cx="96742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Support Triage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86956" y="2483123"/>
            <a:ext cx="81126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686956" y="2493838"/>
            <a:ext cx="81126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Plagiarism Routing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583943" y="2483123"/>
            <a:ext cx="86997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583943" y="2493838"/>
            <a:ext cx="8699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Alumni Engagement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17922" y="2972470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21494" y="2976042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1446609" y="2976042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1494" y="2976042"/>
            <a:ext cx="928688" cy="6143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 · MODELS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564481" y="3183210"/>
            <a:ext cx="77677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1564481" y="3193926"/>
            <a:ext cx="77677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At-Risk (XGBoost)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2426977" y="3183210"/>
            <a:ext cx="88571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2426977" y="3193926"/>
            <a:ext cx="88571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Enrollment (Prophet)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398416" y="3183210"/>
            <a:ext cx="114076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3398416" y="3193926"/>
            <a:ext cx="114076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Course Demand (LightGBM)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628480" y="3197498"/>
            <a:ext cx="1105942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624908" y="3193926"/>
            <a:ext cx="3883298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Alumni Giving (scikit-learn)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17922" y="3672557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521494" y="3676129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3"/>
          <p:cNvSpPr/>
          <p:nvPr/>
        </p:nvSpPr>
        <p:spPr>
          <a:xfrm>
            <a:off x="1446609" y="3676129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21494" y="3676129"/>
            <a:ext cx="928688" cy="6143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 · DATA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564481" y="3883298"/>
            <a:ext cx="76795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1564481" y="3894013"/>
            <a:ext cx="7679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Canvas LMS Data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2418159" y="3883298"/>
            <a:ext cx="84084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2418159" y="3894013"/>
            <a:ext cx="84084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Banner SIS Records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3344726" y="3883298"/>
            <a:ext cx="89453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3344726" y="3894013"/>
            <a:ext cx="89453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Alma Library Catalog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324983" y="3883298"/>
            <a:ext cx="78436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324983" y="3894013"/>
            <a:ext cx="78436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Salesforce Alumni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17922" y="4372645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521494" y="4376217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5"/>
          <p:cNvSpPr/>
          <p:nvPr/>
        </p:nvSpPr>
        <p:spPr>
          <a:xfrm>
            <a:off x="1446609" y="4376217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21494" y="4376217"/>
            <a:ext cx="928688" cy="6143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5 · PLATFORM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1564481" y="4583385"/>
            <a:ext cx="91819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1564481" y="4594101"/>
            <a:ext cx="91819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 (Education AI)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2568401" y="4583385"/>
            <a:ext cx="94118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2568401" y="4594101"/>
            <a:ext cx="94118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LangFuse (Monitoring)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3595315" y="4583385"/>
            <a:ext cx="82231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3595315" y="4594101"/>
            <a:ext cx="82231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Aequitas (Fairness)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4503353" y="4583385"/>
            <a:ext cx="76304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4503353" y="4594101"/>
            <a:ext cx="76304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OneTrust (FERPA)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00038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743477" y="328613"/>
            <a:ext cx="21947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 · ENGAGEMENT PATHWAY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001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989409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514350" y="1286545"/>
            <a:ext cx="7858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fixed duration, and transparent commercial frame.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658020"/>
            <a:ext cx="1921669" cy="2564606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1506" y="1775892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1506" y="1950913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1" name="Text 8"/>
          <p:cNvSpPr/>
          <p:nvPr/>
        </p:nvSpPr>
        <p:spPr>
          <a:xfrm>
            <a:off x="621506" y="2136651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506" y="2300957"/>
            <a:ext cx="1714500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21506" y="2365251"/>
            <a:ext cx="171450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1506" y="2518842"/>
            <a:ext cx="1714500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21506" y="3915445"/>
            <a:ext cx="1714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506" y="3911873"/>
            <a:ext cx="1714500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561034" y="1658020"/>
            <a:ext cx="1921669" cy="2564606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664619" y="1775892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664619" y="1950913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20" name="Text 17"/>
          <p:cNvSpPr/>
          <p:nvPr/>
        </p:nvSpPr>
        <p:spPr>
          <a:xfrm>
            <a:off x="2664619" y="2136651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664619" y="2300957"/>
            <a:ext cx="1714500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664619" y="2365251"/>
            <a:ext cx="171450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664619" y="2518842"/>
            <a:ext cx="1714500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664619" y="3915445"/>
            <a:ext cx="1714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64619" y="3911873"/>
            <a:ext cx="1714500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604147" y="1658020"/>
            <a:ext cx="1921669" cy="2564606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07731" y="1775892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07731" y="1950913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9" name="Text 26"/>
          <p:cNvSpPr/>
          <p:nvPr/>
        </p:nvSpPr>
        <p:spPr>
          <a:xfrm>
            <a:off x="4707731" y="2136651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707731" y="2300957"/>
            <a:ext cx="1714500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07731" y="2365251"/>
            <a:ext cx="171450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707731" y="2518842"/>
            <a:ext cx="1714500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707731" y="3915445"/>
            <a:ext cx="1714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7731" y="3911873"/>
            <a:ext cx="1714500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47259" y="1658020"/>
            <a:ext cx="1921669" cy="2564606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750844" y="1775892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750844" y="1950913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8" name="Text 35"/>
          <p:cNvSpPr/>
          <p:nvPr/>
        </p:nvSpPr>
        <p:spPr>
          <a:xfrm>
            <a:off x="6750844" y="2136651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750844" y="2300957"/>
            <a:ext cx="1714500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750844" y="2365251"/>
            <a:ext cx="171450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750844" y="2518842"/>
            <a:ext cx="1714500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750844" y="3915445"/>
            <a:ext cx="1714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50844" y="3911873"/>
            <a:ext cx="1714500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00038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189180" y="328613"/>
            <a:ext cx="1807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 · WHY KEFI TECH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001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EDUCATION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989409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1303734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education.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4350" y="1682353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14350" y="1685925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04122" y="1682353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4350" y="2750344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8638" y="1682353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0088" y="1818084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00088" y="2025253"/>
            <a:ext cx="3543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00088" y="2225278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engineered for production from day one, not a model demo.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50569" y="1682353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550569" y="1685925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40341" y="1682353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50569" y="2750344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64856" y="1682353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36306" y="1818084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36306" y="2025253"/>
            <a:ext cx="3543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Platform-native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36306" y="2225278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expertise in industry-specific platforms — not generic AI.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4350" y="2896791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514350" y="2900363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04122" y="2896791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4350" y="3964781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8638" y="2896791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0088" y="3032522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00088" y="3239691"/>
            <a:ext cx="3543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depth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00088" y="3439716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capability matched to industry regulatory and operational realities.</a:t>
            </a:r>
            <a:endParaRPr lang="en-US" sz="675" dirty="0"/>
          </a:p>
        </p:txBody>
      </p:sp>
      <p:sp>
        <p:nvSpPr>
          <p:cNvPr id="32" name="Text 29"/>
          <p:cNvSpPr/>
          <p:nvPr/>
        </p:nvSpPr>
        <p:spPr>
          <a:xfrm>
            <a:off x="4550569" y="2896791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550569" y="2900363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40341" y="2896791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50569" y="3964781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64856" y="2896791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36306" y="3032522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736306" y="3239691"/>
            <a:ext cx="3543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736306" y="3439716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Governance, bias assessment, and compliance built in, not bolted on.</a:t>
            </a:r>
            <a:endParaRPr lang="en-US" sz="675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357589-27soh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45630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71675"/>
            <a:ext cx="3573494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391705"/>
            <a:ext cx="39886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3040335"/>
            <a:ext cx="3675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2950" y="3254648"/>
            <a:ext cx="3675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707981" y="1714500"/>
            <a:ext cx="7144" cy="25717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572250" y="3054734"/>
            <a:ext cx="1828800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33"/>
              </a:lnSpc>
              <a:buNone/>
            </a:pPr>
            <a:r>
              <a:rPr lang="en-US" sz="1575" b="1" spc="-1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6572250" y="3531915"/>
            <a:ext cx="1828800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33"/>
              </a:lnSpc>
              <a:buNone/>
            </a:pPr>
            <a:r>
              <a:rPr lang="en-US" sz="1575" b="1" spc="-1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6572250" y="4009095"/>
            <a:ext cx="1828800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33"/>
              </a:lnSpc>
              <a:buNone/>
            </a:pPr>
            <a:r>
              <a:rPr lang="en-US" sz="1575" b="1" spc="-16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575" dirty="0"/>
          </a:p>
        </p:txBody>
      </p:sp>
      <p:sp>
        <p:nvSpPr>
          <p:cNvPr id="13" name="Shape 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2026-10-01T09:02:37Z</dcterms:created>
  <dcterms:modified xsi:type="dcterms:W3CDTF">2026-10-01T09:02:37Z</dcterms:modified>
</cp:coreProperties>
</file>