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554605-jae0p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737449" y="628650"/>
            <a:ext cx="19740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EDUCATION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72029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EDUCATION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89534"/>
            <a:ext cx="5429250" cy="93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2949476"/>
            <a:ext cx="5700713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Education.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3629471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779490"/>
            <a:ext cx="4857750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deep-tech capability brief on Kefi Tech Quality &amp; Security Engineering Services for Education.</a:t>
            </a:r>
            <a:endParaRPr lang="en-US" sz="1238" dirty="0"/>
          </a:p>
        </p:txBody>
      </p:sp>
      <p:sp>
        <p:nvSpPr>
          <p:cNvPr id="10" name="Shape 6"/>
          <p:cNvSpPr/>
          <p:nvPr/>
        </p:nvSpPr>
        <p:spPr>
          <a:xfrm>
            <a:off x="7004447" y="1771650"/>
            <a:ext cx="0" cy="2428875"/>
          </a:xfrm>
          <a:prstGeom prst="line">
            <a:avLst/>
          </a:prstGeom>
          <a:noFill/>
          <a:ln w="7144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79469" y="2602223"/>
            <a:ext cx="1535906" cy="1110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5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179469" y="2740744"/>
            <a:ext cx="1535906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Security &amp; DevSecOps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179469" y="3132088"/>
            <a:ext cx="1535906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179469" y="3310682"/>
            <a:ext cx="1535906" cy="1110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5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179469" y="3449203"/>
            <a:ext cx="1535906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VAPT &amp; Risk Assessment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7179469" y="3730600"/>
            <a:ext cx="1535906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179469" y="3909194"/>
            <a:ext cx="1535906" cy="1110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5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7179469" y="4047716"/>
            <a:ext cx="1535906" cy="1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Engineering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4350" y="4754166"/>
            <a:ext cx="585408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382717" y="4750594"/>
            <a:ext cx="23566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QUALITY &amp; SECURITY ENGINEERING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03684"/>
            <a:ext cx="7658100" cy="592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is being reshaped by digital learning, institutional automation and student lifecycle intelligence.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552203"/>
            <a:ext cx="70008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success, faculty productivity, institutional efficiency and digital experience define modern education.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746522" y="2003822"/>
            <a:ext cx="4225751" cy="2421731"/>
          </a:xfrm>
          <a:prstGeom prst="roundRect">
            <a:avLst>
              <a:gd name="adj" fmla="val 472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2164556"/>
            <a:ext cx="39854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EDUCATION NEEDS THIS NOW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25116" y="2414588"/>
            <a:ext cx="3868564" cy="432420"/>
          </a:xfrm>
          <a:prstGeom prst="roundRect">
            <a:avLst>
              <a:gd name="adj" fmla="val 2643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028700" y="250388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1257300" y="2503884"/>
            <a:ext cx="3542523" cy="11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257300" y="2643857"/>
            <a:ext cx="343279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3" name="Text 10"/>
          <p:cNvSpPr/>
          <p:nvPr/>
        </p:nvSpPr>
        <p:spPr>
          <a:xfrm>
            <a:off x="925116" y="2939876"/>
            <a:ext cx="3868564" cy="432420"/>
          </a:xfrm>
          <a:prstGeom prst="roundRect">
            <a:avLst>
              <a:gd name="adj" fmla="val 2643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028700" y="302917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257300" y="3029173"/>
            <a:ext cx="3542523" cy="11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257300" y="3169146"/>
            <a:ext cx="343279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925116" y="3465165"/>
            <a:ext cx="3868564" cy="432420"/>
          </a:xfrm>
          <a:prstGeom prst="roundRect">
            <a:avLst>
              <a:gd name="adj" fmla="val 2643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028700" y="355446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257300" y="3554462"/>
            <a:ext cx="3542523" cy="11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257300" y="3694435"/>
            <a:ext cx="343279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1" name="Text 18"/>
          <p:cNvSpPr/>
          <p:nvPr/>
        </p:nvSpPr>
        <p:spPr>
          <a:xfrm>
            <a:off x="925116" y="3990454"/>
            <a:ext cx="3868564" cy="432420"/>
          </a:xfrm>
          <a:prstGeom prst="roundRect">
            <a:avLst>
              <a:gd name="adj" fmla="val 2643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028700" y="407975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1257300" y="4079751"/>
            <a:ext cx="3542523" cy="11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257300" y="4219724"/>
            <a:ext cx="3432795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5150867" y="2003822"/>
            <a:ext cx="3246611" cy="2421731"/>
          </a:xfrm>
          <a:prstGeom prst="roundRect">
            <a:avLst>
              <a:gd name="adj" fmla="val 472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325889" y="2164556"/>
            <a:ext cx="28965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QUALITY &amp; SECURITY ENGINEERING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325889" y="2528888"/>
            <a:ext cx="2896567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applied to education requires industry-specific capability, not generic technology. The right approach connects quality &amp; security engineering to the regulatory, operational and customer realities that define education.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325889" y="4129088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325889" y="4129088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754166"/>
            <a:ext cx="382849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357129" y="4750594"/>
            <a:ext cx="337865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750076" y="4750594"/>
            <a:ext cx="8795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03684"/>
            <a:ext cx="8401050" cy="592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across the complete lifecycle.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552203"/>
            <a:ext cx="827074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for education.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742950" y="1714500"/>
            <a:ext cx="1719858" cy="400050"/>
          </a:xfrm>
          <a:prstGeom prst="roundRect">
            <a:avLst>
              <a:gd name="adj" fmla="val 2381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42950" y="1718072"/>
            <a:ext cx="171985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2950" y="2110978"/>
            <a:ext cx="171985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6522" y="1714500"/>
            <a:ext cx="0" cy="4000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4394" y="182165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828" dirty="0"/>
          </a:p>
        </p:txBody>
      </p:sp>
      <p:sp>
        <p:nvSpPr>
          <p:cNvPr id="12" name="Text 9"/>
          <p:cNvSpPr/>
          <p:nvPr/>
        </p:nvSpPr>
        <p:spPr>
          <a:xfrm>
            <a:off x="1135856" y="1844873"/>
            <a:ext cx="121265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5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473523" y="1796653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4" name="Text 11"/>
          <p:cNvSpPr/>
          <p:nvPr/>
        </p:nvSpPr>
        <p:spPr>
          <a:xfrm>
            <a:off x="2719983" y="1714500"/>
            <a:ext cx="1719858" cy="40005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2719983" y="1718072"/>
            <a:ext cx="171985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19983" y="2110978"/>
            <a:ext cx="171985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23555" y="1714500"/>
            <a:ext cx="0" cy="4000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41427" y="182165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828" dirty="0"/>
          </a:p>
        </p:txBody>
      </p:sp>
      <p:sp>
        <p:nvSpPr>
          <p:cNvPr id="19" name="Text 16"/>
          <p:cNvSpPr/>
          <p:nvPr/>
        </p:nvSpPr>
        <p:spPr>
          <a:xfrm>
            <a:off x="3112889" y="1844873"/>
            <a:ext cx="121265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5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450556" y="1796653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4697016" y="1714500"/>
            <a:ext cx="1719858" cy="40005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697016" y="1718072"/>
            <a:ext cx="171985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97016" y="2110978"/>
            <a:ext cx="171985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0588" y="1714500"/>
            <a:ext cx="0" cy="4000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18459" y="182165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26" name="Text 23"/>
          <p:cNvSpPr/>
          <p:nvPr/>
        </p:nvSpPr>
        <p:spPr>
          <a:xfrm>
            <a:off x="5089922" y="1844873"/>
            <a:ext cx="121265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5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427589" y="1796653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28" name="Text 25"/>
          <p:cNvSpPr/>
          <p:nvPr/>
        </p:nvSpPr>
        <p:spPr>
          <a:xfrm>
            <a:off x="6677620" y="1718072"/>
            <a:ext cx="1719858" cy="392906"/>
          </a:xfrm>
          <a:prstGeom prst="rect">
            <a:avLst/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795492" y="182165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828" dirty="0"/>
          </a:p>
        </p:txBody>
      </p:sp>
      <p:sp>
        <p:nvSpPr>
          <p:cNvPr id="30" name="Text 27"/>
          <p:cNvSpPr/>
          <p:nvPr/>
        </p:nvSpPr>
        <p:spPr>
          <a:xfrm>
            <a:off x="7066955" y="1844873"/>
            <a:ext cx="121265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5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46522" y="2589609"/>
            <a:ext cx="2478881" cy="921544"/>
          </a:xfrm>
          <a:prstGeom prst="roundRect">
            <a:avLst>
              <a:gd name="adj" fmla="val 1240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864394" y="26931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33" name="Text 30"/>
          <p:cNvSpPr/>
          <p:nvPr/>
        </p:nvSpPr>
        <p:spPr>
          <a:xfrm>
            <a:off x="1107281" y="2709267"/>
            <a:ext cx="20002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64394" y="2893219"/>
            <a:ext cx="2352866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64394" y="3041786"/>
            <a:ext cx="224313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332559" y="2589609"/>
            <a:ext cx="2478881" cy="921544"/>
          </a:xfrm>
          <a:prstGeom prst="roundRect">
            <a:avLst>
              <a:gd name="adj" fmla="val 1240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3450431" y="26931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38" name="Text 35"/>
          <p:cNvSpPr/>
          <p:nvPr/>
        </p:nvSpPr>
        <p:spPr>
          <a:xfrm>
            <a:off x="3693319" y="2709267"/>
            <a:ext cx="20002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450431" y="2893219"/>
            <a:ext cx="2243137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450431" y="3041786"/>
            <a:ext cx="224313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cloud, platform-specific VAPT per industry frameworks.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918597" y="2589609"/>
            <a:ext cx="2478881" cy="921544"/>
          </a:xfrm>
          <a:prstGeom prst="roundRect">
            <a:avLst>
              <a:gd name="adj" fmla="val 1240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036469" y="26931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3" name="Text 40"/>
          <p:cNvSpPr/>
          <p:nvPr/>
        </p:nvSpPr>
        <p:spPr>
          <a:xfrm>
            <a:off x="6279356" y="2709267"/>
            <a:ext cx="20002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036469" y="2893219"/>
            <a:ext cx="2243137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036469" y="3041786"/>
            <a:ext cx="224313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testing, capacity planning, bottleneck analysis.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46522" y="3618309"/>
            <a:ext cx="2478881" cy="921544"/>
          </a:xfrm>
          <a:prstGeom prst="roundRect">
            <a:avLst>
              <a:gd name="adj" fmla="val 1240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864394" y="37218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48" name="Text 45"/>
          <p:cNvSpPr/>
          <p:nvPr/>
        </p:nvSpPr>
        <p:spPr>
          <a:xfrm>
            <a:off x="1107281" y="3737967"/>
            <a:ext cx="20002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64394" y="3921919"/>
            <a:ext cx="2352866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64394" y="4070486"/>
            <a:ext cx="224313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continuous testing in CI/CD.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332559" y="3618309"/>
            <a:ext cx="2478881" cy="921544"/>
          </a:xfrm>
          <a:prstGeom prst="roundRect">
            <a:avLst>
              <a:gd name="adj" fmla="val 1240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450431" y="37218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53" name="Text 50"/>
          <p:cNvSpPr/>
          <p:nvPr/>
        </p:nvSpPr>
        <p:spPr>
          <a:xfrm>
            <a:off x="3693319" y="3737967"/>
            <a:ext cx="20002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3450431" y="3921919"/>
            <a:ext cx="2352866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&amp; Intelligent Systems Testing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450431" y="4070486"/>
            <a:ext cx="224313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model validation, GenAI testing, bias audits, AI governance testing.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918597" y="3618309"/>
            <a:ext cx="2478881" cy="921544"/>
          </a:xfrm>
          <a:prstGeom prst="roundRect">
            <a:avLst>
              <a:gd name="adj" fmla="val 1240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6036469" y="37218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688" dirty="0"/>
          </a:p>
        </p:txBody>
      </p:sp>
      <p:sp>
        <p:nvSpPr>
          <p:cNvPr id="58" name="Text 55"/>
          <p:cNvSpPr/>
          <p:nvPr/>
        </p:nvSpPr>
        <p:spPr>
          <a:xfrm>
            <a:off x="6279356" y="3737967"/>
            <a:ext cx="20002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036469" y="3921919"/>
            <a:ext cx="2352866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Consulting &amp; Assurance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6036469" y="4070486"/>
            <a:ext cx="224313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QA assessment, test strategy, quality metrics, release readiness, managed testing.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03684"/>
            <a:ext cx="84010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277950"/>
            <a:ext cx="76581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SAST, DAST, SCA, secure code review, CI/CD pipeline security.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4227314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1935956"/>
            <a:ext cx="38772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21544" y="2182416"/>
            <a:ext cx="3877270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security &amp; devsecops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21544" y="4186238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21544" y="4186238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EDUCATION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152430" y="1775222"/>
            <a:ext cx="3245048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98877" y="1907381"/>
            <a:ext cx="29521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02448" y="2128838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377458" y="2182416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577483" y="218955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777508" y="2182416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 for Education Codebases (SonarQube)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77508" y="2306650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Static analysis tuned for education — student data flows (FERPA), Canvas/Banner integration points.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02448" y="2624547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377458" y="2678125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77483" y="268526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777508" y="2678125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DAST for Student-Facing Apps (Burp Suite)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77508" y="2802359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Dynamic testing of Canvas LMS, student portals, mobile apps — OWASP Top 10, auth bypasses.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02448" y="3120256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377458" y="3173834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577483" y="31809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777508" y="3173834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 Code Review for LMS/SIS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77508" y="3298068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review of Canvas/Banner code — grade integrity, access control, audit trails, FERPA compliance.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02448" y="3615965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377458" y="3669543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577483" y="36766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777508" y="3669543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Security Gates (Snyk + SonarQube)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777508" y="3793778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Pipeline-embedded security — SAST, SCA, secrets scanning, student data detection via AWS Macie.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02448" y="4111675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377458" y="4165253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577483" y="41723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777508" y="4165253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FERPA Compliance Scanning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777508" y="4289487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scanning aligned to FERPA and student privacy protection requirements.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4908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19476" y="4750594"/>
            <a:ext cx="30410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074768" y="4750594"/>
            <a:ext cx="16481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03684"/>
            <a:ext cx="8041005" cy="2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277950"/>
            <a:ext cx="76581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Web, API, mobile, cloud, platform-specific VAPT per industry frameworks.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4227314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1935956"/>
            <a:ext cx="38772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21544" y="2182416"/>
            <a:ext cx="3877270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vapt &amp; risk assessment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21544" y="4186238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21544" y="4186238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EDUCATION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152430" y="1775222"/>
            <a:ext cx="3245048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98877" y="1907381"/>
            <a:ext cx="29521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02448" y="2128838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377458" y="2182416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577483" y="218955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777508" y="2182416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LMS/SIS VAPT (Canvas/Banner)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77508" y="2306650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Penetration testing of Canvas LMS and Banner SIS — student records, grades, financial aid data.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02448" y="2624547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377458" y="2678125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77483" y="268526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777508" y="2678125"/>
            <a:ext cx="2394942" cy="9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Portal VAPT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77508" y="2802359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for student portals — auth, session management, file upload vulnerabilities per OWASP.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02448" y="3120256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377458" y="3173834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577483" y="31809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777508" y="3173834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EdTech Platform VAPT (Turnitin/Pearson)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77508" y="3298068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 of third-party EdTech platforms — proctoring, plagiarism, content providers via LTI.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02448" y="3615965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377458" y="3669543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577483" y="36766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777508" y="3669543"/>
            <a:ext cx="2394942" cy="9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Assessment Platform VAPT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777508" y="3793778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 of assessment platforms — exam integrity, question banks, results, proctoring bypass.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02448" y="4111675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377458" y="4165253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577483" y="41723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777508" y="4165253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Infrastructure VAPT for Education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777508" y="4289487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Penetration testing of cloud-hosted education infrastructure — IAM, network, storage on AWS/Azure.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73249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261135" y="4750594"/>
            <a:ext cx="328255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557976" y="4750594"/>
            <a:ext cx="10716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03684"/>
            <a:ext cx="84010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277950"/>
            <a:ext cx="76581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Load, stress, spike, soak testing, capacity planning, bottleneck analysis.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4227314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1935956"/>
            <a:ext cx="38772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21544" y="2182416"/>
            <a:ext cx="3877270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performance engineering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21544" y="4186238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21544" y="4186238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EDUCATION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152430" y="1775222"/>
            <a:ext cx="3245048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98877" y="1907381"/>
            <a:ext cx="29521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02448" y="2128838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377458" y="2182416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577483" y="218955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777508" y="2182416"/>
            <a:ext cx="2394942" cy="9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LMS Load Testing (Canvas)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77508" y="2306650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 testing Canvas LMS during peak — semester start, exam periods, large course enrollments via JMeter.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02448" y="2624547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377458" y="2678125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77483" y="268526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777508" y="2678125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SIS Performance at Enrollment (Banner)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77508" y="2802359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Stress testing Banner SIS during peak enrollment — registration, financial aid processing via LoadRunner.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02448" y="3120256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377458" y="3173834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577483" y="31809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777508" y="3173834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Assessment Platform Performance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77508" y="3298068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testing of assessment platforms — concurrent exam takers, large question banks via k6.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02448" y="3615965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377458" y="3669543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577483" y="36766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777508" y="3669543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Video Streaming Performance (Panopto/Kaltura)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5777508" y="3793778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testing of Panopto/Kaltura lecture capture and streaming — concurrent viewers, bandwidth.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02448" y="4111675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377458" y="4165253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577483" y="41723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777508" y="4165253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Day / Event Scalability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777508" y="4289487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Scalability testing for admissions open days, virtual events, online ceremonies via Locust.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7021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98851" y="4750594"/>
            <a:ext cx="322026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433407" y="4750594"/>
            <a:ext cx="11962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03684"/>
            <a:ext cx="84010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277950"/>
            <a:ext cx="76581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web, mobile, API automation, BDD, continuous testing in CI/CD.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4227314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1935956"/>
            <a:ext cx="38772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21544" y="2182416"/>
            <a:ext cx="3877270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test automation &amp; continuous testing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21544" y="4186238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21544" y="4186238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EDUCATION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152430" y="1775222"/>
            <a:ext cx="3245048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98877" y="1907381"/>
            <a:ext cx="29521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02448" y="2128838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377458" y="2182416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577483" y="218955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777508" y="2182416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LMS Functional Automation (Canvas Cypress)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77508" y="2306650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functional testing of Canvas LMS — course delivery, assessment, gradebook via Cypress.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02448" y="2624547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377458" y="2678125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77483" y="268526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777508" y="2678125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SIS Regression Automation (Banner)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77508" y="2802359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regression for Banner SIS — admissions, registrar, financial aid, degree audit via Selenium.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02448" y="3120256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377458" y="3173834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577483" y="31809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777508" y="3173834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Portal Automation (Appium)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77508" y="3298068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functional testing of student portals across iOS/Android device matrices via Appium.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02448" y="3615965"/>
            <a:ext cx="2945011" cy="534219"/>
          </a:xfrm>
          <a:prstGeom prst="roundRect">
            <a:avLst>
              <a:gd name="adj" fmla="val 2139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377458" y="3669543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577483" y="367668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777508" y="3669543"/>
            <a:ext cx="2394942" cy="199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Test Automation for Education (Postman + Pact)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777508" y="3896581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testing of education APIs — LTI 1.3, OneRoster, Canvas/Banner integration via Postman.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02448" y="4214478"/>
            <a:ext cx="2945011" cy="431416"/>
          </a:xfrm>
          <a:prstGeom prst="roundRect">
            <a:avLst>
              <a:gd name="adj" fmla="val 2649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377458" y="4268056"/>
            <a:ext cx="205740" cy="184543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577483" y="42752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777508" y="4268056"/>
            <a:ext cx="2504670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Testing in Education CI/CD (GitLab)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5777508" y="4392290"/>
            <a:ext cx="2394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Shift-left test automation embedded in education CI/CD pipelines via GitLab CI.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36738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896023" y="4750594"/>
            <a:ext cx="29174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827751" y="4750594"/>
            <a:ext cx="191001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03684"/>
            <a:ext cx="84010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quality &amp; security engineering applies to education.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277950"/>
            <a:ext cx="76581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with real technology platforms.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746522" y="1889522"/>
            <a:ext cx="3757613" cy="1135856"/>
          </a:xfrm>
          <a:prstGeom prst="roundRect">
            <a:avLst>
              <a:gd name="adj" fmla="val 100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7256" y="211019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1207294" y="2140558"/>
            <a:ext cx="2087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437791" y="2021681"/>
            <a:ext cx="2905609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&amp; Faculty Assistants (Azure OpenAI + Canvas)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907256" y="2484462"/>
            <a:ext cx="343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assistants via Azure OpenAI grounded in Canvas LMS — course help, advising, research.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9866" y="1889522"/>
            <a:ext cx="3757613" cy="1135856"/>
          </a:xfrm>
          <a:prstGeom prst="roundRect">
            <a:avLst>
              <a:gd name="adj" fmla="val 100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00600" y="211019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5100638" y="2140558"/>
            <a:ext cx="2087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331135" y="2021681"/>
            <a:ext cx="2905609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Institutional Knowledge Systems (Azure AI Search)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800600" y="2484462"/>
            <a:ext cx="343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policies, catalogs, research via Azure AI Search + Pinecone + Alma library system.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46522" y="3161109"/>
            <a:ext cx="3757613" cy="1135856"/>
          </a:xfrm>
          <a:prstGeom prst="roundRect">
            <a:avLst>
              <a:gd name="adj" fmla="val 100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07256" y="338178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1207294" y="3412145"/>
            <a:ext cx="2087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437791" y="3293269"/>
            <a:ext cx="2905609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Lifecycle Platform (Salesforce Education Cloud)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907256" y="3756050"/>
            <a:ext cx="343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 through alumni via Salesforce Education Cloud + Banner SIS + Slate CRM.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9866" y="3161109"/>
            <a:ext cx="3757613" cy="1135856"/>
          </a:xfrm>
          <a:prstGeom prst="roundRect">
            <a:avLst>
              <a:gd name="adj" fmla="val 100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00600" y="338178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5100638" y="3412145"/>
            <a:ext cx="2087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331135" y="3293269"/>
            <a:ext cx="2905609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Insights (XGBoost + Banner SIS)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800600" y="3756050"/>
            <a:ext cx="3436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At-risk prediction, enrollment forecasting via XGBoost + Prophet + Banner SIS data.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03684"/>
            <a:ext cx="8401050" cy="592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quality &amp; security engineering — education.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552203"/>
            <a:ext cx="76581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industry technology platforms.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746522" y="1718072"/>
            <a:ext cx="7650956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50094" y="1721644"/>
            <a:ext cx="928688" cy="51435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675209" y="1721644"/>
            <a:ext cx="0" cy="5143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0094" y="1721644"/>
            <a:ext cx="928688" cy="514350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793081" y="1878806"/>
            <a:ext cx="36611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772533" y="1889522"/>
            <a:ext cx="40721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FERPA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44923" y="1878806"/>
            <a:ext cx="62519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181873" y="1889522"/>
            <a:ext cx="75129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WCAG 2.1 AA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955838" y="1878806"/>
            <a:ext cx="62764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836469" y="1889522"/>
            <a:ext cx="86638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NIST 800-171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669209" y="1878806"/>
            <a:ext cx="53511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537741" y="1889522"/>
            <a:ext cx="79804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ADA Title II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46522" y="2318147"/>
            <a:ext cx="7650956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50094" y="2321719"/>
            <a:ext cx="928688" cy="51435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675209" y="2321719"/>
            <a:ext cx="0" cy="5143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0094" y="2321719"/>
            <a:ext cx="928688" cy="514350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793081" y="2478881"/>
            <a:ext cx="80423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793081" y="2489597"/>
            <a:ext cx="80423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SonarQube (SAST)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683036" y="2478881"/>
            <a:ext cx="78715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683036" y="2489597"/>
            <a:ext cx="78715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Burp Suite (DAST)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555913" y="2478881"/>
            <a:ext cx="88850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555913" y="2489597"/>
            <a:ext cx="88850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Canvas/Banner VAPT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30142" y="2478881"/>
            <a:ext cx="71337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530142" y="2489597"/>
            <a:ext cx="71337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EdTech LTI VAPT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46522" y="2918222"/>
            <a:ext cx="7650956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50094" y="2921794"/>
            <a:ext cx="928688" cy="51435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675209" y="2921794"/>
            <a:ext cx="0" cy="5143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0094" y="2921794"/>
            <a:ext cx="928688" cy="514350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793081" y="3078956"/>
            <a:ext cx="88102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793081" y="3089672"/>
            <a:ext cx="88102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JMeter (Canvas LMS)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759832" y="3078956"/>
            <a:ext cx="103941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759832" y="3089672"/>
            <a:ext cx="103941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LoadRunner (Banner SIS)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884972" y="3078956"/>
            <a:ext cx="73669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884972" y="3089672"/>
            <a:ext cx="73669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k6 (Assessment)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707396" y="3078956"/>
            <a:ext cx="98594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707396" y="3089672"/>
            <a:ext cx="98594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Panopto Streaming Perf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46522" y="3518297"/>
            <a:ext cx="7650956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750094" y="3521869"/>
            <a:ext cx="928688" cy="51435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675209" y="3521869"/>
            <a:ext cx="0" cy="5143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50094" y="3521869"/>
            <a:ext cx="928688" cy="514350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793081" y="3679031"/>
            <a:ext cx="76728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793081" y="3689747"/>
            <a:ext cx="76728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Cypress (Canvas)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646090" y="3679031"/>
            <a:ext cx="81115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646090" y="3689747"/>
            <a:ext cx="81115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Selenium (Banner)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542965" y="3679031"/>
            <a:ext cx="100481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542965" y="3689747"/>
            <a:ext cx="100481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Appium (Student Portal)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633503" y="3679031"/>
            <a:ext cx="79708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633503" y="3689747"/>
            <a:ext cx="79708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Postman (LTI APIs)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46522" y="4118372"/>
            <a:ext cx="7650956" cy="521494"/>
          </a:xfrm>
          <a:prstGeom prst="roundRect">
            <a:avLst>
              <a:gd name="adj" fmla="val 146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750094" y="4121944"/>
            <a:ext cx="928688" cy="51435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675209" y="4121944"/>
            <a:ext cx="0" cy="5143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50094" y="4121944"/>
            <a:ext cx="928688" cy="514350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793081" y="4279106"/>
            <a:ext cx="77040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793081" y="4289822"/>
            <a:ext cx="77040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GitLab CI (FERPA)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649215" y="4279106"/>
            <a:ext cx="90837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649215" y="4289822"/>
            <a:ext cx="90837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Datadog (Monitoring)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643313" y="4279106"/>
            <a:ext cx="103640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643313" y="4289822"/>
            <a:ext cx="103640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PagerDuty (Academic IR)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765439" y="4279106"/>
            <a:ext cx="57618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4671294" y="4289822"/>
            <a:ext cx="76447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FERPA Audit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03684"/>
            <a:ext cx="8401050" cy="592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552203"/>
            <a:ext cx="76581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fixed duration, and transparent commercial frame.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746522" y="1875234"/>
            <a:ext cx="1821656" cy="2621756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50106" y="1993106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0106" y="2168128"/>
            <a:ext cx="16144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850106" y="2353866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106" y="2561034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50106" y="2668191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50106" y="2864644"/>
            <a:ext cx="1614488" cy="76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maturity assessment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90-day roadmap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50106" y="4189809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106" y="4186238"/>
            <a:ext cx="16144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89622" y="1875234"/>
            <a:ext cx="1821656" cy="2621756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93206" y="1993106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793206" y="2168128"/>
            <a:ext cx="16144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2793206" y="2353866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93206" y="2561034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793206" y="2668191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93206" y="2864644"/>
            <a:ext cx="16144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793206" y="4189809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93206" y="4186238"/>
            <a:ext cx="1614487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32722" y="1875234"/>
            <a:ext cx="1821656" cy="2621756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36306" y="1993106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36306" y="2168128"/>
            <a:ext cx="16144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736306" y="2353866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36306" y="2561034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36306" y="2668191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36306" y="2864644"/>
            <a:ext cx="16144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36306" y="4189809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306" y="4186238"/>
            <a:ext cx="16144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575822" y="1875234"/>
            <a:ext cx="1821656" cy="2621756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679406" y="1993106"/>
            <a:ext cx="16144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79406" y="2168128"/>
            <a:ext cx="16144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37" name="Text 34"/>
          <p:cNvSpPr/>
          <p:nvPr/>
        </p:nvSpPr>
        <p:spPr>
          <a:xfrm>
            <a:off x="6679406" y="2353866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679406" y="2561034"/>
            <a:ext cx="16144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679406" y="2668191"/>
            <a:ext cx="16144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679406" y="2864644"/>
            <a:ext cx="16144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679406" y="4189809"/>
            <a:ext cx="16144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79406" y="4186238"/>
            <a:ext cx="16144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03684"/>
            <a:ext cx="84010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277950"/>
            <a:ext cx="76581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education.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742950" y="1914525"/>
            <a:ext cx="37576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42950" y="1918097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914525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2950" y="3053953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7238" y="1914525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8688" y="2050256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28688" y="2257425"/>
            <a:ext cx="35172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security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28688" y="2457450"/>
            <a:ext cx="34075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aligned to industry regulatory frameworks — not generic IT security.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4643438" y="1914525"/>
            <a:ext cx="37576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3438" y="1918097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97478" y="1914525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3438" y="3053953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7725" y="1914525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9175" y="2050256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29175" y="2257425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Platform-aware testing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29175" y="2457450"/>
            <a:ext cx="34075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 on industry-specific platforms (Epic, Canvas, Temenos, Guidewire) — not generic apps.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42950" y="3200400"/>
            <a:ext cx="37576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742950" y="3203972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6991" y="3200400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2950" y="4339828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7238" y="3200400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8688" y="3336131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928688" y="3543300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model validation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28688" y="3743325"/>
            <a:ext cx="34075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Dedicated AI testing — model accuracy, bias, hallucination, safety per regulatory standards.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43438" y="3200400"/>
            <a:ext cx="37576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43438" y="3203972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97478" y="3200400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3438" y="4339828"/>
            <a:ext cx="37576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7725" y="3200400"/>
            <a:ext cx="0" cy="1143000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29175" y="3336131"/>
            <a:ext cx="34075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29175" y="3543300"/>
            <a:ext cx="34075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Shift-everywhere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29175" y="3743325"/>
            <a:ext cx="34075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 in every sprint, every pipeline, every release — not a gate before go-live.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561198-qn0zo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73924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89534"/>
            <a:ext cx="5850731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409565"/>
            <a:ext cx="6530531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302962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208213"/>
            <a:ext cx="601789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42950" y="3436813"/>
            <a:ext cx="601789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004447" y="1714500"/>
            <a:ext cx="0" cy="2000250"/>
          </a:xfrm>
          <a:prstGeom prst="line">
            <a:avLst/>
          </a:prstGeom>
          <a:noFill/>
          <a:ln w="7144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79469" y="2089770"/>
            <a:ext cx="1535906" cy="314758"/>
          </a:xfrm>
          <a:prstGeom prst="rect">
            <a:avLst/>
          </a:prstGeom>
          <a:noFill/>
          <a:ln/>
        </p:spPr>
        <p:txBody>
          <a:bodyPr wrap="none" lIns="0" tIns="42863" rIns="0" bIns="42863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spc="-1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179469" y="2756483"/>
            <a:ext cx="1535906" cy="314758"/>
          </a:xfrm>
          <a:prstGeom prst="rect">
            <a:avLst/>
          </a:prstGeom>
          <a:noFill/>
          <a:ln/>
        </p:spPr>
        <p:txBody>
          <a:bodyPr wrap="none" lIns="0" tIns="42863" rIns="0" bIns="42863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spc="-1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79469" y="3423307"/>
            <a:ext cx="1535906" cy="291443"/>
          </a:xfrm>
          <a:prstGeom prst="rect">
            <a:avLst/>
          </a:prstGeom>
          <a:noFill/>
          <a:ln/>
        </p:spPr>
        <p:txBody>
          <a:bodyPr wrap="none" lIns="0" tIns="42863" rIns="0" bIns="42863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b="1" spc="-1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2026-10-01T09:06:01Z</dcterms:created>
  <dcterms:modified xsi:type="dcterms:W3CDTF">2026-10-01T09:06:01Z</dcterms:modified>
</cp:coreProperties>
</file>