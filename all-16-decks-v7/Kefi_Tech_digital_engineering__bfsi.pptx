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71755-lh6p0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0112" y="628650"/>
            <a:ext cx="250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BFSI &amp; INSURANCE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4958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4202311" cy="139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3415717"/>
            <a:ext cx="4412426" cy="10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452366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4702262"/>
            <a:ext cx="4000500" cy="4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Digital Engineering &amp; Transformation Services for BFSI &amp; Insurance.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5288161" y="1714500"/>
            <a:ext cx="7144" cy="21431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516761" y="1771650"/>
            <a:ext cx="3198682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Product &amp; Platform Engineering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516761" y="2111313"/>
            <a:ext cx="3228342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Cloud-Native &amp; Platform Engineering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516761" y="2450976"/>
            <a:ext cx="3180886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Application Modernization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49621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719353" y="4750594"/>
            <a:ext cx="26816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7286625" cy="5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42950" y="1566490"/>
            <a:ext cx="7286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993356" cy="2621756"/>
          </a:xfrm>
          <a:prstGeom prst="roundRect">
            <a:avLst>
              <a:gd name="adj" fmla="val 43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07256" y="1921669"/>
            <a:ext cx="378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0828" y="2132409"/>
            <a:ext cx="3664744" cy="429964"/>
          </a:xfrm>
          <a:prstGeom prst="roundRect">
            <a:avLst>
              <a:gd name="adj" fmla="val 2658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14413" y="22288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2" name="Text 9"/>
          <p:cNvSpPr/>
          <p:nvPr/>
        </p:nvSpPr>
        <p:spPr>
          <a:xfrm>
            <a:off x="1243013" y="2221706"/>
            <a:ext cx="333870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43013" y="2359223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910828" y="2640955"/>
            <a:ext cx="3664744" cy="429964"/>
          </a:xfrm>
          <a:prstGeom prst="roundRect">
            <a:avLst>
              <a:gd name="adj" fmla="val 2658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14413" y="273739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243013" y="2730252"/>
            <a:ext cx="333870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43013" y="2867769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910828" y="3149501"/>
            <a:ext cx="3664744" cy="429964"/>
          </a:xfrm>
          <a:prstGeom prst="roundRect">
            <a:avLst>
              <a:gd name="adj" fmla="val 2658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14413" y="32459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1243013" y="3238798"/>
            <a:ext cx="333870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43013" y="3376315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910828" y="3658046"/>
            <a:ext cx="3664744" cy="429964"/>
          </a:xfrm>
          <a:prstGeom prst="roundRect">
            <a:avLst>
              <a:gd name="adj" fmla="val 2658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14413" y="37544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1243013" y="3747343"/>
            <a:ext cx="333870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243013" y="3884861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4918472" y="1775222"/>
            <a:ext cx="3479006" cy="2621756"/>
          </a:xfrm>
          <a:prstGeom prst="roundRect">
            <a:avLst>
              <a:gd name="adj" fmla="val 43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9206" y="1921669"/>
            <a:ext cx="3157537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79206" y="2235994"/>
            <a:ext cx="315753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bfsi &amp; insurance requires industry-specific capability, not generic technology. The right approach connects digital engineering &amp; transformation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79206" y="4114800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79206" y="4114800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2950" y="4754166"/>
            <a:ext cx="345366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210906" y="4750594"/>
            <a:ext cx="30037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28917" y="4750594"/>
            <a:ext cx="11721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015288" cy="5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42950" y="1566490"/>
            <a:ext cx="8270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bfsi &amp; insurance.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689497"/>
            <a:ext cx="1735931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4394" y="18859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0" name="Text 7"/>
          <p:cNvSpPr/>
          <p:nvPr/>
        </p:nvSpPr>
        <p:spPr>
          <a:xfrm>
            <a:off x="1121569" y="1896666"/>
            <a:ext cx="1243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03884" y="1875234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2718197" y="1689497"/>
            <a:ext cx="1735931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836069" y="18859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3093244" y="1896666"/>
            <a:ext cx="1243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75559" y="1875234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689872" y="1689497"/>
            <a:ext cx="1735931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07744" y="18859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5064919" y="1896666"/>
            <a:ext cx="1243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47234" y="1875234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6661547" y="1689497"/>
            <a:ext cx="1735931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779419" y="18859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2" name="Text 19"/>
          <p:cNvSpPr/>
          <p:nvPr/>
        </p:nvSpPr>
        <p:spPr>
          <a:xfrm>
            <a:off x="7036594" y="1896666"/>
            <a:ext cx="1243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46522" y="2475309"/>
            <a:ext cx="2488369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64394" y="2578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2982541" y="2600325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864394" y="2793206"/>
            <a:ext cx="2362353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64394" y="2956061"/>
            <a:ext cx="2252625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27760" y="2475309"/>
            <a:ext cx="2488369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45632" y="2578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0" name="Text 27"/>
          <p:cNvSpPr/>
          <p:nvPr/>
        </p:nvSpPr>
        <p:spPr>
          <a:xfrm>
            <a:off x="5563779" y="2600325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3445632" y="2793206"/>
            <a:ext cx="2362353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45632" y="2956061"/>
            <a:ext cx="2252625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908997" y="2475309"/>
            <a:ext cx="2488481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026869" y="2578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35" name="Text 32"/>
          <p:cNvSpPr/>
          <p:nvPr/>
        </p:nvSpPr>
        <p:spPr>
          <a:xfrm>
            <a:off x="8145129" y="2600325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6026869" y="2793206"/>
            <a:ext cx="236246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26869" y="2956061"/>
            <a:ext cx="2252737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46522" y="3418284"/>
            <a:ext cx="2488369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64394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0" name="Text 37"/>
          <p:cNvSpPr/>
          <p:nvPr/>
        </p:nvSpPr>
        <p:spPr>
          <a:xfrm>
            <a:off x="2982541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864394" y="3736181"/>
            <a:ext cx="2362353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64394" y="3899036"/>
            <a:ext cx="2252625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327760" y="3418284"/>
            <a:ext cx="2488369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445632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45" name="Text 42"/>
          <p:cNvSpPr/>
          <p:nvPr/>
        </p:nvSpPr>
        <p:spPr>
          <a:xfrm>
            <a:off x="5563779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3445632" y="3736181"/>
            <a:ext cx="2362353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445632" y="3899036"/>
            <a:ext cx="2252625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modern web/mobile, design systems, accessibility (WCAG 2.1 AA).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908997" y="3418284"/>
            <a:ext cx="2488481" cy="850106"/>
          </a:xfrm>
          <a:prstGeom prst="roundRect">
            <a:avLst>
              <a:gd name="adj" fmla="val 134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026869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0" name="Text 47"/>
          <p:cNvSpPr/>
          <p:nvPr/>
        </p:nvSpPr>
        <p:spPr>
          <a:xfrm>
            <a:off x="8145129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51" name="Text 48"/>
          <p:cNvSpPr/>
          <p:nvPr/>
        </p:nvSpPr>
        <p:spPr>
          <a:xfrm>
            <a:off x="6026869" y="3736181"/>
            <a:ext cx="236246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026869" y="3899036"/>
            <a:ext cx="2252737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CI/CD, DevSecOps, solution architecture, DR, SRE, engineering standards.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2950" y="4754166"/>
            <a:ext cx="37692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526459" y="4750594"/>
            <a:ext cx="33193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7827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33052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1544" y="193595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2143125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21544" y="4329113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329113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BFSI &amp; INSURANCE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18472" y="1775222"/>
            <a:ext cx="34790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50631" y="1907381"/>
            <a:ext cx="3214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54203" y="2103834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29213" y="2157413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6375" y="21574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472113" y="2157413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Banking Platform (Temenos T24)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72113" y="227450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Temenos T24 core banking deployment — accounts, payments, SWIFT, lending, via Temenos Journey Manager.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54203" y="2592400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9213" y="2645978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86375" y="2645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472113" y="2645978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Insurance Policy Platform (Guidewire)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72113" y="2763069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PolicyCenter + ClaimCenter + BillingCenter — quoting, binding, endorsements, claims, billing.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4203" y="3080965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29213" y="3134544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86375" y="313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472113" y="3134544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Wealth Management Portal (Salesforce FSC)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72113" y="325163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Financial Services Cloud for advisors — portfolio management, financial planning, client 360.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54203" y="3569531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29213" y="3623109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86375" y="36231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472113" y="3623109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Banking App (Flutter)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72113" y="374020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Cross-platform mobile banking via Flutter — biometric auth, real-time SWIFT payments, account aggregation.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54203" y="4058096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29213" y="4111675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86375" y="411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2113" y="4111675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Banking API Platform (Apigee)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2113" y="422876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platform via Google Apigee enabling PSD2/Open Banking compliance and third-party integrations.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950" y="4754166"/>
            <a:ext cx="32779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35214" y="4750594"/>
            <a:ext cx="28281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877645" y="4750594"/>
            <a:ext cx="16148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33052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1544" y="193595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2143125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21544" y="4329113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329113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BFSI &amp; INSURANCE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18472" y="1775222"/>
            <a:ext cx="34790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50631" y="1907381"/>
            <a:ext cx="3214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54203" y="2103834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29213" y="2157413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6375" y="21574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472113" y="2157413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Banking Modernization (Temenos on AWS)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72113" y="227450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Temenos T24 on AWS — microservices-based core banking replacing legacy on-prem monolith incrementally.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54203" y="2592400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9213" y="2645978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86375" y="2645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472113" y="2645978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Payment Platform (AWS)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72113" y="2763069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real-time payment platform on AWS — UPI, FedNow, SEPA Instant, FPS via Kafka event streaming.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4203" y="3080965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29213" y="3134544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86375" y="313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472113" y="3134544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 (Backstage)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72113" y="325163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 for banking dev teams via Backstage.io — self-service environments, compliance guardrails.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54203" y="3569531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29213" y="3623109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86375" y="36231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472113" y="3623109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Event-Driven Architecture (Kafka)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72113" y="374020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event streaming backbone for real-time banking — transactions, alerts, fraud signals via Confluent.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54203" y="4058096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29213" y="4111675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86375" y="411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2113" y="4111675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Multi-Cloud Banking Platform (Azure + AWS)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2113" y="422876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Multi-cloud architecture meeting regulatory data residency (RBI, MAS, FCA) and DR requirements.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950" y="4754166"/>
            <a:ext cx="31726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929844" y="4750594"/>
            <a:ext cx="27227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666905" y="4750594"/>
            <a:ext cx="18381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33052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1544" y="193595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2143125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21544" y="4329113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329113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BFSI &amp; INSURANCE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18472" y="1775222"/>
            <a:ext cx="34790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50631" y="1907381"/>
            <a:ext cx="3214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54203" y="2103834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29213" y="2157413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6375" y="21574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472113" y="2157413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Legacy Core Migration (Temenos T24)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72113" y="227450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Incremental migration of legacy Hogan/Fiserv core banking to Temenos T24 — strangler pattern with dual-run.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54203" y="2592400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9213" y="2645978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86375" y="2645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472113" y="2645978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Mainframe to Microservices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72113" y="2763069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Decomposing mainframe-based policy admin (IBM CICS/IMS) into domain-aligned microservices via AWS Mainframe Modernization.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4203" y="3080965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29213" y="3134544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86375" y="313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472113" y="3134544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 Modernization (Crystal → Power BI)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72113" y="325163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batch Crystal Reports with real-time Power BI Paginated Reports via SSRS migration.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54203" y="3569531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29213" y="3623109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86375" y="36231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472113" y="3623109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Layer Modernization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72113" y="374020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IBM DataPower/ESB with Apigee API gateways and Kafka event streaming.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54203" y="4058096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29213" y="4111675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86375" y="411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2113" y="4111675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Modernization (Green Screen → React)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2113" y="422876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green-screen teller terminals with React + .NET modern web interfaces.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950" y="4754166"/>
            <a:ext cx="34207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77978" y="4750594"/>
            <a:ext cx="29709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163172" y="4750594"/>
            <a:ext cx="13121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33052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1544" y="193595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2143125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21544" y="4329113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329113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BFSI &amp; INSURANCE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18472" y="1775222"/>
            <a:ext cx="34790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50631" y="1907381"/>
            <a:ext cx="3214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54203" y="2103834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29213" y="2157413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6375" y="21574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472113" y="2157413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Rails Integration (SWIFT)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72113" y="227450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SWIFT ISO 20022, card networks (Visa/Mastercard), real-time payment systems (UPI/FedNow).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54203" y="2592400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9213" y="2645978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86375" y="2645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472113" y="2645978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Banking API Layer (Apigee)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72113" y="2763069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layer via Google Apigee exposing Temenos T24 core banking functions to internal and partner apps.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4203" y="3080965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29213" y="3134544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86375" y="313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472113" y="3134544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&amp; KYC Integration (LexisNexis)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72113" y="325163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LexisNexis identity verification, Actimize KYC/AML screening, and Experian bureau.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54203" y="3569531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29213" y="3623109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86375" y="36231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472113" y="3623109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Data Integration (Bloomberg)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72113" y="3740200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and batch integration with Bloomberg Terminal API for pricing, rates, news via MuleSoft.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54203" y="4058096"/>
            <a:ext cx="3207544" cy="424272"/>
          </a:xfrm>
          <a:prstGeom prst="roundRect">
            <a:avLst>
              <a:gd name="adj" fmla="val 2694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29213" y="4111675"/>
            <a:ext cx="160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86375" y="411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2113" y="4111675"/>
            <a:ext cx="28243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 Bank Integration (SWIFT Alliance)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2113" y="4228765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correspondent banks via SWIFT Alliance Access for cross-border payments.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950" y="4754166"/>
            <a:ext cx="33477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04977" y="4750594"/>
            <a:ext cx="28979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017172" y="4750594"/>
            <a:ext cx="14669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015288" cy="5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bfsi &amp; insurance.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42950" y="1566490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775222"/>
            <a:ext cx="37647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07256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0" name="Text 7"/>
          <p:cNvSpPr/>
          <p:nvPr/>
        </p:nvSpPr>
        <p:spPr>
          <a:xfrm>
            <a:off x="4204846" y="192166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1" name="Text 8"/>
          <p:cNvSpPr/>
          <p:nvPr/>
        </p:nvSpPr>
        <p:spPr>
          <a:xfrm>
            <a:off x="907256" y="2178844"/>
            <a:ext cx="355301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Document Intelligence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907256" y="2390254"/>
            <a:ext cx="3443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ClaimCenter claims document processing via GenAI — coverage decisions, settlement drafts.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1775222"/>
            <a:ext cx="37647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93456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5" name="Text 12"/>
          <p:cNvSpPr/>
          <p:nvPr/>
        </p:nvSpPr>
        <p:spPr>
          <a:xfrm>
            <a:off x="8091046" y="192166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4793456" y="2178844"/>
            <a:ext cx="3553015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 (FICO Falcon)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4793456" y="2390254"/>
            <a:ext cx="3443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fraud scoring via FICO Falcon Fraud Manager on SWIFT ISO 20022 transaction streams.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46522" y="3103959"/>
            <a:ext cx="37647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07256" y="32504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20" name="Text 17"/>
          <p:cNvSpPr/>
          <p:nvPr/>
        </p:nvSpPr>
        <p:spPr>
          <a:xfrm>
            <a:off x="4204846" y="325040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907256" y="3507581"/>
            <a:ext cx="355301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360 (Salesforce CDP)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907256" y="3718992"/>
            <a:ext cx="3443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customer data across banking, insurance, wealth via Salesforce Data Cloud + Temenos T24.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32722" y="3103959"/>
            <a:ext cx="37647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93456" y="32504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5" name="Text 22"/>
          <p:cNvSpPr/>
          <p:nvPr/>
        </p:nvSpPr>
        <p:spPr>
          <a:xfrm>
            <a:off x="8091046" y="325040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6" name="Text 23"/>
          <p:cNvSpPr/>
          <p:nvPr/>
        </p:nvSpPr>
        <p:spPr>
          <a:xfrm>
            <a:off x="4793456" y="3507581"/>
            <a:ext cx="3553015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 (AxiomSL)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4793456" y="3718992"/>
            <a:ext cx="3443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compliance reporting via AxiomSL for FFIEC, FinCEN, Basel III, OCC/FRB submissions.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2950" y="4754166"/>
            <a:ext cx="37510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08264" y="4750594"/>
            <a:ext cx="33010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645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487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 — bfsi &amp; insurance.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742950" y="153278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689497"/>
            <a:ext cx="76509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0094" y="1693069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675209" y="1693069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1693069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793081" y="1871663"/>
            <a:ext cx="10251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793081" y="1882378"/>
            <a:ext cx="10251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Temenos Digital Banking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03934" y="1871663"/>
            <a:ext cx="7679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903934" y="1882378"/>
            <a:ext cx="7679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Portals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757613" y="1871663"/>
            <a:ext cx="9964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757613" y="1882378"/>
            <a:ext cx="99644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FSC (Wealth)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39779" y="1871663"/>
            <a:ext cx="63557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39779" y="1882378"/>
            <a:ext cx="63557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Flutter Mobile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6522" y="2332434"/>
            <a:ext cx="76509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50094" y="2336006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1675209" y="2336006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0094" y="2336006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93081" y="2514600"/>
            <a:ext cx="85914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793081" y="2525316"/>
            <a:ext cx="85914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Temenos T24 (Core)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737954" y="2514600"/>
            <a:ext cx="97132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737954" y="2525316"/>
            <a:ext cx="97132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PolicyCenter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795006" y="2514600"/>
            <a:ext cx="67073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95006" y="2525316"/>
            <a:ext cx="67073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FSC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51462" y="2514600"/>
            <a:ext cx="84999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551462" y="2525316"/>
            <a:ext cx="8499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Apigee API Platform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6522" y="2975372"/>
            <a:ext cx="76509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50094" y="2978944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1675209" y="2978944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0094" y="2978944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793081" y="3157538"/>
            <a:ext cx="83269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793081" y="3168253"/>
            <a:ext cx="83269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(PCI-DSS)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711500" y="3157538"/>
            <a:ext cx="7630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711500" y="3168253"/>
            <a:ext cx="76304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(EKS)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560266" y="3157538"/>
            <a:ext cx="10160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560266" y="3168253"/>
            <a:ext cx="101608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(Event Streaming)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62078" y="3157538"/>
            <a:ext cx="9065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662078" y="3168253"/>
            <a:ext cx="9065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Dev Portal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46522" y="3618309"/>
            <a:ext cx="76509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750094" y="3621881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1675209" y="3621881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0094" y="3621881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793081" y="3800475"/>
            <a:ext cx="93415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793081" y="3811191"/>
            <a:ext cx="93415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SWIFT Alliance Access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812963" y="3800475"/>
            <a:ext cx="8642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2812963" y="3811191"/>
            <a:ext cx="8642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Apigee API Gateway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762970" y="3800475"/>
            <a:ext cx="92165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762970" y="3811191"/>
            <a:ext cx="9216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(Bloomberg)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770351" y="3800475"/>
            <a:ext cx="90547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770351" y="3811191"/>
            <a:ext cx="90547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Visa/Mastercard Rails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46522" y="4261247"/>
            <a:ext cx="76509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750094" y="4264819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1675209" y="4264819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0094" y="4264819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793081" y="4443413"/>
            <a:ext cx="7715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1793081" y="4454128"/>
            <a:ext cx="7715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Multi-Region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2650331" y="4443413"/>
            <a:ext cx="63356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2548906" y="4454128"/>
            <a:ext cx="83641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DR Site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369618" y="4443413"/>
            <a:ext cx="92210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3369618" y="4454128"/>
            <a:ext cx="92210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PCI Network Segment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4377444" y="4443413"/>
            <a:ext cx="7150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4296380" y="4454128"/>
            <a:ext cx="8771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GuardDuty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42950" y="4754166"/>
            <a:ext cx="37309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4488173" y="4750594"/>
            <a:ext cx="32809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77444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015288" cy="5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42950" y="1566490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6522" y="168949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50106" y="180736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106" y="1982391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850106" y="216812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106" y="2375297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106" y="2482453"/>
            <a:ext cx="16144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106" y="2664619"/>
            <a:ext cx="1614488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50106" y="408979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106" y="408622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689622" y="168949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93206" y="180736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93206" y="1982391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2793206" y="216812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93206" y="2375297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793206" y="2482453"/>
            <a:ext cx="16144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93206" y="2664619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93206" y="408979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93206" y="4086225"/>
            <a:ext cx="1614487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32722" y="168949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36306" y="180736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36306" y="1982391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4736306" y="216812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36306" y="2375297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36306" y="2482453"/>
            <a:ext cx="16144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36306" y="2664619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36306" y="408979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306" y="408622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75822" y="168949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679406" y="180736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679406" y="1982391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6679406" y="216812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679406" y="2375297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679406" y="2482453"/>
            <a:ext cx="161448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679406" y="2664619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679406" y="408979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79406" y="408622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2950" y="4754166"/>
            <a:ext cx="35574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314713" y="4750594"/>
            <a:ext cx="31076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366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019976" y="45720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BFSI &amp; INSURANCE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950" y="1017984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33052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950" y="1771650"/>
            <a:ext cx="37576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42950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6991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2950" y="2982516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7238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688" y="1907381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28688" y="2114550"/>
            <a:ext cx="35172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 engineering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8688" y="2314575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Engineers who build on industry-specific platforms — not generic frameworks.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643438" y="1771650"/>
            <a:ext cx="37576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43438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7478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3438" y="2982516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57725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9175" y="1907381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29175" y="2114550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29175" y="2314575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engineered in, not bolted on.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742950" y="3128963"/>
            <a:ext cx="37576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742950" y="3132534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96991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2950" y="433982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7238" y="3128963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8688" y="326469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28688" y="347186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28688" y="3671888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Legacy-to-cloud migration with engineering discipline and dual-run validation.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4643438" y="3128963"/>
            <a:ext cx="37576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643438" y="3132534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97478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43438" y="433982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57725" y="3128963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29175" y="326469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29175" y="347186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29175" y="3671888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 — not a gate before release.</a:t>
            </a:r>
            <a:endParaRPr lang="en-US" sz="675" dirty="0"/>
          </a:p>
        </p:txBody>
      </p:sp>
      <p:sp>
        <p:nvSpPr>
          <p:cNvPr id="40" name="Shape 37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950" y="4754166"/>
            <a:ext cx="37225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479801" y="4750594"/>
            <a:ext cx="32727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7388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78740-jt8fv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56401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9534"/>
            <a:ext cx="441242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09565"/>
            <a:ext cx="4925108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8675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65351"/>
            <a:ext cx="4538496" cy="18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376761"/>
            <a:ext cx="4538496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393906" y="1714500"/>
            <a:ext cx="7144" cy="21431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887575" y="2711834"/>
            <a:ext cx="1284875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6850571" y="3174727"/>
            <a:ext cx="132188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7320201" y="3637620"/>
            <a:ext cx="852249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575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31322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6822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5859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2026-10-01T09:04:38Z</dcterms:created>
  <dcterms:modified xsi:type="dcterms:W3CDTF">2026-10-01T09:04:38Z</dcterms:modified>
</cp:coreProperties>
</file>