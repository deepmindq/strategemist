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537204-ck1z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50112" y="600075"/>
            <a:ext cx="250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BFSI &amp; INSURANCE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5747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BFSI &amp; INSURANCE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89534"/>
            <a:ext cx="6129338" cy="1555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</a:t>
            </a:r>
            <a:endParaRPr lang="en-US" sz="36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BFSI &amp; Insurance.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3629471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808065"/>
            <a:ext cx="542925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Quality &amp; Security Engineering Services for BFSI &amp; Insurance.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6257925" y="1714500"/>
            <a:ext cx="7144" cy="225742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956561" y="1757363"/>
            <a:ext cx="144448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Application Security</a:t>
            </a:r>
            <a:endParaRPr lang="en-US" sz="800" dirty="0"/>
          </a:p>
          <a:p>
            <a:pPr algn="r" indent="0" marL="0">
              <a:lnSpc>
                <a:spcPts val="945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DevSecOps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956561" y="2283098"/>
            <a:ext cx="144448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VAPT &amp; Risk</a:t>
            </a:r>
            <a:endParaRPr lang="en-US" sz="800" dirty="0"/>
          </a:p>
          <a:p>
            <a:pPr algn="r" indent="0" marL="0">
              <a:lnSpc>
                <a:spcPts val="945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956561" y="2808833"/>
            <a:ext cx="144448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Performance</a:t>
            </a:r>
            <a:endParaRPr lang="en-US" sz="800" dirty="0"/>
          </a:p>
          <a:p>
            <a:pPr algn="r" indent="0" marL="0">
              <a:lnSpc>
                <a:spcPts val="945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58540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382717" y="4750594"/>
            <a:ext cx="23566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QUALITY &amp; SECURITY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2800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56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operates in a regulated, document-intensive, high-stakes environment.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428750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trust, regulatory compliance, transaction integrity and operational resilience define competitive position.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75222"/>
            <a:ext cx="4361148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935956"/>
            <a:ext cx="412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BFSI &amp; INSURANCE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6516" y="2132409"/>
            <a:ext cx="4003960" cy="410989"/>
          </a:xfrm>
          <a:prstGeom prst="roundRect">
            <a:avLst>
              <a:gd name="adj" fmla="val 1854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2956" y="22145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1014413" y="2214563"/>
            <a:ext cx="369935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14413" y="2347392"/>
            <a:ext cx="358962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6516" y="2636267"/>
            <a:ext cx="4003960" cy="410989"/>
          </a:xfrm>
          <a:prstGeom prst="roundRect">
            <a:avLst>
              <a:gd name="adj" fmla="val 1854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2956" y="271842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014413" y="2718420"/>
            <a:ext cx="369935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14413" y="2851249"/>
            <a:ext cx="358962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96516" y="3140125"/>
            <a:ext cx="4003960" cy="410989"/>
          </a:xfrm>
          <a:prstGeom prst="roundRect">
            <a:avLst>
              <a:gd name="adj" fmla="val 1854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2956" y="32222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014413" y="3222278"/>
            <a:ext cx="369935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14413" y="3355107"/>
            <a:ext cx="358962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696516" y="3643982"/>
            <a:ext cx="4003960" cy="410989"/>
          </a:xfrm>
          <a:prstGeom prst="roundRect">
            <a:avLst>
              <a:gd name="adj" fmla="val 1854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2956" y="372613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1014413" y="3726135"/>
            <a:ext cx="369935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14413" y="3858964"/>
            <a:ext cx="358962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5057663" y="1775222"/>
            <a:ext cx="3568415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32685" y="1935956"/>
            <a:ext cx="32183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QUALITY &amp; SECURITY ENGINEERING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32685" y="2143125"/>
            <a:ext cx="3218371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applied to bfsi &amp; insurance requires industry-specific capability, not generic technology. The right approach connects quality &amp; security engineering to the regulatory, operational and customer realities that define bfsi &amp; insurance.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32685" y="4186238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32685" y="4186238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754166"/>
            <a:ext cx="368226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10906" y="4750594"/>
            <a:ext cx="323232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57517" y="4750594"/>
            <a:ext cx="11721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0346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across the complete lifecycle.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86296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bfsi &amp; insurance.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32347"/>
            <a:ext cx="1850231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0081" y="18073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907256" y="1818084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78869" y="178593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603897" y="1632347"/>
            <a:ext cx="1850231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36056" y="18073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2993231" y="1818084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64844" y="178593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689872" y="1632347"/>
            <a:ext cx="1850231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2031" y="18073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5079206" y="1818084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50819" y="178593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775847" y="1632347"/>
            <a:ext cx="1850231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08006" y="18073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7165181" y="1818084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346722"/>
            <a:ext cx="2640732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4503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2896926" y="246638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635794" y="2678906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5794" y="2841761"/>
            <a:ext cx="2404988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51522" y="2346722"/>
            <a:ext cx="2640843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69394" y="24503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5630638" y="246638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3369394" y="2678906"/>
            <a:ext cx="240510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69394" y="2841761"/>
            <a:ext cx="2405100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cloud, platform-specific VAPT per industry frameworks.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5235" y="2346722"/>
            <a:ext cx="2640732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03107" y="24503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8364238" y="246638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6103107" y="2678906"/>
            <a:ext cx="24049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3107" y="2841761"/>
            <a:ext cx="2404988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testing, capacity planning, bottleneck analysis.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7922" y="3275409"/>
            <a:ext cx="2640732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5794" y="33789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2896926" y="33950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635794" y="360759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794" y="3770449"/>
            <a:ext cx="2404988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continuous testing in CI/CD.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51522" y="3275409"/>
            <a:ext cx="2640843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69394" y="33789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43" name="Text 41"/>
          <p:cNvSpPr/>
          <p:nvPr/>
        </p:nvSpPr>
        <p:spPr>
          <a:xfrm>
            <a:off x="5630638" y="33950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3369394" y="3607594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Intelligent Systems Testing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69394" y="3770449"/>
            <a:ext cx="2405100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model validation, GenAI testing, bias audits, AI governance testing.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85235" y="3275409"/>
            <a:ext cx="2640732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03107" y="33789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48" name="Text 46"/>
          <p:cNvSpPr/>
          <p:nvPr/>
        </p:nvSpPr>
        <p:spPr>
          <a:xfrm>
            <a:off x="8364238" y="33950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49" name="Text 47"/>
          <p:cNvSpPr/>
          <p:nvPr/>
        </p:nvSpPr>
        <p:spPr>
          <a:xfrm>
            <a:off x="6103107" y="360759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Consulting &amp; Assurance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03107" y="3770449"/>
            <a:ext cx="2404988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QA assessment, test strategy, quality metrics, release readiness, managed testing.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2436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75222"/>
            <a:ext cx="4362264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231" y="1950244"/>
            <a:ext cx="3983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231" y="2157413"/>
            <a:ext cx="3983645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security &amp; devsecops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7231" y="4171950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231" y="4171950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BFSI &amp; INSURANCE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058780" y="1775222"/>
            <a:ext cx="3567299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05226" y="1907381"/>
            <a:ext cx="327440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08798" y="2089547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83808" y="2143125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40970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26708" y="2143125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 for Banking (Veracode + Checkmarx)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26708" y="2264569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analysis tuned for banking — card data flows (PCI), crypto usage, regulator-relevant patterns via OWASP.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08798" y="2582466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83808" y="2636044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40970" y="26360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26708" y="2636044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DAST for Digital Banking (Burp Suite Pro)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26708" y="2757488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Dynamic testing of Temenos digital banking, Guidewire web UIs — OWASP Top 10, business logic, auth bypasses.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08798" y="3075384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83808" y="3128963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40970" y="31289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26708" y="3128963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Code Review (Manual)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26708" y="3250406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review of critical banking code — payment processing (SWIFT), KYC, auth, encryption (HSM).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8798" y="3568303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83808" y="3621881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40970" y="36218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26708" y="3621881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Security Gates (Snyk + SonarQube)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26708" y="3743325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Pipeline-embedded security via Snyk SCA, SonarQube SAST, secrets scanning, Aqua container scanning.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8798" y="4061222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83808" y="4114800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40970" y="41148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26708" y="4114800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PCI-DSS Compliance Scanning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26708" y="4236244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scanning aligned to PCI-DSS v4.0, OWASP ASVS L2, and FFIEC security requirements.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4908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19476" y="4750594"/>
            <a:ext cx="30410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74768" y="4750594"/>
            <a:ext cx="16481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2436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521065" cy="282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cloud, platform-specific VAPT per industry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75222"/>
            <a:ext cx="4362264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231" y="1950244"/>
            <a:ext cx="3983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231" y="2157413"/>
            <a:ext cx="3983645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vapt &amp; risk assessment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7231" y="4171950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231" y="4171950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BFSI &amp; INSURANCE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058780" y="1775222"/>
            <a:ext cx="3567299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05226" y="1907381"/>
            <a:ext cx="327440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08798" y="2089547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83808" y="2143125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40970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26708" y="2143125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Core Banking VAPT (Temenos T24)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26708" y="2264569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Penetration testing of Temenos T24 core banking — middleware, integrations, database security, audit trails.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08798" y="2582466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83808" y="2636044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40970" y="26360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26708" y="2636044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Payment Application VAPT (SWIFT)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26708" y="2757488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for payment applications — SWIFT Alliance Access, card processing, real-time payment gateways.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08798" y="3075384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83808" y="3128963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40970" y="31289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26708" y="3128963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Banking App VAPT (OWASP MASVS)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26708" y="3250406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mobile banking apps — OWASP MASVS L2, reverse engineering, runtime tampering (Frida).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8798" y="3568303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83808" y="3621881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40970" y="36218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26708" y="3621881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Security Testing (Apigee + Postman)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26708" y="3743325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Open Banking APIs — OWASP API Top 10, OAuth 2.0 flows, rate limits, broken object auth.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8798" y="4061222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83808" y="4114800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40970" y="41148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26708" y="4114800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Infrastructure VAPT (AWS/Azure)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26708" y="4236244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Penetration testing of cloud-hosted banking infrastructure — IAM, network, storage, KMS, GuardDuty.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73249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61135" y="4750594"/>
            <a:ext cx="328255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57976" y="4750594"/>
            <a:ext cx="10716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2436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testing, capacity planning, bottleneck analysis.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75222"/>
            <a:ext cx="4362264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231" y="1950244"/>
            <a:ext cx="3983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231" y="2157413"/>
            <a:ext cx="3983645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performance engineering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7231" y="4171950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231" y="4171950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BFSI &amp; INSURANCE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058780" y="1775222"/>
            <a:ext cx="3567299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05226" y="1907381"/>
            <a:ext cx="327440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08798" y="2089547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83808" y="2143125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40970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26708" y="2143125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Payment System Load Testing (JMeter)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26708" y="2264569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 testing of payment systems — peak transaction volumes, end-of-day SWIFT batch settlement.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08798" y="2582466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83808" y="2636044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40970" y="26360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26708" y="2636044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Banking Stress Testing (LoadRunner)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26708" y="2757488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 testing Temenos T24 — batch processing, interest calculation runs, statement generation.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08798" y="3075384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83808" y="3128963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40970" y="31289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26708" y="3128963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Mobile Banking Performance (k6)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26708" y="3250406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of mobile banking apps via Grafana k6 — concurrent users, geographies, device matrices.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8798" y="3568303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83808" y="3621881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40970" y="36218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26708" y="3621881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Payment Scalability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26708" y="3743325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Scalability testing of UPI/FedNow real-time payment platforms — throughput, latency, failover.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8798" y="4061222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83808" y="4114800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40970" y="41148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26708" y="4114800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Trading Platform Performance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26708" y="4236244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 for Bloomberg Terminal-adjacent trading platforms — low latency, high throughput.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702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98851" y="4750594"/>
            <a:ext cx="322026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33407" y="4750594"/>
            <a:ext cx="11962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2436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continuous testing in CI/CD.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75222"/>
            <a:ext cx="4362264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231" y="1950244"/>
            <a:ext cx="3983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231" y="2157413"/>
            <a:ext cx="3983645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test automation &amp; continuous testing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7231" y="4171950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231" y="4171950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BFSI &amp; INSURANCE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058780" y="1775222"/>
            <a:ext cx="3567299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05226" y="1907381"/>
            <a:ext cx="327440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08798" y="2089547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83808" y="2143125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40970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26708" y="2143125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Banking Regression (Tricentis Tosca)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26708" y="2264569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regression for Temenos T24 — interest calculations, account postings, SWIFT message processing.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08798" y="2582466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83808" y="2636044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40970" y="26360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26708" y="2636044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Payment Flow Automation (Selenium)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26708" y="2757488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automation of payment flows via Selenium — initiation to SWIFT settlement to reconciliation.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08798" y="3075384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83808" y="3128963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40970" y="31289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26708" y="3128963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Banking Automation (Appium)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26708" y="3250406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functional testing of mobile banking apps across iOS/Android device matrices via Appium.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8798" y="3568303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83808" y="3621881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40970" y="36218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26708" y="3621881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Test Automation (Postman + Pact)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26708" y="3743325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contract and functional testing of Open Banking APIs via Postman + Pact contract testing.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8798" y="4061222"/>
            <a:ext cx="3267261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83808" y="4114800"/>
            <a:ext cx="16002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40970" y="41148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26708" y="4114800"/>
            <a:ext cx="288407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Testing in CI/CD (GitLab CI)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26708" y="4236244"/>
            <a:ext cx="2774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Shift-left test automation embedded in banking CI/CD pipelines — automated gate per release.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3673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96023" y="4750594"/>
            <a:ext cx="29174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27751" y="4750594"/>
            <a:ext cx="19100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24115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quality &amp; security engineering applies to bfsi &amp; insurance.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75222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921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992981" y="1921669"/>
            <a:ext cx="321479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Document Intelligence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4195634" y="194086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3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992981" y="2153059"/>
            <a:ext cx="3357563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Guidewire ClaimCenter claims document processing via GenAI — coverage decisions, settlement drafts.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775222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93456" y="1921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5107781" y="1921669"/>
            <a:ext cx="321479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Detection (FICO Falcon)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8310434" y="194086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3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5107781" y="2153059"/>
            <a:ext cx="3357563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fraud scoring via FICO Falcon Fraud Manager on SWIFT ISO 20022 transaction streams.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2961084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656" y="310753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992981" y="3107531"/>
            <a:ext cx="321479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360 (Salesforce CDP)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4195634" y="3126730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3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992981" y="3338922"/>
            <a:ext cx="3357563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customer data across banking, insurance, wealth via Salesforce Data Cloud + Temenos T24.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2961084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3456" y="310753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5107781" y="3107531"/>
            <a:ext cx="321479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Operations (AxiomSL)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8310434" y="3126730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3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5107781" y="3338922"/>
            <a:ext cx="3357563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compliance reporting via AxiomSL for FFIEC, FinCEN, Basel III, OCC/FRB submissions.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33559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1"/>
              </a:lnSpc>
              <a:buNone/>
            </a:pPr>
            <a:r>
              <a:rPr lang="en-US" sz="1575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quality &amp; security engineering — bfsi &amp; insurance.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1807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72164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446609" y="172164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494" y="172164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64481" y="1893094"/>
            <a:ext cx="60699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50972" y="1903809"/>
            <a:ext cx="8340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PCI-DSS v4.0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57202" y="1893094"/>
            <a:ext cx="72230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58185" y="1903809"/>
            <a:ext cx="92033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OWASP ASVS L2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65227" y="1893094"/>
            <a:ext cx="81360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65227" y="1903809"/>
            <a:ext cx="81360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FFIEC IT Handbook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64558" y="1893094"/>
            <a:ext cx="51557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90460" y="1903809"/>
            <a:ext cx="66377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 27001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922" y="234672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35029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446609" y="235029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494" y="235029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64481" y="2521744"/>
            <a:ext cx="73859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64481" y="2532459"/>
            <a:ext cx="73859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Veracode (SAST)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88803" y="2521744"/>
            <a:ext cx="92310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388803" y="2532459"/>
            <a:ext cx="92310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Burp Suite Pro (DAST)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97634" y="2521744"/>
            <a:ext cx="70533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97634" y="2532459"/>
            <a:ext cx="70533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Guidewire VAPT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88693" y="2521744"/>
            <a:ext cx="75801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188693" y="2532459"/>
            <a:ext cx="75801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Mobile MASVS L2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7922" y="297537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1494" y="297894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446609" y="297894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494" y="297894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64481" y="3150394"/>
            <a:ext cx="79931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64481" y="3161109"/>
            <a:ext cx="79931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JMeter (Payments)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49525" y="3150394"/>
            <a:ext cx="96351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449525" y="3161109"/>
            <a:ext cx="9635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LoadRunner (Temenos)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98763" y="3150394"/>
            <a:ext cx="85512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98763" y="3161109"/>
            <a:ext cx="85512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k6 (Mobile Banking)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39617" y="3150394"/>
            <a:ext cx="75333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439617" y="3161109"/>
            <a:ext cx="75333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SWIFT Scalability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7922" y="360402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1494" y="360759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446609" y="360759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494" y="360759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64481" y="3779044"/>
            <a:ext cx="90078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64481" y="3789759"/>
            <a:ext cx="90078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Tricentis Tosca (Core)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50988" y="3779044"/>
            <a:ext cx="90446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550988" y="3789759"/>
            <a:ext cx="9044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Selenium (Payments)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541179" y="3779044"/>
            <a:ext cx="73000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541179" y="3789759"/>
            <a:ext cx="73000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Appium (Mobile)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356906" y="3779044"/>
            <a:ext cx="67977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356906" y="3789759"/>
            <a:ext cx="67977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Postman (APIs)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7922" y="423267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1494" y="423624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446609" y="423624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494" y="423624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564481" y="4407694"/>
            <a:ext cx="83269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564481" y="4418409"/>
            <a:ext cx="83269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(PCI-DSS)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482900" y="4407694"/>
            <a:ext cx="90837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482900" y="4418409"/>
            <a:ext cx="90837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Datadog (Monitoring)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476997" y="4407694"/>
            <a:ext cx="66492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476997" y="4418409"/>
            <a:ext cx="66492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PagerDuty (IR)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227649" y="4407694"/>
            <a:ext cx="95134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227649" y="4418409"/>
            <a:ext cx="95134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AxiomSL (Compliance)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780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752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907381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5794" y="2082403"/>
            <a:ext cx="170021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635794" y="2268141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2503884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2639616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5794" y="2850356"/>
            <a:ext cx="1700213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maturity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5794" y="416123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794" y="4157663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5322" y="17752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93194" y="1907381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3194" y="2082403"/>
            <a:ext cx="170021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2693194" y="2268141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3194" y="2503884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93194" y="2639616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3194" y="2850356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93194" y="416123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3194" y="4157663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2722" y="17752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50594" y="1907381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0594" y="2082403"/>
            <a:ext cx="170021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750594" y="2268141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0594" y="2503884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0594" y="2639616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0594" y="2850356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0594" y="416123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0594" y="4157663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0122" y="17752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07994" y="1907381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07994" y="2082403"/>
            <a:ext cx="170021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6807994" y="2268141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07994" y="2503884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07994" y="2639616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07994" y="2850356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07994" y="4161234"/>
            <a:ext cx="1700213" cy="0"/>
          </a:xfrm>
          <a:prstGeom prst="line">
            <a:avLst/>
          </a:prstGeom>
          <a:noFill/>
          <a:ln w="7144">
            <a:solidFill>
              <a:srgbClr val="FF6C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7994" y="4157663"/>
            <a:ext cx="1700212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2484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bfsi &amp; insurance.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77165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7752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77165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83964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77165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88" y="190738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114550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088" y="2314575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aligned to industry regulatory frameworks — not generic IT security.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643438" y="177165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7752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77165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83964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77165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9175" y="190738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9175" y="2114550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Platform-aware testing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9175" y="2314575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on industry-specific platforms (Epic, Canvas, Temenos, Guidewire) — not generic apps.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986088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298965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2986088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40540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2986088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088" y="312181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088" y="332898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 validation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088" y="3529013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AI testing — model accuracy, bias, hallucination, safety per regulatory standards.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3438" y="2986088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298965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2986088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40540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2986088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9175" y="312181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9175" y="332898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Shift-everywhere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9175" y="3529013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in every sprint, every pipeline, every release — not a gate before go-live.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543975-fmeqy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74786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89534"/>
            <a:ext cx="6129338" cy="90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3043907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42950" y="3279651"/>
            <a:ext cx="6017895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2950" y="3496754"/>
            <a:ext cx="6017895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686550" y="1714500"/>
            <a:ext cx="7144" cy="200025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435090" y="1757363"/>
            <a:ext cx="196596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35090" y="2271713"/>
            <a:ext cx="196596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35090" y="2786063"/>
            <a:ext cx="196596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2026-10-01T09:05:44Z</dcterms:created>
  <dcterms:modified xsi:type="dcterms:W3CDTF">2026-10-01T09:05:44Z</dcterms:modified>
</cp:coreProperties>
</file>