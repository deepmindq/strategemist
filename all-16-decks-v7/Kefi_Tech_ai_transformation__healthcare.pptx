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367196-vnnh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60865" y="557213"/>
            <a:ext cx="2356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HEALTHCARE &amp; PHARMA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3740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HEALTHCARE &amp; PHARMA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32384"/>
            <a:ext cx="5700713" cy="45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412355"/>
            <a:ext cx="5700713" cy="1036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Healthcare &amp; Pharma.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54374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693765"/>
            <a:ext cx="514350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AI Transformation Services for Healthcare &amp; Pharma.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286500" y="1714500"/>
            <a:ext cx="7144" cy="24288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012359" y="2234208"/>
            <a:ext cx="245298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855572" y="2384227"/>
            <a:ext cx="160977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spc="1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Generative AI Solutions</a:t>
            </a:r>
            <a:endParaRPr lang="en-US" sz="844" dirty="0"/>
          </a:p>
        </p:txBody>
      </p:sp>
      <p:sp>
        <p:nvSpPr>
          <p:cNvPr id="13" name="Text 9"/>
          <p:cNvSpPr/>
          <p:nvPr/>
        </p:nvSpPr>
        <p:spPr>
          <a:xfrm>
            <a:off x="6012359" y="2773561"/>
            <a:ext cx="245298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5572" y="2923580"/>
            <a:ext cx="160977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spc="1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AI &amp; Automation</a:t>
            </a:r>
            <a:endParaRPr lang="en-US" sz="844" dirty="0"/>
          </a:p>
        </p:txBody>
      </p:sp>
      <p:sp>
        <p:nvSpPr>
          <p:cNvPr id="15" name="Text 11"/>
          <p:cNvSpPr/>
          <p:nvPr/>
        </p:nvSpPr>
        <p:spPr>
          <a:xfrm>
            <a:off x="5692319" y="3312914"/>
            <a:ext cx="277302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593552" y="3462933"/>
            <a:ext cx="187179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spc="1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Knowledge &amp; RAG</a:t>
            </a:r>
            <a:endParaRPr lang="en-US" sz="844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64495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978216" y="4750594"/>
            <a:ext cx="175052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7858125" cy="57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balances patient outcomes, regulatory compliance and operational efficiency.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480765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privacy, clinical accuracy, regulatory oversight and patient experience define every technology decision.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805806"/>
            <a:ext cx="443716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952253"/>
            <a:ext cx="42254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HEALTHCARE &amp; PHARMA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2228" y="2173709"/>
            <a:ext cx="4108549" cy="404626"/>
          </a:xfrm>
          <a:prstGeom prst="roundRect">
            <a:avLst>
              <a:gd name="adj" fmla="val 2824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5813" y="22630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1014413" y="2255862"/>
            <a:ext cx="378250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14413" y="2386236"/>
            <a:ext cx="367278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2228" y="2656917"/>
            <a:ext cx="4108549" cy="404626"/>
          </a:xfrm>
          <a:prstGeom prst="roundRect">
            <a:avLst>
              <a:gd name="adj" fmla="val 2824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5813" y="27462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14413" y="2739070"/>
            <a:ext cx="378250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14413" y="2869443"/>
            <a:ext cx="367278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82228" y="3140125"/>
            <a:ext cx="4108549" cy="404626"/>
          </a:xfrm>
          <a:prstGeom prst="roundRect">
            <a:avLst>
              <a:gd name="adj" fmla="val 2824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5813" y="322942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014413" y="3222278"/>
            <a:ext cx="378250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14413" y="3352651"/>
            <a:ext cx="367278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2228" y="3623332"/>
            <a:ext cx="4108549" cy="404626"/>
          </a:xfrm>
          <a:prstGeom prst="roundRect">
            <a:avLst>
              <a:gd name="adj" fmla="val 2824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5813" y="371262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1014413" y="3705485"/>
            <a:ext cx="378250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14413" y="3835859"/>
            <a:ext cx="367278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5133677" y="1805806"/>
            <a:ext cx="3492401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4412" y="1952253"/>
            <a:ext cx="3280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94412" y="2170137"/>
            <a:ext cx="3170932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healthcare &amp; pharma requires industry-specific capability, not generic technology. The right approach connects ai transformation to the regulatory, operational and customer realities that define healthcare &amp; pharma.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94412" y="4088234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94412" y="4088234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357221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00847" y="4750594"/>
            <a:ext cx="312226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37400" y="4750594"/>
            <a:ext cx="147578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across the complete lifecycle.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06512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healthcare &amp; pharma.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17266"/>
            <a:ext cx="1850231" cy="592931"/>
          </a:xfrm>
          <a:prstGeom prst="roundRect">
            <a:avLst>
              <a:gd name="adj" fmla="val 1927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3611" y="17280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1276499" y="1738722"/>
            <a:ext cx="9880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78869" y="170657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603897" y="1517266"/>
            <a:ext cx="1850231" cy="592931"/>
          </a:xfrm>
          <a:prstGeom prst="roundRect">
            <a:avLst>
              <a:gd name="adj" fmla="val 1927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36788" y="17280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3479676" y="1738722"/>
            <a:ext cx="8708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64844" y="170657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89872" y="1517266"/>
            <a:ext cx="1850231" cy="592931"/>
          </a:xfrm>
          <a:prstGeom prst="roundRect">
            <a:avLst>
              <a:gd name="adj" fmla="val 1927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82121" y="17280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5425008" y="1738722"/>
            <a:ext cx="10115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50819" y="170657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775847" y="1517266"/>
            <a:ext cx="1850231" cy="592931"/>
          </a:xfrm>
          <a:prstGeom prst="roundRect">
            <a:avLst>
              <a:gd name="adj" fmla="val 1927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24576" y="17280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7567464" y="1738722"/>
            <a:ext cx="9550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260216"/>
            <a:ext cx="2640732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3638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2895084" y="237987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635794" y="2578112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5794" y="2740968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copilots, knowledge assistants, document intelligence grounded in enterprise data.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51522" y="2260216"/>
            <a:ext cx="2640843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69394" y="23638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5628796" y="237987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3369394" y="2578112"/>
            <a:ext cx="24051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69394" y="2740968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automated workflows with human-in-the-loop controls.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5235" y="2260216"/>
            <a:ext cx="2640732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03107" y="23638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8362397" y="237987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6103107" y="2578112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3107" y="2740968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 with cited answers over enterprise knowledge bases.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7922" y="3203191"/>
            <a:ext cx="2640732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5794" y="33067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2895084" y="3322848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635794" y="3521087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794" y="3683943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 for risk, churn, demand, anomaly detection.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51522" y="3203191"/>
            <a:ext cx="2640843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69394" y="33067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5628796" y="3322848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3369394" y="3521087"/>
            <a:ext cx="24051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9394" y="3683943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lifecycle, evaluation, monitoring, drift detection, governance.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85235" y="3203191"/>
            <a:ext cx="2640732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03107" y="33067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48" name="Text 46"/>
          <p:cNvSpPr/>
          <p:nvPr/>
        </p:nvSpPr>
        <p:spPr>
          <a:xfrm>
            <a:off x="8362397" y="3322848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49" name="Text 47"/>
          <p:cNvSpPr/>
          <p:nvPr/>
        </p:nvSpPr>
        <p:spPr>
          <a:xfrm>
            <a:off x="6103107" y="3521087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03107" y="3683943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Bias assessment, explainability, privacy, regulatory compliance.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521065" cy="2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0651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copilots, knowledge assistants, document intelligence grounded in enterprise data.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17266"/>
            <a:ext cx="443716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678000"/>
            <a:ext cx="40871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2944" y="1910172"/>
            <a:ext cx="4087118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4071156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4071156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1 OF 6 · HEALTHCARE &amp; PHARMA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33677" y="1517266"/>
            <a:ext cx="3492401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0124" y="1649425"/>
            <a:ext cx="31995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3696" y="187088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8705" y="202268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7305" y="20173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87330" y="1924459"/>
            <a:ext cx="261372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Documentation Assistant (Azure OpenAI)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787330" y="204590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drafting clinical notes, discharge summaries via Azure OpenAI + Nuance DAX — integrated with Epic EHR.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3696" y="2356656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8705" y="250846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7305" y="25031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87330" y="2410234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Patient Education Generator (GPT-4)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7330" y="2531678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producing patient-friendly explanations of diagnoses, medications — grounded in UpToDate clinical knowledge base.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3696" y="284243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8705" y="299423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7305" y="29888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87330" y="289600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Submission Drafter (GenAI)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87330" y="301745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drafting FDA eCTD regulatory submission sections from clinical trial data via Veeva Vault submissions.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3696" y="3328206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8705" y="348001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7305" y="34746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87330" y="3381784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Literature Summariser (Claude 3.5)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87330" y="3503228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summarising PubMed literature and clinical guidelines for busy practitioners via Anthropic Claude.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3696" y="381398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8705" y="396578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7305" y="39604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87330" y="386755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Communication Assistant (GenAI)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87330" y="398900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drafting appointment reminders, follow-up instructions via Twilio + Salesforce Health Cloud.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71608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44727" y="4750594"/>
            <a:ext cx="326614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25159" y="4750594"/>
            <a:ext cx="11044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521065" cy="2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0651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automated workflows with human-in-the-loop controls.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17266"/>
            <a:ext cx="443716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678000"/>
            <a:ext cx="40871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2944" y="1910172"/>
            <a:ext cx="4087118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4071156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4071156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2 OF 6 · HEALTHCARE &amp; PHARMA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33677" y="1517266"/>
            <a:ext cx="3492401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0124" y="1649425"/>
            <a:ext cx="31995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3696" y="187088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8705" y="202268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7305" y="20173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87330" y="192445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 Authorisation Agent (Pega)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87330" y="204590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that ingests clinical documentation and submits prior auth requests via Availity to payers — Epic-integrated.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3696" y="2356656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8705" y="250846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7305" y="25031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87330" y="2410234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Adjudication Workflow (RPA)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7330" y="2531678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reviewing claims against policy and clinical guidelines via UiPath RPA — routes for human review via Cognizant TriZetto.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3696" y="284243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8705" y="299423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7305" y="29888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87330" y="289600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Trial Recruitment Agent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87330" y="301745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 matching patients to ClinicalTrials.gov trials based on Epic EHR data and eligibility criteria.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3696" y="3328206"/>
            <a:ext cx="3192363" cy="528638"/>
          </a:xfrm>
          <a:prstGeom prst="roundRect">
            <a:avLst>
              <a:gd name="adj" fmla="val 216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8705" y="3533589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7305" y="3528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87330" y="3381784"/>
            <a:ext cx="261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Care Coordination Workflow (Salesforce Health Cloud)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87330" y="3610384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orchestrating referrals, appointments, follow-ups across providers via Salesforce Health Cloud.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3696" y="3921137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8705" y="4072942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7305" y="40675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87330" y="3974716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Pharmacovigilance Monitoring Agent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87330" y="4096159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monitoring FAERS adverse event reports and surfacing safety signals for Veeva Vault Safety review.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70738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36021" y="4750594"/>
            <a:ext cx="32575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07858" y="4750594"/>
            <a:ext cx="11217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0651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 with cited answers over enterprise knowledge bases.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17266"/>
            <a:ext cx="443716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678000"/>
            <a:ext cx="40871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2944" y="1910172"/>
            <a:ext cx="4087118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4071156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4071156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3 OF 6 · HEALTHCARE &amp; PHARMA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33677" y="1517266"/>
            <a:ext cx="3492401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0124" y="1649425"/>
            <a:ext cx="31995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3696" y="187088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8705" y="202268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7305" y="20173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87330" y="192445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Knowledge Base (Azure AI Search)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87330" y="204590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UpToDate, Lexicomp drug references, AHRQ guidelines — answers grounded in cited clinical sources.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3696" y="2356656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8705" y="250846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7305" y="25031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87330" y="2410234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 Search Assistant (Pinecone)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7330" y="2531678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 across Epic Chronicles EHR records — clinicians query patient history in natural language.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3696" y="284243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8705" y="299423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7305" y="29888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87330" y="289600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Drug Interaction RAG (RxNorm)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87330" y="301745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RxNorm/First Databank drug interaction databases — surfaces interactions, contraindications, dosing.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3696" y="3328206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8705" y="348001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7305" y="34746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87330" y="3381784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Knowledge Assistant (FDA)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87330" y="3503228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FDA 21 CFR Part 11, HIPAA, EMA guidelines — answers compliance questions with citations.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3696" y="381398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8705" y="396578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7305" y="39604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87330" y="386755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Literature Search (PubMed)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87330" y="398900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 across PubMed, Cochrane reviews, and internal research repositories via embeddings.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027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31432" y="4750594"/>
            <a:ext cx="31529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98680" y="4750594"/>
            <a:ext cx="141082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0651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 for risk, churn, demand, anomaly detection.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17266"/>
            <a:ext cx="443716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678000"/>
            <a:ext cx="40871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2944" y="1910172"/>
            <a:ext cx="4087118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4071156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4071156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4 OF 6 · HEALTHCARE &amp; PHARMA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33677" y="1517266"/>
            <a:ext cx="3492401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0124" y="1649425"/>
            <a:ext cx="31995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3696" y="187088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8705" y="202268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7305" y="20173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87330" y="192445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Readmission Risk Prediction (XGBoost)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87330" y="204590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model predicting 30-day readmission risk via Epic Slicer Dicer — enables targeted interventions.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3696" y="2356656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8705" y="250846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7305" y="25031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87330" y="2410234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Sepsis Early Warning (LSTM)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7330" y="2531678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LSTM model alerting clinicians to sepsis risk based on vitals and lab data via Epic CDS Hooks.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3696" y="284243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8705" y="299423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7305" y="29888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87330" y="289600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Deterioration Prediction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87330" y="301745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 predicting clinical deterioration in inpatient settings via Epic monitoring + TensorFlow.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3696" y="3328206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8705" y="348001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7305" y="34746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87330" y="3381784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Drug Response Prediction (Genomics)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87330" y="3503228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 predicting patient response to medications based on genomic and clinical data via Foundation Medicine.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3696" y="3813981"/>
            <a:ext cx="3192363" cy="421481"/>
          </a:xfrm>
          <a:prstGeom prst="roundRect">
            <a:avLst>
              <a:gd name="adj" fmla="val 271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8705" y="396578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7305" y="39604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87330" y="3867559"/>
            <a:ext cx="272344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Demand Forecasting (Prophet)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87330" y="3989003"/>
            <a:ext cx="26137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Forecasting patient volumes, bed occupancy, staffing needs via Prophet + Epic capacity management.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5523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80979" y="4750594"/>
            <a:ext cx="310250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97775" y="4750594"/>
            <a:ext cx="15177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healthcare &amp; pharma.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0651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31553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6780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04846" y="1708361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678656" y="1935175"/>
            <a:ext cx="367188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 Intelligence (Epic + Azure OpenAI)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78656" y="2313794"/>
            <a:ext cx="36718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EHR clinical documentation via Azure OpenAI + Nuance DAX — discharge summaries, clinical notes.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531553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93456" y="16780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19646" y="1708361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4793456" y="1935175"/>
            <a:ext cx="367188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 (MyChart + Salesforce Health Cloud)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4793456" y="2313794"/>
            <a:ext cx="36718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portals, telehealth, care navigation via Epic MyChart + Salesforce Health Cloud + Twilio.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2788853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656" y="29353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204846" y="2965661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678656" y="3192475"/>
            <a:ext cx="378161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 Support (Epic Cogito)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678656" y="3410359"/>
            <a:ext cx="3671888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allocation, capacity planning via Epic Cogito analytics + Power BI dashboards.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2788853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3456" y="29353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19646" y="2965661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4793456" y="3192475"/>
            <a:ext cx="378161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&amp; RWE (Veeva Vault + Medidata)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4793456" y="3410359"/>
            <a:ext cx="3671888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research support, RWE analytics via Veeva Vault CDMS + Medidata Clinical Cloud.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62965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 — healthcare &amp; pharma.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44660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43075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746647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746647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746647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68053" y="1910953"/>
            <a:ext cx="1293354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64481" y="1907381"/>
            <a:ext cx="1343360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 Asst (Azure OpenAI)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954275" y="1910953"/>
            <a:ext cx="1048122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50704" y="1907381"/>
            <a:ext cx="1098128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Patient Education (GPT-4)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091694" y="1896666"/>
            <a:ext cx="92701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91694" y="1907381"/>
            <a:ext cx="92701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Trial Recruiter (Agent)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04433" y="1896666"/>
            <a:ext cx="96239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04433" y="1907381"/>
            <a:ext cx="96239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Pharmacovigilance Bot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922" y="2328863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332434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446609" y="2332434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494" y="2332434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64481" y="2482453"/>
            <a:ext cx="93505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64481" y="2493169"/>
            <a:ext cx="9350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 Auth Flow (Pega)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85256" y="2482453"/>
            <a:ext cx="78748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85256" y="2493169"/>
            <a:ext cx="78748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Care Coordination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58468" y="2482453"/>
            <a:ext cx="80992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58468" y="2493169"/>
            <a:ext cx="80992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Trial Match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54116" y="2482453"/>
            <a:ext cx="95659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54116" y="2493169"/>
            <a:ext cx="95659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Adverse Event Routing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922" y="2914650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2918222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446609" y="2918222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494" y="2918222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68053" y="3082528"/>
            <a:ext cx="1143112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64481" y="3078956"/>
            <a:ext cx="1193118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Readmission Risk (XGBoost)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800462" y="3068241"/>
            <a:ext cx="95715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00462" y="3078956"/>
            <a:ext cx="95715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Sepsis Warning (LSTM)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43338" y="3068241"/>
            <a:ext cx="111643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43338" y="3078956"/>
            <a:ext cx="111643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Drug Response (Genomics)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49069" y="3082528"/>
            <a:ext cx="1118108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45497" y="3078956"/>
            <a:ext cx="3462710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Forecast (Prophet)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922" y="3500438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1494" y="3504009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446609" y="3504009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494" y="3504009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64481" y="3654028"/>
            <a:ext cx="59851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458719" y="3664744"/>
            <a:ext cx="81003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Epic FHIR R4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248719" y="3654028"/>
            <a:ext cx="88537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248719" y="3664744"/>
            <a:ext cx="88537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UpToDate Clinical KB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19822" y="3654028"/>
            <a:ext cx="75411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141507" y="3664744"/>
            <a:ext cx="91074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RxNorm Drug DB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059659" y="3654028"/>
            <a:ext cx="82476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059659" y="3664744"/>
            <a:ext cx="82476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Veeva Vault (Trials)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7922" y="4086225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1494" y="4089797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446609" y="4089797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494" y="4089797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564481" y="4239816"/>
            <a:ext cx="84218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64481" y="4250531"/>
            <a:ext cx="84218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(FDA SaMD)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492387" y="4239816"/>
            <a:ext cx="10794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492387" y="4250531"/>
            <a:ext cx="107948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FLARE (Federated)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657600" y="4239816"/>
            <a:ext cx="97657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657600" y="4250531"/>
            <a:ext cx="97657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Aequitas (Bias Monitor)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19898" y="4239816"/>
            <a:ext cx="99700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719898" y="4250531"/>
            <a:ext cx="99700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AI Content Safety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06512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31553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649425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506" y="1824447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21506" y="2010184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506" y="221735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06" y="2310222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517391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90-day roadmap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506" y="3931853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506" y="3928281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5322" y="1531553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8906" y="1649425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78906" y="1824447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2678906" y="2010184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78906" y="221735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78906" y="2310222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78906" y="2517391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78906" y="3931853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8906" y="3928281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1531553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6306" y="1649425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306" y="1824447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736306" y="2010184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6306" y="221735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36306" y="2310222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6306" y="2517391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306" y="3931853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306" y="3928281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0122" y="1531553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93706" y="1649425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93706" y="1824447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6793706" y="2010184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93706" y="221735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93706" y="2310222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93706" y="2517391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93706" y="3931853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93706" y="3928281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510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0651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healthcare &amp; pharma.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527981"/>
            <a:ext cx="39862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53155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527981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6674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527981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663712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1870881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2070906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engineered for production from day one, not a model demo.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3438" y="1527981"/>
            <a:ext cx="39862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53155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527981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6674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527981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663712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1870881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Platform-native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2070906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expertise in industry-specific platforms — not generic AI.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13856"/>
            <a:ext cx="39862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8174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2813856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39532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2813856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2949587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156756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depth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356781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capability matched to industry regulatory and operational realities.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43438" y="2813856"/>
            <a:ext cx="39862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28174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813856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39532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2813856"/>
            <a:ext cx="0" cy="114300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2949587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156756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356781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Governance, bias assessment, and compliance built in, not bolted on.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374022-2t26s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5151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32384"/>
            <a:ext cx="3573494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352415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4389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108201"/>
            <a:ext cx="3403327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286500" y="1714500"/>
            <a:ext cx="7144" cy="21431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604857" y="2271713"/>
            <a:ext cx="110142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580188" y="2700338"/>
            <a:ext cx="113299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894625" y="3128963"/>
            <a:ext cx="73052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2026-10-01T09:02:54Z</dcterms:created>
  <dcterms:modified xsi:type="dcterms:W3CDTF">2026-10-01T09:02:54Z</dcterms:modified>
</cp:coreProperties>
</file>