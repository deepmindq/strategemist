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  <p:pic>
        <p:nvPicPr>
          <p:cNvPr id="6" name="Image 1" descr="/tmp/h2p-fit-1790845589658-9n0e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2998" y="571500"/>
            <a:ext cx="228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42950" y="1714500"/>
            <a:ext cx="65330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1960959"/>
            <a:ext cx="4498665" cy="1089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742950" y="2978051"/>
            <a:ext cx="5400675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742950" y="365804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42950" y="3836640"/>
            <a:ext cx="45720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testing. IEC 62443 security. Production-grade quality.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6393656" y="1643063"/>
            <a:ext cx="7144" cy="22860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46317" y="1721644"/>
            <a:ext cx="1311883" cy="2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98251" y="1721644"/>
            <a:ext cx="1909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860750" y="2002929"/>
            <a:ext cx="259745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967163" y="2338685"/>
            <a:ext cx="149103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898251" y="2338685"/>
            <a:ext cx="190917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525477" y="2490043"/>
            <a:ext cx="1932723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899418" y="2825800"/>
            <a:ext cx="155878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38645" y="2825800"/>
            <a:ext cx="190917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448075" y="2977158"/>
            <a:ext cx="2010125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38239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11033" y="314325"/>
            <a:ext cx="9311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82216"/>
            <a:ext cx="2656918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60809"/>
            <a:ext cx="86296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9793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3969"/>
            <a:ext cx="4369743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1706128"/>
            <a:ext cx="41865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7941" y="1916869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7238" y="19847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14413" y="1984735"/>
            <a:ext cx="363393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4413" y="2115108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941" y="2474975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7238" y="254284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14413" y="2542840"/>
            <a:ext cx="37436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4413" y="2673214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941" y="3033080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7238" y="310094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1014413" y="3100946"/>
            <a:ext cx="37436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4413" y="3231319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7941" y="3591185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365905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014413" y="3659051"/>
            <a:ext cx="363393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4413" y="3789425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51971" y="1573969"/>
            <a:ext cx="3574107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98418" y="1706128"/>
            <a:ext cx="32812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98418" y="1913297"/>
            <a:ext cx="3281214" cy="111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manufacturing requires OT-aware, ISA-95 aligned, IEC 62443 compliant capability — not generic technology. The right approach connects quality &amp; security engineering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8418" y="3877828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98418" y="3877828"/>
            <a:ext cx="1884387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94680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285750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39353"/>
            <a:ext cx="103467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03659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for the connected factory.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00795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28365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1271253" y="1448284"/>
            <a:ext cx="100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93156" y="14232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2596753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0426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3473314" y="1448284"/>
            <a:ext cx="8772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71988" y="14232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675584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3876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176763" y="1448284"/>
            <a:ext cx="1252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50819" y="14232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6754416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99796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7542684" y="1448284"/>
            <a:ext cx="9655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7922" y="1876909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794" y="19804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2896926" y="19965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635794" y="2194806"/>
            <a:ext cx="25147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794" y="2362684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PLC logic, DAST for Ignition/MES web UIs, Claroty/Nozomi ICS vulnerability scanning.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51522" y="1876909"/>
            <a:ext cx="2640843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9394" y="19804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5630638" y="19965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3369394" y="2194806"/>
            <a:ext cx="24051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9394" y="2362684"/>
            <a:ext cx="24051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Purdue Model network VAPT, SCADA protocol testing (Modbus/DNP3/OPC UA), PLC security assessment.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5235" y="1876909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03107" y="19804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8364238" y="19965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6103107" y="2194806"/>
            <a:ext cx="24049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3107" y="2362684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load testing (Siemens Opcenter), Kafka IoT pipeline perf, S/4HANA MRP stress, Ignition SCADA perf.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7922" y="2891321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794" y="2994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2896926" y="301097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635794" y="3209218"/>
            <a:ext cx="25147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794" y="3377096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functional automation, SAP S/4HANA regression, TrackWise QMS, OT/IT integration testing.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51522" y="2891321"/>
            <a:ext cx="2640843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69394" y="2994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44" name="Text 42"/>
          <p:cNvSpPr/>
          <p:nvPr/>
        </p:nvSpPr>
        <p:spPr>
          <a:xfrm>
            <a:off x="5630638" y="301097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5" name="Text 43"/>
          <p:cNvSpPr/>
          <p:nvPr/>
        </p:nvSpPr>
        <p:spPr>
          <a:xfrm>
            <a:off x="3369394" y="3209218"/>
            <a:ext cx="25148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69394" y="3377096"/>
            <a:ext cx="24051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model validation, YOLOv8 defect detection testing, GenAI copilot evaluation, AI safety (IEC 61508).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85235" y="2891321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03107" y="2994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8364238" y="301097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50" name="Text 48"/>
          <p:cNvSpPr/>
          <p:nvPr/>
        </p:nvSpPr>
        <p:spPr>
          <a:xfrm>
            <a:off x="6103107" y="3209218"/>
            <a:ext cx="25147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3107" y="3377096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IATF 16949 QA assessment, MES migration test strategy, OEE-linked quality metrics, GAMP 5 release readiness.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PLC logic, DAST for Ignition/MES web UIs, Claroty/Nozomi ICS vulnerability scanning.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Industrial Codebases (OT-Aware)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analysis tuned for OT code — PLC logic (Siemens TIA Portal), SCADA scripts (Ignition), MES APIs — per IEC 62443-4-1.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 for MES &amp; SCADA Web Interfaces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testing of Ignition Perspective, Siemens Opcenter web UIs — OWASP Top 10 + ICS-specific (CWE-1214 ICS).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63704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69062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690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69062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Code Review for PLC/SCADA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81207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review of PLC ladder logic (IEC 61131-3) and SCADA scripts — injection, authentication bypass, unsafe states.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12282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17640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1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17640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Security Gates for Industrial Software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29784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pipeline with SAST (SonarQube), SCA (Snyk), secrets scanning, and IEC 62443 compliance checks.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6085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6621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6621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6621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ICS Vulnerability Scanning (Claroty / Nozomi)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774" y="37836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passive scanning of OT network via Claroty xDome / Nozomi Guardian — ICS CVE detection without disruption.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25103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Purdue Model network VAPT, SCADA protocol testing (Modbus/DNP3/OPC UA), PLC security assessment.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Network VAPT (Purdue Model)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across Purdue Model levels (0-5) — Level 0 (physical), Level 1 (PLC), Level 2 (SCADA), Level 3 (MES), Level 4 (ERP).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SCADA / HMI VAPT (Modbus / DNP3 / OPC UA)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SCADA protocols — Modbus TCP, DNP3, OPC UA, Profinet — per MITRE ATT&amp;CK for ICS.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63704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69062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690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69062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PLC Security Assessment (Siemens / Rockwell)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81207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assessment of Siemens S7-1500, Rockwell ControlLogix — firmware, project file protection, communication security.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12282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17640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1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17640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IIoT Device VAPT (Edge Gateways)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29784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for industrial edge gateways (Siemens IoT2050, Advantech) — firmware extraction, protocol fuzzing, physical tampering.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6085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6621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6621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662176"/>
            <a:ext cx="260970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ERP-MES Integration VAPT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774" y="37836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SAP MII / SAP Ariba integration points — API security, data integrity, access control per IEC 62443-3-3.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load testing (Siemens Opcenter), Kafka IoT pipeline perf, S/4HANA MRP stress, Ignition SCADA perf.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Load Testing (Siemens Opcenter)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testing Siemens Opcenter Execution under peak production — 1,000+ concurrent work orders, real-time SFC data at 10Hz.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IoT Data Pipeline Performance (Kafka)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Apache Kafka pipeline ingesting OPC UA sensor data at 10kHz from 500+ machines — throughput and latency.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63704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69062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690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69062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Stress Testing (S/4HANA MRP Live)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81207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testing SAP S/4HANA MRP Live run — BOM explosion for 100,000+ materials with parallel batch processing.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12282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17640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1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17640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SCADA / HMI Performance (Ignition)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29784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Ignition SCADA with 10,000+ tags — tag scan rate, gateway throughput, Perspective session limits.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6085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6621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6621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662176"/>
            <a:ext cx="260970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Scalability (AWS IoT SiteWise)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762774" y="37836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Scalability testing AWS IoT SiteWise ingestion — 50,000+ assets, 100K data points/sec, edge-to-cloud latency &lt;500ms.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functional automation, SAP S/4HANA regression, TrackWise QMS, OT/IT integration testing.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Functional Automation (Opcenter)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Siemens Opcenter — production order lifecycle, routing, SFC, electronic batch records (ISA-88).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528638"/>
          </a:xfrm>
          <a:prstGeom prst="roundRect">
            <a:avLst>
              <a:gd name="adj" fmla="val 1441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ERP Regression Automation (S/4HANA)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regression for SAP S/4HANA manufacturing modules — PP (Production Planning), PM (Plant Maintenance), QM (Quality Management).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737061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790639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7906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790639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System Automation (TrackWise)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912083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testing of Sparta TrackWise QMS — CAPA workflow, deviation management, supplier quality integration.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222836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276414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2764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276414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 Test Automation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397858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testing of OPC UA / MTConnect to SAP MII integration — tag mapping, real-time data flow, failover.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708611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762189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7621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762189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API Test Automation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774" y="3883633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contract testing of manufacturing APIs — SAP Ariba, Siemens Opcenter, Ignition Perspective — using Postman / Pact.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314325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159504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the factory floor.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2937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33984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614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84241" y="149114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1723318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196899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333984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456" y="146614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308425" y="1491146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793456" y="1723318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793456" y="196899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576996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7091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123945" y="2734159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296633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212009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2576996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27091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08425" y="27341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793456" y="296633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793456" y="3212009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314325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3208294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47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 — manufacturing.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234976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1101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514587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18047" y="151458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514587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50206" y="1664891"/>
            <a:ext cx="89944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50206" y="1677107"/>
            <a:ext cx="89944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62443-3-3 SL2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49662" y="1664891"/>
            <a:ext cx="61045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85838" y="1677107"/>
            <a:ext cx="7381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IATF 16949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60130" y="1664891"/>
            <a:ext cx="53142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31123" y="1677107"/>
            <a:ext cx="58944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9001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91570" y="1664891"/>
            <a:ext cx="90256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91570" y="1677107"/>
            <a:ext cx="90256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 ICS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125377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128949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518047" y="2128949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128949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50206" y="2279254"/>
            <a:ext cx="97155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50206" y="2291469"/>
            <a:ext cx="97155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Claroty xDome (ICS)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21769" y="2279254"/>
            <a:ext cx="89888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21769" y="2291469"/>
            <a:ext cx="8988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SonarQube (SAST)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20666" y="2279254"/>
            <a:ext cx="88013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20666" y="2291469"/>
            <a:ext cx="88013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(DAST)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0811" y="2279254"/>
            <a:ext cx="85044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0811" y="2291469"/>
            <a:ext cx="85044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Nozomi Guardian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739740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2743312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518047" y="2743312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2743312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50206" y="2893616"/>
            <a:ext cx="67586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89115" y="2905832"/>
            <a:ext cx="79804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JMeter (MES)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26084" y="2893616"/>
            <a:ext cx="77319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426084" y="2905832"/>
            <a:ext cx="77319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Perf (IoT)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99296" y="2893616"/>
            <a:ext cx="107915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299296" y="2905832"/>
            <a:ext cx="107915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LoadRunner (S/4HANA)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8462" y="2893616"/>
            <a:ext cx="100224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78462" y="2905832"/>
            <a:ext cx="100224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Perf (SCADA)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354102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357674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518047" y="335767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357674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50206" y="3507979"/>
            <a:ext cx="89721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650206" y="3520194"/>
            <a:ext cx="89721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Selenium (MES UI)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47429" y="3507979"/>
            <a:ext cx="73580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47429" y="3520194"/>
            <a:ext cx="73580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Tricentis (SAP)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83248" y="3507979"/>
            <a:ext cx="76192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83248" y="3520194"/>
            <a:ext cx="76192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Postman (APIs)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45186" y="3507979"/>
            <a:ext cx="76181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345186" y="3520194"/>
            <a:ext cx="76181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Pact (Contract)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396846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3972037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518047" y="397203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3972037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650206" y="4122341"/>
            <a:ext cx="92120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650206" y="4134557"/>
            <a:ext cx="92120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(OT-Safe)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671428" y="4122341"/>
            <a:ext cx="109366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671428" y="4134557"/>
            <a:ext cx="109366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Claroty (OT Monitoring)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65104" y="4122341"/>
            <a:ext cx="74574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865104" y="4134557"/>
            <a:ext cx="74574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PagerDuty (IR)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10857" y="4122341"/>
            <a:ext cx="80523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10857" y="4134557"/>
            <a:ext cx="80523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Audit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314325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ENGAGEMENT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178073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2937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506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419834"/>
            <a:ext cx="1739503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506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506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1750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5334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5334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75334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5334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75334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5334" y="2419834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5334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5334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9163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29163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29163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29163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29163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29163" y="2419834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29163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9163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9406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82991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2991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782991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82991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82991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82991" y="2419834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82991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2991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· WHY KEFI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343208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2937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373274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37684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6991" y="1373274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49841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373274"/>
            <a:ext cx="0" cy="11287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663" y="1537581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8663" y="1744749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security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8663" y="1944774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ICS-specific VAPT per MITRE ATT&amp;CK ICS — not IT security applied to OT.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3438" y="1373274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3438" y="137684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373274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3438" y="249841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7725" y="1373274"/>
            <a:ext cx="0" cy="11287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7750" y="1537581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57750" y="1744749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Purdue Model expertise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7750" y="1944774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across all 5 Purdue levels — Level 0 (physical) through Level 4 (ERP).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14350" y="2644862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26484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6991" y="2644862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377000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644862"/>
            <a:ext cx="0" cy="11287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663" y="2809168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8663" y="3016337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certified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8663" y="3216362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aligned to IEC 62443-3-3 SL2 and IEC 62443-4-1 product security.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43438" y="2644862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43438" y="26484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6078" y="2644862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3438" y="377000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7725" y="2644862"/>
            <a:ext cx="0" cy="112871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7750" y="2809168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57750" y="3016337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validation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57750" y="3216362"/>
            <a:ext cx="35790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LSTM, YOLOv8, and GenAI model testing with industry-specific evaluation harnesses.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  <p:pic>
        <p:nvPicPr>
          <p:cNvPr id="7" name="Image 1" descr="/tmp/h2p-fit-1790845596429-tdwo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1960959"/>
            <a:ext cx="3573494" cy="501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742950" y="2438140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742950" y="3058195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42950" y="3252415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393656" y="1714500"/>
            <a:ext cx="7144" cy="20002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477359" y="1714500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7477359" y="2164556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7804306" y="2614613"/>
            <a:ext cx="6538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2026-10-01T09:06:36Z</dcterms:created>
  <dcterms:modified xsi:type="dcterms:W3CDTF">2026-10-01T09:06:36Z</dcterms:modified>
</cp:coreProperties>
</file>