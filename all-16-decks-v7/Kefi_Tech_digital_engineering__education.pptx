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489309-b522k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36680" y="571500"/>
            <a:ext cx="17737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EDUCATION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73708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EDUCATION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46672"/>
            <a:ext cx="5429250" cy="923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897460"/>
            <a:ext cx="5700713" cy="51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Education.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54430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708611"/>
            <a:ext cx="442912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Digital Engineering &amp; Transformation Services for Education.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6400800" y="1928813"/>
            <a:ext cx="7144" cy="214312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353105" y="2588940"/>
            <a:ext cx="2630942" cy="131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10"/>
              </a:lnSpc>
              <a:buNone/>
            </a:pPr>
            <a:r>
              <a:rPr lang="en-US" sz="800" spc="8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r" indent="0" marL="0">
              <a:lnSpc>
                <a:spcPts val="810"/>
              </a:lnSpc>
              <a:buNone/>
            </a:pPr>
            <a:r>
              <a:rPr lang="en-US" sz="800" spc="8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326365" y="2948918"/>
            <a:ext cx="2657682" cy="131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10"/>
              </a:lnSpc>
              <a:buNone/>
            </a:pPr>
            <a:r>
              <a:rPr lang="en-US" sz="800" spc="8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r" indent="0" marL="0">
              <a:lnSpc>
                <a:spcPts val="810"/>
              </a:lnSpc>
              <a:buNone/>
            </a:pPr>
            <a:r>
              <a:rPr lang="en-US" sz="800" spc="8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369148" y="3308896"/>
            <a:ext cx="2614899" cy="131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10"/>
              </a:lnSpc>
              <a:buNone/>
            </a:pPr>
            <a:r>
              <a:rPr lang="en-US" sz="800" spc="8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r" indent="0" marL="0">
              <a:lnSpc>
                <a:spcPts val="810"/>
              </a:lnSpc>
              <a:buNone/>
            </a:pPr>
            <a:r>
              <a:rPr lang="en-US" sz="800" spc="8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2950" y="4754166"/>
            <a:ext cx="49621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719353" y="4750594"/>
            <a:ext cx="26816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DIGITAL ENGINEERING AND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64837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177013" y="457200"/>
            <a:ext cx="17817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 · INDUSTRY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7000875" cy="852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is being reshaped by digital learning, institutional automation and student lifecycle intelligence.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805025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success, faculty productivity, institutional efficiency and digital experience define modern education.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2134977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2295711"/>
            <a:ext cx="3753041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EDUCATION NEEDS THIS 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2483569"/>
            <a:ext cx="36433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6516" y="2594297"/>
            <a:ext cx="3636169" cy="396701"/>
          </a:xfrm>
          <a:prstGeom prst="roundRect">
            <a:avLst>
              <a:gd name="adj" fmla="val 192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5813" y="266930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1014413" y="2669307"/>
            <a:ext cx="3338703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14413" y="2802136"/>
            <a:ext cx="32289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696516" y="3069580"/>
            <a:ext cx="3636169" cy="396701"/>
          </a:xfrm>
          <a:prstGeom prst="roundRect">
            <a:avLst>
              <a:gd name="adj" fmla="val 192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5813" y="314458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1014413" y="3144589"/>
            <a:ext cx="3338703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4413" y="3277419"/>
            <a:ext cx="32289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696516" y="3544863"/>
            <a:ext cx="3636169" cy="396701"/>
          </a:xfrm>
          <a:prstGeom prst="roundRect">
            <a:avLst>
              <a:gd name="adj" fmla="val 192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5813" y="361987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1014413" y="3619872"/>
            <a:ext cx="3338703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14413" y="3752701"/>
            <a:ext cx="32289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696516" y="4020145"/>
            <a:ext cx="3636169" cy="396701"/>
          </a:xfrm>
          <a:prstGeom prst="roundRect">
            <a:avLst>
              <a:gd name="adj" fmla="val 192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5813" y="409515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4" name="Text 22"/>
          <p:cNvSpPr/>
          <p:nvPr/>
        </p:nvSpPr>
        <p:spPr>
          <a:xfrm>
            <a:off x="1014413" y="4095155"/>
            <a:ext cx="3338703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14413" y="4227984"/>
            <a:ext cx="32289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4747022" y="2134977"/>
            <a:ext cx="38790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22044" y="2295711"/>
            <a:ext cx="3529012" cy="28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DIGITAL ENGINEERING &amp; TRANSFORMATION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22044" y="2585703"/>
            <a:ext cx="35290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22044" y="2721434"/>
            <a:ext cx="3529013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applied to education requires industry-specific capability, not generic technology. The right approach connects digital engineering &amp; transformation to the regulatory, operational and customer realities that define education.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2044" y="4403117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22044" y="4403117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" y="4754166"/>
            <a:ext cx="386164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90281" y="4750594"/>
            <a:ext cx="341169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16267" y="4750594"/>
            <a:ext cx="8133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7184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00479" y="457200"/>
            <a:ext cx="15076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 · 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96541"/>
            <a:ext cx="7700963" cy="57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across the complete lifecycle.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502197"/>
            <a:ext cx="756094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education.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817861"/>
            <a:ext cx="1856370" cy="507206"/>
          </a:xfrm>
          <a:prstGeom prst="roundRect">
            <a:avLst>
              <a:gd name="adj" fmla="val 1877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081" y="198573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907256" y="1996455"/>
            <a:ext cx="13348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49302" y="2007171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2601776" y="1817861"/>
            <a:ext cx="1856482" cy="507206"/>
          </a:xfrm>
          <a:prstGeom prst="roundRect">
            <a:avLst>
              <a:gd name="adj" fmla="val 1877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33935" y="198573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2991110" y="1996455"/>
            <a:ext cx="1334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33267" y="2007171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4685742" y="1817861"/>
            <a:ext cx="1856370" cy="507206"/>
          </a:xfrm>
          <a:prstGeom prst="roundRect">
            <a:avLst>
              <a:gd name="adj" fmla="val 1877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7901" y="198573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5075076" y="1996455"/>
            <a:ext cx="13348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17122" y="2007171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6769596" y="1817861"/>
            <a:ext cx="1856482" cy="507206"/>
          </a:xfrm>
          <a:prstGeom prst="roundRect">
            <a:avLst>
              <a:gd name="adj" fmla="val 1877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01755" y="198573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7158930" y="1996455"/>
            <a:ext cx="1334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442939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2446511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8654" y="2442939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3296617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066" y="2442939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081" y="255009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2906304" y="2571527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650081" y="2778696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0081" y="2955838"/>
            <a:ext cx="2390701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platform deployment, SaaS, MVP, product modernization.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47951" y="2442939"/>
            <a:ext cx="2647987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247951" y="2446511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2366" y="2442939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7951" y="3296617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58666" y="2442939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682" y="255009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37" name="Text 35"/>
          <p:cNvSpPr/>
          <p:nvPr/>
        </p:nvSpPr>
        <p:spPr>
          <a:xfrm>
            <a:off x="5640016" y="2571527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3383682" y="2778696"/>
            <a:ext cx="2500540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83682" y="2955838"/>
            <a:ext cx="2390812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Cloud-native, microservices, containers, platform engineering, event-driven.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81663" y="2442939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981663" y="2446511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25967" y="2442939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81663" y="3296617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92378" y="2442939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17394" y="255009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46" name="Text 44"/>
          <p:cNvSpPr/>
          <p:nvPr/>
        </p:nvSpPr>
        <p:spPr>
          <a:xfrm>
            <a:off x="8373617" y="2571527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6117394" y="2778696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17394" y="2955838"/>
            <a:ext cx="2390701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migration, mainframe modernization, monolith-to-microservices.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4350" y="3385914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14350" y="338948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58654" y="3385914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4350" y="4239592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5066" y="3385914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0081" y="349307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55" name="Text 53"/>
          <p:cNvSpPr/>
          <p:nvPr/>
        </p:nvSpPr>
        <p:spPr>
          <a:xfrm>
            <a:off x="2906304" y="3514502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650081" y="3721671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50081" y="3898813"/>
            <a:ext cx="2390701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platform integration, middleware, interoperability.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247951" y="3385914"/>
            <a:ext cx="2647987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3247951" y="3389486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92366" y="3385914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47951" y="4239592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58666" y="3385914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83682" y="349307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64" name="Text 62"/>
          <p:cNvSpPr/>
          <p:nvPr/>
        </p:nvSpPr>
        <p:spPr>
          <a:xfrm>
            <a:off x="5640016" y="3514502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65" name="Text 63"/>
          <p:cNvSpPr/>
          <p:nvPr/>
        </p:nvSpPr>
        <p:spPr>
          <a:xfrm>
            <a:off x="3383682" y="3721671"/>
            <a:ext cx="2500540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&amp; Experience Engineering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383682" y="3898813"/>
            <a:ext cx="2390812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 strategy, modern web/mobile, design systems, accessibility (WCAG 2.1 AA).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981663" y="3385914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981663" y="338948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25967" y="3385914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81663" y="4239592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92378" y="3385914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7394" y="349307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73" name="Text 71"/>
          <p:cNvSpPr/>
          <p:nvPr/>
        </p:nvSpPr>
        <p:spPr>
          <a:xfrm>
            <a:off x="8373617" y="3514502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74" name="Text 72"/>
          <p:cNvSpPr/>
          <p:nvPr/>
        </p:nvSpPr>
        <p:spPr>
          <a:xfrm>
            <a:off x="6117394" y="3721671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&amp; Engineering Consulting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117394" y="3898813"/>
            <a:ext cx="2390701" cy="2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CI/CD, DevSecOps, solution architecture, DR, SRE, engineering standards.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1603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44668" y="457200"/>
            <a:ext cx="1576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 · CAPABILITY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56519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platform deployment, SaaS, MVP, product modernization.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72183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732917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936514"/>
            <a:ext cx="36433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2072246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product &amp; platform engineering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2944" y="4126074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126074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EDUCATION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47022" y="1572183"/>
            <a:ext cx="38790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2044" y="1732917"/>
            <a:ext cx="3529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25616" y="20400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14913" y="21932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86375" y="21878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5514975" y="2093677"/>
            <a:ext cx="2843213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Lifecycle Platform (Salesforce Education Cloud)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514975" y="22179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SaaS platform covering admissions through alumni — enrollment, academic, financial via Salesforce Education Cloud.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25616" y="24972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14913" y="26504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86375" y="26450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5514975" y="25508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Learning Management System (Canvas LMS)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14975" y="26751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Canvas LMS / Brightspace deployment — course delivery, assessment, gradebook, analytics via Instructure.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25616" y="29544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14913" y="31076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86375" y="31022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514975" y="3008077"/>
            <a:ext cx="2843213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Information System (Banner 9 / Workday Student)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514975" y="31323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Banner 9 / Workday Student SIS — admissions, registrar, financial aid, degree audit via Ellucian/Workday.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5616" y="34116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14913" y="35648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86375" y="35594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514975" y="34652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Faculty Workstation (Canvas + Slate)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14975" y="35895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for faculty — course management, grading, advising, research via Canvas + Slate CRM.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25616" y="38688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14913" y="40220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86375" y="40166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514975" y="39224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Alumni Engagement Platform (Salesforce)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14975" y="40467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for alumni via Salesforce Marketing Cloud — events, giving, mentoring, career services.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350" y="4754166"/>
            <a:ext cx="350657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35214" y="4750594"/>
            <a:ext cx="305674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06245" y="4750594"/>
            <a:ext cx="16148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1603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44668" y="457200"/>
            <a:ext cx="1576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 · CAPABILITY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56519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Cloud-native, microservices, containers, platform engineering, event-driven.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72183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732917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936514"/>
            <a:ext cx="36433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2072246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cloud-native &amp; platform engineering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2944" y="4126074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126074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EDUCATION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47022" y="1572183"/>
            <a:ext cx="38790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2044" y="1732917"/>
            <a:ext cx="3529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25616" y="20400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14913" y="21932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86375" y="21878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5514975" y="20936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Cloud Platform (AWS)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14975" y="22179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platform engineered for FERPA and student data protection on AWS.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25616" y="24972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14913" y="26504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86375" y="26450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5514975" y="25508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Learning Analytics Platform (Databricks)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14975" y="26751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for learning analytics — engagement, outcomes, early alerts via Databricks.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25616" y="29544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14913" y="31076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86375" y="31022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514975" y="30080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Interoperability Platform (LTI 1.3)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14975" y="31323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for interoperability via LTI 1.3 across LMS, SIS, library, assessment systems.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5616" y="34116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14913" y="35648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86375" y="35594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514975" y="34652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Platform (Backstage)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14975" y="35895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 for education dev teams via Backstage.io — FERPA-compliant environments, audit trails.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25616" y="38688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14913" y="40220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86375" y="40166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514975" y="39224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Engagement Platform (Kafka)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14975" y="40467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 for real-time student engagement monitoring and alerts via Kafka + Flink.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350" y="4754166"/>
            <a:ext cx="340120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29844" y="4750594"/>
            <a:ext cx="295137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95505" y="4750594"/>
            <a:ext cx="183819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1603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44668" y="457200"/>
            <a:ext cx="1576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 · CAPABILITY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56519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migration, mainframe modernization, monolith-to-microservices.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72183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732917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936514"/>
            <a:ext cx="36433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2072246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modernization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2944" y="4126074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126074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EDUCATION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47022" y="1572183"/>
            <a:ext cx="38790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2044" y="1732917"/>
            <a:ext cx="3529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25616" y="20400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14913" y="21932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86375" y="21878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5514975" y="20936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SIS Migration (Banner 8 → Banner 9)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14975" y="22179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Incremental migration from Banner 8 / legacy SIS to Banner 9 / Workday Student cloud-native architecture.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25616" y="24972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14913" y="26504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86375" y="26450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5514975" y="25508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LMS Modernization (Canvas)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14975" y="26751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Modernising legacy Blackboard/Moodle with Canvas LMS / Brightspace — LTI 1.3, cloud-native.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25616" y="29544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14913" y="31076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86375" y="31022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514975" y="30080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Data Modernization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14975" y="31323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Modernising legacy education data stores (Oracle/IBM) with cloud-native Snowflake/Databricks.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5616" y="34116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14913" y="35648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86375" y="35594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514975" y="34652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Portal Modernization (React)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14975" y="35895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Modernising legacy student portals with React + .NET modern web and mobile experiences.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25616" y="38688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14913" y="40220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86375" y="40166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514975" y="3922477"/>
            <a:ext cx="2843213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Administrative Systems Modernization (Workday)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14975" y="40467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Modernising legacy HR, finance, facilities systems with Workday HCM/Financials/Student.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350" y="4754166"/>
            <a:ext cx="36493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77978" y="4750594"/>
            <a:ext cx="31995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91772" y="4750594"/>
            <a:ext cx="131215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1603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44668" y="457200"/>
            <a:ext cx="1576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 · CAPABILITY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56519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platform integration, middleware, interoperability.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72183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732917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936514"/>
            <a:ext cx="36433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2072246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&amp; integration engineering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2944" y="4126074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126074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EDUCATION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47022" y="1572183"/>
            <a:ext cx="38790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2044" y="1732917"/>
            <a:ext cx="3529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25616" y="20400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14913" y="21932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86375" y="21878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5514975" y="20936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LMS-SIS Integration (LTI 1.3 / OneRoster)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14975" y="22179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integration of Canvas/Brightspace LMS with Banner/Workday SIS via LTI 1.3 and OneRoster.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25616" y="24972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14913" y="26504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86375" y="26450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5514975" y="25508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Library Systems Integration (Alma/Ex Libris)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14975" y="26751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library catalogs (Alma), journal subscriptions (EBSCO), digital repositories via OAI-PMH.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25616" y="29544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14913" y="31076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86375" y="31022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514975" y="30080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Assessment Platform Integration (Canvas API)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14975" y="31323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assessment platforms — grades, rubrics, learning outcomes via Canvas API + LTI 1.3.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5616" y="34116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14913" y="356484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86375" y="35594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514975" y="3465277"/>
            <a:ext cx="295294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Provider Integration (SAML/OIDC)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14975" y="3589511"/>
            <a:ext cx="2843213" cy="16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SSO via SAML 2.0, OpenID Connect, Shibboleth for institutional access management.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25616" y="3868899"/>
            <a:ext cx="3521869" cy="392906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14913" y="4006416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86375" y="40010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514975" y="3954959"/>
            <a:ext cx="2843213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Third-Party EdTech Integration (Turnitin/Pearson)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5514975" y="4079193"/>
            <a:ext cx="2843213" cy="129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Turnitin, Pearson, McGraw-Hill via LTI 1.3 standard APIs.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350" y="4754166"/>
            <a:ext cx="35763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04977" y="4750594"/>
            <a:ext cx="31265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45772" y="4750594"/>
            <a:ext cx="146691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7184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00479" y="457200"/>
            <a:ext cx="15076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 ·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7700963" cy="57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digital engineering &amp; transformation applies to education.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530772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860724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99288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204846" y="202324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10" name="Text 8"/>
          <p:cNvSpPr/>
          <p:nvPr/>
        </p:nvSpPr>
        <p:spPr>
          <a:xfrm>
            <a:off x="678656" y="2264346"/>
            <a:ext cx="3671888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&amp; Faculty Assistants (Azure OpenAI + Canvas)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78656" y="2712839"/>
            <a:ext cx="3671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assistants via Azure OpenAI grounded in Canvas LMS — course help, advising, research.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32722" y="1860724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3456" y="199288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319646" y="202324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15" name="Text 13"/>
          <p:cNvSpPr/>
          <p:nvPr/>
        </p:nvSpPr>
        <p:spPr>
          <a:xfrm>
            <a:off x="4793456" y="2264346"/>
            <a:ext cx="3671888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Institutional Knowledge Systems (Azure AI Search)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4793456" y="2712839"/>
            <a:ext cx="3671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policies, catalogs, research via Azure AI Search + Pinecone + Alma library system.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3046586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8656" y="31787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4204846" y="320910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678656" y="3450208"/>
            <a:ext cx="3671888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Lifecycle Platform (Salesforce Education Cloud)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78656" y="3898702"/>
            <a:ext cx="3671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 through alumni via Salesforce Education Cloud + Banner SIS + Slate CRM.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2722" y="3046586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93456" y="31787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319646" y="320910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4793456" y="3450208"/>
            <a:ext cx="3671888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Insights (XGBoost + Banner SIS)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793456" y="3898702"/>
            <a:ext cx="3671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At-risk prediction, enrollment forecasting via XGBoost + Prophet + Banner SIS data.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7184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00479" y="457200"/>
            <a:ext cx="15076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 ·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96541"/>
            <a:ext cx="8486775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digital engineering &amp; transformation — education.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468041"/>
            <a:ext cx="7715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783705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787277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446609" y="1787277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494" y="1787277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64481" y="1929852"/>
            <a:ext cx="99242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64481" y="1942654"/>
            <a:ext cx="99242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Student Portal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46201" y="1946225"/>
            <a:ext cx="1197918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42629" y="1942654"/>
            <a:ext cx="1247924" cy="30424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Faculty Workstation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933416" y="1929852"/>
            <a:ext cx="111654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33416" y="1942654"/>
            <a:ext cx="111654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Slate CRM (Admissions)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39258" y="1946225"/>
            <a:ext cx="1251272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35687" y="1942654"/>
            <a:ext cx="3372520" cy="30424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Education Cloud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7922" y="2412355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494" y="2415927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446609" y="2415927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494" y="2415927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64481" y="2558502"/>
            <a:ext cx="117648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64481" y="2571304"/>
            <a:ext cx="117648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Canvas LMS (Instructure)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26693" y="2558502"/>
            <a:ext cx="108339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26693" y="2571304"/>
            <a:ext cx="108339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Banner 9 SIS (Ellucian)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95812" y="2558502"/>
            <a:ext cx="86361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995812" y="2571304"/>
            <a:ext cx="86361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Workday Student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48721" y="2574875"/>
            <a:ext cx="1251272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45149" y="2571304"/>
            <a:ext cx="3563057" cy="30424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Education Cloud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7922" y="3041005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494" y="3044577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446609" y="3044577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494" y="3044577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64481" y="3187152"/>
            <a:ext cx="87600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564481" y="3199954"/>
            <a:ext cx="87600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(FERPA)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26209" y="3187152"/>
            <a:ext cx="86796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26209" y="3199954"/>
            <a:ext cx="8679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 (EKS)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9899" y="3187152"/>
            <a:ext cx="99153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479899" y="3199954"/>
            <a:ext cx="99153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(Engagement)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57154" y="3187152"/>
            <a:ext cx="102579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557154" y="3199954"/>
            <a:ext cx="102579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Dev Portal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7922" y="3669655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1494" y="3673227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446609" y="3673227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494" y="3673227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64481" y="3815802"/>
            <a:ext cx="92790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564481" y="3828604"/>
            <a:ext cx="92790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LTI 1.3 / OneRoster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78112" y="3815802"/>
            <a:ext cx="62351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578112" y="3828604"/>
            <a:ext cx="62351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Canvas API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87353" y="3815802"/>
            <a:ext cx="92612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287353" y="3828604"/>
            <a:ext cx="92612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Banner Integration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99198" y="3815802"/>
            <a:ext cx="101586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299198" y="3828604"/>
            <a:ext cx="101586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SAML 2.0 / OIDC SSO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7922" y="4298305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1494" y="4301877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1446609" y="4301877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494" y="4301877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564481" y="4444452"/>
            <a:ext cx="63333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564481" y="4457254"/>
            <a:ext cx="63333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FERPA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283544" y="4444452"/>
            <a:ext cx="72542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283544" y="4457254"/>
            <a:ext cx="7254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DR Site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094695" y="4444452"/>
            <a:ext cx="106084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094695" y="4457254"/>
            <a:ext cx="106084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Data Network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241267" y="4444452"/>
            <a:ext cx="113150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241267" y="4457254"/>
            <a:ext cx="113150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Macie (Student PII)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536643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065280" y="457200"/>
            <a:ext cx="17737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 · ENGAGEMENT PATHWAY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2151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96541"/>
            <a:ext cx="8486775" cy="57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502197"/>
            <a:ext cx="7715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832149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794" y="196430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5794" y="2167905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635794" y="239929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794" y="263503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5794" y="272790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5794" y="2924361"/>
            <a:ext cx="1700213" cy="764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maturity assessment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5794" y="407528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794" y="4071714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5322" y="1832149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93194" y="196430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3194" y="2167905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2693194" y="239929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93194" y="263503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93194" y="272790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93194" y="2924361"/>
            <a:ext cx="1700213" cy="63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93194" y="407528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3194" y="4071714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32722" y="1832149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50594" y="196430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0594" y="2167905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56" dirty="0"/>
          </a:p>
        </p:txBody>
      </p:sp>
      <p:sp>
        <p:nvSpPr>
          <p:cNvPr id="28" name="Text 26"/>
          <p:cNvSpPr/>
          <p:nvPr/>
        </p:nvSpPr>
        <p:spPr>
          <a:xfrm>
            <a:off x="4750594" y="239929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0594" y="263503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50594" y="272790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0594" y="2924361"/>
            <a:ext cx="1700213" cy="63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0594" y="407528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0594" y="4071714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90122" y="1832149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07994" y="196430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07994" y="2167905"/>
            <a:ext cx="1700212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56" dirty="0"/>
          </a:p>
        </p:txBody>
      </p:sp>
      <p:sp>
        <p:nvSpPr>
          <p:cNvPr id="37" name="Text 35"/>
          <p:cNvSpPr/>
          <p:nvPr/>
        </p:nvSpPr>
        <p:spPr>
          <a:xfrm>
            <a:off x="6807994" y="239929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07994" y="263503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07994" y="272790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07994" y="2924361"/>
            <a:ext cx="1700213" cy="63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5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07994" y="407528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7994" y="4071714"/>
            <a:ext cx="1700212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1603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44668" y="457200"/>
            <a:ext cx="1576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 · WHY KEFI TECH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35806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EDUCATION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25116"/>
            <a:ext cx="8486775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56519"/>
            <a:ext cx="7715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education.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625761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62933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6991" y="1625761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69375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638" y="1625761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375" y="1775780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4375" y="1982949"/>
            <a:ext cx="3717322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Platform-native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4375" y="2182974"/>
            <a:ext cx="36075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Engineers who build on industry-specific platforms — not generic frameworks.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43438" y="1625761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3438" y="162933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26078" y="1625761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3438" y="269375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7725" y="1625761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3463" y="1775780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3463" y="1982949"/>
            <a:ext cx="360759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by default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3463" y="2182974"/>
            <a:ext cx="36075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Microservices, containers, serverless — engineered in, not bolted on.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14350" y="2840199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14350" y="284377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6991" y="2840199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4350" y="390818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638" y="2840199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4375" y="2990217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4375" y="3197386"/>
            <a:ext cx="360759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Modernization depth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4375" y="3397411"/>
            <a:ext cx="36075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Legacy-to-cloud migration with engineering discipline and dual-run validation.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643438" y="2840199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43438" y="284377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26078" y="2840199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3438" y="390818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7725" y="2840199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3463" y="2990217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43463" y="3197386"/>
            <a:ext cx="360759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embedded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3463" y="3397411"/>
            <a:ext cx="36075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quality in every pipeline — not a gate before release.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496144-fci1s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6204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60959"/>
            <a:ext cx="3573494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380990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30010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193926"/>
            <a:ext cx="3675593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388147"/>
            <a:ext cx="3675593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400800" y="2143125"/>
            <a:ext cx="7144" cy="171450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336409" y="2591730"/>
            <a:ext cx="98615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126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336409" y="2940323"/>
            <a:ext cx="98615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126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65182" y="3288916"/>
            <a:ext cx="65738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126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2950" y="4754166"/>
            <a:ext cx="31322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6822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5859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2026-10-01T09:04:56Z</dcterms:created>
  <dcterms:modified xsi:type="dcterms:W3CDTF">2026-10-01T09:04:56Z</dcterms:modified>
</cp:coreProperties>
</file>