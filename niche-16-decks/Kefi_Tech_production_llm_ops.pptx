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392236-fy4fs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97984" y="557213"/>
            <a:ext cx="36057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PRODUCTION LLM OPS &amp; GENAI ENGINEERING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6257925" y="1714500"/>
            <a:ext cx="7144" cy="1725216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429375" y="1714500"/>
            <a:ext cx="271462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6429375" y="1875234"/>
            <a:ext cx="22769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Pipeline Engineering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429375" y="2357438"/>
            <a:ext cx="271462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429375" y="2518172"/>
            <a:ext cx="19716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Routing &amp; Gateway Engineering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429375" y="3139678"/>
            <a:ext cx="271462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429375" y="3300413"/>
            <a:ext cx="21294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 &amp; Observability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42950" y="1771650"/>
            <a:ext cx="65198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DEEP TECH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42950" y="2018109"/>
            <a:ext cx="4857750" cy="757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2700" b="1" spc="-5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LLM Ops &amp;</a:t>
            </a:r>
            <a:endParaRPr lang="en-US" sz="2700" dirty="0"/>
          </a:p>
          <a:p>
            <a:pPr algn="l" indent="0" marL="0">
              <a:lnSpc>
                <a:spcPts val="2808"/>
              </a:lnSpc>
              <a:buNone/>
            </a:pPr>
            <a:r>
              <a:rPr lang="en-US" sz="2700" b="1" spc="-5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Engineering</a:t>
            </a:r>
            <a:endParaRPr lang="en-US" sz="2700" dirty="0"/>
          </a:p>
        </p:txBody>
      </p:sp>
      <p:sp>
        <p:nvSpPr>
          <p:cNvPr id="14" name="Text 10"/>
          <p:cNvSpPr/>
          <p:nvPr/>
        </p:nvSpPr>
        <p:spPr>
          <a:xfrm>
            <a:off x="742950" y="2802582"/>
            <a:ext cx="5246370" cy="7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2700" b="1" spc="-54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production.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742950" y="364420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42950" y="3794224"/>
            <a:ext cx="4857750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GenAI prototype to production-grade intelligence.</a:t>
            </a:r>
            <a:endParaRPr lang="en-US" sz="1238" dirty="0"/>
          </a:p>
        </p:txBody>
      </p:sp>
      <p:sp>
        <p:nvSpPr>
          <p:cNvPr id="17" name="Shape 1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4350" y="4754166"/>
            <a:ext cx="584950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378141" y="4750594"/>
            <a:ext cx="236123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PRODUCTION LLM OPS &amp; GENAI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000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CHALLENGE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89384"/>
            <a:ext cx="7098030" cy="56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most production llm ops &amp; genai engineering programs fail.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386557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 between prototype and production is where engineering discipline matters most.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32347"/>
            <a:ext cx="4361929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778794"/>
            <a:ext cx="4040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FAILURE POINTS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2228" y="1989534"/>
            <a:ext cx="4033317" cy="432420"/>
          </a:xfrm>
          <a:prstGeom prst="roundRect">
            <a:avLst>
              <a:gd name="adj" fmla="val 1762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85813" y="208597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1014413" y="2078831"/>
            <a:ext cx="3492356" cy="11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Prototype-grade architecture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14413" y="2218804"/>
            <a:ext cx="323366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 built for demos, not production load, latency, or reliability requirements.</a:t>
            </a:r>
            <a:endParaRPr lang="en-US" sz="619" dirty="0"/>
          </a:p>
        </p:txBody>
      </p:sp>
      <p:sp>
        <p:nvSpPr>
          <p:cNvPr id="13" name="Text 10"/>
          <p:cNvSpPr/>
          <p:nvPr/>
        </p:nvSpPr>
        <p:spPr>
          <a:xfrm>
            <a:off x="682228" y="2500536"/>
            <a:ext cx="4033317" cy="432420"/>
          </a:xfrm>
          <a:prstGeom prst="roundRect">
            <a:avLst>
              <a:gd name="adj" fmla="val 1762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85813" y="259697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1014413" y="2589833"/>
            <a:ext cx="3334555" cy="11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observability or evaluation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14413" y="2729805"/>
            <a:ext cx="3087551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metrics for accuracy, latency, cost, or drift — teams fly blind in production.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682228" y="3011537"/>
            <a:ext cx="4033317" cy="432420"/>
          </a:xfrm>
          <a:prstGeom prst="roundRect">
            <a:avLst>
              <a:gd name="adj" fmla="val 1762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85813" y="310797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1014413" y="3100834"/>
            <a:ext cx="2905441" cy="1125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 afterthought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14413" y="3240807"/>
            <a:ext cx="2767087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guardrails, no audit trails, no compliance — bolted on after launch.</a:t>
            </a:r>
            <a:endParaRPr lang="en-US" sz="619" dirty="0"/>
          </a:p>
        </p:txBody>
      </p:sp>
      <p:sp>
        <p:nvSpPr>
          <p:cNvPr id="21" name="Text 18"/>
          <p:cNvSpPr/>
          <p:nvPr/>
        </p:nvSpPr>
        <p:spPr>
          <a:xfrm>
            <a:off x="682228" y="3522538"/>
            <a:ext cx="4033317" cy="432420"/>
          </a:xfrm>
          <a:prstGeom prst="roundRect">
            <a:avLst>
              <a:gd name="adj" fmla="val 1762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85813" y="361897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1014413" y="3611835"/>
            <a:ext cx="2768549" cy="1125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operational maturity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14413" y="3751808"/>
            <a:ext cx="263671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CI/CD for models, no rollback, no A/B testing, no drift detection.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5058445" y="1632347"/>
            <a:ext cx="3567522" cy="2707481"/>
          </a:xfrm>
          <a:prstGeom prst="roundRect">
            <a:avLst>
              <a:gd name="adj" fmla="val 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219179" y="1778794"/>
            <a:ext cx="32460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APPROACH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219179" y="1985963"/>
            <a:ext cx="3246053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treat production llm ops &amp; genai engineering as an engineering discipline, not a science experiment. Every engagement starts with production requirements — latency, throughput, reliability, cost, compliance — and engineers backward from those constraints.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219179" y="4057650"/>
            <a:ext cx="199723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219179" y="4057650"/>
            <a:ext cx="199723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 · ENGINEERING-GRADE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4350" y="4754166"/>
            <a:ext cx="402695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555592" y="4750594"/>
            <a:ext cx="35771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124125" y="4750594"/>
            <a:ext cx="528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000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89384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capability areas. One engineering system.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2369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capability area is a deep technical domain — not a generic service line.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32347"/>
            <a:ext cx="3993356" cy="1135856"/>
          </a:xfrm>
          <a:prstGeom prst="roundRect">
            <a:avLst>
              <a:gd name="adj" fmla="val 100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7930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175319" y="1818084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88" dirty="0"/>
          </a:p>
        </p:txBody>
      </p:sp>
      <p:sp>
        <p:nvSpPr>
          <p:cNvPr id="10" name="Text 7"/>
          <p:cNvSpPr/>
          <p:nvPr/>
        </p:nvSpPr>
        <p:spPr>
          <a:xfrm>
            <a:off x="692944" y="2107406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Pipeline Engineering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92944" y="2353084"/>
            <a:ext cx="3643313" cy="25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rag pipeline engineering with real platforms and tools.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632347"/>
            <a:ext cx="3993356" cy="1135856"/>
          </a:xfrm>
          <a:prstGeom prst="roundRect">
            <a:avLst>
              <a:gd name="adj" fmla="val 100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07744" y="17930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290119" y="1818084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4807744" y="2107406"/>
            <a:ext cx="3753040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Routing &amp; Gateway Engineering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807744" y="2353084"/>
            <a:ext cx="3643313" cy="25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model routing &amp; gateway engineering with real platforms and tools.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7922" y="2889647"/>
            <a:ext cx="3993356" cy="1135856"/>
          </a:xfrm>
          <a:prstGeom prst="roundRect">
            <a:avLst>
              <a:gd name="adj" fmla="val 100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92944" y="30503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175319" y="3075384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692944" y="3364706"/>
            <a:ext cx="375304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Evaluation &amp; Observability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692944" y="3610384"/>
            <a:ext cx="3643313" cy="25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evaluation &amp; observability with real platforms and tools.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2722" y="2889647"/>
            <a:ext cx="3993356" cy="1135856"/>
          </a:xfrm>
          <a:prstGeom prst="roundRect">
            <a:avLst>
              <a:gd name="adj" fmla="val 10063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07744" y="30503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290119" y="3075384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4807744" y="3364706"/>
            <a:ext cx="3753040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 &amp; Serving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807744" y="3610384"/>
            <a:ext cx="3643313" cy="25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production deployment &amp; serving with real platforms and tools.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000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89384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Pipeline Engineering.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0940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18047"/>
            <a:ext cx="4361929" cy="2878931"/>
          </a:xfrm>
          <a:prstGeom prst="roundRect">
            <a:avLst>
              <a:gd name="adj" fmla="val 397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678781"/>
            <a:ext cx="40118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885950"/>
            <a:ext cx="401188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rag pipeline engineering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409279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4100513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58445" y="1518047"/>
            <a:ext cx="3567522" cy="2878931"/>
          </a:xfrm>
          <a:prstGeom prst="roundRect">
            <a:avLst>
              <a:gd name="adj" fmla="val 397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04892" y="1650206"/>
            <a:ext cx="327462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08463" y="1832372"/>
            <a:ext cx="3267484" cy="525066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83473" y="1885950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69210" y="188595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5640660" y="1885950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Hybrid Vector Search Architecture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40660" y="2014538"/>
            <a:ext cx="276027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Pinecone + Weaviate hybrid search combining dense (OpenAI text-embedding-3-large) and sparse (BM25 via SPLADE) retrieval — re-ranking with Cohere Rerank API for precision.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208463" y="2407444"/>
            <a:ext cx="3267484" cy="525066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83473" y="2461022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69210" y="246102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5640660" y="2461022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 Chunking &amp; Embedding Strategy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40660" y="2589609"/>
            <a:ext cx="276027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LangChain RecursiveCharacterTextSplitter with chunk overlap tuning, embedding model selection (OpenAI ada-002 vs Cohere embed-v3), dimension optimization via Matryoshka.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208463" y="2982516"/>
            <a:ext cx="326748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83473" y="3036094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69210" y="303609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5640660" y="3036094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Evaluation &amp; Hallucination Detection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40660" y="3164681"/>
            <a:ext cx="27602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Ragas framework — faithfulness, answer relevancy, context precision/recall metrics. Continuous eval in CI/CD via LangSmith datasets.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208463" y="3461147"/>
            <a:ext cx="326748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83473" y="3514725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69210" y="351472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5640660" y="3514725"/>
            <a:ext cx="2760278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Multi-Modal RAG Pipeline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40660" y="3643313"/>
            <a:ext cx="27602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LlamaIndex multi-modal RAG — text + image + table extraction from PDFs via Unstructured.io, CLIP embeddings, cross-modal retrieval with ColPali.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208463" y="3939778"/>
            <a:ext cx="326748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83473" y="3993356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69210" y="399335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5640660" y="3993356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Graph-Augmented RAG (GraphRAG)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40660" y="4121944"/>
            <a:ext cx="27602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Neo4j + LangChain GraphRAG — knowledge graph construction from enterprise documents, graph-augmented retrieval for multi-hop reasoning.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69711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225751" y="4750594"/>
            <a:ext cx="324728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487320" y="4750594"/>
            <a:ext cx="11423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PIPELINE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000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89384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Routing &amp; Gateway Engineering.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0940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18047"/>
            <a:ext cx="4361929" cy="2878931"/>
          </a:xfrm>
          <a:prstGeom prst="roundRect">
            <a:avLst>
              <a:gd name="adj" fmla="val 397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678781"/>
            <a:ext cx="40118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885950"/>
            <a:ext cx="401188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model routing &amp; gateway engineering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409279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4100513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58445" y="1518047"/>
            <a:ext cx="3567522" cy="2878931"/>
          </a:xfrm>
          <a:prstGeom prst="roundRect">
            <a:avLst>
              <a:gd name="adj" fmla="val 397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04892" y="1650206"/>
            <a:ext cx="327462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08463" y="1832372"/>
            <a:ext cx="3267484" cy="525066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83473" y="1885950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69210" y="188595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5640660" y="1885950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Unified LLM Gateway with LiteLLM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40660" y="2014538"/>
            <a:ext cx="276027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LiteLLM proxy — OpenAI-compatible API across 100+ providers (Anthropic Claude, Mistral, Cohere, Azure OpenAI), fallback chains, load balancing, per-call cost tracking.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208463" y="2407444"/>
            <a:ext cx="3267484" cy="525066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83473" y="2461022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69210" y="246102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5640660" y="2461022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 Routing &amp; Model Selection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40660" y="2589609"/>
            <a:ext cx="276027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 Router library — classifies intent and routes to cheapest capable model (Llama 3.1 8B for simple, GPT-4o for complex reasoning), ML-based classification.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208463" y="2982516"/>
            <a:ext cx="326748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83473" y="3036094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69210" y="303609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5640660" y="3036094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&amp; Token Budget Enforcement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40660" y="3164681"/>
            <a:ext cx="27602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LiteLLM proxy with per-user, per-team monthly token budgets — automatic circuit breakers when budget exceeded, real-time spend via LangFuse.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208463" y="3461147"/>
            <a:ext cx="326748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83473" y="3514725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69210" y="351472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5640660" y="3514725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Streaming &amp; Function Calling Gateway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40660" y="3643313"/>
            <a:ext cx="27602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LiteLLM + LangServe streaming responses — OpenAI function calling unified across providers, structured output via JSON Schema + Instructor library.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208463" y="3939778"/>
            <a:ext cx="326748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83473" y="3993356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69210" y="399335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5640660" y="3993356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 Caching &amp; Deduplication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40660" y="4121944"/>
            <a:ext cx="27602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Redis-backed semantic cache via GPTCache — 95% cache hit on repeated queries, drops inference cost 40-60% with pgvector similarity matching.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38055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909194" y="4750594"/>
            <a:ext cx="293072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854205" y="4750594"/>
            <a:ext cx="188197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ROUTING &amp; GATEWAY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000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89384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Evaluation &amp; Observability.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0940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18047"/>
            <a:ext cx="4361929" cy="2878931"/>
          </a:xfrm>
          <a:prstGeom prst="roundRect">
            <a:avLst>
              <a:gd name="adj" fmla="val 397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678781"/>
            <a:ext cx="40118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885950"/>
            <a:ext cx="401188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evaluation &amp; observability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409279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4100513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58445" y="1518047"/>
            <a:ext cx="3567522" cy="2878931"/>
          </a:xfrm>
          <a:prstGeom prst="roundRect">
            <a:avLst>
              <a:gd name="adj" fmla="val 397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04892" y="1650206"/>
            <a:ext cx="327462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08463" y="1832372"/>
            <a:ext cx="326748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83473" y="1885950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69210" y="188595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5640660" y="1885950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Tracing with LangSmith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40660" y="2014538"/>
            <a:ext cx="27602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trace of prompt → retrieval → LLM call → tool use — visual DAG, latency breakdown, token accounting per node, dataset management.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208463" y="2311003"/>
            <a:ext cx="326748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83473" y="2364581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69210" y="236458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5640660" y="2364581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Observability with LangFuse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40660" y="2493169"/>
            <a:ext cx="27602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Self-hosted LangFuse — session replay, user feedback capture, cost analytics, model version comparison dashboards, OTEL-compatible.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208463" y="2789634"/>
            <a:ext cx="326748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83473" y="2843213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69210" y="284321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5640660" y="2843213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Evaluation Harness with Ragas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40660" y="2971800"/>
            <a:ext cx="27602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eval pipeline on golden datasets — faithfulness, answer relevancy, context precision/recall in CI/CD via GitHub Actions.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208463" y="3268266"/>
            <a:ext cx="326748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83473" y="3321844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69210" y="332184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5640660" y="3321844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Prompt Regression Testing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40660" y="3450431"/>
            <a:ext cx="27602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Promptfoo + LangSmith datasets — A/B comparison of prompt versions across 500+ test cases, diff output with semantic similarity scores.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208463" y="3746897"/>
            <a:ext cx="326748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83473" y="3800475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69210" y="380047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5640660" y="3800475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Guardrails &amp; Safety Monitoring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40660" y="3929063"/>
            <a:ext cx="27602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NeMo Guardrails (NVIDIA) + Guardrails AI — input/output validation, PII detection (Microsoft Presidio), toxicity filtering via Perspective API.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64532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73959" y="4750594"/>
            <a:ext cx="319548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383735" y="4750594"/>
            <a:ext cx="132067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EVALUATION &amp; OBSERVABILITY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000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89384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 &amp; Serving.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09402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18047"/>
            <a:ext cx="4361929" cy="2878931"/>
          </a:xfrm>
          <a:prstGeom prst="roundRect">
            <a:avLst>
              <a:gd name="adj" fmla="val 397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678781"/>
            <a:ext cx="40118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885950"/>
            <a:ext cx="401188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production deployment &amp; serving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0084" y="409279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4100513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58445" y="1518047"/>
            <a:ext cx="3567522" cy="2878931"/>
          </a:xfrm>
          <a:prstGeom prst="roundRect">
            <a:avLst>
              <a:gd name="adj" fmla="val 397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04892" y="1650206"/>
            <a:ext cx="3274628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08463" y="1832372"/>
            <a:ext cx="3267484" cy="525066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283473" y="1885950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69210" y="188595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5640660" y="1885950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vLLM High-Throughput Inference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640660" y="2014538"/>
            <a:ext cx="276027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vLLM with PagedAttention serving Llama 3.1 70B at 5x throughput vs HuggingFace TGI — continuous batching, tensor parallelism across A100/H100.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208463" y="2407444"/>
            <a:ext cx="326748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83473" y="2461022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469210" y="246102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5640660" y="2461022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TensorRT-LLM Optimization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40660" y="2589609"/>
            <a:ext cx="27602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 TensorRT-LLM engine — INT8/FP8 quantization, fused kernels, 3-5x latency reduction on Llama 3 / Mixtral 8x7B on H100.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208463" y="2886075"/>
            <a:ext cx="326748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83473" y="2939653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469210" y="293965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5640660" y="2939653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OpenAI-Compatible Serving via TGI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640660" y="3068241"/>
            <a:ext cx="27602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HuggingFace Text Generation Inference — flash attention 2, sliding window attention, serving Mistral / Qwen / DeepSeek models.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208463" y="3364706"/>
            <a:ext cx="326748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83473" y="3418284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69210" y="341828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5640660" y="3418284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Autoscaling LLM Endpoints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640660" y="3546872"/>
            <a:ext cx="27602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KServe + vLLM on Kubernetes — Ray Serve for autoscaling, GPU utilization-based HPA, spot instance preemption handling.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208463" y="3843338"/>
            <a:ext cx="3267484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83473" y="3896916"/>
            <a:ext cx="2057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69210" y="389691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5640660" y="3896916"/>
            <a:ext cx="2870006" cy="101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Distillation &amp; Quantization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40660" y="4025503"/>
            <a:ext cx="27602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AutoGPTQ / AWQ quantization of Llama 3.1 70B → 4-bit GGUF for local CPU inference via llama.cpp / Ollama runtime.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47989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08537" y="4750594"/>
            <a:ext cx="303006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052890" y="4750594"/>
            <a:ext cx="167136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 &amp; SERVING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000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APPLICATIONS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89384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creates engineering value.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4350" y="112369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specific engineering scenarios where production llm ops &amp; genai engineering delivers measurable production impact.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32347"/>
            <a:ext cx="3993356" cy="1135856"/>
          </a:xfrm>
          <a:prstGeom prst="roundRect">
            <a:avLst>
              <a:gd name="adj" fmla="val 100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7930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265935" y="1818084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2093119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92944" y="2338797"/>
            <a:ext cx="3643313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production-grade deployment with real reliability, latency, and cost SLAs.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632347"/>
            <a:ext cx="3993356" cy="1135856"/>
          </a:xfrm>
          <a:prstGeom prst="roundRect">
            <a:avLst>
              <a:gd name="adj" fmla="val 100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07744" y="17930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290119" y="1818084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4807744" y="2093119"/>
            <a:ext cx="3753040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Operations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4807744" y="2338797"/>
            <a:ext cx="3643313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monitoring, evaluation, drift detection, and operational runbooks for production systems.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7922" y="2889647"/>
            <a:ext cx="3993356" cy="1135856"/>
          </a:xfrm>
          <a:prstGeom prst="roundRect">
            <a:avLst>
              <a:gd name="adj" fmla="val 100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92944" y="30503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103630" y="3075384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692944" y="3350419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Compliance</a:t>
            </a:r>
            <a:endParaRPr lang="en-US" sz="1238" dirty="0"/>
          </a:p>
        </p:txBody>
      </p:sp>
      <p:sp>
        <p:nvSpPr>
          <p:cNvPr id="21" name="Text 18"/>
          <p:cNvSpPr/>
          <p:nvPr/>
        </p:nvSpPr>
        <p:spPr>
          <a:xfrm>
            <a:off x="692944" y="3596097"/>
            <a:ext cx="3643313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engineering, compliance automation, and audit-ready evidence collection built into the pipeline.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2722" y="2889647"/>
            <a:ext cx="3993356" cy="1135856"/>
          </a:xfrm>
          <a:prstGeom prst="roundRect">
            <a:avLst>
              <a:gd name="adj" fmla="val 100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07744" y="30503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290119" y="3075384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4807744" y="3350419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&amp; Optimization</a:t>
            </a:r>
            <a:endParaRPr lang="en-US" sz="1238" dirty="0"/>
          </a:p>
        </p:txBody>
      </p:sp>
      <p:sp>
        <p:nvSpPr>
          <p:cNvPr id="26" name="Text 23"/>
          <p:cNvSpPr/>
          <p:nvPr/>
        </p:nvSpPr>
        <p:spPr>
          <a:xfrm>
            <a:off x="4807744" y="3596097"/>
            <a:ext cx="3643313" cy="268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 from single-tenant to multi-tenant, optimizing cost, latency, and resource utilization.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000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89384"/>
            <a:ext cx="7715250" cy="522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production reference architecture for production llm ops &amp; genai engineering.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339453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platform and tool names — not generic architecture diagrams.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432322"/>
            <a:ext cx="8108156" cy="578644"/>
          </a:xfrm>
          <a:prstGeom prst="roundRect">
            <a:avLst>
              <a:gd name="adj" fmla="val 131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1494" y="1435894"/>
            <a:ext cx="928688" cy="571500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446609" y="1435894"/>
            <a:ext cx="0" cy="5715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7219" y="1589484"/>
            <a:ext cx="7500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64481" y="1607630"/>
            <a:ext cx="87176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564481" y="1619845"/>
            <a:ext cx="87176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LangChain Agents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521967" y="1607630"/>
            <a:ext cx="1170124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521967" y="1619845"/>
            <a:ext cx="117012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LlamaIndex Query Engine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777816" y="1607630"/>
            <a:ext cx="830349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777816" y="1619845"/>
            <a:ext cx="83034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Streamlit Chat UI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693890" y="1607630"/>
            <a:ext cx="676870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674063" y="1619845"/>
            <a:ext cx="716524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Gradio Demo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7922" y="2075259"/>
            <a:ext cx="8108156" cy="578644"/>
          </a:xfrm>
          <a:prstGeom prst="roundRect">
            <a:avLst>
              <a:gd name="adj" fmla="val 131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1494" y="2078831"/>
            <a:ext cx="928688" cy="571500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446609" y="2078831"/>
            <a:ext cx="0" cy="5715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7219" y="2232422"/>
            <a:ext cx="7500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564481" y="2250567"/>
            <a:ext cx="589917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549133" y="2262783"/>
            <a:ext cx="62061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LangGraph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240124" y="2250567"/>
            <a:ext cx="574179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216906" y="2262783"/>
            <a:ext cx="62061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LangServe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900028" y="2250567"/>
            <a:ext cx="742727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900028" y="2262783"/>
            <a:ext cx="74272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LiteLLM Router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728479" y="2250567"/>
            <a:ext cx="811150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728479" y="2262783"/>
            <a:ext cx="81115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 Router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7922" y="2718197"/>
            <a:ext cx="8108156" cy="578644"/>
          </a:xfrm>
          <a:prstGeom prst="roundRect">
            <a:avLst>
              <a:gd name="adj" fmla="val 131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1494" y="2721769"/>
            <a:ext cx="928688" cy="571500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446609" y="2721769"/>
            <a:ext cx="0" cy="5715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7219" y="2875359"/>
            <a:ext cx="7500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L3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564481" y="2893505"/>
            <a:ext cx="359085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564481" y="2905720"/>
            <a:ext cx="35908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vLLM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009291" y="2893505"/>
            <a:ext cx="684684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1928032" y="2905720"/>
            <a:ext cx="84720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TensorRT-LLM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2779700" y="2893505"/>
            <a:ext cx="88348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2779700" y="2905720"/>
            <a:ext cx="88348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TGI (HuggingFace)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748906" y="2893505"/>
            <a:ext cx="459656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748906" y="2905720"/>
            <a:ext cx="45965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SGLang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17922" y="3361134"/>
            <a:ext cx="8108156" cy="578644"/>
          </a:xfrm>
          <a:prstGeom prst="roundRect">
            <a:avLst>
              <a:gd name="adj" fmla="val 131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21494" y="3364706"/>
            <a:ext cx="928688" cy="571500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446609" y="3364706"/>
            <a:ext cx="0" cy="5715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07219" y="3518297"/>
            <a:ext cx="4423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L4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564481" y="3536442"/>
            <a:ext cx="51234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547510" y="3548658"/>
            <a:ext cx="54628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Pinecone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162547" y="3536442"/>
            <a:ext cx="522498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2150655" y="3548658"/>
            <a:ext cx="54628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Weaviate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2770770" y="3536442"/>
            <a:ext cx="906252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2770770" y="3548658"/>
            <a:ext cx="90625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Postgres+pgvector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3762747" y="3536442"/>
            <a:ext cx="369243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3762747" y="3548658"/>
            <a:ext cx="36924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Redis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17922" y="4004072"/>
            <a:ext cx="8108156" cy="578644"/>
          </a:xfrm>
          <a:prstGeom prst="roundRect">
            <a:avLst>
              <a:gd name="adj" fmla="val 1316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21494" y="4007644"/>
            <a:ext cx="928688" cy="571500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446609" y="4007644"/>
            <a:ext cx="0" cy="5715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07219" y="4161234"/>
            <a:ext cx="7500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L5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564481" y="4179379"/>
            <a:ext cx="57775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543050" y="4191595"/>
            <a:ext cx="62061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LangSmith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227957" y="4179379"/>
            <a:ext cx="52886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213252" y="4191595"/>
            <a:ext cx="55827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LangFuse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2842543" y="4179379"/>
            <a:ext cx="397259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2842543" y="4191595"/>
            <a:ext cx="39725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Ragas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3325527" y="4179379"/>
            <a:ext cx="691493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3250670" y="4191595"/>
            <a:ext cx="84120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Arize Phoenix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00075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89384"/>
            <a:ext cx="8115300" cy="26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phased engineering roadmap from assessment to production.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092994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carries concrete engineering deliverables, technical milestones, and exit criteria.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489472"/>
            <a:ext cx="1935956" cy="265033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35794" y="1621631"/>
            <a:ext cx="170021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35794" y="1810941"/>
            <a:ext cx="170021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Assessment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635794" y="2010966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35794" y="218955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35794" y="2268141"/>
            <a:ext cx="1802225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35794" y="2436019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audit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landscape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analysis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roadmap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35794" y="3818334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794" y="3814763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75322" y="1489472"/>
            <a:ext cx="1935956" cy="265033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93194" y="1621631"/>
            <a:ext cx="170021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693194" y="1810941"/>
            <a:ext cx="170021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Engineering</a:t>
            </a:r>
            <a:endParaRPr lang="en-US" sz="844" dirty="0"/>
          </a:p>
        </p:txBody>
      </p:sp>
      <p:sp>
        <p:nvSpPr>
          <p:cNvPr id="19" name="Text 16"/>
          <p:cNvSpPr/>
          <p:nvPr/>
        </p:nvSpPr>
        <p:spPr>
          <a:xfrm>
            <a:off x="2693194" y="2010966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3-6 WEEKS · FIXED FEE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693194" y="218955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693194" y="2268141"/>
            <a:ext cx="1802225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93194" y="2436019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platform setup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stack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baseline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693194" y="3818334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93194" y="3814763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32722" y="1489472"/>
            <a:ext cx="1935956" cy="265033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50594" y="1621631"/>
            <a:ext cx="170021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50594" y="1810941"/>
            <a:ext cx="170021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Build</a:t>
            </a:r>
            <a:endParaRPr lang="en-US" sz="844" dirty="0"/>
          </a:p>
        </p:txBody>
      </p:sp>
      <p:sp>
        <p:nvSpPr>
          <p:cNvPr id="28" name="Text 25"/>
          <p:cNvSpPr/>
          <p:nvPr/>
        </p:nvSpPr>
        <p:spPr>
          <a:xfrm>
            <a:off x="4750594" y="2010966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50594" y="218955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50594" y="2268141"/>
            <a:ext cx="1802225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50594" y="2436019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validation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hardening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+ handover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50594" y="3818334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0594" y="3814763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690122" y="1489472"/>
            <a:ext cx="1935956" cy="265033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807994" y="1621631"/>
            <a:ext cx="170021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807994" y="1810941"/>
            <a:ext cx="1700212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Engineering</a:t>
            </a:r>
            <a:endParaRPr lang="en-US" sz="844" dirty="0"/>
          </a:p>
        </p:txBody>
      </p:sp>
      <p:sp>
        <p:nvSpPr>
          <p:cNvPr id="37" name="Text 34"/>
          <p:cNvSpPr/>
          <p:nvPr/>
        </p:nvSpPr>
        <p:spPr>
          <a:xfrm>
            <a:off x="6807994" y="2010966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807994" y="218955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807994" y="2268141"/>
            <a:ext cx="1802225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807994" y="2436019"/>
            <a:ext cx="1700213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operations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architecture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engineering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807994" y="3818334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07994" y="3814763"/>
            <a:ext cx="1700212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406724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595887" y="4750594"/>
            <a:ext cx="36173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220112" y="4750594"/>
            <a:ext cx="4169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643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14350" y="600075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BEST PRACTICES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89384"/>
            <a:ext cx="8115300" cy="26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that separate production from prototype.</a:t>
            </a:r>
            <a:endParaRPr lang="en-US" sz="1688" dirty="0"/>
          </a:p>
        </p:txBody>
      </p:sp>
      <p:sp>
        <p:nvSpPr>
          <p:cNvPr id="6" name="Text 3"/>
          <p:cNvSpPr/>
          <p:nvPr/>
        </p:nvSpPr>
        <p:spPr>
          <a:xfrm>
            <a:off x="514350" y="1092994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theoretical — these are the engineering disciplines we enforce on every engagement.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514475"/>
            <a:ext cx="39862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1518047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6991" y="1514475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" y="265390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8638" y="1514475"/>
            <a:ext cx="0" cy="114300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0088" y="1664494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0088" y="1871663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requirements first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0088" y="2071688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latency, throughput, reliability, cost, and compliance SLAs. Engineer backward from constraints, not forward from tools.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43438" y="1514475"/>
            <a:ext cx="39862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43438" y="1518047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26078" y="1514475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3438" y="265390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57725" y="1514475"/>
            <a:ext cx="0" cy="114300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9175" y="1664494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29175" y="1871663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is not optional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29175" y="2071688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system ships with distributed tracing, metrics, and logging from day one. If you can't measure it, you can't operate it.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14350" y="2800350"/>
            <a:ext cx="39862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280392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96991" y="2800350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4350" y="393977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8638" y="2800350"/>
            <a:ext cx="0" cy="114300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0088" y="2950369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00088" y="3157538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in the pipeline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00088" y="3357563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scanning, SBOM, and compliance checks embedded in CI/CD — not a separate audit after launch.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43438" y="2800350"/>
            <a:ext cx="3986213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643438" y="280392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26078" y="2800350"/>
            <a:ext cx="0" cy="114300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43438" y="393977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57725" y="2800350"/>
            <a:ext cx="0" cy="1143000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29175" y="2950369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29175" y="3157538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for rollback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29175" y="3357563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deployment must be reversible. Feature flags, blue-green, canary — not big-bang deployments.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92917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57812" y="4750594"/>
            <a:ext cx="34792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51329" y="4750594"/>
            <a:ext cx="6783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PRACTICES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399975-hfs0p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57925" y="1714500"/>
            <a:ext cx="7144" cy="12001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446806" y="1714500"/>
            <a:ext cx="95424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spc="7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7446806" y="2228850"/>
            <a:ext cx="95424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spc="7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764837" y="2743200"/>
            <a:ext cx="636213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spc="72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42950" y="1771650"/>
            <a:ext cx="65198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42950" y="2060972"/>
            <a:ext cx="5100638" cy="4354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10" name="Text 6"/>
          <p:cNvSpPr/>
          <p:nvPr/>
        </p:nvSpPr>
        <p:spPr>
          <a:xfrm>
            <a:off x="742950" y="2523865"/>
            <a:ext cx="5693283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11" name="Text 7"/>
          <p:cNvSpPr/>
          <p:nvPr/>
        </p:nvSpPr>
        <p:spPr>
          <a:xfrm>
            <a:off x="742950" y="311534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42950" y="3308226"/>
            <a:ext cx="5246370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42950" y="3533924"/>
            <a:ext cx="5246370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2026-10-01T12:23:20Z</dcterms:created>
  <dcterms:modified xsi:type="dcterms:W3CDTF">2026-10-01T12:23:20Z</dcterms:modified>
</cp:coreProperties>
</file>