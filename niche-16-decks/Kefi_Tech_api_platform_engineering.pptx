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6927" y="571500"/>
            <a:ext cx="38736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API PLATFORM ENGINEERING &amp; GRAPHQL FEDERATION · 2026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400800" y="1557338"/>
            <a:ext cx="7144" cy="22288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00825" y="1628775"/>
            <a:ext cx="25431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00825" y="1778794"/>
            <a:ext cx="22958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GraphQL Federation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00825" y="2200275"/>
            <a:ext cx="25431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00825" y="2350294"/>
            <a:ext cx="22958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 &amp; Management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00825" y="2771775"/>
            <a:ext cx="25431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00825" y="2921794"/>
            <a:ext cx="23614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 Engineering (gRPC / Protobuf)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1685925"/>
            <a:ext cx="75441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2950" y="1932384"/>
            <a:ext cx="5429250" cy="77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3038" b="1" spc="-7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Platform Engineering &amp; GraphQL Federation</a:t>
            </a:r>
            <a:endParaRPr lang="en-US" sz="3038" dirty="0"/>
          </a:p>
        </p:txBody>
      </p:sp>
      <p:sp>
        <p:nvSpPr>
          <p:cNvPr id="13" name="Text 10"/>
          <p:cNvSpPr/>
          <p:nvPr/>
        </p:nvSpPr>
        <p:spPr>
          <a:xfrm>
            <a:off x="742950" y="2734717"/>
            <a:ext cx="5863590" cy="86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3038" b="1" i="1" spc="-76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3038" dirty="0"/>
          </a:p>
        </p:txBody>
      </p:sp>
      <p:sp>
        <p:nvSpPr>
          <p:cNvPr id="14" name="Text 11"/>
          <p:cNvSpPr/>
          <p:nvPr/>
        </p:nvSpPr>
        <p:spPr>
          <a:xfrm>
            <a:off x="742950" y="373707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42950" y="3915668"/>
            <a:ext cx="524637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Composable APIs from contract to edge.</a:t>
            </a:r>
            <a:endParaRPr lang="en-US" sz="1238" dirty="0"/>
          </a:p>
        </p:txBody>
      </p:sp>
      <p:sp>
        <p:nvSpPr>
          <p:cNvPr id="16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350" y="4754166"/>
            <a:ext cx="551207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40710" y="4750594"/>
            <a:ext cx="258894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API PLATFORM ENGINEERING &amp; GRAPHQL FEDERATION</a:t>
            </a:r>
            <a:endParaRPr lang="en-US" sz="600" dirty="0"/>
          </a:p>
        </p:txBody>
      </p:sp>
      <p:pic>
        <p:nvPicPr>
          <p:cNvPr id="19" name="Image 1" descr="/tmp/h2p-fit-1790857168426-44mu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72294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3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api platform engineering &amp; graphql federation programs fail.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403747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28788"/>
            <a:ext cx="4421981" cy="2421731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8656" y="2068116"/>
            <a:ext cx="41005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656" y="1875234"/>
            <a:ext cx="368494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57489" y="1880592"/>
            <a:ext cx="44208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ITEMS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82228" y="2160984"/>
            <a:ext cx="4093369" cy="378507"/>
          </a:xfrm>
          <a:prstGeom prst="roundRect">
            <a:avLst>
              <a:gd name="adj" fmla="val 3019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525" y="22288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000125" y="2228850"/>
            <a:ext cx="37959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0125" y="2361679"/>
            <a:ext cx="36861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682228" y="2603785"/>
            <a:ext cx="4093369" cy="378507"/>
          </a:xfrm>
          <a:prstGeom prst="roundRect">
            <a:avLst>
              <a:gd name="adj" fmla="val 3019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1525" y="267165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1000125" y="2671651"/>
            <a:ext cx="37959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0125" y="2804480"/>
            <a:ext cx="36861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682228" y="3046586"/>
            <a:ext cx="4093369" cy="378507"/>
          </a:xfrm>
          <a:prstGeom prst="roundRect">
            <a:avLst>
              <a:gd name="adj" fmla="val 3019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1525" y="311445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1000125" y="3114452"/>
            <a:ext cx="3686175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0125" y="3247281"/>
            <a:ext cx="36861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82228" y="3489387"/>
            <a:ext cx="4093369" cy="378507"/>
          </a:xfrm>
          <a:prstGeom prst="roundRect">
            <a:avLst>
              <a:gd name="adj" fmla="val 3019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1525" y="35572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1000125" y="3557253"/>
            <a:ext cx="3686175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0125" y="3690082"/>
            <a:ext cx="36861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5118497" y="1728788"/>
            <a:ext cx="3507581" cy="2421731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279231" y="2068116"/>
            <a:ext cx="31861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9231" y="1875234"/>
            <a:ext cx="22189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12434" y="1880592"/>
            <a:ext cx="95290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ENGINEERING-GRADE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279231" y="2171700"/>
            <a:ext cx="31861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api platform engineering &amp; graphql federation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279231" y="3771900"/>
            <a:ext cx="31861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79231" y="3875484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79231" y="3875484"/>
            <a:ext cx="3186113" cy="128588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60116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5922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189607" y="161727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678656" y="1849450"/>
            <a:ext cx="3671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GraphQL Federation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78656" y="2049475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graphql federation with real platforms and tools.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32722" y="1460116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5922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4407" y="161727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93456" y="1849450"/>
            <a:ext cx="3671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 &amp; Management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93456" y="2049475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api gateway &amp; management with real platforms and tools.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681697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28138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89607" y="28388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78656" y="3071031"/>
            <a:ext cx="3781616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 Engineering (gRPC / Protobuf)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78656" y="32710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protocol engineering (grpc / protobuf) with real platforms and tools.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681697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28138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4407" y="28388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93456" y="3071031"/>
            <a:ext cx="3781616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Orchestration &amp; Async APIs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793456" y="32710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workflow orchestration &amp; async apis with real platforms and tools.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521065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GraphQL Federation.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31541"/>
            <a:ext cx="4421981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92944" y="1785156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944" y="1592275"/>
            <a:ext cx="370649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13721" y="1597633"/>
            <a:ext cx="35116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88741"/>
            <a:ext cx="40719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graphql federation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2944" y="3831841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084" y="392771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2944" y="393542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89922" y="1431541"/>
            <a:ext cx="3536156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22081" y="1742294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2081" y="1563700"/>
            <a:ext cx="28562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72239" y="1569058"/>
            <a:ext cx="44208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ITEMS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25653" y="1806587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3519" y="186016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93544" y="18601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93569" y="1860166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Apollo Federation v2 Supergraph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93569" y="1977256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Apollo Federation v2 — Router + subgraphs via Rover CLI, entity resolution, @key / @requires / @provides directives.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25653" y="2280865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93519" y="2334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93544" y="2334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93569" y="2334444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Hasura GraphQL Engine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93569" y="2451534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Hasura Community / Enterprise — Postgres + BigQuery + SQLServer auto-generated GraphQL, Remote Schemas merge.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25653" y="2755143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3519" y="280872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93544" y="28087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93569" y="2808722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 Composition &amp; Stitching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93569" y="2925812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Apollo Rover supergraph schema composition — subgraph versioning, contract testing, automated CI validation.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25653" y="3229421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93519" y="32830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93544" y="32830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93569" y="3283000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Federation Gateway Performance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93569" y="3400090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Apollo Router (Rust-based) — query planning, Uplink schema polling, edge / cloud-router deployment.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25653" y="3703700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93519" y="37572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93544" y="37572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5693569" y="3757278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Subgraph Design &amp; Boundaries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93569" y="3874368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Domain-driven subgraph decomposition, entity relationships via @extends, contract testing with Apollo Check.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8081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36814" y="4750594"/>
            <a:ext cx="33583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09446" y="4750594"/>
            <a:ext cx="9202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GRAPHQL FEDERATION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521065" cy="2896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 &amp; Management.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31541"/>
            <a:ext cx="4421981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92944" y="1785156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944" y="1592275"/>
            <a:ext cx="370649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13721" y="1597633"/>
            <a:ext cx="35116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88741"/>
            <a:ext cx="40719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gateway &amp; management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2944" y="3831841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084" y="392771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2944" y="393542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89922" y="1431541"/>
            <a:ext cx="3536156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22081" y="1742294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2081" y="1563700"/>
            <a:ext cx="28562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72239" y="1569058"/>
            <a:ext cx="44208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ITEMS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25653" y="1806587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3519" y="186016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93544" y="18601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93569" y="1860166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Kong Gateway Enterprise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93569" y="1977256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Kong Gateway (OSS / Enterprise) — plugins (JWT, ACL, rate-limiting), Kong Manager UI, Kong Vitals analytics.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25653" y="2280865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93519" y="2334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93544" y="2334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93569" y="2334444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Apigee API Management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93569" y="2451534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Apigee — API proxy, developer portal, monetization, API product bundles, Apigee API Hub.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25653" y="2755143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3519" y="280872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93544" y="28087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93569" y="2808722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API Gateway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93569" y="2925812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API Gateway REST / HTTP APIs — Lambda / Step Functions integration, custom authorizers, usage plans, WAF integration.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25653" y="3229421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93519" y="32830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93544" y="32830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93569" y="3283000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Tyk Open Source Gateway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93569" y="3400090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Tyk API Gateway — Go-based, Dashboard, custom JS middleware, mTLS, OpenID Connect integration.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25653" y="3703700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93519" y="37572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93544" y="37572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5693569" y="3757278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Envoy Gateway Native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93569" y="3874368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Envoy Gateway (Gateway API) — EnvoyProxy CRD, HTTPRoute / GRPCRoute / TLSRoute, IR translation.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652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181438" y="4750594"/>
            <a:ext cx="320285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98581" y="4750594"/>
            <a:ext cx="12310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GATEWAY &amp; MANAGEMENT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 Engineering (gRPC / Protobuf).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31541"/>
            <a:ext cx="4421981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92944" y="1785156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944" y="1592275"/>
            <a:ext cx="370649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13721" y="1597633"/>
            <a:ext cx="35116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88741"/>
            <a:ext cx="40719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protocol engineering (grpc / protobuf)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2944" y="3831841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084" y="392771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2944" y="393542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89922" y="1431541"/>
            <a:ext cx="3536156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22081" y="1742294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2081" y="1563700"/>
            <a:ext cx="28562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72239" y="1569058"/>
            <a:ext cx="44208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ITEMS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25653" y="1806587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3519" y="186016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93544" y="18601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93569" y="1860166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gRPC Service Engineering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93569" y="1977256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gRPC over HTTP/2 — unary, server-streaming, client-streaming, bidi-streaming RPCs, Protobuf IDL.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25653" y="2280865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93519" y="2334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93544" y="2334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93569" y="2334444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Buf Schema Registry &amp; Linting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93569" y="2451534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Buf CLI / BSR — buf lint (Style Guide), buf breaking (compatibility check), buf generate (Go / Java / TS / Python).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25653" y="2755143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3519" y="280872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93544" y="28087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93569" y="2808722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Protobuf Schema Evolution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93569" y="2925812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Protobuf3 backward / forward compatibility, reserved fields, JSON mapping, Any / Oneof / Map types.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25653" y="3229421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93519" y="32830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93544" y="32830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93569" y="3283000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Connect-RPC Modern API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93569" y="3400090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(Buf) — HTTP/1.1 + HTTP/2 + gRPC compatible, browser-native, Connect-Web / Connect-Swift.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25653" y="3703700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93519" y="37572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93544" y="37572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5693569" y="3757278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grpc-Gateway REST Translation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93569" y="3874368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grpc-gateway plugin — Protobuf annotations → OpenAPI v2 / v3, reverse-proxy from REST to gRPC.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333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61978" y="4750594"/>
            <a:ext cx="288339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59662" y="4750594"/>
            <a:ext cx="197971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 ENGINEERING (GRPC / PROTOBUF)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Orchestration &amp; Async APIs.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31541"/>
            <a:ext cx="4421981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92944" y="1785156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944" y="1592275"/>
            <a:ext cx="370649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13721" y="1597633"/>
            <a:ext cx="35116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88741"/>
            <a:ext cx="407193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workflow orchestration &amp; async apis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2944" y="3831841"/>
            <a:ext cx="40719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084" y="3927710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2944" y="3935425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89922" y="1431541"/>
            <a:ext cx="3536156" cy="2793206"/>
          </a:xfrm>
          <a:prstGeom prst="roundRect">
            <a:avLst>
              <a:gd name="adj" fmla="val 409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22081" y="1742294"/>
            <a:ext cx="3271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2081" y="1563700"/>
            <a:ext cx="285627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72239" y="1569058"/>
            <a:ext cx="44208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ITEMS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25653" y="1806587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93519" y="186016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93544" y="18601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693569" y="1860166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Step Functions State Machines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93569" y="1977256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Step Functions Standard / Express — ASL state machine, parallel / map / choice states, SFN workflow studio.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25653" y="2280865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93519" y="233444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93544" y="23344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693569" y="2334444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Temporal Workflow Engine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93569" y="2451534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Temporal.io — durable execution, signal / query, saga pattern, idempotent activity workers in Go / TS / Java / Python.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25653" y="2755143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3519" y="280872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93544" y="28087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693569" y="2808722"/>
            <a:ext cx="27289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AsyncAPI Specification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93569" y="2925812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AsyncAPI 2.6 — Kafka/NATS/Solace event schemas, codegen for Spring / Quarkus, spec-first event design.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25653" y="3229421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93519" y="328300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93544" y="32830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693569" y="3283000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Conductor Microservices Orchestration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93569" y="3400090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Netflix Conductor (Orkes) — DAG workflows, JSON DSL, fan-out / fan-in, human tasks.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25653" y="3703700"/>
            <a:ext cx="3264694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93519" y="37572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93544" y="37572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5693569" y="3757278"/>
            <a:ext cx="283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EventBridge Serverless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93569" y="3874368"/>
            <a:ext cx="2728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EventBridge — event bus, rule-based routing, schema registry, EventBridge Scheduler for cron jobs.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37877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07408" y="4750594"/>
            <a:ext cx="292882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0521" y="4750594"/>
            <a:ext cx="188587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ORCHESTRATION &amp; ASYNC APIS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api platform engineering &amp; graphql federation delivers measurable production impact.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17922" y="1460116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5922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80222" y="161727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49450"/>
            <a:ext cx="3671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78656" y="2049475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460116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59227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4407" y="161727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93456" y="1849450"/>
            <a:ext cx="3781616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93456" y="2049475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681697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28138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17918" y="2838859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78656" y="3071031"/>
            <a:ext cx="3671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78656" y="32710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2681697"/>
            <a:ext cx="3993356" cy="1100138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28138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4407" y="28388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93456" y="3071031"/>
            <a:ext cx="367188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1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793456" y="327105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486775" cy="479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8"/>
              </a:lnSpc>
              <a:buNone/>
            </a:pPr>
            <a:r>
              <a:rPr lang="en-US" sz="146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api platform engineering &amp; graphql federation.</a:t>
            </a:r>
            <a:endParaRPr lang="en-US" sz="1463" dirty="0"/>
          </a:p>
        </p:txBody>
      </p:sp>
      <p:sp>
        <p:nvSpPr>
          <p:cNvPr id="5" name="Text 3"/>
          <p:cNvSpPr/>
          <p:nvPr/>
        </p:nvSpPr>
        <p:spPr>
          <a:xfrm>
            <a:off x="514350" y="133945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916"/>
            <a:ext cx="81081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614488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614488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7219" y="1757363"/>
            <a:ext cx="6083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7219" y="1868091"/>
            <a:ext cx="6006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GATEWAY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64481" y="1771650"/>
            <a:ext cx="6587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04442" y="1782366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Kong Gateway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08994" y="1771650"/>
            <a:ext cx="66481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20798" y="1782366"/>
            <a:ext cx="84120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Apigee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59534" y="1771650"/>
            <a:ext cx="77788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59534" y="1782366"/>
            <a:ext cx="7778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API Gateway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23147" y="1771650"/>
            <a:ext cx="59739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63583" y="1782366"/>
            <a:ext cx="7165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Tyk Gateway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210991"/>
            <a:ext cx="81081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214563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46609" y="2214563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219" y="2357438"/>
            <a:ext cx="61669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7219" y="2468166"/>
            <a:ext cx="6089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GRAPHQL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64481" y="2371725"/>
            <a:ext cx="8777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64481" y="2382441"/>
            <a:ext cx="87778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Apollo Federation v2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27995" y="2371725"/>
            <a:ext cx="73390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27995" y="2382441"/>
            <a:ext cx="73390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Hasura GraphQL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47628" y="2371725"/>
            <a:ext cx="62373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38894" y="2382441"/>
            <a:ext cx="84120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Apollo Router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57092" y="2371725"/>
            <a:ext cx="66883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90087" y="2382441"/>
            <a:ext cx="8028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GraphQL Mesh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7922" y="2811066"/>
            <a:ext cx="81081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1494" y="2814638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446609" y="2814638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219" y="2957513"/>
            <a:ext cx="4852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07219" y="3068241"/>
            <a:ext cx="5779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564481" y="2971800"/>
            <a:ext cx="3308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64481" y="2982516"/>
            <a:ext cx="33084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gRPC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81051" y="2971800"/>
            <a:ext cx="60666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903940" y="2982516"/>
            <a:ext cx="7608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Connect-RPC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73437" y="2971800"/>
            <a:ext cx="63356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602583" y="2982516"/>
            <a:ext cx="77526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grpc-gateway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92723" y="2971800"/>
            <a:ext cx="32772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76954" y="2982516"/>
            <a:ext cx="3592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Twirp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7922" y="3411141"/>
            <a:ext cx="81081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1494" y="3414713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1446609" y="3414713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1862" y="3557588"/>
            <a:ext cx="5894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7219" y="3668316"/>
            <a:ext cx="5319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564481" y="3571875"/>
            <a:ext cx="8873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564481" y="3582591"/>
            <a:ext cx="88738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Buf Schema Registry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37594" y="3571875"/>
            <a:ext cx="44369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486299" y="3582591"/>
            <a:ext cx="546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Protobuf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067013" y="3571875"/>
            <a:ext cx="58310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80524" y="3582591"/>
            <a:ext cx="7560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OpenAPI 3.1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735846" y="3571875"/>
            <a:ext cx="60521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629237" y="3582591"/>
            <a:ext cx="8184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AsyncAPI 2.6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7922" y="4011216"/>
            <a:ext cx="81081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1494" y="4014788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1446609" y="4014788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7219" y="4157663"/>
            <a:ext cx="7500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7219" y="4268391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619" dirty="0"/>
          </a:p>
        </p:txBody>
      </p:sp>
      <p:sp>
        <p:nvSpPr>
          <p:cNvPr id="63" name="Text 61"/>
          <p:cNvSpPr/>
          <p:nvPr/>
        </p:nvSpPr>
        <p:spPr>
          <a:xfrm>
            <a:off x="1564481" y="4171950"/>
            <a:ext cx="85300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564481" y="4182666"/>
            <a:ext cx="85300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Step Functions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503215" y="4171950"/>
            <a:ext cx="55632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2418916" y="4182666"/>
            <a:ext cx="72491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Temporal.io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145259" y="4171950"/>
            <a:ext cx="7679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145259" y="4182666"/>
            <a:ext cx="7679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Netflix Conductor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998937" y="4171950"/>
            <a:ext cx="76404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998937" y="4182666"/>
            <a:ext cx="76404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EventBridge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629650" cy="272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3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132284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28750"/>
            <a:ext cx="1935956" cy="257889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546622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1721644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621506" y="190738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506" y="211455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2221706"/>
            <a:ext cx="183251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375297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506" y="370046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369689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428750"/>
            <a:ext cx="1935956" cy="257889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8906" y="1546622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78906" y="1721644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678906" y="190738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8906" y="211455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8906" y="2221706"/>
            <a:ext cx="183251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8906" y="2375297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78906" y="370046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8906" y="369689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428750"/>
            <a:ext cx="1935956" cy="257889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6306" y="1546622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306" y="1721644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736306" y="190738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306" y="211455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36306" y="2221706"/>
            <a:ext cx="183251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306" y="2375297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306" y="3700463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306" y="369689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428750"/>
            <a:ext cx="1935956" cy="257889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3706" y="1546622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93706" y="1721644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793706" y="190738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93706" y="211455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93706" y="2221706"/>
            <a:ext cx="1832515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93706" y="2375297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93706" y="3700463"/>
            <a:ext cx="1728788" cy="0"/>
          </a:xfrm>
          <a:prstGeom prst="line">
            <a:avLst/>
          </a:prstGeom>
          <a:noFill/>
          <a:ln w="7144">
            <a:solidFill>
              <a:srgbClr val="FF6C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93706" y="3696891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57225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832247"/>
            <a:ext cx="8629650" cy="28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49362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456544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46011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456544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6674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456544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592275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799444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199946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456544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46011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456544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6674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456544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592275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799444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199946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13856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8174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813856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40247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813856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2949587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15675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356781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813856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8174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813856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40247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813856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2949587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156756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356781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1628775"/>
            <a:ext cx="7144" cy="2128838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598325" y="1700213"/>
            <a:ext cx="180272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958870" y="1850231"/>
            <a:ext cx="14421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45640" y="2378869"/>
            <a:ext cx="185541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916722" y="2528888"/>
            <a:ext cx="14843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205365" y="3057525"/>
            <a:ext cx="119568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444502" y="3207544"/>
            <a:ext cx="9565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spc="-36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2950" y="1685925"/>
            <a:ext cx="75441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42950" y="1932384"/>
            <a:ext cx="5100638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742950" y="2352415"/>
            <a:ext cx="5887593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i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742950" y="297247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42950" y="3165351"/>
            <a:ext cx="61413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2950" y="3379663"/>
            <a:ext cx="61413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  <p:pic>
        <p:nvPicPr>
          <p:cNvPr id="20" name="Image 1" descr="/tmp/h2p-fit-1790857175429-attij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2026-10-01T12:19:35Z</dcterms:created>
  <dcterms:modified xsi:type="dcterms:W3CDTF">2026-10-01T12:19:35Z</dcterms:modified>
</cp:coreProperties>
</file>