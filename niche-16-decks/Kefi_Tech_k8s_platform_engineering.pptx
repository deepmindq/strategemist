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pic>
        <p:nvPicPr>
          <p:cNvPr id="3" name="Image 1" descr="/tmp/h2p-fit-1790857340275-ymmg1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457200"/>
            <a:ext cx="1857375" cy="30215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352455" y="600075"/>
            <a:ext cx="35424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90" kern="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KEFI TECH · KUBERNETES PLATFORM ENGINEERING &amp; IDP · 2026</a:t>
            </a:r>
            <a:endParaRPr lang="en-US" sz="600" dirty="0"/>
          </a:p>
        </p:txBody>
      </p:sp>
      <p:sp>
        <p:nvSpPr>
          <p:cNvPr id="5" name="Text 1"/>
          <p:cNvSpPr/>
          <p:nvPr/>
        </p:nvSpPr>
        <p:spPr>
          <a:xfrm>
            <a:off x="6400800" y="685800"/>
            <a:ext cx="7144" cy="3771900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2"/>
          <p:cNvSpPr/>
          <p:nvPr/>
        </p:nvSpPr>
        <p:spPr>
          <a:xfrm>
            <a:off x="742950" y="1714500"/>
            <a:ext cx="747866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36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 · DEEP TECH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742950" y="1960959"/>
            <a:ext cx="5850731" cy="3925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307"/>
              </a:lnSpc>
              <a:buNone/>
            </a:pPr>
            <a:r>
              <a:rPr lang="en-US" sz="3150" b="1" spc="-63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Kubernetes Platform</a:t>
            </a:r>
            <a:endParaRPr lang="en-US" sz="3150" dirty="0"/>
          </a:p>
        </p:txBody>
      </p:sp>
      <p:sp>
        <p:nvSpPr>
          <p:cNvPr id="8" name="Text 4"/>
          <p:cNvSpPr/>
          <p:nvPr/>
        </p:nvSpPr>
        <p:spPr>
          <a:xfrm>
            <a:off x="742950" y="2380990"/>
            <a:ext cx="5850731" cy="3925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307"/>
              </a:lnSpc>
              <a:buNone/>
            </a:pPr>
            <a:r>
              <a:rPr lang="en-US" sz="3150" b="1" spc="-63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&amp; IDP</a:t>
            </a:r>
            <a:endParaRPr lang="en-US" sz="3150" dirty="0"/>
          </a:p>
        </p:txBody>
      </p:sp>
      <p:sp>
        <p:nvSpPr>
          <p:cNvPr id="9" name="Text 5"/>
          <p:cNvSpPr/>
          <p:nvPr/>
        </p:nvSpPr>
        <p:spPr>
          <a:xfrm>
            <a:off x="742950" y="2801020"/>
            <a:ext cx="6017895" cy="907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7"/>
              </a:lnSpc>
              <a:buNone/>
            </a:pPr>
            <a:r>
              <a:rPr lang="en-US" sz="3150" b="1" spc="-63" kern="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engineered for production.</a:t>
            </a:r>
            <a:endParaRPr lang="en-US" sz="3150" dirty="0"/>
          </a:p>
        </p:txBody>
      </p:sp>
      <p:sp>
        <p:nvSpPr>
          <p:cNvPr id="10" name="Text 6"/>
          <p:cNvSpPr/>
          <p:nvPr/>
        </p:nvSpPr>
        <p:spPr>
          <a:xfrm>
            <a:off x="742950" y="3841105"/>
            <a:ext cx="342900" cy="21431"/>
          </a:xfrm>
          <a:prstGeom prst="roundRect">
            <a:avLst>
              <a:gd name="adj" fmla="val 88890"/>
            </a:avLst>
          </a:prstGeom>
          <a:solidFill>
            <a:srgbClr val="FF6C0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742950" y="4019699"/>
            <a:ext cx="3857625" cy="475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33"/>
              </a:lnSpc>
              <a:buNone/>
            </a:pPr>
            <a:r>
              <a:rPr lang="en-US" sz="1238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Golden paths from commit to cluster — at fleet scale.</a:t>
            </a:r>
            <a:endParaRPr lang="en-US" sz="1238" dirty="0"/>
          </a:p>
        </p:txBody>
      </p:sp>
      <p:sp>
        <p:nvSpPr>
          <p:cNvPr id="12" name="Text 8"/>
          <p:cNvSpPr/>
          <p:nvPr/>
        </p:nvSpPr>
        <p:spPr>
          <a:xfrm>
            <a:off x="6766471" y="1714500"/>
            <a:ext cx="2143125" cy="307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spc="54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  <a:p>
            <a:pPr algn="l" indent="0" marL="0">
              <a:lnSpc>
                <a:spcPts val="945"/>
              </a:lnSpc>
              <a:buNone/>
            </a:pPr>
            <a:r>
              <a:rPr lang="en-US" sz="800" spc="54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Internal Developer Portal (IDP)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6766471" y="2183085"/>
            <a:ext cx="2143125" cy="307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spc="54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  <a:p>
            <a:pPr algn="l" indent="0" marL="0">
              <a:lnSpc>
                <a:spcPts val="945"/>
              </a:lnSpc>
              <a:buNone/>
            </a:pPr>
            <a:r>
              <a:rPr lang="en-US" sz="800" spc="54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GitOps Continuous Delivery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6766471" y="2651671"/>
            <a:ext cx="2143125" cy="307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spc="54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  <a:p>
            <a:pPr algn="l" indent="0" marL="0">
              <a:lnSpc>
                <a:spcPts val="945"/>
              </a:lnSpc>
              <a:buNone/>
            </a:pPr>
            <a:r>
              <a:rPr lang="en-US" sz="800" spc="54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Multi-Cluster Fleet Management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14350" y="4754166"/>
            <a:ext cx="5895268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6423906" y="4750594"/>
            <a:ext cx="2315472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01 / 12 · KUBERNETES PLATFORM ENGINEERING &amp; IDP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342900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14350" y="685800"/>
            <a:ext cx="86296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TECHNICAL CHALLENGE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875109"/>
            <a:ext cx="7858125" cy="555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spc="-2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Where most kubernetes platform engineering &amp; idp programs fail.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14350" y="1457995"/>
            <a:ext cx="62865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gap between prototype and production is where engineering discipline matters most.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7922" y="1689497"/>
            <a:ext cx="3993356" cy="2564606"/>
          </a:xfrm>
          <a:prstGeom prst="roundRect">
            <a:avLst>
              <a:gd name="adj" fmla="val 4457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78656" y="1835944"/>
            <a:ext cx="36718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COMMON FAILURE POINTS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82228" y="2046684"/>
            <a:ext cx="3664744" cy="407082"/>
          </a:xfrm>
          <a:prstGeom prst="roundRect">
            <a:avLst>
              <a:gd name="adj" fmla="val 18719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778669" y="2135981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</a:t>
            </a:r>
            <a:endParaRPr lang="en-US" sz="1406" dirty="0"/>
          </a:p>
        </p:txBody>
      </p:sp>
      <p:sp>
        <p:nvSpPr>
          <p:cNvPr id="11" name="Text 8"/>
          <p:cNvSpPr/>
          <p:nvPr/>
        </p:nvSpPr>
        <p:spPr>
          <a:xfrm>
            <a:off x="1007269" y="2128838"/>
            <a:ext cx="3352991" cy="1053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Prototype-grade architecture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007269" y="2261667"/>
            <a:ext cx="3233663" cy="109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619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Solutions built for demos, not production load, latency, or reliability requirements.</a:t>
            </a:r>
            <a:endParaRPr lang="en-US" sz="619" dirty="0"/>
          </a:p>
        </p:txBody>
      </p:sp>
      <p:sp>
        <p:nvSpPr>
          <p:cNvPr id="13" name="Text 10"/>
          <p:cNvSpPr/>
          <p:nvPr/>
        </p:nvSpPr>
        <p:spPr>
          <a:xfrm>
            <a:off x="682228" y="2532348"/>
            <a:ext cx="3664744" cy="407082"/>
          </a:xfrm>
          <a:prstGeom prst="roundRect">
            <a:avLst>
              <a:gd name="adj" fmla="val 18719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778669" y="2621645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⊗</a:t>
            </a:r>
            <a:endParaRPr lang="en-US" sz="1406" dirty="0"/>
          </a:p>
        </p:txBody>
      </p:sp>
      <p:sp>
        <p:nvSpPr>
          <p:cNvPr id="15" name="Text 12"/>
          <p:cNvSpPr/>
          <p:nvPr/>
        </p:nvSpPr>
        <p:spPr>
          <a:xfrm>
            <a:off x="1007269" y="2614501"/>
            <a:ext cx="3334555" cy="1053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observability or evaluation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1007269" y="2747330"/>
            <a:ext cx="3087551" cy="109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619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metrics for accuracy, latency, cost, or drift — teams fly blind in production.</a:t>
            </a:r>
            <a:endParaRPr lang="en-US" sz="619" dirty="0"/>
          </a:p>
        </p:txBody>
      </p:sp>
      <p:sp>
        <p:nvSpPr>
          <p:cNvPr id="17" name="Text 14"/>
          <p:cNvSpPr/>
          <p:nvPr/>
        </p:nvSpPr>
        <p:spPr>
          <a:xfrm>
            <a:off x="682228" y="3018011"/>
            <a:ext cx="3664744" cy="407082"/>
          </a:xfrm>
          <a:prstGeom prst="roundRect">
            <a:avLst>
              <a:gd name="adj" fmla="val 18719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778669" y="3107308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406" dirty="0"/>
          </a:p>
        </p:txBody>
      </p:sp>
      <p:sp>
        <p:nvSpPr>
          <p:cNvPr id="19" name="Text 16"/>
          <p:cNvSpPr/>
          <p:nvPr/>
        </p:nvSpPr>
        <p:spPr>
          <a:xfrm>
            <a:off x="1007269" y="3100164"/>
            <a:ext cx="2905441" cy="1053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as afterthought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1007269" y="3232993"/>
            <a:ext cx="2767087" cy="109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619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guardrails, no audit trails, no compliance — bolted on after launch.</a:t>
            </a:r>
            <a:endParaRPr lang="en-US" sz="619" dirty="0"/>
          </a:p>
        </p:txBody>
      </p:sp>
      <p:sp>
        <p:nvSpPr>
          <p:cNvPr id="21" name="Text 18"/>
          <p:cNvSpPr/>
          <p:nvPr/>
        </p:nvSpPr>
        <p:spPr>
          <a:xfrm>
            <a:off x="682228" y="3503675"/>
            <a:ext cx="3664744" cy="407082"/>
          </a:xfrm>
          <a:prstGeom prst="roundRect">
            <a:avLst>
              <a:gd name="adj" fmla="val 18719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778669" y="3592971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↘</a:t>
            </a:r>
            <a:endParaRPr lang="en-US" sz="1406" dirty="0"/>
          </a:p>
        </p:txBody>
      </p:sp>
      <p:sp>
        <p:nvSpPr>
          <p:cNvPr id="23" name="Text 20"/>
          <p:cNvSpPr/>
          <p:nvPr/>
        </p:nvSpPr>
        <p:spPr>
          <a:xfrm>
            <a:off x="1007269" y="3585828"/>
            <a:ext cx="2768549" cy="1053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operational maturity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1007269" y="3718657"/>
            <a:ext cx="2636713" cy="109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619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CI/CD for models, no rollback, no A/B testing, no drift detection.</a:t>
            </a:r>
            <a:endParaRPr lang="en-US" sz="619" dirty="0"/>
          </a:p>
        </p:txBody>
      </p:sp>
      <p:sp>
        <p:nvSpPr>
          <p:cNvPr id="25" name="Text 22"/>
          <p:cNvSpPr/>
          <p:nvPr/>
        </p:nvSpPr>
        <p:spPr>
          <a:xfrm>
            <a:off x="4689872" y="1689497"/>
            <a:ext cx="3136106" cy="2564606"/>
          </a:xfrm>
          <a:prstGeom prst="roundRect">
            <a:avLst>
              <a:gd name="adj" fmla="val 4457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4850606" y="1835944"/>
            <a:ext cx="28146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D43F0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 APPROACH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4850606" y="2043113"/>
            <a:ext cx="2814638" cy="918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 treat kubernetes platform engineering &amp; idp as an engineering discipline, not a science experiment. Every engagement starts with production requirements — latency, throughput, reliability, cost, compliance — and engineers backward from those constraints.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4850606" y="3025155"/>
            <a:ext cx="1997236" cy="128588"/>
          </a:xfrm>
          <a:prstGeom prst="roundRect">
            <a:avLst>
              <a:gd name="adj" fmla="val 29630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4850606" y="3025155"/>
            <a:ext cx="1997236" cy="197510"/>
          </a:xfrm>
          <a:prstGeom prst="rect">
            <a:avLst/>
          </a:prstGeom>
          <a:noFill/>
          <a:ln/>
        </p:spPr>
        <p:txBody>
          <a:bodyPr wrap="square" lIns="57150" tIns="21431" rIns="57150" bIns="21431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600" spc="3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PRODUCTION-FIRST · ENGINEERING-GRADE</a:t>
            </a:r>
            <a:endParaRPr lang="en-US" sz="600" dirty="0"/>
          </a:p>
        </p:txBody>
      </p:sp>
      <p:sp>
        <p:nvSpPr>
          <p:cNvPr id="30" name="Shape 27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14350" y="4754166"/>
            <a:ext cx="4026954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4555592" y="4750594"/>
            <a:ext cx="3577121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/ 12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8124125" y="4750594"/>
            <a:ext cx="528401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CHALLENGE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342900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14350" y="685800"/>
            <a:ext cx="86296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CAPABILITIES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875109"/>
            <a:ext cx="8629650" cy="283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spc="-2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Four capability areas. One engineering system.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14350" y="1195127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Each capability area is a deep technical domain — not a generic service line.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7922" y="1646634"/>
            <a:ext cx="3886200" cy="1064419"/>
          </a:xfrm>
          <a:prstGeom prst="roundRect">
            <a:avLst>
              <a:gd name="adj" fmla="val 10738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78656" y="1778794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969" dirty="0"/>
          </a:p>
        </p:txBody>
      </p:sp>
      <p:sp>
        <p:nvSpPr>
          <p:cNvPr id="9" name="Text 6"/>
          <p:cNvSpPr/>
          <p:nvPr/>
        </p:nvSpPr>
        <p:spPr>
          <a:xfrm>
            <a:off x="4095848" y="1809155"/>
            <a:ext cx="1683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59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731" dirty="0"/>
          </a:p>
        </p:txBody>
      </p:sp>
      <p:sp>
        <p:nvSpPr>
          <p:cNvPr id="10" name="Text 7"/>
          <p:cNvSpPr/>
          <p:nvPr/>
        </p:nvSpPr>
        <p:spPr>
          <a:xfrm>
            <a:off x="678656" y="2035969"/>
            <a:ext cx="3674459" cy="203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Internal Developer Portal (IDP)</a:t>
            </a:r>
            <a:endParaRPr lang="en-US" sz="1238" dirty="0"/>
          </a:p>
        </p:txBody>
      </p:sp>
      <p:sp>
        <p:nvSpPr>
          <p:cNvPr id="11" name="Text 8"/>
          <p:cNvSpPr/>
          <p:nvPr/>
        </p:nvSpPr>
        <p:spPr>
          <a:xfrm>
            <a:off x="678656" y="2281647"/>
            <a:ext cx="3564731" cy="2972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technical engineering in internal developer portal (idp) with real platforms and tools.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4525566" y="1646634"/>
            <a:ext cx="3886200" cy="1064419"/>
          </a:xfrm>
          <a:prstGeom prst="roundRect">
            <a:avLst>
              <a:gd name="adj" fmla="val 10738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686300" y="1778794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⇄</a:t>
            </a:r>
            <a:endParaRPr lang="en-US" sz="1969" dirty="0"/>
          </a:p>
        </p:txBody>
      </p:sp>
      <p:sp>
        <p:nvSpPr>
          <p:cNvPr id="14" name="Text 11"/>
          <p:cNvSpPr/>
          <p:nvPr/>
        </p:nvSpPr>
        <p:spPr>
          <a:xfrm>
            <a:off x="8103491" y="1809155"/>
            <a:ext cx="1683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59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731" dirty="0"/>
          </a:p>
        </p:txBody>
      </p:sp>
      <p:sp>
        <p:nvSpPr>
          <p:cNvPr id="15" name="Text 12"/>
          <p:cNvSpPr/>
          <p:nvPr/>
        </p:nvSpPr>
        <p:spPr>
          <a:xfrm>
            <a:off x="4686300" y="2035969"/>
            <a:ext cx="3674459" cy="203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GitOps Continuous Delivery</a:t>
            </a:r>
            <a:endParaRPr lang="en-US" sz="1238" dirty="0"/>
          </a:p>
        </p:txBody>
      </p:sp>
      <p:sp>
        <p:nvSpPr>
          <p:cNvPr id="16" name="Text 13"/>
          <p:cNvSpPr/>
          <p:nvPr/>
        </p:nvSpPr>
        <p:spPr>
          <a:xfrm>
            <a:off x="4686300" y="2281647"/>
            <a:ext cx="3564731" cy="2972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technical engineering in gitops continuous delivery with real platforms and tools.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517922" y="2832497"/>
            <a:ext cx="3886200" cy="1064419"/>
          </a:xfrm>
          <a:prstGeom prst="roundRect">
            <a:avLst>
              <a:gd name="adj" fmla="val 10738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678656" y="2964656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❄</a:t>
            </a:r>
            <a:endParaRPr lang="en-US" sz="1969" dirty="0"/>
          </a:p>
        </p:txBody>
      </p:sp>
      <p:sp>
        <p:nvSpPr>
          <p:cNvPr id="19" name="Text 16"/>
          <p:cNvSpPr/>
          <p:nvPr/>
        </p:nvSpPr>
        <p:spPr>
          <a:xfrm>
            <a:off x="4095848" y="2995017"/>
            <a:ext cx="1683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59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731" dirty="0"/>
          </a:p>
        </p:txBody>
      </p:sp>
      <p:sp>
        <p:nvSpPr>
          <p:cNvPr id="20" name="Text 17"/>
          <p:cNvSpPr/>
          <p:nvPr/>
        </p:nvSpPr>
        <p:spPr>
          <a:xfrm>
            <a:off x="678656" y="3221831"/>
            <a:ext cx="3674459" cy="203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Multi-Cluster Fleet Management</a:t>
            </a:r>
            <a:endParaRPr lang="en-US" sz="1238" dirty="0"/>
          </a:p>
        </p:txBody>
      </p:sp>
      <p:sp>
        <p:nvSpPr>
          <p:cNvPr id="21" name="Text 18"/>
          <p:cNvSpPr/>
          <p:nvPr/>
        </p:nvSpPr>
        <p:spPr>
          <a:xfrm>
            <a:off x="678656" y="3467509"/>
            <a:ext cx="3564731" cy="2972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technical engineering in multi-cluster fleet management with real platforms and tools.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4525566" y="2832497"/>
            <a:ext cx="3886200" cy="1064419"/>
          </a:xfrm>
          <a:prstGeom prst="roundRect">
            <a:avLst>
              <a:gd name="adj" fmla="val 10738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4686300" y="2964656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969" dirty="0"/>
          </a:p>
        </p:txBody>
      </p:sp>
      <p:sp>
        <p:nvSpPr>
          <p:cNvPr id="24" name="Text 21"/>
          <p:cNvSpPr/>
          <p:nvPr/>
        </p:nvSpPr>
        <p:spPr>
          <a:xfrm>
            <a:off x="8103491" y="2995017"/>
            <a:ext cx="1683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59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731" dirty="0"/>
          </a:p>
        </p:txBody>
      </p:sp>
      <p:sp>
        <p:nvSpPr>
          <p:cNvPr id="25" name="Text 22"/>
          <p:cNvSpPr/>
          <p:nvPr/>
        </p:nvSpPr>
        <p:spPr>
          <a:xfrm>
            <a:off x="4686300" y="3221831"/>
            <a:ext cx="3674459" cy="203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Policy &amp; Platform Governance</a:t>
            </a:r>
            <a:endParaRPr lang="en-US" sz="1238" dirty="0"/>
          </a:p>
        </p:txBody>
      </p:sp>
      <p:sp>
        <p:nvSpPr>
          <p:cNvPr id="26" name="Text 23"/>
          <p:cNvSpPr/>
          <p:nvPr/>
        </p:nvSpPr>
        <p:spPr>
          <a:xfrm>
            <a:off x="4686300" y="3467509"/>
            <a:ext cx="3564731" cy="2972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technical engineering in policy &amp; platform governance with real platforms and tools.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14350" y="4754166"/>
            <a:ext cx="3997821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526459" y="4750594"/>
            <a:ext cx="3547988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/ 12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8011370" y="4750594"/>
            <a:ext cx="69564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CAPABILITIES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342900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14350" y="685800"/>
            <a:ext cx="86296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01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875109"/>
            <a:ext cx="8629650" cy="283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spc="-2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Internal Developer Portal (IDP).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14350" y="1195127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technical engineering with real platforms, tools, and frameworks.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7922" y="1646634"/>
            <a:ext cx="3993356" cy="3243263"/>
          </a:xfrm>
          <a:prstGeom prst="roundRect">
            <a:avLst>
              <a:gd name="adj" fmla="val 3524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78656" y="1793081"/>
            <a:ext cx="36718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APPROACH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78656" y="2000250"/>
            <a:ext cx="3671888" cy="918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internal developer portal (idp) capability goes beyond surface-level integration. We engineer at the protocol, configuration, and architecture level — working with real platforms and tools, not abstract concepts. Every sub-service below carries specific tool names, configuration patterns, and engineering decisions.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55796" y="2974577"/>
            <a:ext cx="978872" cy="144018"/>
          </a:xfrm>
          <a:prstGeom prst="roundRect">
            <a:avLst>
              <a:gd name="adj" fmla="val 26455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678656" y="2982292"/>
            <a:ext cx="93315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675"/>
              </a:lnSpc>
              <a:buNone/>
            </a:pPr>
            <a:r>
              <a:rPr lang="en-US" sz="8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1 OF 4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4689872" y="1646634"/>
            <a:ext cx="3136106" cy="3243263"/>
          </a:xfrm>
          <a:prstGeom prst="roundRect">
            <a:avLst>
              <a:gd name="adj" fmla="val 3645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850606" y="1793081"/>
            <a:ext cx="28146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4854178" y="2003822"/>
            <a:ext cx="2807494" cy="535781"/>
          </a:xfrm>
          <a:prstGeom prst="roundRect">
            <a:avLst>
              <a:gd name="adj" fmla="val 14222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4914900" y="2071688"/>
            <a:ext cx="274320" cy="131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42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157788" y="206454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17" name="Text 14"/>
          <p:cNvSpPr/>
          <p:nvPr/>
        </p:nvSpPr>
        <p:spPr>
          <a:xfrm>
            <a:off x="5386388" y="2057400"/>
            <a:ext cx="2324290" cy="101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Backstage IDP Customization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386388" y="2185988"/>
            <a:ext cx="2214563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Spotify Backstage with custom plugins — service catalog, TechDocs (MKDocs), Scaffold templates via Backstage Software Templates.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4854178" y="2603897"/>
            <a:ext cx="2807494" cy="535781"/>
          </a:xfrm>
          <a:prstGeom prst="roundRect">
            <a:avLst>
              <a:gd name="adj" fmla="val 14222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4914900" y="2671763"/>
            <a:ext cx="274320" cy="131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42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157788" y="266461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22" name="Text 19"/>
          <p:cNvSpPr/>
          <p:nvPr/>
        </p:nvSpPr>
        <p:spPr>
          <a:xfrm>
            <a:off x="5386388" y="2657475"/>
            <a:ext cx="2214563" cy="101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Golden Path Templates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386388" y="2786063"/>
            <a:ext cx="2214563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Backstage Cookiecutter / yeoman scaffolding — pre-wired Helm charts, CI/CD pipelines, OPA Gatekeeper policies baked in per template.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4854178" y="3203972"/>
            <a:ext cx="2807494" cy="535781"/>
          </a:xfrm>
          <a:prstGeom prst="roundRect">
            <a:avLst>
              <a:gd name="adj" fmla="val 14222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4914900" y="3271838"/>
            <a:ext cx="274320" cy="131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42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5157788" y="326469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27" name="Text 24"/>
          <p:cNvSpPr/>
          <p:nvPr/>
        </p:nvSpPr>
        <p:spPr>
          <a:xfrm>
            <a:off x="5386388" y="3257550"/>
            <a:ext cx="2324290" cy="101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Service Catalog &amp; Ownership Discovery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5386388" y="3386138"/>
            <a:ext cx="2214563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Backstage Catalog ingest from GitHub / Bitbucket / GitLab — entity definitions, team ownership, dependency graph visualization.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854178" y="3804047"/>
            <a:ext cx="2807494" cy="435769"/>
          </a:xfrm>
          <a:prstGeom prst="roundRect">
            <a:avLst>
              <a:gd name="adj" fmla="val 17486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4914900" y="3871913"/>
            <a:ext cx="274320" cy="131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42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5157788" y="386476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32" name="Text 29"/>
          <p:cNvSpPr/>
          <p:nvPr/>
        </p:nvSpPr>
        <p:spPr>
          <a:xfrm>
            <a:off x="5386388" y="3857625"/>
            <a:ext cx="2214563" cy="101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TechDocs Centralization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5386388" y="3986213"/>
            <a:ext cx="22145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Backstage TechDocs publisher to AWS S3 / GCS — MkDocs Markdown, search via Algolia / Lunr, docs-as-code workflow.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4854178" y="4304109"/>
            <a:ext cx="2807494" cy="435769"/>
          </a:xfrm>
          <a:prstGeom prst="roundRect">
            <a:avLst>
              <a:gd name="adj" fmla="val 17486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4914900" y="4371975"/>
            <a:ext cx="274320" cy="131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42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5157788" y="436483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37" name="Text 34"/>
          <p:cNvSpPr/>
          <p:nvPr/>
        </p:nvSpPr>
        <p:spPr>
          <a:xfrm>
            <a:off x="5386388" y="4357688"/>
            <a:ext cx="2324290" cy="101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Developer Self-Service Portal Actions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5386388" y="4486275"/>
            <a:ext cx="22145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Backstage Scaffolder with custom actions — provision AWS RDS, S3 buckets, GitHub repos via Crossplane compositions.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14350" y="4754166"/>
            <a:ext cx="3532696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4061333" y="4750594"/>
            <a:ext cx="3082751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/ 12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7158372" y="4750594"/>
            <a:ext cx="1559554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INTERNAL DEVELOPER PORTAL (IDP)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342900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14350" y="685800"/>
            <a:ext cx="86296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02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875109"/>
            <a:ext cx="8629650" cy="283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spc="-2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GitOps Continuous Delivery.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14350" y="1195127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technical engineering with real platforms, tools, and frameworks.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7922" y="1646634"/>
            <a:ext cx="3993356" cy="3343275"/>
          </a:xfrm>
          <a:prstGeom prst="roundRect">
            <a:avLst>
              <a:gd name="adj" fmla="val 3419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78656" y="1793081"/>
            <a:ext cx="36718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APPROACH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78656" y="2000250"/>
            <a:ext cx="3671888" cy="918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gitops continuous delivery capability goes beyond surface-level integration. We engineer at the protocol, configuration, and architecture level — working with real platforms and tools, not abstract concepts. Every sub-service below carries specific tool names, configuration patterns, and engineering decisions.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55796" y="2974577"/>
            <a:ext cx="978872" cy="144018"/>
          </a:xfrm>
          <a:prstGeom prst="roundRect">
            <a:avLst>
              <a:gd name="adj" fmla="val 26455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678656" y="2982292"/>
            <a:ext cx="93315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675"/>
              </a:lnSpc>
              <a:buNone/>
            </a:pPr>
            <a:r>
              <a:rPr lang="en-US" sz="8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2 OF 4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4689872" y="1646634"/>
            <a:ext cx="3136106" cy="3343275"/>
          </a:xfrm>
          <a:prstGeom prst="roundRect">
            <a:avLst>
              <a:gd name="adj" fmla="val 3645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850606" y="1793081"/>
            <a:ext cx="28146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4854178" y="2003822"/>
            <a:ext cx="2807494" cy="435769"/>
          </a:xfrm>
          <a:prstGeom prst="roundRect">
            <a:avLst>
              <a:gd name="adj" fmla="val 17486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4914900" y="2071688"/>
            <a:ext cx="274320" cy="131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42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157788" y="206454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17" name="Text 14"/>
          <p:cNvSpPr/>
          <p:nvPr/>
        </p:nvSpPr>
        <p:spPr>
          <a:xfrm>
            <a:off x="5386388" y="2057400"/>
            <a:ext cx="2324290" cy="101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ArgoCD App-of-Apps Pattern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386388" y="2185988"/>
            <a:ext cx="22145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ArgoCD app-of-apps for multi-cluster fleet — sync waves, sync hooks, automated drift detection and self-healing.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4854178" y="2503884"/>
            <a:ext cx="2807494" cy="535781"/>
          </a:xfrm>
          <a:prstGeom prst="roundRect">
            <a:avLst>
              <a:gd name="adj" fmla="val 14222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4914900" y="2571750"/>
            <a:ext cx="274320" cy="131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42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157788" y="256460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22" name="Text 19"/>
          <p:cNvSpPr/>
          <p:nvPr/>
        </p:nvSpPr>
        <p:spPr>
          <a:xfrm>
            <a:off x="5386388" y="2557463"/>
            <a:ext cx="2324290" cy="101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Flux Multi-Cluster GitOps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386388" y="2686050"/>
            <a:ext cx="2214563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Flux GitRepository + Kustomization controllers — Helm releases via HelmRelease CRD, image policy auto-update via ImagePolicyController.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4854178" y="3103959"/>
            <a:ext cx="2807494" cy="535781"/>
          </a:xfrm>
          <a:prstGeom prst="roundRect">
            <a:avLst>
              <a:gd name="adj" fmla="val 14222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4914900" y="3171825"/>
            <a:ext cx="274320" cy="131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42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5157788" y="316468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27" name="Text 24"/>
          <p:cNvSpPr/>
          <p:nvPr/>
        </p:nvSpPr>
        <p:spPr>
          <a:xfrm>
            <a:off x="5386388" y="3157538"/>
            <a:ext cx="2324290" cy="101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Progressive Delivery with Argo Rollouts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5386388" y="3286125"/>
            <a:ext cx="2214563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ArgoCD + Argo Rollouts — canary (5%→25%→100%), blue-green, analysis templates with Kayenta / Datadog canary checks.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854178" y="3704034"/>
            <a:ext cx="2807494" cy="535781"/>
          </a:xfrm>
          <a:prstGeom prst="roundRect">
            <a:avLst>
              <a:gd name="adj" fmla="val 14222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4914900" y="3771900"/>
            <a:ext cx="274320" cy="131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42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5157788" y="376475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32" name="Text 29"/>
          <p:cNvSpPr/>
          <p:nvPr/>
        </p:nvSpPr>
        <p:spPr>
          <a:xfrm>
            <a:off x="5386388" y="3757613"/>
            <a:ext cx="2324290" cy="101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GitOps Secrets Management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5386388" y="3886200"/>
            <a:ext cx="2214563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External Secrets Operator + Mozilla SOPS — AWS KMS / HashiCorp Vault backend, Bitnami Sealed Secrets for one-way encryption.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4854178" y="4304109"/>
            <a:ext cx="2807494" cy="535781"/>
          </a:xfrm>
          <a:prstGeom prst="roundRect">
            <a:avLst>
              <a:gd name="adj" fmla="val 14222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4914900" y="4371975"/>
            <a:ext cx="274320" cy="131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42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5157788" y="436483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37" name="Text 34"/>
          <p:cNvSpPr/>
          <p:nvPr/>
        </p:nvSpPr>
        <p:spPr>
          <a:xfrm>
            <a:off x="5386388" y="4357688"/>
            <a:ext cx="2324290" cy="101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Kustomize Overlay Engineering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5386388" y="4486275"/>
            <a:ext cx="2214563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Kustomize base + overlays per env (dev/stage/prod), Helm + Kustomize composition, strategic merge patches for env-specific config.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14350" y="4754166"/>
            <a:ext cx="3625118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4153756" y="4750594"/>
            <a:ext cx="317528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/ 12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7343329" y="4750594"/>
            <a:ext cx="1363501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GITOPS CONTINUOUS DELIVERY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342900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14350" y="685800"/>
            <a:ext cx="86296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03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875109"/>
            <a:ext cx="8629650" cy="283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spc="-2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Multi-Cluster Fleet Management.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14350" y="1195127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technical engineering with real platforms, tools, and frameworks.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7922" y="1646634"/>
            <a:ext cx="3993356" cy="3143250"/>
          </a:xfrm>
          <a:prstGeom prst="roundRect">
            <a:avLst>
              <a:gd name="adj" fmla="val 3636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78656" y="1793081"/>
            <a:ext cx="36718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APPROACH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78656" y="2000250"/>
            <a:ext cx="3671888" cy="918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multi-cluster fleet management capability goes beyond surface-level integration. We engineer at the protocol, configuration, and architecture level — working with real platforms and tools, not abstract concepts. Every sub-service below carries specific tool names, configuration patterns, and engineering decisions.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55796" y="2974577"/>
            <a:ext cx="978872" cy="144018"/>
          </a:xfrm>
          <a:prstGeom prst="roundRect">
            <a:avLst>
              <a:gd name="adj" fmla="val 26455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678656" y="2982292"/>
            <a:ext cx="93315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675"/>
              </a:lnSpc>
              <a:buNone/>
            </a:pPr>
            <a:r>
              <a:rPr lang="en-US" sz="8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3 OF 4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4689872" y="1646634"/>
            <a:ext cx="3136106" cy="3143250"/>
          </a:xfrm>
          <a:prstGeom prst="roundRect">
            <a:avLst>
              <a:gd name="adj" fmla="val 3645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850606" y="1793081"/>
            <a:ext cx="28146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4854178" y="2003822"/>
            <a:ext cx="2807494" cy="535781"/>
          </a:xfrm>
          <a:prstGeom prst="roundRect">
            <a:avLst>
              <a:gd name="adj" fmla="val 14222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4914900" y="2071688"/>
            <a:ext cx="274320" cy="131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42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157788" y="206454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17" name="Text 14"/>
          <p:cNvSpPr/>
          <p:nvPr/>
        </p:nvSpPr>
        <p:spPr>
          <a:xfrm>
            <a:off x="5386388" y="2057400"/>
            <a:ext cx="2214563" cy="101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Cluster API Lifecycle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386388" y="2185988"/>
            <a:ext cx="2214563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Cluster API (CAPI) for declarative cluster lifecycle — provisioning EKS / GKE / AKS / vSphere via CAPA / CAPV / CAPG providers.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4854178" y="2603897"/>
            <a:ext cx="2807494" cy="535781"/>
          </a:xfrm>
          <a:prstGeom prst="roundRect">
            <a:avLst>
              <a:gd name="adj" fmla="val 14222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4914900" y="2671763"/>
            <a:ext cx="274320" cy="131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42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157788" y="266461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22" name="Text 19"/>
          <p:cNvSpPr/>
          <p:nvPr/>
        </p:nvSpPr>
        <p:spPr>
          <a:xfrm>
            <a:off x="5386388" y="2657475"/>
            <a:ext cx="2324290" cy="101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vCluster Virtual Clusters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386388" y="2786063"/>
            <a:ext cx="2214563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vCluster for ephemeral per-team / per-dev namespaces — nested k8s, isolated control planes, k3s backend, cost-effective multi-tenancy.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4854178" y="3203972"/>
            <a:ext cx="2807494" cy="435769"/>
          </a:xfrm>
          <a:prstGeom prst="roundRect">
            <a:avLst>
              <a:gd name="adj" fmla="val 17486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4914900" y="3271838"/>
            <a:ext cx="274320" cy="131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42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5157788" y="326469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27" name="Text 24"/>
          <p:cNvSpPr/>
          <p:nvPr/>
        </p:nvSpPr>
        <p:spPr>
          <a:xfrm>
            <a:off x="5386388" y="3257550"/>
            <a:ext cx="2214563" cy="101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Capsule Tenant Isolation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5386388" y="3386138"/>
            <a:ext cx="22145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Capsule for soft multi-tenancy — Tenant CRD, namespace quotas, network policies, ingress isolation per team.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854178" y="3704034"/>
            <a:ext cx="2807494" cy="435769"/>
          </a:xfrm>
          <a:prstGeom prst="roundRect">
            <a:avLst>
              <a:gd name="adj" fmla="val 17486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4914900" y="3771900"/>
            <a:ext cx="274320" cy="131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42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5157788" y="376475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32" name="Text 29"/>
          <p:cNvSpPr/>
          <p:nvPr/>
        </p:nvSpPr>
        <p:spPr>
          <a:xfrm>
            <a:off x="5386388" y="3757613"/>
            <a:ext cx="2214563" cy="101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Crossplane Control Plane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5386388" y="3886200"/>
            <a:ext cx="22145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Crossplane compositions as k8s-native Terraform alternative — provision RDS, S3, CloudSQL, DynamoDB via kubectl apply.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4854178" y="4204097"/>
            <a:ext cx="2807494" cy="435769"/>
          </a:xfrm>
          <a:prstGeom prst="roundRect">
            <a:avLst>
              <a:gd name="adj" fmla="val 17486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4914900" y="4271963"/>
            <a:ext cx="274320" cy="131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42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5157788" y="426481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37" name="Text 34"/>
          <p:cNvSpPr/>
          <p:nvPr/>
        </p:nvSpPr>
        <p:spPr>
          <a:xfrm>
            <a:off x="5386388" y="4257675"/>
            <a:ext cx="2324290" cy="101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Multi-Cluster Service Mesh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5386388" y="4386263"/>
            <a:ext cx="22145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Istio Multi-Cluster / Linkerd multi-cluster — east-west gateway, shared root CA, cross-cluster service discovery.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14350" y="4754166"/>
            <a:ext cx="3516176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4044814" y="4750594"/>
            <a:ext cx="3066343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 / 12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7125444" y="4750594"/>
            <a:ext cx="1594458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MULTI-CLUSTER FLEET MANAGEMENT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342900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14350" y="685800"/>
            <a:ext cx="86296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04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875109"/>
            <a:ext cx="8629650" cy="283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spc="-2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Policy &amp; Platform Governance.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14350" y="1195127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technical engineering with real platforms, tools, and frameworks.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7922" y="1646634"/>
            <a:ext cx="3993356" cy="3243263"/>
          </a:xfrm>
          <a:prstGeom prst="roundRect">
            <a:avLst>
              <a:gd name="adj" fmla="val 3524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78656" y="1793081"/>
            <a:ext cx="36718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APPROACH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78656" y="2000250"/>
            <a:ext cx="3671888" cy="918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policy &amp; platform governance capability goes beyond surface-level integration. We engineer at the protocol, configuration, and architecture level — working with real platforms and tools, not abstract concepts. Every sub-service below carries specific tool names, configuration patterns, and engineering decisions.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55796" y="2974577"/>
            <a:ext cx="978872" cy="144018"/>
          </a:xfrm>
          <a:prstGeom prst="roundRect">
            <a:avLst>
              <a:gd name="adj" fmla="val 26455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678656" y="2982292"/>
            <a:ext cx="93315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675"/>
              </a:lnSpc>
              <a:buNone/>
            </a:pPr>
            <a:r>
              <a:rPr lang="en-US" sz="8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4 OF 4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4689872" y="1646634"/>
            <a:ext cx="3136106" cy="3243263"/>
          </a:xfrm>
          <a:prstGeom prst="roundRect">
            <a:avLst>
              <a:gd name="adj" fmla="val 3645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850606" y="1793081"/>
            <a:ext cx="28146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4854178" y="2003822"/>
            <a:ext cx="2807494" cy="535781"/>
          </a:xfrm>
          <a:prstGeom prst="roundRect">
            <a:avLst>
              <a:gd name="adj" fmla="val 14222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4914900" y="2071688"/>
            <a:ext cx="274320" cy="131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42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157788" y="206454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17" name="Text 14"/>
          <p:cNvSpPr/>
          <p:nvPr/>
        </p:nvSpPr>
        <p:spPr>
          <a:xfrm>
            <a:off x="5386388" y="2057400"/>
            <a:ext cx="2324290" cy="101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OPA Gatekeeper Policy Engine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386388" y="2185988"/>
            <a:ext cx="2214563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Open Policy Agent Gatekeeper — Constraint Framework, admission webhook enforcement, CIS Kubernetes Benchmark policies.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4854178" y="2603897"/>
            <a:ext cx="2807494" cy="535781"/>
          </a:xfrm>
          <a:prstGeom prst="roundRect">
            <a:avLst>
              <a:gd name="adj" fmla="val 14222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4914900" y="2671763"/>
            <a:ext cx="274320" cy="131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42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157788" y="266461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22" name="Text 19"/>
          <p:cNvSpPr/>
          <p:nvPr/>
        </p:nvSpPr>
        <p:spPr>
          <a:xfrm>
            <a:off x="5386388" y="2657475"/>
            <a:ext cx="2214563" cy="101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Kyverno Policy as Code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386388" y="2786063"/>
            <a:ext cx="2214563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Kyverno ClusterPolicy — mutate, validate, generate rules, image verification via Cosign, automatic namespace default labels.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4854178" y="3203972"/>
            <a:ext cx="2807494" cy="435769"/>
          </a:xfrm>
          <a:prstGeom prst="roundRect">
            <a:avLst>
              <a:gd name="adj" fmla="val 17486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4914900" y="3271838"/>
            <a:ext cx="274320" cy="131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42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5157788" y="326469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27" name="Text 24"/>
          <p:cNvSpPr/>
          <p:nvPr/>
        </p:nvSpPr>
        <p:spPr>
          <a:xfrm>
            <a:off x="5386388" y="3257550"/>
            <a:ext cx="2214563" cy="101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Policy CI with Conftest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5386388" y="3386138"/>
            <a:ext cx="22145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Conftest OPA Rego testing in CI — policy-as-code PR checks, Kubeval schema validation, kube-linter ad-hoc scans.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854178" y="3704034"/>
            <a:ext cx="2807494" cy="535781"/>
          </a:xfrm>
          <a:prstGeom prst="roundRect">
            <a:avLst>
              <a:gd name="adj" fmla="val 14222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4914900" y="3771900"/>
            <a:ext cx="274320" cy="131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42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5157788" y="376475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32" name="Text 29"/>
          <p:cNvSpPr/>
          <p:nvPr/>
        </p:nvSpPr>
        <p:spPr>
          <a:xfrm>
            <a:off x="5386388" y="3757613"/>
            <a:ext cx="2324290" cy="101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FinOps &amp; Resource Governance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5386388" y="3886200"/>
            <a:ext cx="2214563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Kubecost integration, namespace ResourceQuota + LimitRange enforcement, KEDA autoscaling on SQS / Kafka metrics.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4854178" y="4304109"/>
            <a:ext cx="2807494" cy="435769"/>
          </a:xfrm>
          <a:prstGeom prst="roundRect">
            <a:avLst>
              <a:gd name="adj" fmla="val 17486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4914900" y="4371975"/>
            <a:ext cx="274320" cy="131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42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5157788" y="436483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37" name="Text 34"/>
          <p:cNvSpPr/>
          <p:nvPr/>
        </p:nvSpPr>
        <p:spPr>
          <a:xfrm>
            <a:off x="5386388" y="4357688"/>
            <a:ext cx="2324290" cy="101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Supply Chain Security with Cosign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5386388" y="4486275"/>
            <a:ext cx="22145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Sigstore Cosign image signing, Rekor transparency log, Kyverno image verification at admission webhook.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14350" y="4754166"/>
            <a:ext cx="3557699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4086337" y="4750594"/>
            <a:ext cx="3107866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 / 12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7208490" y="4750594"/>
            <a:ext cx="1506429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POLICY &amp; PLATFORM GOVERNANCE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342900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14350" y="685800"/>
            <a:ext cx="86296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TECHNICAL APPLICATIONS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875109"/>
            <a:ext cx="8629650" cy="283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spc="-2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Where this creates engineering value.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14350" y="1195127"/>
            <a:ext cx="62865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Four specific engineering scenarios where kubernetes platform engineering &amp; idp delivers measurable production impact.</a:t>
            </a:r>
            <a:endParaRPr lang="en-US" sz="788" dirty="0"/>
          </a:p>
        </p:txBody>
      </p:sp>
      <p:sp>
        <p:nvSpPr>
          <p:cNvPr id="7" name="Text 4"/>
          <p:cNvSpPr/>
          <p:nvPr/>
        </p:nvSpPr>
        <p:spPr>
          <a:xfrm>
            <a:off x="517922" y="1646634"/>
            <a:ext cx="3886200" cy="1064419"/>
          </a:xfrm>
          <a:prstGeom prst="roundRect">
            <a:avLst>
              <a:gd name="adj" fmla="val 10738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78656" y="1778794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➤</a:t>
            </a:r>
            <a:endParaRPr lang="en-US" sz="1969" dirty="0"/>
          </a:p>
        </p:txBody>
      </p:sp>
      <p:sp>
        <p:nvSpPr>
          <p:cNvPr id="9" name="Text 6"/>
          <p:cNvSpPr/>
          <p:nvPr/>
        </p:nvSpPr>
        <p:spPr>
          <a:xfrm>
            <a:off x="4179987" y="1809155"/>
            <a:ext cx="914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59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78656" y="2035969"/>
            <a:ext cx="3564731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Deployment</a:t>
            </a:r>
            <a:endParaRPr lang="en-US" sz="1238" dirty="0"/>
          </a:p>
        </p:txBody>
      </p:sp>
      <p:sp>
        <p:nvSpPr>
          <p:cNvPr id="11" name="Text 8"/>
          <p:cNvSpPr/>
          <p:nvPr/>
        </p:nvSpPr>
        <p:spPr>
          <a:xfrm>
            <a:off x="678656" y="2281647"/>
            <a:ext cx="3564731" cy="2972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From prototype to production-grade deployment with real reliability, latency, and cost SLAs.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4525566" y="1646634"/>
            <a:ext cx="3886200" cy="1064419"/>
          </a:xfrm>
          <a:prstGeom prst="roundRect">
            <a:avLst>
              <a:gd name="adj" fmla="val 10738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686300" y="1778794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lang="en-US" sz="1969" dirty="0"/>
          </a:p>
        </p:txBody>
      </p:sp>
      <p:sp>
        <p:nvSpPr>
          <p:cNvPr id="14" name="Text 11"/>
          <p:cNvSpPr/>
          <p:nvPr/>
        </p:nvSpPr>
        <p:spPr>
          <a:xfrm>
            <a:off x="8103491" y="1809155"/>
            <a:ext cx="1683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59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II</a:t>
            </a:r>
            <a:endParaRPr lang="en-US" sz="731" dirty="0"/>
          </a:p>
        </p:txBody>
      </p:sp>
      <p:sp>
        <p:nvSpPr>
          <p:cNvPr id="15" name="Text 12"/>
          <p:cNvSpPr/>
          <p:nvPr/>
        </p:nvSpPr>
        <p:spPr>
          <a:xfrm>
            <a:off x="4686300" y="2035969"/>
            <a:ext cx="3674459" cy="203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Observability &amp; Operations</a:t>
            </a:r>
            <a:endParaRPr lang="en-US" sz="1238" dirty="0"/>
          </a:p>
        </p:txBody>
      </p:sp>
      <p:sp>
        <p:nvSpPr>
          <p:cNvPr id="16" name="Text 13"/>
          <p:cNvSpPr/>
          <p:nvPr/>
        </p:nvSpPr>
        <p:spPr>
          <a:xfrm>
            <a:off x="4686300" y="2281647"/>
            <a:ext cx="3564731" cy="2972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Continuous monitoring, evaluation, drift detection, and operational runbooks for production systems.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517922" y="2832497"/>
            <a:ext cx="3886200" cy="1064419"/>
          </a:xfrm>
          <a:prstGeom prst="roundRect">
            <a:avLst>
              <a:gd name="adj" fmla="val 10738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678656" y="2964656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969" dirty="0"/>
          </a:p>
        </p:txBody>
      </p:sp>
      <p:sp>
        <p:nvSpPr>
          <p:cNvPr id="19" name="Text 16"/>
          <p:cNvSpPr/>
          <p:nvPr/>
        </p:nvSpPr>
        <p:spPr>
          <a:xfrm>
            <a:off x="4030176" y="2995017"/>
            <a:ext cx="23633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59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III</a:t>
            </a:r>
            <a:endParaRPr lang="en-US" sz="731" dirty="0"/>
          </a:p>
        </p:txBody>
      </p:sp>
      <p:sp>
        <p:nvSpPr>
          <p:cNvPr id="20" name="Text 17"/>
          <p:cNvSpPr/>
          <p:nvPr/>
        </p:nvSpPr>
        <p:spPr>
          <a:xfrm>
            <a:off x="678656" y="3221831"/>
            <a:ext cx="3564731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&amp; Compliance</a:t>
            </a:r>
            <a:endParaRPr lang="en-US" sz="1238" dirty="0"/>
          </a:p>
        </p:txBody>
      </p:sp>
      <p:sp>
        <p:nvSpPr>
          <p:cNvPr id="21" name="Text 18"/>
          <p:cNvSpPr/>
          <p:nvPr/>
        </p:nvSpPr>
        <p:spPr>
          <a:xfrm>
            <a:off x="678656" y="3467509"/>
            <a:ext cx="3564731" cy="2972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engineering, compliance automation, and audit-ready evidence collection built into the pipeline.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4525566" y="2832497"/>
            <a:ext cx="3886200" cy="1064419"/>
          </a:xfrm>
          <a:prstGeom prst="roundRect">
            <a:avLst>
              <a:gd name="adj" fmla="val 10738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4686300" y="2964656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969" dirty="0"/>
          </a:p>
        </p:txBody>
      </p:sp>
      <p:sp>
        <p:nvSpPr>
          <p:cNvPr id="24" name="Text 21"/>
          <p:cNvSpPr/>
          <p:nvPr/>
        </p:nvSpPr>
        <p:spPr>
          <a:xfrm>
            <a:off x="8103491" y="2995017"/>
            <a:ext cx="1683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59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IV</a:t>
            </a:r>
            <a:endParaRPr lang="en-US" sz="731" dirty="0"/>
          </a:p>
        </p:txBody>
      </p:sp>
      <p:sp>
        <p:nvSpPr>
          <p:cNvPr id="25" name="Text 22"/>
          <p:cNvSpPr/>
          <p:nvPr/>
        </p:nvSpPr>
        <p:spPr>
          <a:xfrm>
            <a:off x="4686300" y="3221831"/>
            <a:ext cx="3564731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Scale &amp; Optimization</a:t>
            </a:r>
            <a:endParaRPr lang="en-US" sz="1238" dirty="0"/>
          </a:p>
        </p:txBody>
      </p:sp>
      <p:sp>
        <p:nvSpPr>
          <p:cNvPr id="26" name="Text 23"/>
          <p:cNvSpPr/>
          <p:nvPr/>
        </p:nvSpPr>
        <p:spPr>
          <a:xfrm>
            <a:off x="4686300" y="3467509"/>
            <a:ext cx="3564731" cy="2972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Scaling from single-tenant to multi-tenant, optimizing cost, latency, and resource utilization.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14350" y="4754166"/>
            <a:ext cx="3979627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508264" y="4750594"/>
            <a:ext cx="3529682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 / 12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7993120" y="4750594"/>
            <a:ext cx="69564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APPLICATIONS</a:t>
            </a: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342900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14350" y="685800"/>
            <a:ext cx="86296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REFERENCE ARCHITECTURE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875109"/>
            <a:ext cx="7858125" cy="5226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41"/>
              </a:lnSpc>
              <a:buNone/>
            </a:pPr>
            <a:r>
              <a:rPr lang="en-US" sz="1688" b="1" spc="-25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production reference architecture for kubernetes platform engineering &amp; idp.</a:t>
            </a:r>
            <a:endParaRPr lang="en-US" sz="1688" dirty="0"/>
          </a:p>
        </p:txBody>
      </p:sp>
      <p:sp>
        <p:nvSpPr>
          <p:cNvPr id="6" name="Text 3"/>
          <p:cNvSpPr/>
          <p:nvPr/>
        </p:nvSpPr>
        <p:spPr>
          <a:xfrm>
            <a:off x="514350" y="1425178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Five layers with real platform and tool names — not generic architecture diagrams.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7922" y="1632347"/>
            <a:ext cx="8108156" cy="550069"/>
          </a:xfrm>
          <a:prstGeom prst="roundRect">
            <a:avLst>
              <a:gd name="adj" fmla="val 13853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21494" y="1635919"/>
            <a:ext cx="928688" cy="542925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1446609" y="1635919"/>
            <a:ext cx="0" cy="542925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21494" y="1635919"/>
            <a:ext cx="928688" cy="542925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DEVELOPER EXPERIENCE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564481" y="1793367"/>
            <a:ext cx="736476" cy="228029"/>
          </a:xfrm>
          <a:prstGeom prst="roundRect">
            <a:avLst>
              <a:gd name="adj" fmla="val 1670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1500127" y="1805583"/>
            <a:ext cx="865185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Backstage IDP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2386682" y="1793367"/>
            <a:ext cx="1001241" cy="228029"/>
          </a:xfrm>
          <a:prstGeom prst="roundRect">
            <a:avLst>
              <a:gd name="adj" fmla="val 1670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2386682" y="1805583"/>
            <a:ext cx="1001241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Backstage Scaffolder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3473648" y="1793367"/>
            <a:ext cx="938622" cy="228029"/>
          </a:xfrm>
          <a:prstGeom prst="roundRect">
            <a:avLst>
              <a:gd name="adj" fmla="val 1670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3473648" y="1805583"/>
            <a:ext cx="938622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TechDocs (MKDocs)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4497995" y="1793367"/>
            <a:ext cx="561119" cy="228029"/>
          </a:xfrm>
          <a:prstGeom prst="roundRect">
            <a:avLst>
              <a:gd name="adj" fmla="val 1670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4476640" y="1805583"/>
            <a:ext cx="603829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Roadie SP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517922" y="2275284"/>
            <a:ext cx="8108156" cy="550069"/>
          </a:xfrm>
          <a:prstGeom prst="roundRect">
            <a:avLst>
              <a:gd name="adj" fmla="val 13853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521494" y="2278856"/>
            <a:ext cx="928688" cy="542925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8"/>
          <p:cNvSpPr/>
          <p:nvPr/>
        </p:nvSpPr>
        <p:spPr>
          <a:xfrm>
            <a:off x="1446609" y="2278856"/>
            <a:ext cx="0" cy="542925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21494" y="2278856"/>
            <a:ext cx="928688" cy="542925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GITOPS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1564481" y="2436305"/>
            <a:ext cx="469478" cy="228029"/>
          </a:xfrm>
          <a:prstGeom prst="roundRect">
            <a:avLst>
              <a:gd name="adj" fmla="val 1670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1564481" y="2448520"/>
            <a:ext cx="469478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ArgoCD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2119685" y="2436305"/>
            <a:ext cx="691604" cy="228029"/>
          </a:xfrm>
          <a:prstGeom prst="roundRect">
            <a:avLst>
              <a:gd name="adj" fmla="val 1670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2044883" y="2448520"/>
            <a:ext cx="841207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Argo Rollouts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2897014" y="2436305"/>
            <a:ext cx="475171" cy="228029"/>
          </a:xfrm>
          <a:prstGeom prst="roundRect">
            <a:avLst>
              <a:gd name="adj" fmla="val 1670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2895027" y="2448520"/>
            <a:ext cx="479146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Flux CD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3457910" y="2436305"/>
            <a:ext cx="967085" cy="228029"/>
          </a:xfrm>
          <a:prstGeom prst="roundRect">
            <a:avLst>
              <a:gd name="adj" fmla="val 1670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3457910" y="2448520"/>
            <a:ext cx="967085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Argo Image Updater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517922" y="2918222"/>
            <a:ext cx="8108156" cy="550069"/>
          </a:xfrm>
          <a:prstGeom prst="roundRect">
            <a:avLst>
              <a:gd name="adj" fmla="val 13853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521494" y="2921794"/>
            <a:ext cx="928688" cy="542925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0"/>
          <p:cNvSpPr/>
          <p:nvPr/>
        </p:nvSpPr>
        <p:spPr>
          <a:xfrm>
            <a:off x="1446609" y="2921794"/>
            <a:ext cx="0" cy="542925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21494" y="2921794"/>
            <a:ext cx="928688" cy="542925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CLUSTER MGMT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1564481" y="3079242"/>
            <a:ext cx="599740" cy="228029"/>
          </a:xfrm>
          <a:prstGeom prst="roundRect">
            <a:avLst>
              <a:gd name="adj" fmla="val 1670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1494101" y="3091458"/>
            <a:ext cx="740501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Cluster API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2249946" y="3079242"/>
            <a:ext cx="496937" cy="228029"/>
          </a:xfrm>
          <a:prstGeom prst="roundRect">
            <a:avLst>
              <a:gd name="adj" fmla="val 1670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2225274" y="3091458"/>
            <a:ext cx="546283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vCluster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2832608" y="3079242"/>
            <a:ext cx="485329" cy="228029"/>
          </a:xfrm>
          <a:prstGeom prst="roundRect">
            <a:avLst>
              <a:gd name="adj" fmla="val 1670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7"/>
          <p:cNvSpPr/>
          <p:nvPr/>
        </p:nvSpPr>
        <p:spPr>
          <a:xfrm>
            <a:off x="2832608" y="3091458"/>
            <a:ext cx="485329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Capsule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3403662" y="3079242"/>
            <a:ext cx="533102" cy="228029"/>
          </a:xfrm>
          <a:prstGeom prst="roundRect">
            <a:avLst>
              <a:gd name="adj" fmla="val 1670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9"/>
          <p:cNvSpPr/>
          <p:nvPr/>
        </p:nvSpPr>
        <p:spPr>
          <a:xfrm>
            <a:off x="3391077" y="3091458"/>
            <a:ext cx="558272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KubeVela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517922" y="3561159"/>
            <a:ext cx="8108156" cy="550069"/>
          </a:xfrm>
          <a:prstGeom prst="roundRect">
            <a:avLst>
              <a:gd name="adj" fmla="val 13853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1"/>
          <p:cNvSpPr/>
          <p:nvPr/>
        </p:nvSpPr>
        <p:spPr>
          <a:xfrm>
            <a:off x="521494" y="3564731"/>
            <a:ext cx="928688" cy="542925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Shape 42"/>
          <p:cNvSpPr/>
          <p:nvPr/>
        </p:nvSpPr>
        <p:spPr>
          <a:xfrm>
            <a:off x="1446609" y="3564731"/>
            <a:ext cx="0" cy="542925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521494" y="3564731"/>
            <a:ext cx="928688" cy="542925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IAC / CONTROL PLANE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1564481" y="3722179"/>
            <a:ext cx="604875" cy="228029"/>
          </a:xfrm>
          <a:prstGeom prst="roundRect">
            <a:avLst>
              <a:gd name="adj" fmla="val 1670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5"/>
          <p:cNvSpPr/>
          <p:nvPr/>
        </p:nvSpPr>
        <p:spPr>
          <a:xfrm>
            <a:off x="1531435" y="3734395"/>
            <a:ext cx="670966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Crossplane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2255081" y="3722179"/>
            <a:ext cx="960611" cy="228029"/>
          </a:xfrm>
          <a:prstGeom prst="roundRect">
            <a:avLst>
              <a:gd name="adj" fmla="val 1670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7"/>
          <p:cNvSpPr/>
          <p:nvPr/>
        </p:nvSpPr>
        <p:spPr>
          <a:xfrm>
            <a:off x="2255081" y="3734395"/>
            <a:ext cx="960611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Terraform Controller</a:t>
            </a:r>
            <a:endParaRPr lang="en-US" sz="800" dirty="0"/>
          </a:p>
        </p:txBody>
      </p:sp>
      <p:sp>
        <p:nvSpPr>
          <p:cNvPr id="51" name="Text 48"/>
          <p:cNvSpPr/>
          <p:nvPr/>
        </p:nvSpPr>
        <p:spPr>
          <a:xfrm>
            <a:off x="3301417" y="3722179"/>
            <a:ext cx="1046113" cy="228029"/>
          </a:xfrm>
          <a:prstGeom prst="roundRect">
            <a:avLst>
              <a:gd name="adj" fmla="val 1670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49"/>
          <p:cNvSpPr/>
          <p:nvPr/>
        </p:nvSpPr>
        <p:spPr>
          <a:xfrm>
            <a:off x="3301417" y="3734395"/>
            <a:ext cx="1046113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ACK (AWS Controllers)</a:t>
            </a:r>
            <a:endParaRPr lang="en-US" sz="800" dirty="0"/>
          </a:p>
        </p:txBody>
      </p:sp>
      <p:sp>
        <p:nvSpPr>
          <p:cNvPr id="53" name="Text 50"/>
          <p:cNvSpPr/>
          <p:nvPr/>
        </p:nvSpPr>
        <p:spPr>
          <a:xfrm>
            <a:off x="4433255" y="3722179"/>
            <a:ext cx="983159" cy="228029"/>
          </a:xfrm>
          <a:prstGeom prst="roundRect">
            <a:avLst>
              <a:gd name="adj" fmla="val 1670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1"/>
          <p:cNvSpPr/>
          <p:nvPr/>
        </p:nvSpPr>
        <p:spPr>
          <a:xfrm>
            <a:off x="4433255" y="3734395"/>
            <a:ext cx="983159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KubeVela AppRollout</a:t>
            </a:r>
            <a:endParaRPr lang="en-US" sz="800" dirty="0"/>
          </a:p>
        </p:txBody>
      </p:sp>
      <p:sp>
        <p:nvSpPr>
          <p:cNvPr id="55" name="Text 52"/>
          <p:cNvSpPr/>
          <p:nvPr/>
        </p:nvSpPr>
        <p:spPr>
          <a:xfrm>
            <a:off x="517922" y="4204097"/>
            <a:ext cx="8108156" cy="550069"/>
          </a:xfrm>
          <a:prstGeom prst="roundRect">
            <a:avLst>
              <a:gd name="adj" fmla="val 13853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3"/>
          <p:cNvSpPr/>
          <p:nvPr/>
        </p:nvSpPr>
        <p:spPr>
          <a:xfrm>
            <a:off x="521494" y="4207669"/>
            <a:ext cx="928688" cy="542925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Shape 54"/>
          <p:cNvSpPr/>
          <p:nvPr/>
        </p:nvSpPr>
        <p:spPr>
          <a:xfrm>
            <a:off x="1446609" y="4207669"/>
            <a:ext cx="0" cy="542925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521494" y="4207669"/>
            <a:ext cx="928688" cy="542925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POLICY &amp; GOVERNANCE</a:t>
            </a:r>
            <a:endParaRPr lang="en-US" sz="800" dirty="0"/>
          </a:p>
        </p:txBody>
      </p:sp>
      <p:sp>
        <p:nvSpPr>
          <p:cNvPr id="59" name="Text 56"/>
          <p:cNvSpPr/>
          <p:nvPr/>
        </p:nvSpPr>
        <p:spPr>
          <a:xfrm>
            <a:off x="1564481" y="4365117"/>
            <a:ext cx="812602" cy="228029"/>
          </a:xfrm>
          <a:prstGeom prst="roundRect">
            <a:avLst>
              <a:gd name="adj" fmla="val 1670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7"/>
          <p:cNvSpPr/>
          <p:nvPr/>
        </p:nvSpPr>
        <p:spPr>
          <a:xfrm>
            <a:off x="1564481" y="4377333"/>
            <a:ext cx="812602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OPA Gatekeeper</a:t>
            </a:r>
            <a:endParaRPr lang="en-US" sz="800" dirty="0"/>
          </a:p>
        </p:txBody>
      </p:sp>
      <p:sp>
        <p:nvSpPr>
          <p:cNvPr id="61" name="Text 58"/>
          <p:cNvSpPr/>
          <p:nvPr/>
        </p:nvSpPr>
        <p:spPr>
          <a:xfrm>
            <a:off x="2462808" y="4365117"/>
            <a:ext cx="487449" cy="228029"/>
          </a:xfrm>
          <a:prstGeom prst="roundRect">
            <a:avLst>
              <a:gd name="adj" fmla="val 1670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59"/>
          <p:cNvSpPr/>
          <p:nvPr/>
        </p:nvSpPr>
        <p:spPr>
          <a:xfrm>
            <a:off x="2462808" y="4377333"/>
            <a:ext cx="487449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Kyverno</a:t>
            </a:r>
            <a:endParaRPr lang="en-US" sz="800" dirty="0"/>
          </a:p>
        </p:txBody>
      </p:sp>
      <p:sp>
        <p:nvSpPr>
          <p:cNvPr id="63" name="Text 60"/>
          <p:cNvSpPr/>
          <p:nvPr/>
        </p:nvSpPr>
        <p:spPr>
          <a:xfrm>
            <a:off x="3035982" y="4365117"/>
            <a:ext cx="436885" cy="228029"/>
          </a:xfrm>
          <a:prstGeom prst="roundRect">
            <a:avLst>
              <a:gd name="adj" fmla="val 1670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1"/>
          <p:cNvSpPr/>
          <p:nvPr/>
        </p:nvSpPr>
        <p:spPr>
          <a:xfrm>
            <a:off x="3035982" y="4377333"/>
            <a:ext cx="436885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Cosign</a:t>
            </a:r>
            <a:endParaRPr lang="en-US" sz="800" dirty="0"/>
          </a:p>
        </p:txBody>
      </p:sp>
      <p:sp>
        <p:nvSpPr>
          <p:cNvPr id="65" name="Text 62"/>
          <p:cNvSpPr/>
          <p:nvPr/>
        </p:nvSpPr>
        <p:spPr>
          <a:xfrm>
            <a:off x="3558592" y="4365117"/>
            <a:ext cx="370805" cy="228029"/>
          </a:xfrm>
          <a:prstGeom prst="roundRect">
            <a:avLst>
              <a:gd name="adj" fmla="val 1670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3"/>
          <p:cNvSpPr/>
          <p:nvPr/>
        </p:nvSpPr>
        <p:spPr>
          <a:xfrm>
            <a:off x="3558592" y="4377333"/>
            <a:ext cx="370805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Falco</a:t>
            </a:r>
            <a:endParaRPr lang="en-US" sz="800" dirty="0"/>
          </a:p>
        </p:txBody>
      </p:sp>
      <p:sp>
        <p:nvSpPr>
          <p:cNvPr id="67" name="Shape 64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514350" y="4754166"/>
            <a:ext cx="3959535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69" name="Text 66"/>
          <p:cNvSpPr/>
          <p:nvPr/>
        </p:nvSpPr>
        <p:spPr>
          <a:xfrm>
            <a:off x="4488173" y="4750594"/>
            <a:ext cx="3509590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 / 12</a:t>
            </a:r>
            <a:endParaRPr lang="en-US" sz="800" dirty="0"/>
          </a:p>
        </p:txBody>
      </p:sp>
      <p:sp>
        <p:nvSpPr>
          <p:cNvPr id="70" name="Text 67"/>
          <p:cNvSpPr/>
          <p:nvPr/>
        </p:nvSpPr>
        <p:spPr>
          <a:xfrm>
            <a:off x="7973028" y="4750594"/>
            <a:ext cx="69564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ARCHITECTURE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342900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14350" y="685800"/>
            <a:ext cx="86296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IMPLEMENTATION ROADMAP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875109"/>
            <a:ext cx="7858125" cy="5226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41"/>
              </a:lnSpc>
              <a:buNone/>
            </a:pPr>
            <a:r>
              <a:rPr lang="en-US" sz="1688" b="1" spc="-25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phased engineering roadmap from assessment to production.</a:t>
            </a:r>
            <a:endParaRPr lang="en-US" sz="1688" dirty="0"/>
          </a:p>
        </p:txBody>
      </p:sp>
      <p:sp>
        <p:nvSpPr>
          <p:cNvPr id="6" name="Text 3"/>
          <p:cNvSpPr/>
          <p:nvPr/>
        </p:nvSpPr>
        <p:spPr>
          <a:xfrm>
            <a:off x="514350" y="1425178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Each phase carries concrete engineering deliverables, technical milestones, and exit criteria.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46497" y="1632347"/>
            <a:ext cx="1921669" cy="2564606"/>
          </a:xfrm>
          <a:prstGeom prst="roundRect">
            <a:avLst>
              <a:gd name="adj" fmla="val 4957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50081" y="1750219"/>
            <a:ext cx="1714500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01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50081" y="1925241"/>
            <a:ext cx="1714500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Technical Assessment</a:t>
            </a:r>
            <a:endParaRPr lang="en-US" sz="844" dirty="0"/>
          </a:p>
        </p:txBody>
      </p:sp>
      <p:sp>
        <p:nvSpPr>
          <p:cNvPr id="10" name="Text 7"/>
          <p:cNvSpPr/>
          <p:nvPr/>
        </p:nvSpPr>
        <p:spPr>
          <a:xfrm>
            <a:off x="650081" y="2110978"/>
            <a:ext cx="17145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 WEEKS · FIXED FEE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50081" y="2318147"/>
            <a:ext cx="1714500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650081" y="2425303"/>
            <a:ext cx="181737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8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DELIVERABLES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650081" y="2636044"/>
            <a:ext cx="1714500" cy="645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Architecture audit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Tool landscape assessment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Gap analysis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roadmap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650081" y="3889772"/>
            <a:ext cx="17145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50081" y="3886200"/>
            <a:ext cx="1714500" cy="192881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$25K–$75K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2589609" y="1632347"/>
            <a:ext cx="1921669" cy="2564606"/>
          </a:xfrm>
          <a:prstGeom prst="roundRect">
            <a:avLst>
              <a:gd name="adj" fmla="val 4957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2693194" y="1750219"/>
            <a:ext cx="1714500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02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2693194" y="1925241"/>
            <a:ext cx="1714500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Foundation Engineering</a:t>
            </a:r>
            <a:endParaRPr lang="en-US" sz="844" dirty="0"/>
          </a:p>
        </p:txBody>
      </p:sp>
      <p:sp>
        <p:nvSpPr>
          <p:cNvPr id="19" name="Text 16"/>
          <p:cNvSpPr/>
          <p:nvPr/>
        </p:nvSpPr>
        <p:spPr>
          <a:xfrm>
            <a:off x="2693194" y="2110978"/>
            <a:ext cx="17145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3-6 WEEKS · FIXED FEE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2693194" y="2318147"/>
            <a:ext cx="1714500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2693194" y="2425303"/>
            <a:ext cx="181737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8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DELIVERABLES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2693194" y="2636044"/>
            <a:ext cx="1714500" cy="645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Core platform setup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CI/CD pipeline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Observability stack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baseline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2693194" y="3889772"/>
            <a:ext cx="17145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693194" y="3886200"/>
            <a:ext cx="1714500" cy="192881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$50K–$150K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4632722" y="1632347"/>
            <a:ext cx="1921669" cy="2564606"/>
          </a:xfrm>
          <a:prstGeom prst="roundRect">
            <a:avLst>
              <a:gd name="adj" fmla="val 4957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4736306" y="1750219"/>
            <a:ext cx="1714500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03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4736306" y="1925241"/>
            <a:ext cx="1714500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Build</a:t>
            </a:r>
            <a:endParaRPr lang="en-US" sz="844" dirty="0"/>
          </a:p>
        </p:txBody>
      </p:sp>
      <p:sp>
        <p:nvSpPr>
          <p:cNvPr id="28" name="Text 25"/>
          <p:cNvSpPr/>
          <p:nvPr/>
        </p:nvSpPr>
        <p:spPr>
          <a:xfrm>
            <a:off x="4736306" y="2110978"/>
            <a:ext cx="17145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8-24 WEEKS · T&amp;M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736306" y="2318147"/>
            <a:ext cx="1714500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4736306" y="2425303"/>
            <a:ext cx="181737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8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DELIVERABLES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4736306" y="2636044"/>
            <a:ext cx="1714500" cy="645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system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Performance validation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hardening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Documentation + handover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4736306" y="3889772"/>
            <a:ext cx="17145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736306" y="3886200"/>
            <a:ext cx="1714500" cy="192881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$300K–$1M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6675834" y="1632347"/>
            <a:ext cx="1921669" cy="2564606"/>
          </a:xfrm>
          <a:prstGeom prst="roundRect">
            <a:avLst>
              <a:gd name="adj" fmla="val 4957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6779419" y="1750219"/>
            <a:ext cx="1714500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04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6779419" y="1925241"/>
            <a:ext cx="1714500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Managed Engineering</a:t>
            </a:r>
            <a:endParaRPr lang="en-US" sz="844" dirty="0"/>
          </a:p>
        </p:txBody>
      </p:sp>
      <p:sp>
        <p:nvSpPr>
          <p:cNvPr id="37" name="Text 34"/>
          <p:cNvSpPr/>
          <p:nvPr/>
        </p:nvSpPr>
        <p:spPr>
          <a:xfrm>
            <a:off x="6779419" y="2110978"/>
            <a:ext cx="17145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ONGOING · RETAINER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779419" y="2318147"/>
            <a:ext cx="1714500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6779419" y="2425303"/>
            <a:ext cx="181737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81" kern="0" dirty="0">
                <a:solidFill>
                  <a:srgbClr val="D43F0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DELIVERABLES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6779419" y="2636044"/>
            <a:ext cx="1714500" cy="645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operations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Continuous optimization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Quarterly architecture reviews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SLA-backed engineering</a:t>
            </a:r>
            <a:endParaRPr lang="en-US" sz="800" dirty="0"/>
          </a:p>
        </p:txBody>
      </p:sp>
      <p:sp>
        <p:nvSpPr>
          <p:cNvPr id="41" name="Shape 38"/>
          <p:cNvSpPr/>
          <p:nvPr/>
        </p:nvSpPr>
        <p:spPr>
          <a:xfrm>
            <a:off x="6779419" y="3889772"/>
            <a:ext cx="17145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779419" y="3886200"/>
            <a:ext cx="1714500" cy="192881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$50K–$500K / mo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14350" y="4754166"/>
            <a:ext cx="4067249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4595887" y="4750594"/>
            <a:ext cx="361730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 / 12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8220112" y="4750594"/>
            <a:ext cx="41690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ROADMAP</a:t>
            </a:r>
            <a:endParaRPr lang="en-US" sz="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342900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14350" y="685800"/>
            <a:ext cx="8629650" cy="161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BEST PRACTICES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875109"/>
            <a:ext cx="8629650" cy="283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spc="-2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Principles that separate production from prototype.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14350" y="1195127"/>
            <a:ext cx="62865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Not theoretical — these are the engineering disciplines we enforce on every engagement.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4350" y="1643063"/>
            <a:ext cx="3893344" cy="1071563"/>
          </a:xfrm>
          <a:prstGeom prst="roundRect">
            <a:avLst>
              <a:gd name="adj" fmla="val 7111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514350" y="1646634"/>
            <a:ext cx="3893344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404122" y="1643063"/>
            <a:ext cx="0" cy="107156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14350" y="2711053"/>
            <a:ext cx="3893344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28638" y="1643063"/>
            <a:ext cx="0" cy="1071563"/>
          </a:xfrm>
          <a:prstGeom prst="line">
            <a:avLst/>
          </a:prstGeom>
          <a:noFill/>
          <a:ln w="28575">
            <a:solidFill>
              <a:srgbClr val="004C9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00088" y="1778794"/>
            <a:ext cx="35433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700088" y="1985963"/>
            <a:ext cx="3653028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requirements first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00088" y="2185988"/>
            <a:ext cx="35433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Start with latency, throughput, reliability, cost, and compliance SLAs. Engineer backward from constraints, not forward from tools.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550569" y="1643063"/>
            <a:ext cx="3893344" cy="1071563"/>
          </a:xfrm>
          <a:prstGeom prst="roundRect">
            <a:avLst>
              <a:gd name="adj" fmla="val 7111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4550569" y="1646634"/>
            <a:ext cx="3893344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440341" y="1643063"/>
            <a:ext cx="0" cy="107156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550569" y="2711053"/>
            <a:ext cx="3893344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564856" y="1643063"/>
            <a:ext cx="0" cy="1071563"/>
          </a:xfrm>
          <a:prstGeom prst="line">
            <a:avLst/>
          </a:prstGeom>
          <a:noFill/>
          <a:ln w="28575">
            <a:solidFill>
              <a:srgbClr val="004C9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736306" y="1778794"/>
            <a:ext cx="35433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4736306" y="1985963"/>
            <a:ext cx="3653028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Observability is not optional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4736306" y="2185988"/>
            <a:ext cx="35433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 system ships with distributed tracing, metrics, and logging from day one. If you can't measure it, you can't operate it.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14350" y="2857500"/>
            <a:ext cx="3893344" cy="1071563"/>
          </a:xfrm>
          <a:prstGeom prst="roundRect">
            <a:avLst>
              <a:gd name="adj" fmla="val 7111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1"/>
          <p:cNvSpPr/>
          <p:nvPr/>
        </p:nvSpPr>
        <p:spPr>
          <a:xfrm>
            <a:off x="514350" y="2861072"/>
            <a:ext cx="3893344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404122" y="2857500"/>
            <a:ext cx="0" cy="107156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14350" y="3925491"/>
            <a:ext cx="3893344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28638" y="2857500"/>
            <a:ext cx="0" cy="1071563"/>
          </a:xfrm>
          <a:prstGeom prst="line">
            <a:avLst/>
          </a:prstGeom>
          <a:noFill/>
          <a:ln w="28575">
            <a:solidFill>
              <a:srgbClr val="004C9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00088" y="2993231"/>
            <a:ext cx="35433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700088" y="3200400"/>
            <a:ext cx="3543300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in the pipeline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700088" y="3400425"/>
            <a:ext cx="35433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scanning, SBOM, and compliance checks embedded in CI/CD — not a separate audit after launch.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4550569" y="2857500"/>
            <a:ext cx="3893344" cy="1071563"/>
          </a:xfrm>
          <a:prstGeom prst="roundRect">
            <a:avLst>
              <a:gd name="adj" fmla="val 7111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29"/>
          <p:cNvSpPr/>
          <p:nvPr/>
        </p:nvSpPr>
        <p:spPr>
          <a:xfrm>
            <a:off x="4550569" y="2861072"/>
            <a:ext cx="3893344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8440341" y="2857500"/>
            <a:ext cx="0" cy="107156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550569" y="3925491"/>
            <a:ext cx="3893344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564856" y="2857500"/>
            <a:ext cx="0" cy="1071563"/>
          </a:xfrm>
          <a:prstGeom prst="line">
            <a:avLst/>
          </a:prstGeom>
          <a:noFill/>
          <a:ln w="28575">
            <a:solidFill>
              <a:srgbClr val="FF6C0E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736306" y="2993231"/>
            <a:ext cx="35433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4736306" y="3200400"/>
            <a:ext cx="3543300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 for rollback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4736306" y="3400425"/>
            <a:ext cx="35433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 deployment must be reversible. Feature flags, blue-green, canary — not big-bang deployments.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14350" y="4754166"/>
            <a:ext cx="3929174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4457812" y="4750594"/>
            <a:ext cx="3479229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 / 12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7951329" y="4750594"/>
            <a:ext cx="678321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BEST PRACTICES</a:t>
            </a:r>
            <a:endParaRPr lang="en-US" sz="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pic>
        <p:nvPicPr>
          <p:cNvPr id="3" name="Image 1" descr="/tmp/h2p-fit-1790857348230-4pq0y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685800"/>
            <a:ext cx="1857375" cy="30215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0" y="685800"/>
            <a:ext cx="7144" cy="3771900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1"/>
          <p:cNvSpPr/>
          <p:nvPr/>
        </p:nvSpPr>
        <p:spPr>
          <a:xfrm>
            <a:off x="742950" y="1714500"/>
            <a:ext cx="456779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36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GET IN TOUCH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742950" y="1960959"/>
            <a:ext cx="3573494" cy="3925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307"/>
              </a:lnSpc>
              <a:buNone/>
            </a:pPr>
            <a:r>
              <a:rPr lang="en-US" sz="3150" b="1" spc="-63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Let us engineer</a:t>
            </a:r>
            <a:endParaRPr lang="en-US" sz="3150" dirty="0"/>
          </a:p>
        </p:txBody>
      </p:sp>
      <p:sp>
        <p:nvSpPr>
          <p:cNvPr id="7" name="Text 3"/>
          <p:cNvSpPr/>
          <p:nvPr/>
        </p:nvSpPr>
        <p:spPr>
          <a:xfrm>
            <a:off x="742950" y="2380990"/>
            <a:ext cx="3988699" cy="45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7"/>
              </a:lnSpc>
              <a:buNone/>
            </a:pPr>
            <a:r>
              <a:rPr lang="en-US" sz="3150" b="1" spc="-63" kern="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is next.</a:t>
            </a:r>
            <a:endParaRPr lang="en-US" sz="3150" dirty="0"/>
          </a:p>
        </p:txBody>
      </p:sp>
      <p:sp>
        <p:nvSpPr>
          <p:cNvPr id="8" name="Text 4"/>
          <p:cNvSpPr/>
          <p:nvPr/>
        </p:nvSpPr>
        <p:spPr>
          <a:xfrm>
            <a:off x="742950" y="3001045"/>
            <a:ext cx="342900" cy="21431"/>
          </a:xfrm>
          <a:prstGeom prst="roundRect">
            <a:avLst>
              <a:gd name="adj" fmla="val 88890"/>
            </a:avLst>
          </a:prstGeom>
          <a:solidFill>
            <a:srgbClr val="FF6C0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742950" y="3193926"/>
            <a:ext cx="3675593" cy="19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info@kefitech.com · www.kefitech.com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742950" y="3419624"/>
            <a:ext cx="3675593" cy="19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Bengaluru, India · Hyderabad, India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7654684" y="1857375"/>
            <a:ext cx="1254911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485"/>
              </a:lnSpc>
              <a:buNone/>
            </a:pPr>
            <a:r>
              <a:rPr lang="en-US" sz="1238" spc="74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Discover.</a:t>
            </a:r>
            <a:endParaRPr lang="en-US" sz="1238" dirty="0"/>
          </a:p>
        </p:txBody>
      </p:sp>
      <p:sp>
        <p:nvSpPr>
          <p:cNvPr id="12" name="Text 8"/>
          <p:cNvSpPr/>
          <p:nvPr/>
        </p:nvSpPr>
        <p:spPr>
          <a:xfrm>
            <a:off x="7654684" y="2331653"/>
            <a:ext cx="1254911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485"/>
              </a:lnSpc>
              <a:buNone/>
            </a:pPr>
            <a:r>
              <a:rPr lang="en-US" sz="1238" spc="74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Engineer.</a:t>
            </a:r>
            <a:endParaRPr lang="en-US" sz="1238" dirty="0"/>
          </a:p>
        </p:txBody>
      </p:sp>
      <p:sp>
        <p:nvSpPr>
          <p:cNvPr id="13" name="Text 9"/>
          <p:cNvSpPr/>
          <p:nvPr/>
        </p:nvSpPr>
        <p:spPr>
          <a:xfrm>
            <a:off x="8072888" y="2805931"/>
            <a:ext cx="836707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485"/>
              </a:lnSpc>
              <a:buNone/>
            </a:pPr>
            <a:r>
              <a:rPr lang="en-US" sz="1238" spc="74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Scale.</a:t>
            </a:r>
            <a:endParaRPr lang="en-US" sz="1238" dirty="0"/>
          </a:p>
        </p:txBody>
      </p:sp>
      <p:sp>
        <p:nvSpPr>
          <p:cNvPr id="14" name="Shape 10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14350" y="4754166"/>
            <a:ext cx="3360800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3889437" y="4750594"/>
            <a:ext cx="291085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 / 12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6814579" y="4750594"/>
            <a:ext cx="192397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INFO@KEFITECH.COM · WWW.KEFITECH.COM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2026-10-01T12:22:28Z</dcterms:created>
  <dcterms:modified xsi:type="dcterms:W3CDTF">2026-10-01T12:22:28Z</dcterms:modified>
</cp:coreProperties>
</file>