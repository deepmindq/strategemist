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185431-01iif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42235" y="571500"/>
            <a:ext cx="38588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COMPLIANCE-AS-CODE &amp; REGULATORY AUTOMATION · 2026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70133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DEEP TECH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60959"/>
            <a:ext cx="5815013" cy="1814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Compliance-as-Code &amp;</a:t>
            </a:r>
            <a:endParaRPr lang="en-US" sz="3150" dirty="0"/>
          </a:p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Automation </a:t>
            </a:r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engineered for production.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384110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2950" y="3991124"/>
            <a:ext cx="5709285" cy="246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Controls as code — audit-ready, always.</a:t>
            </a:r>
            <a:endParaRPr lang="en-US" sz="1238" dirty="0"/>
          </a:p>
        </p:txBody>
      </p:sp>
      <p:sp>
        <p:nvSpPr>
          <p:cNvPr id="9" name="Text 5"/>
          <p:cNvSpPr/>
          <p:nvPr/>
        </p:nvSpPr>
        <p:spPr>
          <a:xfrm>
            <a:off x="6165056" y="1714500"/>
            <a:ext cx="7144" cy="2428875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400800" y="2257202"/>
            <a:ext cx="274320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400800" y="2403649"/>
            <a:ext cx="2160270" cy="14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Compliance &amp; Auditing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400800" y="2790751"/>
            <a:ext cx="274320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400800" y="2937197"/>
            <a:ext cx="2100263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 as Code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400800" y="3324299"/>
            <a:ext cx="274320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400800" y="3470746"/>
            <a:ext cx="2160270" cy="14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GRC Automation &amp; Trust Centers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4350" y="4754166"/>
            <a:ext cx="558496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6113599" y="4750594"/>
            <a:ext cx="251605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COMPLIANCE-AS-CODE &amp; REGULATORY AUTOMATION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714375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CHALLENGE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917972"/>
            <a:ext cx="8629650" cy="56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most compliance-as-code &amp; regulatory automation programs fail.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515145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gap between prototype and production is where engineering discipline matters most.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868760"/>
            <a:ext cx="399335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2015207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COMMON FAILURE POINTS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2228" y="2236663"/>
            <a:ext cx="3664744" cy="579537"/>
          </a:xfrm>
          <a:prstGeom prst="roundRect">
            <a:avLst>
              <a:gd name="adj" fmla="val 1314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00100" y="235453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11" name="Text 8"/>
          <p:cNvSpPr/>
          <p:nvPr/>
        </p:nvSpPr>
        <p:spPr>
          <a:xfrm>
            <a:off x="1028700" y="2340248"/>
            <a:ext cx="3310128" cy="117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Prototype-grade architecture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28700" y="2484909"/>
            <a:ext cx="3200400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Solutions built for demos, not production load, latency, or reliability requirements.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2228" y="2880494"/>
            <a:ext cx="3664744" cy="465683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00100" y="299836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406" dirty="0"/>
          </a:p>
        </p:txBody>
      </p:sp>
      <p:sp>
        <p:nvSpPr>
          <p:cNvPr id="15" name="Text 12"/>
          <p:cNvSpPr/>
          <p:nvPr/>
        </p:nvSpPr>
        <p:spPr>
          <a:xfrm>
            <a:off x="1028700" y="2984078"/>
            <a:ext cx="3310128" cy="117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observability or evaluation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28700" y="3128739"/>
            <a:ext cx="3087551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metrics for accuracy, latency, cost, or drift — teams fly blind in production.</a:t>
            </a:r>
            <a:endParaRPr lang="en-US" sz="619" dirty="0"/>
          </a:p>
        </p:txBody>
      </p:sp>
      <p:sp>
        <p:nvSpPr>
          <p:cNvPr id="17" name="Text 14"/>
          <p:cNvSpPr/>
          <p:nvPr/>
        </p:nvSpPr>
        <p:spPr>
          <a:xfrm>
            <a:off x="682228" y="3410471"/>
            <a:ext cx="3664744" cy="465683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00100" y="352834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9" name="Text 16"/>
          <p:cNvSpPr/>
          <p:nvPr/>
        </p:nvSpPr>
        <p:spPr>
          <a:xfrm>
            <a:off x="1028700" y="3514055"/>
            <a:ext cx="2905441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as afterthought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28700" y="3658716"/>
            <a:ext cx="2767087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guardrails, no audit trails, no compliance — bolted on after launch.</a:t>
            </a:r>
            <a:endParaRPr lang="en-US" sz="619" dirty="0"/>
          </a:p>
        </p:txBody>
      </p:sp>
      <p:sp>
        <p:nvSpPr>
          <p:cNvPr id="21" name="Text 18"/>
          <p:cNvSpPr/>
          <p:nvPr/>
        </p:nvSpPr>
        <p:spPr>
          <a:xfrm>
            <a:off x="682228" y="3940448"/>
            <a:ext cx="3664744" cy="465683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800100" y="405832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406" dirty="0"/>
          </a:p>
        </p:txBody>
      </p:sp>
      <p:sp>
        <p:nvSpPr>
          <p:cNvPr id="23" name="Text 20"/>
          <p:cNvSpPr/>
          <p:nvPr/>
        </p:nvSpPr>
        <p:spPr>
          <a:xfrm>
            <a:off x="1028700" y="4044032"/>
            <a:ext cx="2768549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operational maturity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28700" y="4188693"/>
            <a:ext cx="263671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CI/CD for models, no rollback, no A/B testing, no drift detection.</a:t>
            </a:r>
            <a:endParaRPr lang="en-US" sz="619" dirty="0"/>
          </a:p>
        </p:txBody>
      </p:sp>
      <p:sp>
        <p:nvSpPr>
          <p:cNvPr id="25" name="Text 22"/>
          <p:cNvSpPr/>
          <p:nvPr/>
        </p:nvSpPr>
        <p:spPr>
          <a:xfrm>
            <a:off x="4747022" y="1868760"/>
            <a:ext cx="313610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907756" y="2015207"/>
            <a:ext cx="28146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APPROACH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907756" y="2233092"/>
            <a:ext cx="2814638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treat compliance-as-code &amp; regulatory automation as an engineering discipline, not a science experiment. Every engagement starts with production requirements — latency, throughput, reliability, cost, compliance — and engineers backward from those constraints.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907756" y="4151188"/>
            <a:ext cx="199723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907756" y="4151188"/>
            <a:ext cx="199723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PRODUCTION-FIRST · ENGINEERING-GRADE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4350" y="4754166"/>
            <a:ext cx="402695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555592" y="4750594"/>
            <a:ext cx="357712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124125" y="4750594"/>
            <a:ext cx="52840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CHALLENGE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714375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917972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capability areas. One engineering system.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252277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capability area is a deep technical domain — not a generic service line.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05893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175234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4201106" y="1782700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678656" y="2023802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Compliance &amp; Auditing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678656" y="2255193"/>
            <a:ext cx="3671888" cy="26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continuous compliance &amp; auditing with real platforms and tools.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32722" y="1605893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93456" y="175234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14" name="Text 11"/>
          <p:cNvSpPr/>
          <p:nvPr/>
        </p:nvSpPr>
        <p:spPr>
          <a:xfrm>
            <a:off x="8315906" y="1782700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15" name="Text 12"/>
          <p:cNvSpPr/>
          <p:nvPr/>
        </p:nvSpPr>
        <p:spPr>
          <a:xfrm>
            <a:off x="4793456" y="2023802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 as Code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4793456" y="2255193"/>
            <a:ext cx="3671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policy as code with real platforms and tools.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517922" y="2791755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78656" y="293820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969" dirty="0"/>
          </a:p>
        </p:txBody>
      </p:sp>
      <p:sp>
        <p:nvSpPr>
          <p:cNvPr id="19" name="Text 16"/>
          <p:cNvSpPr/>
          <p:nvPr/>
        </p:nvSpPr>
        <p:spPr>
          <a:xfrm>
            <a:off x="4201106" y="2968563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20" name="Text 17"/>
          <p:cNvSpPr/>
          <p:nvPr/>
        </p:nvSpPr>
        <p:spPr>
          <a:xfrm>
            <a:off x="678656" y="3209665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GRC Automation &amp; Trust Centers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678656" y="3441055"/>
            <a:ext cx="3671888" cy="26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grc automation &amp; trust centers with real platforms and tools.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32722" y="2791755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93456" y="293820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24" name="Text 21"/>
          <p:cNvSpPr/>
          <p:nvPr/>
        </p:nvSpPr>
        <p:spPr>
          <a:xfrm>
            <a:off x="8315906" y="2968563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25" name="Text 22"/>
          <p:cNvSpPr/>
          <p:nvPr/>
        </p:nvSpPr>
        <p:spPr>
          <a:xfrm>
            <a:off x="4793456" y="3209665"/>
            <a:ext cx="3671888" cy="392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Posture Management (CSPM/CWPP)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4793456" y="3629583"/>
            <a:ext cx="3671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security posture management (cspm/cwpp) with real platforms and tools.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714375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917972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Compliance &amp; Auditing.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252277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77318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738052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955936"/>
            <a:ext cx="3643313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continuous compliance &amp; auditing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0084" y="4123493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4131208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747022" y="1577318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93469" y="1709477"/>
            <a:ext cx="2843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97041" y="1916646"/>
            <a:ext cx="2836069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986338" y="1984511"/>
            <a:ext cx="3200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257800" y="19916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486400" y="1984511"/>
            <a:ext cx="22671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Audit Manager Assessment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486400" y="2113099"/>
            <a:ext cx="2157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Audit Manager — assessment reports against NIST 800-53 / PCI DSS / SOC 2 / HIPAA / ISO 27001.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97041" y="2438140"/>
            <a:ext cx="2836069" cy="564356"/>
          </a:xfrm>
          <a:prstGeom prst="roundRect">
            <a:avLst>
              <a:gd name="adj" fmla="val 1350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986338" y="2506005"/>
            <a:ext cx="3200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257800" y="251314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486400" y="2506005"/>
            <a:ext cx="21574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Config Rules Engine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486400" y="2634593"/>
            <a:ext cx="21574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Config — Config Rules (managed / custom via Lambda), conformance packs, configuration timeline, remediation via SSM.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97041" y="3059646"/>
            <a:ext cx="2836069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986338" y="3127511"/>
            <a:ext cx="3200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257800" y="31346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486400" y="3127511"/>
            <a:ext cx="21574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Policy Native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486400" y="3256099"/>
            <a:ext cx="2157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Policy — policy definitions (aliases), initiatives, compliance dashboard, guest config (DSC / Chef).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97041" y="3581140"/>
            <a:ext cx="2836069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86338" y="3649005"/>
            <a:ext cx="3200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257800" y="365614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486400" y="3649005"/>
            <a:ext cx="21574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GCP Cloud Asset Inventory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486400" y="3777593"/>
            <a:ext cx="2157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GCP Cloud Asset Inventory + Org Policy — real-time asset feed, policy analyzer, Org Policy constraints.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97041" y="4102633"/>
            <a:ext cx="2836069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986338" y="4170499"/>
            <a:ext cx="3200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257800" y="417764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486400" y="4170499"/>
            <a:ext cx="21574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Chef InSpec Profiles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486400" y="4299086"/>
            <a:ext cx="2157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Chef InSpec — YAML / Ruby compliance profiles (DISA STIG, CIS Benchmarks), cloud + OS auditing.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46315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991794" y="4750594"/>
            <a:ext cx="301321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019292" y="4750594"/>
            <a:ext cx="170697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COMPLIANCE &amp; AUDITING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714375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917972"/>
            <a:ext cx="8521065" cy="283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 as Code.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252277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77318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738052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955936"/>
            <a:ext cx="3643313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policy as code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0084" y="4123493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4131208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747022" y="1577318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93469" y="1709477"/>
            <a:ext cx="2843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97041" y="1916646"/>
            <a:ext cx="2836069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986338" y="1984511"/>
            <a:ext cx="3200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257800" y="19916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486400" y="1984511"/>
            <a:ext cx="21574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OPA Rego Policy Engine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486400" y="2113099"/>
            <a:ext cx="2157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Policy Agent + Rego — Gatekeeper admission, Terraform Sentinel, Conftest policy tests.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97041" y="2438140"/>
            <a:ext cx="2836069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986338" y="2506005"/>
            <a:ext cx="3200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257800" y="251314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486400" y="2506005"/>
            <a:ext cx="22671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HashiCorp Sentinel Embedded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486400" y="2634593"/>
            <a:ext cx="2157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Sentinel — Terraform Cloud / Enterprise policy-as-code, mandated / advisory enforcement levels.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97041" y="2959633"/>
            <a:ext cx="2836069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986338" y="3027499"/>
            <a:ext cx="3200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257800" y="303464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486400" y="3027499"/>
            <a:ext cx="21574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Kyverno K8s Policy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486400" y="3156086"/>
            <a:ext cx="2157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Kyverno — ClusterPolicy, mutate / validate / generate rules, image verification via Cosign.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97041" y="3481127"/>
            <a:ext cx="2836069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86338" y="3548993"/>
            <a:ext cx="3200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257800" y="355613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486400" y="3548993"/>
            <a:ext cx="21574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Conftest Unit Testing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486400" y="3677580"/>
            <a:ext cx="2157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Conftest (OPA) — Rego unit tests, Kustomize / Helm / YAML policy validation in CI.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97041" y="4002621"/>
            <a:ext cx="2836069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986338" y="4070486"/>
            <a:ext cx="3200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257800" y="407763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486400" y="4070486"/>
            <a:ext cx="21574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Checkov IaC Scanning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486400" y="4199074"/>
            <a:ext cx="2157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Bridgecrew Checkov — Terraform / CloudFormation / K8s / ARM / Serverless scanning, policy bypass detection.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9290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457700" y="4750594"/>
            <a:ext cx="347922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917434" y="4750594"/>
            <a:ext cx="7459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 AS CODE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714375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917972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GRC Automation &amp; Trust Centers.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252277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77318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738052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955936"/>
            <a:ext cx="3643313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grc automation &amp; trust centers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0084" y="4123493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4131208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747022" y="1577318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93469" y="1709477"/>
            <a:ext cx="2843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97041" y="1916646"/>
            <a:ext cx="2836069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986338" y="1984511"/>
            <a:ext cx="3200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257800" y="19916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486400" y="1984511"/>
            <a:ext cx="22671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Drata Continuous Compliance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486400" y="2113099"/>
            <a:ext cx="2157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Drata — SOC 2 / ISO 27001 / HIPAA / GDPR automation, evidence collection, control monitoring, access reviews.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97041" y="2438140"/>
            <a:ext cx="2836069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986338" y="2506005"/>
            <a:ext cx="3200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257800" y="251314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486400" y="2506005"/>
            <a:ext cx="22671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Vanta Compliance Automation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486400" y="2634593"/>
            <a:ext cx="2157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Vanta — continuous monitoring of cloud + SaaS (GCP / AWS / Azure / GitHub / Google Workspace), trust reports.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97041" y="2959633"/>
            <a:ext cx="2836069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986338" y="3027499"/>
            <a:ext cx="3200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257800" y="303464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486400" y="3027499"/>
            <a:ext cx="22671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Sprinto Compliance Platform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486400" y="3156086"/>
            <a:ext cx="2157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Sprinto — automated controls, risk management, audit log, vendor management for SOC 2 / ISO 27001 / PCI.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97041" y="3481127"/>
            <a:ext cx="2836069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86338" y="3548993"/>
            <a:ext cx="3200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257800" y="355613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486400" y="3548993"/>
            <a:ext cx="22671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Secureframe Compliance Automation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486400" y="3677580"/>
            <a:ext cx="2157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Secureframe — automated evidence collection, ISO 27001 / SOC 2 / HIPAA / PCI / GDPR.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97041" y="4002621"/>
            <a:ext cx="2836069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986338" y="4070486"/>
            <a:ext cx="3200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257800" y="407763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486400" y="4070486"/>
            <a:ext cx="21574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Tugboat Logic Audit Prep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486400" y="4199074"/>
            <a:ext cx="2157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Tugboat Logic — audit prep automation, smart questionnaire, ISO / SOC / NIST / GDPR frameworks.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51003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38674" y="4750594"/>
            <a:ext cx="306020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113166" y="4750594"/>
            <a:ext cx="160747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GRC AUTOMATION &amp; TRUST CENTERS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714375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917972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Posture Management (CSPM/CWPP).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252277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77318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738052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955936"/>
            <a:ext cx="3643313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security posture management (cspm/cwpp)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0084" y="4123493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4131208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747022" y="1577318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93469" y="1709477"/>
            <a:ext cx="2843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97041" y="1916646"/>
            <a:ext cx="2836069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986338" y="1984511"/>
            <a:ext cx="3200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257800" y="19916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486400" y="1984511"/>
            <a:ext cx="21574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Wiz Cloud Security Graph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486400" y="2113099"/>
            <a:ext cx="2157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Wiz — graph-based CSPM, vulnerability prioritization, toxic combinations, agentless CWPP.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97041" y="2438140"/>
            <a:ext cx="2836069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986338" y="2506005"/>
            <a:ext cx="3200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257800" y="251314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486400" y="2506005"/>
            <a:ext cx="22671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Orca Security SideScanning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486400" y="2634593"/>
            <a:ext cx="2157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Orca Security — agentless side-scanning of EBS / Azure Blob / GCS, CSPM + CWPP + CIEM + DSPM.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97041" y="2959633"/>
            <a:ext cx="2836069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986338" y="3027499"/>
            <a:ext cx="3200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257800" y="303464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486400" y="3027499"/>
            <a:ext cx="21574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Lacework Polygraph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486400" y="3156086"/>
            <a:ext cx="2157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Lacework Polygraph Data Platform — runtime anomaly detection, behavioral CSPM, polygraph relationships.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97041" y="3481127"/>
            <a:ext cx="2836069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86338" y="3548993"/>
            <a:ext cx="3200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257800" y="355613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486400" y="3548993"/>
            <a:ext cx="22671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Palo Alto Prisma Cloud Code-to-Cloud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486400" y="3677580"/>
            <a:ext cx="2157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Palo Alto Prisma Cloud — code (Bridgecrew) → runtime, CNAPP (CSPM + CWPP + CIEM + DSPM).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97041" y="4002621"/>
            <a:ext cx="2836069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986338" y="4070486"/>
            <a:ext cx="3200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257800" y="407763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486400" y="4070486"/>
            <a:ext cx="21574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Prowler Open Source CSPM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486400" y="4199074"/>
            <a:ext cx="2157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Prowler — AWS / Azure / GCP security checks (CIS / ISO / NIST / PCI / HIPAA), CloudKit / CLI mode.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27864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807284" y="4750594"/>
            <a:ext cx="282870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650273" y="4750594"/>
            <a:ext cx="20891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POSTURE MANAGEMENT (CSPM/CWPP)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714375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APPLICATIONS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917972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this creates engineering value.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252277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specific engineering scenarios where compliance-as-code &amp; regulatory automation delivers measurable production impact.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05893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175234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4285245" y="1782700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8656" y="2023802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Deployment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678656" y="2255193"/>
            <a:ext cx="3671888" cy="26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prototype to production-grade deployment with real reliability, latency, and cost SLAs.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32722" y="1605893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93456" y="175234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969" dirty="0"/>
          </a:p>
        </p:txBody>
      </p:sp>
      <p:sp>
        <p:nvSpPr>
          <p:cNvPr id="14" name="Text 11"/>
          <p:cNvSpPr/>
          <p:nvPr/>
        </p:nvSpPr>
        <p:spPr>
          <a:xfrm>
            <a:off x="8315906" y="1782700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3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31" dirty="0"/>
          </a:p>
        </p:txBody>
      </p:sp>
      <p:sp>
        <p:nvSpPr>
          <p:cNvPr id="15" name="Text 12"/>
          <p:cNvSpPr/>
          <p:nvPr/>
        </p:nvSpPr>
        <p:spPr>
          <a:xfrm>
            <a:off x="4793456" y="2023802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&amp; Operations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4793456" y="2255193"/>
            <a:ext cx="3671888" cy="26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monitoring, evaluation, drift detection, and operational runbooks for production systems.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7922" y="2791755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78656" y="293820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9" name="Text 16"/>
          <p:cNvSpPr/>
          <p:nvPr/>
        </p:nvSpPr>
        <p:spPr>
          <a:xfrm>
            <a:off x="4134542" y="2968563"/>
            <a:ext cx="2363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3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31" dirty="0"/>
          </a:p>
        </p:txBody>
      </p:sp>
      <p:sp>
        <p:nvSpPr>
          <p:cNvPr id="20" name="Text 17"/>
          <p:cNvSpPr/>
          <p:nvPr/>
        </p:nvSpPr>
        <p:spPr>
          <a:xfrm>
            <a:off x="678656" y="3209665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&amp; Compliance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678656" y="3441055"/>
            <a:ext cx="3671888" cy="26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engineering, compliance automation, and audit-ready evidence collection built into the pipeline.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32722" y="2791755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93456" y="293820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969" dirty="0"/>
          </a:p>
        </p:txBody>
      </p:sp>
      <p:sp>
        <p:nvSpPr>
          <p:cNvPr id="24" name="Text 21"/>
          <p:cNvSpPr/>
          <p:nvPr/>
        </p:nvSpPr>
        <p:spPr>
          <a:xfrm>
            <a:off x="8315906" y="2968563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3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31" dirty="0"/>
          </a:p>
        </p:txBody>
      </p:sp>
      <p:sp>
        <p:nvSpPr>
          <p:cNvPr id="25" name="Text 22"/>
          <p:cNvSpPr/>
          <p:nvPr/>
        </p:nvSpPr>
        <p:spPr>
          <a:xfrm>
            <a:off x="4793456" y="3209665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 &amp; Optimization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4793456" y="3441055"/>
            <a:ext cx="3671888" cy="26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Scaling from single-tenant to multi-tenant, optimizing cost, latency, and resource utilization.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71513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60822"/>
            <a:ext cx="8629650" cy="50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production reference architecture for compliance-as-code &amp; regulatory automation.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397943"/>
            <a:ext cx="7715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platform and tool names — not generic architecture diagrams.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97980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21494" y="1701552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446609" y="1701552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494" y="1701552"/>
            <a:ext cx="928688" cy="542925"/>
          </a:xfrm>
          <a:prstGeom prst="rect">
            <a:avLst/>
          </a:prstGeom>
          <a:noFill/>
          <a:ln/>
        </p:spPr>
        <p:txBody>
          <a:bodyPr wrap="none" lIns="100013" tIns="0" rIns="100013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1 · AUDIT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564481" y="1845913"/>
            <a:ext cx="1033946" cy="254203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564481" y="1858714"/>
            <a:ext cx="103394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Audit Manager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669865" y="1845913"/>
            <a:ext cx="681224" cy="254203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669865" y="1858714"/>
            <a:ext cx="68122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Config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422526" y="1845913"/>
            <a:ext cx="703659" cy="254203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384923" y="1858714"/>
            <a:ext cx="77886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Policy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197623" y="1845913"/>
            <a:ext cx="698413" cy="254203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182573" y="1858714"/>
            <a:ext cx="7285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Chef InSpec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7922" y="2326630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1494" y="2330202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1446609" y="2330202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1494" y="2330202"/>
            <a:ext cx="928688" cy="542925"/>
          </a:xfrm>
          <a:prstGeom prst="rect">
            <a:avLst/>
          </a:prstGeom>
          <a:noFill/>
          <a:ln/>
        </p:spPr>
        <p:txBody>
          <a:bodyPr wrap="none" lIns="100013" tIns="0" rIns="100013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2 · POLICY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564481" y="2474563"/>
            <a:ext cx="600633" cy="254203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564481" y="2487364"/>
            <a:ext cx="60063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OPA Rego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236552" y="2474563"/>
            <a:ext cx="1004590" cy="254203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236552" y="2487364"/>
            <a:ext cx="10045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HashiCorp Sentinel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312579" y="2474563"/>
            <a:ext cx="530535" cy="254203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312579" y="2487364"/>
            <a:ext cx="53053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Kyverno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914552" y="2474563"/>
            <a:ext cx="545716" cy="254203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914268" y="2487364"/>
            <a:ext cx="5462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Conftest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7922" y="2955280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1494" y="2958852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1446609" y="2958852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21494" y="2958852"/>
            <a:ext cx="928688" cy="542925"/>
          </a:xfrm>
          <a:prstGeom prst="rect">
            <a:avLst/>
          </a:prstGeom>
          <a:noFill/>
          <a:ln/>
        </p:spPr>
        <p:txBody>
          <a:bodyPr wrap="none" lIns="100013" tIns="0" rIns="100013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3 · GRC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564481" y="3103213"/>
            <a:ext cx="425723" cy="254203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1564481" y="3116014"/>
            <a:ext cx="42572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Drata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061642" y="3103213"/>
            <a:ext cx="430746" cy="254203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2061642" y="3116014"/>
            <a:ext cx="43074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Vanta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2563825" y="3103213"/>
            <a:ext cx="494035" cy="254203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2563825" y="3116014"/>
            <a:ext cx="49403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Sprinto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129297" y="3103213"/>
            <a:ext cx="734690" cy="254203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3129297" y="3116014"/>
            <a:ext cx="7346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Secureframe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17922" y="3583930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21494" y="3587502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2"/>
          <p:cNvSpPr/>
          <p:nvPr/>
        </p:nvSpPr>
        <p:spPr>
          <a:xfrm>
            <a:off x="1446609" y="3587502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21494" y="3587502"/>
            <a:ext cx="928688" cy="542925"/>
          </a:xfrm>
          <a:prstGeom prst="rect">
            <a:avLst/>
          </a:prstGeom>
          <a:noFill/>
          <a:ln/>
        </p:spPr>
        <p:txBody>
          <a:bodyPr wrap="none" lIns="100013" tIns="0" rIns="100013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4 · CSPM / CNAPP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564481" y="3731863"/>
            <a:ext cx="337431" cy="254203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1564481" y="3744664"/>
            <a:ext cx="3374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Wiz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1973349" y="3731863"/>
            <a:ext cx="765609" cy="254203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1935550" y="3744664"/>
            <a:ext cx="841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Orca Security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2810396" y="3731863"/>
            <a:ext cx="593378" cy="254203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2810396" y="3744664"/>
            <a:ext cx="5933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Lacework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3475211" y="3731863"/>
            <a:ext cx="747861" cy="254203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3459709" y="3744664"/>
            <a:ext cx="77886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Prisma Cloud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517922" y="4212580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521494" y="4216152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4"/>
          <p:cNvSpPr/>
          <p:nvPr/>
        </p:nvSpPr>
        <p:spPr>
          <a:xfrm>
            <a:off x="1446609" y="4216152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21494" y="4216152"/>
            <a:ext cx="928688" cy="542925"/>
          </a:xfrm>
          <a:prstGeom prst="rect">
            <a:avLst/>
          </a:prstGeom>
          <a:noFill/>
          <a:ln/>
        </p:spPr>
        <p:txBody>
          <a:bodyPr wrap="none" lIns="100013" tIns="0" rIns="100013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5 · IAC SCAN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1564481" y="4360513"/>
            <a:ext cx="549622" cy="254203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1564481" y="4373314"/>
            <a:ext cx="54962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Checkov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2185541" y="4360513"/>
            <a:ext cx="394134" cy="254203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2185541" y="4373314"/>
            <a:ext cx="3941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tfsec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2651113" y="4360513"/>
            <a:ext cx="559780" cy="254203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2651113" y="4373314"/>
            <a:ext cx="5597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Snyk IaC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3282330" y="4360513"/>
            <a:ext cx="381521" cy="254203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3282330" y="4373314"/>
            <a:ext cx="3815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KICS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700088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IMPLEMENTATION ROADMAP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89397"/>
            <a:ext cx="8629650" cy="26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phased engineering roadmap from assessment to production.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193006"/>
            <a:ext cx="7715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phase carries concrete engineering deliverables, technical milestones, and exit criteria.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03759"/>
            <a:ext cx="1946672" cy="2564606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35794" y="1635919"/>
            <a:ext cx="171092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35794" y="1810941"/>
            <a:ext cx="171092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Assessment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35794" y="2005161"/>
            <a:ext cx="17109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35794" y="2212330"/>
            <a:ext cx="171092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35794" y="2333774"/>
            <a:ext cx="1813584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35794" y="2487364"/>
            <a:ext cx="171092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audit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landscape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Gap analysis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roadmap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35794" y="3721894"/>
            <a:ext cx="171092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5794" y="3718322"/>
            <a:ext cx="1710928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571750" y="1503759"/>
            <a:ext cx="1946672" cy="2564606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689622" y="1635919"/>
            <a:ext cx="171092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689622" y="1810941"/>
            <a:ext cx="171092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 Engineering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689622" y="2005161"/>
            <a:ext cx="17109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3–6 WEEKS · FIXED FEE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689622" y="2212330"/>
            <a:ext cx="171092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689622" y="2333774"/>
            <a:ext cx="1813584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689622" y="2487364"/>
            <a:ext cx="171092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platform setup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pipeline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stack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baseline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689622" y="3721894"/>
            <a:ext cx="171092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689622" y="3718322"/>
            <a:ext cx="1710928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625578" y="1503759"/>
            <a:ext cx="1946672" cy="2564606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43450" y="1635919"/>
            <a:ext cx="171092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43450" y="1810941"/>
            <a:ext cx="171092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Build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743450" y="2005161"/>
            <a:ext cx="17109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8–24 WEEKS · T&amp;M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43450" y="2212330"/>
            <a:ext cx="171092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43450" y="2333774"/>
            <a:ext cx="1813584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743450" y="2487364"/>
            <a:ext cx="171092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validation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hardening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 + handover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743450" y="3721894"/>
            <a:ext cx="171092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43450" y="3718322"/>
            <a:ext cx="1710928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679406" y="1503759"/>
            <a:ext cx="1946672" cy="2564606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797278" y="1635919"/>
            <a:ext cx="171092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797278" y="1810941"/>
            <a:ext cx="171092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Engineering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797278" y="2005161"/>
            <a:ext cx="17109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797278" y="2212330"/>
            <a:ext cx="171092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797278" y="2333774"/>
            <a:ext cx="1813584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797278" y="2487364"/>
            <a:ext cx="171092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operations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architecture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engineering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797278" y="3721894"/>
            <a:ext cx="171092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797278" y="3718322"/>
            <a:ext cx="1710928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4350" y="4754166"/>
            <a:ext cx="406724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595887" y="4750594"/>
            <a:ext cx="36173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220112" y="4750594"/>
            <a:ext cx="4169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700088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BEST PRACTICES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89397"/>
            <a:ext cx="8629650" cy="26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Principles that separate production from prototype.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193006"/>
            <a:ext cx="7715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theoretical — these are the engineering disciplines we enforce on every engagement.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4350" y="1514475"/>
            <a:ext cx="3993356" cy="1250156"/>
          </a:xfrm>
          <a:prstGeom prst="roundRect">
            <a:avLst>
              <a:gd name="adj" fmla="val 609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14350" y="1518047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04134" y="1514475"/>
            <a:ext cx="0" cy="1250156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4350" y="2761059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8638" y="1514475"/>
            <a:ext cx="0" cy="1250156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4375" y="1678781"/>
            <a:ext cx="3614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14375" y="1900238"/>
            <a:ext cx="3724466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requirements first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14375" y="2114550"/>
            <a:ext cx="3614738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with latency, throughput, reliability, cost, and compliance SLAs. Engineer backward from constraints, not forward from tools.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36294" y="1514475"/>
            <a:ext cx="3993356" cy="1250156"/>
          </a:xfrm>
          <a:prstGeom prst="roundRect">
            <a:avLst>
              <a:gd name="adj" fmla="val 609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36294" y="1518047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26078" y="1514475"/>
            <a:ext cx="0" cy="1250156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36294" y="2761059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50581" y="1514475"/>
            <a:ext cx="0" cy="1250156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36319" y="1678781"/>
            <a:ext cx="3614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36319" y="1900238"/>
            <a:ext cx="3724465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is not optional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36319" y="2114550"/>
            <a:ext cx="3614738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system ships with distributed tracing, metrics, and logging from day one. If you can't measure it, you can't operate it.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14350" y="2893219"/>
            <a:ext cx="3993356" cy="1250156"/>
          </a:xfrm>
          <a:prstGeom prst="roundRect">
            <a:avLst>
              <a:gd name="adj" fmla="val 609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514350" y="2896791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04134" y="2893219"/>
            <a:ext cx="0" cy="1250156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4350" y="4139803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8638" y="2893219"/>
            <a:ext cx="0" cy="1250156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4375" y="3057525"/>
            <a:ext cx="3614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14375" y="3278981"/>
            <a:ext cx="361473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in the pipeline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14375" y="3493294"/>
            <a:ext cx="3614738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scanning, SBOM, and compliance checks embedded in CI/CD — not a separate audit after launch.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636294" y="2893219"/>
            <a:ext cx="3993356" cy="1250156"/>
          </a:xfrm>
          <a:prstGeom prst="roundRect">
            <a:avLst>
              <a:gd name="adj" fmla="val 609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4636294" y="2896791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26078" y="2893219"/>
            <a:ext cx="0" cy="1250156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36294" y="4139803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50581" y="2893219"/>
            <a:ext cx="0" cy="1250156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36319" y="3057525"/>
            <a:ext cx="3614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836319" y="3278981"/>
            <a:ext cx="361473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 for rollback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836319" y="3493294"/>
            <a:ext cx="3614738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deployment must be reversible. Feature flags, blue-green, canary — not big-bang deployments.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92917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457812" y="4750594"/>
            <a:ext cx="347922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951329" y="4750594"/>
            <a:ext cx="67832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PRACTICES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192243-wwjqy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" y="1714500"/>
            <a:ext cx="45151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960959"/>
            <a:ext cx="3743660" cy="90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742950" y="3058195"/>
            <a:ext cx="3675593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742950" y="3283893"/>
            <a:ext cx="3675593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736556" y="1714500"/>
            <a:ext cx="7144" cy="22860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431607" y="2289572"/>
            <a:ext cx="19694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431607" y="2782491"/>
            <a:ext cx="19694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431607" y="3275409"/>
            <a:ext cx="19694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2026-10-01T12:19:52Z</dcterms:created>
  <dcterms:modified xsi:type="dcterms:W3CDTF">2026-10-01T12:19:52Z</dcterms:modified>
</cp:coreProperties>
</file>