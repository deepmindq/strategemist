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2863" cy="5143500"/>
          </a:xfrm>
          <a:prstGeom prst="rect">
            <a:avLst/>
          </a:prstGeom>
        </p:spPr>
      </p:pic>
      <p:pic>
        <p:nvPicPr>
          <p:cNvPr id="3" name="Image 1" descr="/tmp/h2p-fit-1790857375604-keccxi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457200"/>
            <a:ext cx="1857375" cy="30215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607621" y="571500"/>
            <a:ext cx="33025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01" kern="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KEFI TECH · OBSERVABILITY ENGINEERING &amp; SRE · 2026</a:t>
            </a:r>
            <a:endParaRPr lang="en-US" sz="800" dirty="0"/>
          </a:p>
        </p:txBody>
      </p:sp>
      <p:sp>
        <p:nvSpPr>
          <p:cNvPr id="5" name="Text 1"/>
          <p:cNvSpPr/>
          <p:nvPr/>
        </p:nvSpPr>
        <p:spPr>
          <a:xfrm>
            <a:off x="6400800" y="1571625"/>
            <a:ext cx="7144" cy="2714625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2"/>
          <p:cNvSpPr/>
          <p:nvPr/>
        </p:nvSpPr>
        <p:spPr>
          <a:xfrm>
            <a:off x="742950" y="1714500"/>
            <a:ext cx="720291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 · DEEP TECH</a:t>
            </a:r>
            <a:endParaRPr lang="en-US" sz="800" dirty="0"/>
          </a:p>
        </p:txBody>
      </p:sp>
      <p:sp>
        <p:nvSpPr>
          <p:cNvPr id="7" name="Text 3"/>
          <p:cNvSpPr/>
          <p:nvPr/>
        </p:nvSpPr>
        <p:spPr>
          <a:xfrm>
            <a:off x="742950" y="1960959"/>
            <a:ext cx="5972175" cy="7210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700" b="1" spc="-54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Observability Engineering &amp; SRE</a:t>
            </a:r>
            <a:endParaRPr lang="en-US" sz="2700" dirty="0"/>
          </a:p>
        </p:txBody>
      </p:sp>
      <p:sp>
        <p:nvSpPr>
          <p:cNvPr id="8" name="Text 4"/>
          <p:cNvSpPr/>
          <p:nvPr/>
        </p:nvSpPr>
        <p:spPr>
          <a:xfrm>
            <a:off x="742950" y="2709490"/>
            <a:ext cx="5972175" cy="388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700" b="1" spc="-54" kern="0" dirty="0">
                <a:solidFill>
                  <a:srgbClr val="FF6C0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engineered for production.</a:t>
            </a:r>
            <a:endParaRPr lang="en-US" sz="2700" dirty="0"/>
          </a:p>
        </p:txBody>
      </p:sp>
      <p:sp>
        <p:nvSpPr>
          <p:cNvPr id="9" name="Text 5"/>
          <p:cNvSpPr/>
          <p:nvPr/>
        </p:nvSpPr>
        <p:spPr>
          <a:xfrm>
            <a:off x="742950" y="3226631"/>
            <a:ext cx="342900" cy="21431"/>
          </a:xfrm>
          <a:prstGeom prst="roundRect">
            <a:avLst>
              <a:gd name="adj" fmla="val 88890"/>
            </a:avLst>
          </a:prstGeom>
          <a:solidFill>
            <a:srgbClr val="FF6C0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742950" y="3376650"/>
            <a:ext cx="5863590" cy="2376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33"/>
              </a:lnSpc>
              <a:buNone/>
            </a:pPr>
            <a:r>
              <a:rPr lang="en-US" sz="1238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Signals, not noise — across every layer.</a:t>
            </a:r>
            <a:endParaRPr lang="en-US" sz="1238" dirty="0"/>
          </a:p>
        </p:txBody>
      </p:sp>
      <p:sp>
        <p:nvSpPr>
          <p:cNvPr id="11" name="Text 7"/>
          <p:cNvSpPr/>
          <p:nvPr/>
        </p:nvSpPr>
        <p:spPr>
          <a:xfrm>
            <a:off x="6766471" y="1714500"/>
            <a:ext cx="1097793" cy="3070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spc="37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pPr algn="l" indent="0" marL="0">
              <a:lnSpc>
                <a:spcPts val="866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Telemetry Pipeline</a:t>
            </a:r>
            <a:endParaRPr lang="en-US" sz="800" dirty="0"/>
          </a:p>
          <a:p>
            <a:pPr algn="l" indent="0" marL="0">
              <a:lnSpc>
                <a:spcPts val="866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 OpenTelemetry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6766471" y="2162994"/>
            <a:ext cx="1097793" cy="3070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spc="37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pPr algn="l" indent="0" marL="0">
              <a:lnSpc>
                <a:spcPts val="866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Metrics &amp;</a:t>
            </a:r>
            <a:endParaRPr lang="en-US" sz="800" dirty="0"/>
          </a:p>
          <a:p>
            <a:pPr algn="l" indent="0" marL="0">
              <a:lnSpc>
                <a:spcPts val="866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Time-Series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6766471" y="2611487"/>
            <a:ext cx="1097793" cy="3070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spc="37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pPr algn="l" indent="0" marL="0">
              <a:lnSpc>
                <a:spcPts val="866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Distributed</a:t>
            </a:r>
            <a:endParaRPr lang="en-US" sz="800" dirty="0"/>
          </a:p>
          <a:p>
            <a:pPr algn="l" indent="0" marL="0">
              <a:lnSpc>
                <a:spcPts val="866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Tracing</a:t>
            </a:r>
            <a:endParaRPr lang="en-US" sz="800" dirty="0"/>
          </a:p>
        </p:txBody>
      </p:sp>
      <p:sp>
        <p:nvSpPr>
          <p:cNvPr id="14" name="Shape 10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14350" y="4754166"/>
            <a:ext cx="6044729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6573366" y="4750594"/>
            <a:ext cx="2166012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56" kern="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/ 12 · OBSERVABILITY ENGINEERING &amp; SRE</a:t>
            </a:r>
            <a:endParaRPr lang="en-US" sz="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2863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2950" y="364331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742950" y="685800"/>
            <a:ext cx="8401050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TECHNICAL CHALLENGE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742950" y="875109"/>
            <a:ext cx="7229475" cy="5677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spc="-18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Where most observability engineering &amp; sre programs fail.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742950" y="1472282"/>
            <a:ext cx="585787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gap between prototype and production is where engineering discipline matters most.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46522" y="1689497"/>
            <a:ext cx="3993356" cy="2707481"/>
          </a:xfrm>
          <a:prstGeom prst="roundRect">
            <a:avLst>
              <a:gd name="adj" fmla="val 4222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907256" y="1835944"/>
            <a:ext cx="36718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99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COMMON FAILURE POINTS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907256" y="2039541"/>
            <a:ext cx="3671888" cy="7144"/>
          </a:xfrm>
          <a:prstGeom prst="rect">
            <a:avLst/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910828" y="2150269"/>
            <a:ext cx="3664744" cy="543818"/>
          </a:xfrm>
          <a:prstGeom prst="roundRect">
            <a:avLst>
              <a:gd name="adj" fmla="val 14012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1014413" y="2253853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FF6C0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⚠</a:t>
            </a:r>
            <a:endParaRPr lang="en-US" sz="1406" dirty="0"/>
          </a:p>
        </p:txBody>
      </p:sp>
      <p:sp>
        <p:nvSpPr>
          <p:cNvPr id="12" name="Text 9"/>
          <p:cNvSpPr/>
          <p:nvPr/>
        </p:nvSpPr>
        <p:spPr>
          <a:xfrm>
            <a:off x="1243013" y="2239566"/>
            <a:ext cx="3338703" cy="1100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Prototype-grade architecture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1243013" y="2377083"/>
            <a:ext cx="3228975" cy="227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Solutions built for demos, not production load, latency, or reliability requirements.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910828" y="2772668"/>
            <a:ext cx="3664744" cy="429964"/>
          </a:xfrm>
          <a:prstGeom prst="roundRect">
            <a:avLst>
              <a:gd name="adj" fmla="val 17722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1014413" y="2876252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FF6C0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⊗</a:t>
            </a:r>
            <a:endParaRPr lang="en-US" sz="1406" dirty="0"/>
          </a:p>
        </p:txBody>
      </p:sp>
      <p:sp>
        <p:nvSpPr>
          <p:cNvPr id="16" name="Text 13"/>
          <p:cNvSpPr/>
          <p:nvPr/>
        </p:nvSpPr>
        <p:spPr>
          <a:xfrm>
            <a:off x="1243013" y="2861965"/>
            <a:ext cx="3334555" cy="1100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 observability or evaluation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1243013" y="2999482"/>
            <a:ext cx="3087551" cy="113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619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 metrics for accuracy, latency, cost, or drift — teams fly blind in production.</a:t>
            </a:r>
            <a:endParaRPr lang="en-US" sz="619" dirty="0"/>
          </a:p>
        </p:txBody>
      </p:sp>
      <p:sp>
        <p:nvSpPr>
          <p:cNvPr id="18" name="Text 15"/>
          <p:cNvSpPr/>
          <p:nvPr/>
        </p:nvSpPr>
        <p:spPr>
          <a:xfrm>
            <a:off x="910828" y="3281214"/>
            <a:ext cx="3664744" cy="429964"/>
          </a:xfrm>
          <a:prstGeom prst="roundRect">
            <a:avLst>
              <a:gd name="adj" fmla="val 17722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1014413" y="3384798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FF6C0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406" dirty="0"/>
          </a:p>
        </p:txBody>
      </p:sp>
      <p:sp>
        <p:nvSpPr>
          <p:cNvPr id="20" name="Text 17"/>
          <p:cNvSpPr/>
          <p:nvPr/>
        </p:nvSpPr>
        <p:spPr>
          <a:xfrm>
            <a:off x="1243013" y="3370511"/>
            <a:ext cx="2905441" cy="11008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Security as afterthought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1243013" y="3508028"/>
            <a:ext cx="2767087" cy="113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619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 guardrails, no audit trails, no compliance — bolted on after launch.</a:t>
            </a:r>
            <a:endParaRPr lang="en-US" sz="619" dirty="0"/>
          </a:p>
        </p:txBody>
      </p:sp>
      <p:sp>
        <p:nvSpPr>
          <p:cNvPr id="22" name="Text 19"/>
          <p:cNvSpPr/>
          <p:nvPr/>
        </p:nvSpPr>
        <p:spPr>
          <a:xfrm>
            <a:off x="910828" y="3789759"/>
            <a:ext cx="3664744" cy="429964"/>
          </a:xfrm>
          <a:prstGeom prst="roundRect">
            <a:avLst>
              <a:gd name="adj" fmla="val 17722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1014413" y="3893344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FF6C0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↘</a:t>
            </a:r>
            <a:endParaRPr lang="en-US" sz="1406" dirty="0"/>
          </a:p>
        </p:txBody>
      </p:sp>
      <p:sp>
        <p:nvSpPr>
          <p:cNvPr id="24" name="Text 21"/>
          <p:cNvSpPr/>
          <p:nvPr/>
        </p:nvSpPr>
        <p:spPr>
          <a:xfrm>
            <a:off x="1243013" y="3879056"/>
            <a:ext cx="2768549" cy="11008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 operational maturity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1243013" y="4016573"/>
            <a:ext cx="2636713" cy="113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619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 CI/CD for models, no rollback, no A/B testing, no drift detection.</a:t>
            </a:r>
            <a:endParaRPr lang="en-US" sz="619" dirty="0"/>
          </a:p>
        </p:txBody>
      </p:sp>
      <p:sp>
        <p:nvSpPr>
          <p:cNvPr id="26" name="Text 23"/>
          <p:cNvSpPr/>
          <p:nvPr/>
        </p:nvSpPr>
        <p:spPr>
          <a:xfrm>
            <a:off x="4918472" y="1689497"/>
            <a:ext cx="3136106" cy="2707481"/>
          </a:xfrm>
          <a:prstGeom prst="roundRect">
            <a:avLst>
              <a:gd name="adj" fmla="val 4222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5079206" y="1835944"/>
            <a:ext cx="281463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99" kern="0" dirty="0">
                <a:solidFill>
                  <a:srgbClr val="D43F0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 APPROACH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5079206" y="2039541"/>
            <a:ext cx="2814638" cy="7144"/>
          </a:xfrm>
          <a:prstGeom prst="rect">
            <a:avLst/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5079206" y="2160984"/>
            <a:ext cx="2814638" cy="932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We treat observability engineering &amp; sre as an engineering discipline, not a science experiment. Every engagement starts with production requirements — latency, throughput, reliability, cost, compliance — and engineers backward from those constraints.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5079206" y="4114800"/>
            <a:ext cx="1997236" cy="128588"/>
          </a:xfrm>
          <a:prstGeom prst="roundRect">
            <a:avLst>
              <a:gd name="adj" fmla="val 29630"/>
            </a:avLst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5079206" y="4114800"/>
            <a:ext cx="1997236" cy="135731"/>
          </a:xfrm>
          <a:prstGeom prst="rect">
            <a:avLst/>
          </a:prstGeom>
          <a:noFill/>
          <a:ln/>
        </p:spPr>
        <p:txBody>
          <a:bodyPr wrap="square" lIns="57150" tIns="21431" rIns="57150" bIns="21431" rtlCol="0" anchor="t"/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600" spc="3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PRODUCTION-FIRST · ENGINEERING-GRADE</a:t>
            </a:r>
            <a:endParaRPr lang="en-US" sz="600" dirty="0"/>
          </a:p>
        </p:txBody>
      </p:sp>
      <p:sp>
        <p:nvSpPr>
          <p:cNvPr id="32" name="Shape 29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14350" y="4754166"/>
            <a:ext cx="4012667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4541304" y="4750594"/>
            <a:ext cx="3622663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56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 / 12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8139752" y="4750594"/>
            <a:ext cx="528401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56" kern="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CHALLENGE</a:t>
            </a:r>
            <a:endParaRPr lang="en-US" sz="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2863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2950" y="364331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742950" y="685800"/>
            <a:ext cx="8401050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CAPABILITIES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742950" y="875109"/>
            <a:ext cx="8401050" cy="2838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spc="-18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Four capability areas. One engineering system.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742950" y="1195127"/>
            <a:ext cx="76581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Each capability area is a deep technical domain — not a generic service line.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46522" y="1775222"/>
            <a:ext cx="3764756" cy="1064419"/>
          </a:xfrm>
          <a:prstGeom prst="roundRect">
            <a:avLst>
              <a:gd name="adj" fmla="val 10738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921544" y="1935956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969" dirty="0"/>
          </a:p>
        </p:txBody>
      </p:sp>
      <p:sp>
        <p:nvSpPr>
          <p:cNvPr id="9" name="Text 6"/>
          <p:cNvSpPr/>
          <p:nvPr/>
        </p:nvSpPr>
        <p:spPr>
          <a:xfrm>
            <a:off x="4179338" y="1960959"/>
            <a:ext cx="18134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spc="47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788" dirty="0"/>
          </a:p>
        </p:txBody>
      </p:sp>
      <p:sp>
        <p:nvSpPr>
          <p:cNvPr id="10" name="Text 7"/>
          <p:cNvSpPr/>
          <p:nvPr/>
        </p:nvSpPr>
        <p:spPr>
          <a:xfrm>
            <a:off x="921544" y="2221706"/>
            <a:ext cx="3524441" cy="203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Telemetry Pipeline &amp; OpenTelemetry</a:t>
            </a:r>
            <a:endParaRPr lang="en-US" sz="1238" dirty="0"/>
          </a:p>
        </p:txBody>
      </p:sp>
      <p:sp>
        <p:nvSpPr>
          <p:cNvPr id="11" name="Text 8"/>
          <p:cNvSpPr/>
          <p:nvPr/>
        </p:nvSpPr>
        <p:spPr>
          <a:xfrm>
            <a:off x="921544" y="2467384"/>
            <a:ext cx="3414713" cy="211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Deep technical engineering in telemetry pipeline &amp; opentelemetry with real platforms and tools.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4632722" y="1775222"/>
            <a:ext cx="3764756" cy="1064419"/>
          </a:xfrm>
          <a:prstGeom prst="roundRect">
            <a:avLst>
              <a:gd name="adj" fmla="val 10738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4807744" y="1935956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⌇</a:t>
            </a:r>
            <a:endParaRPr lang="en-US" sz="1969" dirty="0"/>
          </a:p>
        </p:txBody>
      </p:sp>
      <p:sp>
        <p:nvSpPr>
          <p:cNvPr id="14" name="Text 11"/>
          <p:cNvSpPr/>
          <p:nvPr/>
        </p:nvSpPr>
        <p:spPr>
          <a:xfrm>
            <a:off x="8065538" y="1960959"/>
            <a:ext cx="18134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spc="47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788" dirty="0"/>
          </a:p>
        </p:txBody>
      </p:sp>
      <p:sp>
        <p:nvSpPr>
          <p:cNvPr id="15" name="Text 12"/>
          <p:cNvSpPr/>
          <p:nvPr/>
        </p:nvSpPr>
        <p:spPr>
          <a:xfrm>
            <a:off x="4807744" y="2221706"/>
            <a:ext cx="3414712" cy="203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Metrics &amp; Time-Series</a:t>
            </a:r>
            <a:endParaRPr lang="en-US" sz="1238" dirty="0"/>
          </a:p>
        </p:txBody>
      </p:sp>
      <p:sp>
        <p:nvSpPr>
          <p:cNvPr id="16" name="Text 13"/>
          <p:cNvSpPr/>
          <p:nvPr/>
        </p:nvSpPr>
        <p:spPr>
          <a:xfrm>
            <a:off x="4807744" y="2467384"/>
            <a:ext cx="3414713" cy="211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Deep technical engineering in metrics &amp; time-series with real platforms and tools.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746522" y="2961084"/>
            <a:ext cx="3764756" cy="1064419"/>
          </a:xfrm>
          <a:prstGeom prst="roundRect">
            <a:avLst>
              <a:gd name="adj" fmla="val 10738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921544" y="3121819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⌇</a:t>
            </a:r>
            <a:endParaRPr lang="en-US" sz="1969" dirty="0"/>
          </a:p>
        </p:txBody>
      </p:sp>
      <p:sp>
        <p:nvSpPr>
          <p:cNvPr id="19" name="Text 16"/>
          <p:cNvSpPr/>
          <p:nvPr/>
        </p:nvSpPr>
        <p:spPr>
          <a:xfrm>
            <a:off x="4179338" y="3146822"/>
            <a:ext cx="18134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spc="47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788" dirty="0"/>
          </a:p>
        </p:txBody>
      </p:sp>
      <p:sp>
        <p:nvSpPr>
          <p:cNvPr id="20" name="Text 17"/>
          <p:cNvSpPr/>
          <p:nvPr/>
        </p:nvSpPr>
        <p:spPr>
          <a:xfrm>
            <a:off x="921544" y="3407569"/>
            <a:ext cx="3414713" cy="203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Distributed Tracing</a:t>
            </a:r>
            <a:endParaRPr lang="en-US" sz="1238" dirty="0"/>
          </a:p>
        </p:txBody>
      </p:sp>
      <p:sp>
        <p:nvSpPr>
          <p:cNvPr id="21" name="Text 18"/>
          <p:cNvSpPr/>
          <p:nvPr/>
        </p:nvSpPr>
        <p:spPr>
          <a:xfrm>
            <a:off x="921544" y="3653247"/>
            <a:ext cx="34147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Deep technical engineering in distributed tracing with real platforms and tools.</a:t>
            </a:r>
            <a:endParaRPr lang="en-US" sz="675" dirty="0"/>
          </a:p>
        </p:txBody>
      </p:sp>
      <p:sp>
        <p:nvSpPr>
          <p:cNvPr id="22" name="Text 19"/>
          <p:cNvSpPr/>
          <p:nvPr/>
        </p:nvSpPr>
        <p:spPr>
          <a:xfrm>
            <a:off x="4632722" y="2961084"/>
            <a:ext cx="3764756" cy="1064419"/>
          </a:xfrm>
          <a:prstGeom prst="roundRect">
            <a:avLst>
              <a:gd name="adj" fmla="val 10738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4807744" y="3121819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⚡</a:t>
            </a:r>
            <a:endParaRPr lang="en-US" sz="1969" dirty="0"/>
          </a:p>
        </p:txBody>
      </p:sp>
      <p:sp>
        <p:nvSpPr>
          <p:cNvPr id="24" name="Text 21"/>
          <p:cNvSpPr/>
          <p:nvPr/>
        </p:nvSpPr>
        <p:spPr>
          <a:xfrm>
            <a:off x="8065538" y="3146822"/>
            <a:ext cx="18134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spc="47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788" dirty="0"/>
          </a:p>
        </p:txBody>
      </p:sp>
      <p:sp>
        <p:nvSpPr>
          <p:cNvPr id="25" name="Text 22"/>
          <p:cNvSpPr/>
          <p:nvPr/>
        </p:nvSpPr>
        <p:spPr>
          <a:xfrm>
            <a:off x="4807744" y="3407569"/>
            <a:ext cx="3524440" cy="203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Chaos Engineering &amp; Reliability</a:t>
            </a:r>
            <a:endParaRPr lang="en-US" sz="1238" dirty="0"/>
          </a:p>
        </p:txBody>
      </p:sp>
      <p:sp>
        <p:nvSpPr>
          <p:cNvPr id="26" name="Text 23"/>
          <p:cNvSpPr/>
          <p:nvPr/>
        </p:nvSpPr>
        <p:spPr>
          <a:xfrm>
            <a:off x="4807744" y="3653247"/>
            <a:ext cx="3414713" cy="211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Deep technical engineering in chaos engineering &amp; reliability with real platforms and tools.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14350" y="4754166"/>
            <a:ext cx="3937434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4466072" y="4750594"/>
            <a:ext cx="3547430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56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 / 12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7980897" y="4750594"/>
            <a:ext cx="69564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56" kern="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CAPABILITIES</a:t>
            </a:r>
            <a:endParaRPr lang="en-US" sz="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2863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2950" y="364331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742950" y="685800"/>
            <a:ext cx="8401050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01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742950" y="875109"/>
            <a:ext cx="8401050" cy="2838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spc="-18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Telemetry Pipeline &amp; OpenTelemetry.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742950" y="1195127"/>
            <a:ext cx="76581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Deep technical engineering with real platforms, tools, and frameworks.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46522" y="1689497"/>
            <a:ext cx="3993356" cy="2850356"/>
          </a:xfrm>
          <a:prstGeom prst="roundRect">
            <a:avLst>
              <a:gd name="adj" fmla="val 4010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921544" y="1850231"/>
            <a:ext cx="36433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99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ENGINEERING APPROACH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921544" y="2053828"/>
            <a:ext cx="3643313" cy="7144"/>
          </a:xfrm>
          <a:prstGeom prst="rect">
            <a:avLst/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921544" y="2189559"/>
            <a:ext cx="3643313" cy="932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telemetry pipeline &amp; opentelemetry capability goes beyond surface-level integration. We engineer at the protocol, configuration, and architecture level — working with real platforms and tools, not abstract concepts. Every sub-service below carries specific tool names, configuration patterns, and engineering decisions.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898684" y="4235672"/>
            <a:ext cx="978872" cy="144018"/>
          </a:xfrm>
          <a:prstGeom prst="roundRect">
            <a:avLst>
              <a:gd name="adj" fmla="val 26455"/>
            </a:avLst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921544" y="4243388"/>
            <a:ext cx="93315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675"/>
              </a:lnSpc>
              <a:buNone/>
            </a:pPr>
            <a:r>
              <a:rPr lang="en-US" sz="800" spc="3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1 OF 4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4918472" y="1689497"/>
            <a:ext cx="3136106" cy="2850356"/>
          </a:xfrm>
          <a:prstGeom prst="roundRect">
            <a:avLst>
              <a:gd name="adj" fmla="val 4010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5064919" y="1821656"/>
            <a:ext cx="28432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99" kern="0" dirty="0">
                <a:solidFill>
                  <a:srgbClr val="4C81B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SUB-SERVICES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5064919" y="2010966"/>
            <a:ext cx="2843213" cy="7144"/>
          </a:xfrm>
          <a:prstGeom prst="rect">
            <a:avLst/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3"/>
          <p:cNvSpPr/>
          <p:nvPr/>
        </p:nvSpPr>
        <p:spPr>
          <a:xfrm>
            <a:off x="5064919" y="2486025"/>
            <a:ext cx="2843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064919" y="2118122"/>
            <a:ext cx="2286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5279231" y="2118122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⌇</a:t>
            </a:r>
            <a:endParaRPr lang="en-US" sz="1266" dirty="0"/>
          </a:p>
        </p:txBody>
      </p:sp>
      <p:sp>
        <p:nvSpPr>
          <p:cNvPr id="19" name="Text 16"/>
          <p:cNvSpPr/>
          <p:nvPr/>
        </p:nvSpPr>
        <p:spPr>
          <a:xfrm>
            <a:off x="5479256" y="2110978"/>
            <a:ext cx="2538603" cy="94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OpenTelemetry Collector Pipeline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5479256" y="2232422"/>
            <a:ext cx="242887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OTel Collector — OTLP ingestion, processors (batch, memory_limiter, attributes), exporters to Tempo / Mimir / Loki.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5064919" y="3014663"/>
            <a:ext cx="2843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064919" y="2546747"/>
            <a:ext cx="2286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5279231" y="2546747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⌇</a:t>
            </a:r>
            <a:endParaRPr lang="en-US" sz="1266" dirty="0"/>
          </a:p>
        </p:txBody>
      </p:sp>
      <p:sp>
        <p:nvSpPr>
          <p:cNvPr id="24" name="Text 21"/>
          <p:cNvSpPr/>
          <p:nvPr/>
        </p:nvSpPr>
        <p:spPr>
          <a:xfrm>
            <a:off x="5479256" y="2539603"/>
            <a:ext cx="2538603" cy="94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Auto-Instrumentation SDK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5479256" y="2661047"/>
            <a:ext cx="2428875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OpenTelemetry SDKs (Java / Python / Go / Node.js / .NET / Rust) — auto-instrumentation via Java agent / Python opentelemetry-instrument.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5064919" y="3443288"/>
            <a:ext cx="2843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064919" y="3075384"/>
            <a:ext cx="2286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5279231" y="3075384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⌇</a:t>
            </a:r>
            <a:endParaRPr lang="en-US" sz="1266" dirty="0"/>
          </a:p>
        </p:txBody>
      </p:sp>
      <p:sp>
        <p:nvSpPr>
          <p:cNvPr id="29" name="Text 26"/>
          <p:cNvSpPr/>
          <p:nvPr/>
        </p:nvSpPr>
        <p:spPr>
          <a:xfrm>
            <a:off x="5479256" y="3068241"/>
            <a:ext cx="2428875" cy="940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Tail-Based Sampling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5479256" y="3189684"/>
            <a:ext cx="242887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OTel Collector tail sampling processor — sample by error code / latency / trace attribute, retain 100% of error traces.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5064919" y="3871913"/>
            <a:ext cx="2843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064919" y="3504009"/>
            <a:ext cx="2286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5279231" y="3504009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⌇</a:t>
            </a:r>
            <a:endParaRPr lang="en-US" sz="1266" dirty="0"/>
          </a:p>
        </p:txBody>
      </p:sp>
      <p:sp>
        <p:nvSpPr>
          <p:cNvPr id="34" name="Text 31"/>
          <p:cNvSpPr/>
          <p:nvPr/>
        </p:nvSpPr>
        <p:spPr>
          <a:xfrm>
            <a:off x="5479256" y="3496866"/>
            <a:ext cx="2428875" cy="940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Context Propagation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5479256" y="3618309"/>
            <a:ext cx="242887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W3C Trace Context + Baggage — B3 propagation (Zipkin-compatible), eBPF auto-instrumentation via Odigos / Honeycomb.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5064919" y="3932634"/>
            <a:ext cx="2286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5279231" y="3932634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⌇</a:t>
            </a:r>
            <a:endParaRPr lang="en-US" sz="1266" dirty="0"/>
          </a:p>
        </p:txBody>
      </p:sp>
      <p:sp>
        <p:nvSpPr>
          <p:cNvPr id="38" name="Text 35"/>
          <p:cNvSpPr/>
          <p:nvPr/>
        </p:nvSpPr>
        <p:spPr>
          <a:xfrm>
            <a:off x="5479256" y="3925491"/>
            <a:ext cx="2538603" cy="94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eBPF Native Observability</a:t>
            </a: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5479256" y="4046934"/>
            <a:ext cx="2428875" cy="307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Pixie / Coroot — eBPF traces without code changes, k8s-native distributed tracing, SQL queries via PxL.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14350" y="4754166"/>
            <a:ext cx="3385803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3914440" y="4750594"/>
            <a:ext cx="2995687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56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 / 12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6924415" y="4750594"/>
            <a:ext cx="1807550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56" kern="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TELEMETRY PIPELINE &amp; OPENTELEMETRY</a:t>
            </a:r>
            <a:endParaRPr lang="en-US" sz="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2863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2950" y="364331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742950" y="685800"/>
            <a:ext cx="8401050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02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742950" y="875109"/>
            <a:ext cx="8041005" cy="2838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spc="-18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Metrics &amp; Time-Series.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742950" y="1195127"/>
            <a:ext cx="76581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Deep technical engineering with real platforms, tools, and frameworks.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46522" y="1689497"/>
            <a:ext cx="3993356" cy="2850356"/>
          </a:xfrm>
          <a:prstGeom prst="roundRect">
            <a:avLst>
              <a:gd name="adj" fmla="val 4010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921544" y="1850231"/>
            <a:ext cx="36433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99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ENGINEERING APPROACH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921544" y="2053828"/>
            <a:ext cx="3643313" cy="7144"/>
          </a:xfrm>
          <a:prstGeom prst="rect">
            <a:avLst/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921544" y="2189559"/>
            <a:ext cx="3643313" cy="932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metrics &amp; time-series capability goes beyond surface-level integration. We engineer at the protocol, configuration, and architecture level — working with real platforms and tools, not abstract concepts. Every sub-service below carries specific tool names, configuration patterns, and engineering decisions.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898684" y="4235672"/>
            <a:ext cx="978872" cy="144018"/>
          </a:xfrm>
          <a:prstGeom prst="roundRect">
            <a:avLst>
              <a:gd name="adj" fmla="val 26455"/>
            </a:avLst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921544" y="4243388"/>
            <a:ext cx="93315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675"/>
              </a:lnSpc>
              <a:buNone/>
            </a:pPr>
            <a:r>
              <a:rPr lang="en-US" sz="800" spc="3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2 OF 4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4918472" y="1689497"/>
            <a:ext cx="3136106" cy="2850356"/>
          </a:xfrm>
          <a:prstGeom prst="roundRect">
            <a:avLst>
              <a:gd name="adj" fmla="val 4010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5064919" y="1821656"/>
            <a:ext cx="28432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99" kern="0" dirty="0">
                <a:solidFill>
                  <a:srgbClr val="4C81B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SUB-SERVICES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5064919" y="2010966"/>
            <a:ext cx="2843213" cy="7144"/>
          </a:xfrm>
          <a:prstGeom prst="rect">
            <a:avLst/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3"/>
          <p:cNvSpPr/>
          <p:nvPr/>
        </p:nvSpPr>
        <p:spPr>
          <a:xfrm>
            <a:off x="5064919" y="2486025"/>
            <a:ext cx="2843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064919" y="2118122"/>
            <a:ext cx="2286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5279231" y="2118122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⌇</a:t>
            </a:r>
            <a:endParaRPr lang="en-US" sz="1266" dirty="0"/>
          </a:p>
        </p:txBody>
      </p:sp>
      <p:sp>
        <p:nvSpPr>
          <p:cNvPr id="19" name="Text 16"/>
          <p:cNvSpPr/>
          <p:nvPr/>
        </p:nvSpPr>
        <p:spPr>
          <a:xfrm>
            <a:off x="5479256" y="2110978"/>
            <a:ext cx="2538603" cy="94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Prometheus Federation &amp; Remote Write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5479256" y="2232422"/>
            <a:ext cx="242887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Prometheus remote_write to Cortex / Mimir, federation for HA, scrape config management via ServiceMonitors.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5064919" y="2914650"/>
            <a:ext cx="2843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064919" y="2546747"/>
            <a:ext cx="2286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5279231" y="2546747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⌇</a:t>
            </a:r>
            <a:endParaRPr lang="en-US" sz="1266" dirty="0"/>
          </a:p>
        </p:txBody>
      </p:sp>
      <p:sp>
        <p:nvSpPr>
          <p:cNvPr id="24" name="Text 21"/>
          <p:cNvSpPr/>
          <p:nvPr/>
        </p:nvSpPr>
        <p:spPr>
          <a:xfrm>
            <a:off x="5479256" y="2539603"/>
            <a:ext cx="2428875" cy="940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Thanos Long-Term Storage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5479256" y="2661047"/>
            <a:ext cx="242887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Thanos — sidecar + store gateway + compactor, S3/GCS object storage, 13-month retention, global query view via Querier.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5064919" y="3343275"/>
            <a:ext cx="2843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064919" y="2975372"/>
            <a:ext cx="2286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5279231" y="2975372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⌇</a:t>
            </a:r>
            <a:endParaRPr lang="en-US" sz="1266" dirty="0"/>
          </a:p>
        </p:txBody>
      </p:sp>
      <p:sp>
        <p:nvSpPr>
          <p:cNvPr id="29" name="Text 26"/>
          <p:cNvSpPr/>
          <p:nvPr/>
        </p:nvSpPr>
        <p:spPr>
          <a:xfrm>
            <a:off x="5479256" y="2968228"/>
            <a:ext cx="2538603" cy="94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Grafana Mimir Multi-Tenant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5479256" y="3089672"/>
            <a:ext cx="242887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Grafana Mimir — horizontally scalable Prometheus, multi-tenant via X-Scope-OrgID, columnar blocks in object store.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5064919" y="3771900"/>
            <a:ext cx="2843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064919" y="3403997"/>
            <a:ext cx="2286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5279231" y="3403997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⌇</a:t>
            </a:r>
            <a:endParaRPr lang="en-US" sz="1266" dirty="0"/>
          </a:p>
        </p:txBody>
      </p:sp>
      <p:sp>
        <p:nvSpPr>
          <p:cNvPr id="34" name="Text 31"/>
          <p:cNvSpPr/>
          <p:nvPr/>
        </p:nvSpPr>
        <p:spPr>
          <a:xfrm>
            <a:off x="5479256" y="3396853"/>
            <a:ext cx="2428875" cy="940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Sloth SLO Generator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5479256" y="3518297"/>
            <a:ext cx="242887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Sloth — Prometheus / OTel SLO definitions in YAML, multi-window multi-burn-rate alerts (SLO math out of the box).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5064919" y="3832622"/>
            <a:ext cx="2286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5279231" y="3832622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⌇</a:t>
            </a:r>
            <a:endParaRPr lang="en-US" sz="1266" dirty="0"/>
          </a:p>
        </p:txBody>
      </p:sp>
      <p:sp>
        <p:nvSpPr>
          <p:cNvPr id="38" name="Text 35"/>
          <p:cNvSpPr/>
          <p:nvPr/>
        </p:nvSpPr>
        <p:spPr>
          <a:xfrm>
            <a:off x="5479256" y="3825478"/>
            <a:ext cx="2428875" cy="940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VictoriaMetrics Cluster</a:t>
            </a: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5479256" y="3946922"/>
            <a:ext cx="2428875" cy="307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VictoriaMetrics — insert/select via PromQL, vmagent for remote write, vmstorage / vmselect / vminsert architecture.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14350" y="4754166"/>
            <a:ext cx="3711736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4240374" y="4750594"/>
            <a:ext cx="3321732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56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 / 12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7576393" y="4750594"/>
            <a:ext cx="1053257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56" kern="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METRICS &amp; TIME-SERIES</a:t>
            </a:r>
            <a:endParaRPr lang="en-US" sz="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2863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2950" y="364331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742950" y="685800"/>
            <a:ext cx="8401050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03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742950" y="875109"/>
            <a:ext cx="8041005" cy="2838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spc="-18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Distributed Tracing.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742950" y="1195127"/>
            <a:ext cx="76581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Deep technical engineering with real platforms, tools, and frameworks.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46522" y="1689497"/>
            <a:ext cx="3993356" cy="2850356"/>
          </a:xfrm>
          <a:prstGeom prst="roundRect">
            <a:avLst>
              <a:gd name="adj" fmla="val 4010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921544" y="1850231"/>
            <a:ext cx="36433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99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ENGINEERING APPROACH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921544" y="2053828"/>
            <a:ext cx="3643313" cy="7144"/>
          </a:xfrm>
          <a:prstGeom prst="rect">
            <a:avLst/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921544" y="2189559"/>
            <a:ext cx="3643313" cy="932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distributed tracing capability goes beyond surface-level integration. We engineer at the protocol, configuration, and architecture level — working with real platforms and tools, not abstract concepts. Every sub-service below carries specific tool names, configuration patterns, and engineering decisions.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898684" y="4235672"/>
            <a:ext cx="978872" cy="144018"/>
          </a:xfrm>
          <a:prstGeom prst="roundRect">
            <a:avLst>
              <a:gd name="adj" fmla="val 26455"/>
            </a:avLst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921544" y="4243388"/>
            <a:ext cx="93315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675"/>
              </a:lnSpc>
              <a:buNone/>
            </a:pPr>
            <a:r>
              <a:rPr lang="en-US" sz="800" spc="3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3 OF 4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4918472" y="1689497"/>
            <a:ext cx="3136106" cy="2850356"/>
          </a:xfrm>
          <a:prstGeom prst="roundRect">
            <a:avLst>
              <a:gd name="adj" fmla="val 4010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5064919" y="1821656"/>
            <a:ext cx="28432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99" kern="0" dirty="0">
                <a:solidFill>
                  <a:srgbClr val="4C81B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SUB-SERVICES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5064919" y="2010966"/>
            <a:ext cx="2843213" cy="7144"/>
          </a:xfrm>
          <a:prstGeom prst="rect">
            <a:avLst/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3"/>
          <p:cNvSpPr/>
          <p:nvPr/>
        </p:nvSpPr>
        <p:spPr>
          <a:xfrm>
            <a:off x="5064919" y="2486025"/>
            <a:ext cx="2843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064919" y="2118122"/>
            <a:ext cx="2286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5279231" y="2118122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⌇</a:t>
            </a:r>
            <a:endParaRPr lang="en-US" sz="1266" dirty="0"/>
          </a:p>
        </p:txBody>
      </p:sp>
      <p:sp>
        <p:nvSpPr>
          <p:cNvPr id="19" name="Text 16"/>
          <p:cNvSpPr/>
          <p:nvPr/>
        </p:nvSpPr>
        <p:spPr>
          <a:xfrm>
            <a:off x="5479256" y="2110978"/>
            <a:ext cx="2538603" cy="94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Grafana Tempo Object Storage Tracing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5479256" y="2232422"/>
            <a:ext cx="242887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Grafana Tempo — S3/GCS object-store backed traces, TraceQL query language, Parquet columnar format.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5064919" y="2914650"/>
            <a:ext cx="2843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064919" y="2546747"/>
            <a:ext cx="2286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5279231" y="2546747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⌇</a:t>
            </a:r>
            <a:endParaRPr lang="en-US" sz="1266" dirty="0"/>
          </a:p>
        </p:txBody>
      </p:sp>
      <p:sp>
        <p:nvSpPr>
          <p:cNvPr id="24" name="Text 21"/>
          <p:cNvSpPr/>
          <p:nvPr/>
        </p:nvSpPr>
        <p:spPr>
          <a:xfrm>
            <a:off x="5479256" y="2539603"/>
            <a:ext cx="2538603" cy="94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Jaeger Distributed Tracing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5479256" y="2661047"/>
            <a:ext cx="242887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Jaeger — adaptive sampling, storage backends (Elasticsearch / Cassandra / Badger), Jaeger UI dependency graph.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5064919" y="3343275"/>
            <a:ext cx="2843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064919" y="2975372"/>
            <a:ext cx="2286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5279231" y="2975372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⌇</a:t>
            </a:r>
            <a:endParaRPr lang="en-US" sz="1266" dirty="0"/>
          </a:p>
        </p:txBody>
      </p:sp>
      <p:sp>
        <p:nvSpPr>
          <p:cNvPr id="29" name="Text 26"/>
          <p:cNvSpPr/>
          <p:nvPr/>
        </p:nvSpPr>
        <p:spPr>
          <a:xfrm>
            <a:off x="5479256" y="2968228"/>
            <a:ext cx="2428875" cy="940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Datadog APM End-to-End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5479256" y="3089672"/>
            <a:ext cx="242887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Datadog APM — Live Search / Explorer, Watchdog anomaly detection, DB query analysis, deployment tracking.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5064919" y="3771900"/>
            <a:ext cx="2843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064919" y="3403997"/>
            <a:ext cx="2286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5279231" y="3403997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⌇</a:t>
            </a:r>
            <a:endParaRPr lang="en-US" sz="1266" dirty="0"/>
          </a:p>
        </p:txBody>
      </p:sp>
      <p:sp>
        <p:nvSpPr>
          <p:cNvPr id="34" name="Text 31"/>
          <p:cNvSpPr/>
          <p:nvPr/>
        </p:nvSpPr>
        <p:spPr>
          <a:xfrm>
            <a:off x="5479256" y="3396853"/>
            <a:ext cx="2538603" cy="94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Honeycomb Structured Events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5479256" y="3518297"/>
            <a:ext cx="242887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Honeycomb — BubbleUp analysis, high-cardinality events, Query Builder, SLO tracking via Burndown.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5064919" y="3832622"/>
            <a:ext cx="2286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5279231" y="3832622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⌇</a:t>
            </a:r>
            <a:endParaRPr lang="en-US" sz="1266" dirty="0"/>
          </a:p>
        </p:txBody>
      </p:sp>
      <p:sp>
        <p:nvSpPr>
          <p:cNvPr id="38" name="Text 35"/>
          <p:cNvSpPr/>
          <p:nvPr/>
        </p:nvSpPr>
        <p:spPr>
          <a:xfrm>
            <a:off x="5479256" y="3825478"/>
            <a:ext cx="2538603" cy="94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Elastic APM &amp; Trace Analytics</a:t>
            </a: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5479256" y="3946922"/>
            <a:ext cx="2428875" cy="307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Elastic APM — distributed tracing, log-trace-metric correlation, ML anomalies, RUM for browser / mobile.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14350" y="4754166"/>
            <a:ext cx="3761966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4290603" y="4750594"/>
            <a:ext cx="3371850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56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 / 12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7676741" y="4750594"/>
            <a:ext cx="952909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56" kern="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DISTRIBUTED TRACING</a:t>
            </a:r>
            <a:endParaRPr lang="en-US" sz="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2863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2950" y="364331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742950" y="685800"/>
            <a:ext cx="8401050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04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742950" y="875109"/>
            <a:ext cx="8401050" cy="2838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spc="-18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Chaos Engineering &amp; Reliability.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742950" y="1195127"/>
            <a:ext cx="76581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Deep technical engineering with real platforms, tools, and frameworks.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46522" y="1689497"/>
            <a:ext cx="3993356" cy="2850356"/>
          </a:xfrm>
          <a:prstGeom prst="roundRect">
            <a:avLst>
              <a:gd name="adj" fmla="val 4010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921544" y="1850231"/>
            <a:ext cx="36433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99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ENGINEERING APPROACH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921544" y="2053828"/>
            <a:ext cx="3643313" cy="7144"/>
          </a:xfrm>
          <a:prstGeom prst="rect">
            <a:avLst/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921544" y="2189559"/>
            <a:ext cx="3643313" cy="932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chaos engineering &amp; reliability capability goes beyond surface-level integration. We engineer at the protocol, configuration, and architecture level — working with real platforms and tools, not abstract concepts. Every sub-service below carries specific tool names, configuration patterns, and engineering decisions.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898684" y="4235672"/>
            <a:ext cx="978872" cy="144018"/>
          </a:xfrm>
          <a:prstGeom prst="roundRect">
            <a:avLst>
              <a:gd name="adj" fmla="val 26455"/>
            </a:avLst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921544" y="4243388"/>
            <a:ext cx="93315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675"/>
              </a:lnSpc>
              <a:buNone/>
            </a:pPr>
            <a:r>
              <a:rPr lang="en-US" sz="800" spc="3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4 OF 4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4918472" y="1689497"/>
            <a:ext cx="3136106" cy="2850356"/>
          </a:xfrm>
          <a:prstGeom prst="roundRect">
            <a:avLst>
              <a:gd name="adj" fmla="val 4010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5064919" y="1821656"/>
            <a:ext cx="28432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99" kern="0" dirty="0">
                <a:solidFill>
                  <a:srgbClr val="4C81B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SUB-SERVICES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5064919" y="2010966"/>
            <a:ext cx="2843213" cy="7144"/>
          </a:xfrm>
          <a:prstGeom prst="rect">
            <a:avLst/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3"/>
          <p:cNvSpPr/>
          <p:nvPr/>
        </p:nvSpPr>
        <p:spPr>
          <a:xfrm>
            <a:off x="5064919" y="2486025"/>
            <a:ext cx="2843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064919" y="2118122"/>
            <a:ext cx="2286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5279231" y="2118122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⌇</a:t>
            </a:r>
            <a:endParaRPr lang="en-US" sz="1266" dirty="0"/>
          </a:p>
        </p:txBody>
      </p:sp>
      <p:sp>
        <p:nvSpPr>
          <p:cNvPr id="19" name="Text 16"/>
          <p:cNvSpPr/>
          <p:nvPr/>
        </p:nvSpPr>
        <p:spPr>
          <a:xfrm>
            <a:off x="5479256" y="2110978"/>
            <a:ext cx="2428875" cy="940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Chaos Mesh Experiments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5479256" y="2232422"/>
            <a:ext cx="242887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Chaos Mesh (CNCF) — PodChaos, NetworkChaos, StressChaos, IOChaos, time-skew experiments via CRDs.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5064919" y="2914650"/>
            <a:ext cx="2843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064919" y="2546747"/>
            <a:ext cx="2286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5279231" y="2546747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⌇</a:t>
            </a:r>
            <a:endParaRPr lang="en-US" sz="1266" dirty="0"/>
          </a:p>
        </p:txBody>
      </p:sp>
      <p:sp>
        <p:nvSpPr>
          <p:cNvPr id="24" name="Text 21"/>
          <p:cNvSpPr/>
          <p:nvPr/>
        </p:nvSpPr>
        <p:spPr>
          <a:xfrm>
            <a:off x="5479256" y="2539603"/>
            <a:ext cx="2428875" cy="940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Gremlin Managed Chaos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5479256" y="2661047"/>
            <a:ext cx="242887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Gremlin — HALT (Highly Available Lambda Target), game days, SLO-aware attacks, blast radius controls.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5064919" y="3343275"/>
            <a:ext cx="2843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064919" y="2975372"/>
            <a:ext cx="2286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5279231" y="2975372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⌇</a:t>
            </a:r>
            <a:endParaRPr lang="en-US" sz="1266" dirty="0"/>
          </a:p>
        </p:txBody>
      </p:sp>
      <p:sp>
        <p:nvSpPr>
          <p:cNvPr id="29" name="Text 26"/>
          <p:cNvSpPr/>
          <p:nvPr/>
        </p:nvSpPr>
        <p:spPr>
          <a:xfrm>
            <a:off x="5479256" y="2968228"/>
            <a:ext cx="2428875" cy="940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LitmusChaos CNCF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5479256" y="3089672"/>
            <a:ext cx="242887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LitmusChaos — ChaosEngine / ChaosResult CRDs, ChaosHub workflows, GitOps-driven chaos schedules.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5064919" y="3771900"/>
            <a:ext cx="2843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064919" y="3403997"/>
            <a:ext cx="2286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5279231" y="3403997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⌇</a:t>
            </a:r>
            <a:endParaRPr lang="en-US" sz="1266" dirty="0"/>
          </a:p>
        </p:txBody>
      </p:sp>
      <p:sp>
        <p:nvSpPr>
          <p:cNvPr id="34" name="Text 31"/>
          <p:cNvSpPr/>
          <p:nvPr/>
        </p:nvSpPr>
        <p:spPr>
          <a:xfrm>
            <a:off x="5479256" y="3396853"/>
            <a:ext cx="2538603" cy="94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AWS Fault Injection Service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5479256" y="3518297"/>
            <a:ext cx="242887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AWS FIS — inject latency / errors / resource starvation on EC2 / EKS / ECS, experiment templates.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5064919" y="3832622"/>
            <a:ext cx="2286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5279231" y="3832622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⌇</a:t>
            </a:r>
            <a:endParaRPr lang="en-US" sz="1266" dirty="0"/>
          </a:p>
        </p:txBody>
      </p:sp>
      <p:sp>
        <p:nvSpPr>
          <p:cNvPr id="38" name="Text 35"/>
          <p:cNvSpPr/>
          <p:nvPr/>
        </p:nvSpPr>
        <p:spPr>
          <a:xfrm>
            <a:off x="5479256" y="3825478"/>
            <a:ext cx="2538603" cy="94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Reliability Engineering SLOs</a:t>
            </a: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5479256" y="3946922"/>
            <a:ext cx="2428875" cy="307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Sloth + OpenSlo spec — error budgets, multi-window burn-rate alerts, alerting via Alertmanager / PagerDuty.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14350" y="4754166"/>
            <a:ext cx="3461035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3989673" y="4750594"/>
            <a:ext cx="3070920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56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07 / 12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7074880" y="4750594"/>
            <a:ext cx="1648056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56" kern="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CHAOS ENGINEERING &amp; RELIABILITY</a:t>
            </a:r>
            <a:endParaRPr lang="en-US" sz="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2863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2950" y="364331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742950" y="685800"/>
            <a:ext cx="8401050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TECHNICAL APPLICATIONS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742950" y="875109"/>
            <a:ext cx="8401050" cy="2838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spc="-18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Where this creates engineering value.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742950" y="1195127"/>
            <a:ext cx="700087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Four specific engineering scenarios where observability engineering &amp; sre delivers measurable production impact.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46522" y="1775222"/>
            <a:ext cx="3764756" cy="1064419"/>
          </a:xfrm>
          <a:prstGeom prst="roundRect">
            <a:avLst>
              <a:gd name="adj" fmla="val 10738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921544" y="1935956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➤</a:t>
            </a:r>
            <a:endParaRPr lang="en-US" sz="1969" dirty="0"/>
          </a:p>
        </p:txBody>
      </p:sp>
      <p:sp>
        <p:nvSpPr>
          <p:cNvPr id="9" name="Text 6"/>
          <p:cNvSpPr/>
          <p:nvPr/>
        </p:nvSpPr>
        <p:spPr>
          <a:xfrm>
            <a:off x="4269953" y="1960959"/>
            <a:ext cx="914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47" kern="0" dirty="0">
                <a:solidFill>
                  <a:srgbClr val="FF6C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921544" y="2221706"/>
            <a:ext cx="3414713" cy="203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Production Deployment</a:t>
            </a:r>
            <a:endParaRPr lang="en-US" sz="1238" dirty="0"/>
          </a:p>
        </p:txBody>
      </p:sp>
      <p:sp>
        <p:nvSpPr>
          <p:cNvPr id="11" name="Text 8"/>
          <p:cNvSpPr/>
          <p:nvPr/>
        </p:nvSpPr>
        <p:spPr>
          <a:xfrm>
            <a:off x="921544" y="2467384"/>
            <a:ext cx="3414713" cy="211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From prototype to production-grade deployment with real reliability, latency, and cost SLAs.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4632722" y="1775222"/>
            <a:ext cx="3764756" cy="1064419"/>
          </a:xfrm>
          <a:prstGeom prst="roundRect">
            <a:avLst>
              <a:gd name="adj" fmla="val 10738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4807744" y="1935956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⌇</a:t>
            </a:r>
            <a:endParaRPr lang="en-US" sz="1969" dirty="0"/>
          </a:p>
        </p:txBody>
      </p:sp>
      <p:sp>
        <p:nvSpPr>
          <p:cNvPr id="14" name="Text 11"/>
          <p:cNvSpPr/>
          <p:nvPr/>
        </p:nvSpPr>
        <p:spPr>
          <a:xfrm>
            <a:off x="8065538" y="1960959"/>
            <a:ext cx="18134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spc="47" kern="0" dirty="0">
                <a:solidFill>
                  <a:srgbClr val="FF6C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II</a:t>
            </a:r>
            <a:endParaRPr lang="en-US" sz="788" dirty="0"/>
          </a:p>
        </p:txBody>
      </p:sp>
      <p:sp>
        <p:nvSpPr>
          <p:cNvPr id="15" name="Text 12"/>
          <p:cNvSpPr/>
          <p:nvPr/>
        </p:nvSpPr>
        <p:spPr>
          <a:xfrm>
            <a:off x="4807744" y="2221706"/>
            <a:ext cx="3524440" cy="203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Observability &amp; Operations</a:t>
            </a:r>
            <a:endParaRPr lang="en-US" sz="1238" dirty="0"/>
          </a:p>
        </p:txBody>
      </p:sp>
      <p:sp>
        <p:nvSpPr>
          <p:cNvPr id="16" name="Text 13"/>
          <p:cNvSpPr/>
          <p:nvPr/>
        </p:nvSpPr>
        <p:spPr>
          <a:xfrm>
            <a:off x="4807744" y="2467384"/>
            <a:ext cx="3414713" cy="211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Continuous monitoring, evaluation, drift detection, and operational runbooks for production systems.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746522" y="2961084"/>
            <a:ext cx="3764756" cy="1064419"/>
          </a:xfrm>
          <a:prstGeom prst="roundRect">
            <a:avLst>
              <a:gd name="adj" fmla="val 10738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921544" y="3121819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969" dirty="0"/>
          </a:p>
        </p:txBody>
      </p:sp>
      <p:sp>
        <p:nvSpPr>
          <p:cNvPr id="19" name="Text 16"/>
          <p:cNvSpPr/>
          <p:nvPr/>
        </p:nvSpPr>
        <p:spPr>
          <a:xfrm>
            <a:off x="4109658" y="3146822"/>
            <a:ext cx="25451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spc="47" kern="0" dirty="0">
                <a:solidFill>
                  <a:srgbClr val="FF6C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III</a:t>
            </a:r>
            <a:endParaRPr lang="en-US" sz="788" dirty="0"/>
          </a:p>
        </p:txBody>
      </p:sp>
      <p:sp>
        <p:nvSpPr>
          <p:cNvPr id="20" name="Text 17"/>
          <p:cNvSpPr/>
          <p:nvPr/>
        </p:nvSpPr>
        <p:spPr>
          <a:xfrm>
            <a:off x="921544" y="3407569"/>
            <a:ext cx="3414713" cy="203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Security &amp; Compliance</a:t>
            </a:r>
            <a:endParaRPr lang="en-US" sz="1238" dirty="0"/>
          </a:p>
        </p:txBody>
      </p:sp>
      <p:sp>
        <p:nvSpPr>
          <p:cNvPr id="21" name="Text 18"/>
          <p:cNvSpPr/>
          <p:nvPr/>
        </p:nvSpPr>
        <p:spPr>
          <a:xfrm>
            <a:off x="921544" y="3653247"/>
            <a:ext cx="3414713" cy="211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Security engineering, compliance automation, and audit-ready evidence collection built into the pipeline.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4632722" y="2961084"/>
            <a:ext cx="3764756" cy="1064419"/>
          </a:xfrm>
          <a:prstGeom prst="roundRect">
            <a:avLst>
              <a:gd name="adj" fmla="val 10738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4807744" y="3121819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↗</a:t>
            </a:r>
            <a:endParaRPr lang="en-US" sz="1969" dirty="0"/>
          </a:p>
        </p:txBody>
      </p:sp>
      <p:sp>
        <p:nvSpPr>
          <p:cNvPr id="24" name="Text 21"/>
          <p:cNvSpPr/>
          <p:nvPr/>
        </p:nvSpPr>
        <p:spPr>
          <a:xfrm>
            <a:off x="8065538" y="3146822"/>
            <a:ext cx="18134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spc="47" kern="0" dirty="0">
                <a:solidFill>
                  <a:srgbClr val="FF6C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IV</a:t>
            </a:r>
            <a:endParaRPr lang="en-US" sz="788" dirty="0"/>
          </a:p>
        </p:txBody>
      </p:sp>
      <p:sp>
        <p:nvSpPr>
          <p:cNvPr id="25" name="Text 22"/>
          <p:cNvSpPr/>
          <p:nvPr/>
        </p:nvSpPr>
        <p:spPr>
          <a:xfrm>
            <a:off x="4807744" y="3407569"/>
            <a:ext cx="3414712" cy="203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Scale &amp; Optimization</a:t>
            </a:r>
            <a:endParaRPr lang="en-US" sz="1238" dirty="0"/>
          </a:p>
        </p:txBody>
      </p:sp>
      <p:sp>
        <p:nvSpPr>
          <p:cNvPr id="26" name="Text 23"/>
          <p:cNvSpPr/>
          <p:nvPr/>
        </p:nvSpPr>
        <p:spPr>
          <a:xfrm>
            <a:off x="4807744" y="3653247"/>
            <a:ext cx="3414713" cy="211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Scaling from single-tenant to multi-tenant, optimizing cost, latency, and resource utilization.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14350" y="4754166"/>
            <a:ext cx="3937434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4466072" y="4750594"/>
            <a:ext cx="3547430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56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08 / 12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7980897" y="4750594"/>
            <a:ext cx="69564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56" kern="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APPLICATIONS</a:t>
            </a:r>
            <a:endParaRPr lang="en-US" sz="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2863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2950" y="364331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742950" y="685800"/>
            <a:ext cx="8401050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REFERENCE ARCHITECTURE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742950" y="875109"/>
            <a:ext cx="7858125" cy="4895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11"/>
              </a:lnSpc>
              <a:buNone/>
            </a:pPr>
            <a:r>
              <a:rPr lang="en-US" sz="1575" b="1" spc="-16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production reference architecture for observability engineering &amp; sre.</a:t>
            </a:r>
            <a:endParaRPr lang="en-US" sz="1575" dirty="0"/>
          </a:p>
        </p:txBody>
      </p:sp>
      <p:sp>
        <p:nvSpPr>
          <p:cNvPr id="6" name="Text 3"/>
          <p:cNvSpPr/>
          <p:nvPr/>
        </p:nvSpPr>
        <p:spPr>
          <a:xfrm>
            <a:off x="742950" y="1392138"/>
            <a:ext cx="76581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Five layers with real platform and tool names — not generic architecture diagrams.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17922" y="1689497"/>
            <a:ext cx="8108156" cy="621506"/>
          </a:xfrm>
          <a:prstGeom prst="roundRect">
            <a:avLst>
              <a:gd name="adj" fmla="val 12261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521494" y="1693069"/>
            <a:ext cx="928688" cy="614363"/>
          </a:xfrm>
          <a:prstGeom prst="rect">
            <a:avLst/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6"/>
          <p:cNvSpPr/>
          <p:nvPr/>
        </p:nvSpPr>
        <p:spPr>
          <a:xfrm>
            <a:off x="1446609" y="1693069"/>
            <a:ext cx="0" cy="614363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21494" y="1693069"/>
            <a:ext cx="928688" cy="614363"/>
          </a:xfrm>
          <a:prstGeom prst="rect">
            <a:avLst/>
          </a:prstGeom>
          <a:noFill/>
          <a:ln/>
        </p:spPr>
        <p:txBody>
          <a:bodyPr wrap="none" lIns="85725" tIns="71438" rIns="85725" bIns="71438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37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INSTRUMENTATION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564481" y="1873148"/>
            <a:ext cx="1041536" cy="254203"/>
          </a:xfrm>
          <a:prstGeom prst="roundRect">
            <a:avLst>
              <a:gd name="adj" fmla="val 1498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1564481" y="1885950"/>
            <a:ext cx="104153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OpenTelemetry SDK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2691743" y="1873148"/>
            <a:ext cx="775990" cy="254203"/>
          </a:xfrm>
          <a:prstGeom prst="roundRect">
            <a:avLst>
              <a:gd name="adj" fmla="val 1498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2691743" y="1885950"/>
            <a:ext cx="77599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OTel Collector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3553458" y="1873148"/>
            <a:ext cx="856915" cy="254203"/>
          </a:xfrm>
          <a:prstGeom prst="roundRect">
            <a:avLst>
              <a:gd name="adj" fmla="val 1498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3553458" y="1885950"/>
            <a:ext cx="85691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OTel Java Agent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4496098" y="1873148"/>
            <a:ext cx="693390" cy="254203"/>
          </a:xfrm>
          <a:prstGeom prst="roundRect">
            <a:avLst>
              <a:gd name="adj" fmla="val 1498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4449763" y="1885950"/>
            <a:ext cx="78605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Pixie (eBPF)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517922" y="2403872"/>
            <a:ext cx="8108156" cy="621506"/>
          </a:xfrm>
          <a:prstGeom prst="roundRect">
            <a:avLst>
              <a:gd name="adj" fmla="val 12261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521494" y="2407444"/>
            <a:ext cx="928688" cy="614363"/>
          </a:xfrm>
          <a:prstGeom prst="rect">
            <a:avLst/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8"/>
          <p:cNvSpPr/>
          <p:nvPr/>
        </p:nvSpPr>
        <p:spPr>
          <a:xfrm>
            <a:off x="1446609" y="2407444"/>
            <a:ext cx="0" cy="614363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21494" y="2407444"/>
            <a:ext cx="928688" cy="614363"/>
          </a:xfrm>
          <a:prstGeom prst="rect">
            <a:avLst/>
          </a:prstGeom>
          <a:noFill/>
          <a:ln/>
        </p:spPr>
        <p:txBody>
          <a:bodyPr wrap="none" lIns="85725" tIns="71438" rIns="85725" bIns="71438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37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METRICS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1564481" y="2587523"/>
            <a:ext cx="697743" cy="254203"/>
          </a:xfrm>
          <a:prstGeom prst="roundRect">
            <a:avLst>
              <a:gd name="adj" fmla="val 1498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1564481" y="2600325"/>
            <a:ext cx="69774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Prometheus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2347950" y="2587523"/>
            <a:ext cx="496491" cy="254203"/>
          </a:xfrm>
          <a:prstGeom prst="roundRect">
            <a:avLst>
              <a:gd name="adj" fmla="val 1498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2347950" y="2600325"/>
            <a:ext cx="49649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Thanos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2930165" y="2587523"/>
            <a:ext cx="797198" cy="254203"/>
          </a:xfrm>
          <a:prstGeom prst="roundRect">
            <a:avLst>
              <a:gd name="adj" fmla="val 1498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2908161" y="2600325"/>
            <a:ext cx="84120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Grafana Mimir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3813088" y="2587523"/>
            <a:ext cx="822313" cy="254203"/>
          </a:xfrm>
          <a:prstGeom prst="roundRect">
            <a:avLst>
              <a:gd name="adj" fmla="val 1498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3813088" y="2600325"/>
            <a:ext cx="82231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VictoriaMetrics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517922" y="3118247"/>
            <a:ext cx="8108156" cy="621506"/>
          </a:xfrm>
          <a:prstGeom prst="roundRect">
            <a:avLst>
              <a:gd name="adj" fmla="val 12261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9"/>
          <p:cNvSpPr/>
          <p:nvPr/>
        </p:nvSpPr>
        <p:spPr>
          <a:xfrm>
            <a:off x="521494" y="3121819"/>
            <a:ext cx="928688" cy="614363"/>
          </a:xfrm>
          <a:prstGeom prst="rect">
            <a:avLst/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Shape 30"/>
          <p:cNvSpPr/>
          <p:nvPr/>
        </p:nvSpPr>
        <p:spPr>
          <a:xfrm>
            <a:off x="1446609" y="3121819"/>
            <a:ext cx="0" cy="614363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21494" y="3121819"/>
            <a:ext cx="928688" cy="614363"/>
          </a:xfrm>
          <a:prstGeom prst="rect">
            <a:avLst/>
          </a:prstGeom>
          <a:noFill/>
          <a:ln/>
        </p:spPr>
        <p:txBody>
          <a:bodyPr wrap="none" lIns="85725" tIns="71438" rIns="85725" bIns="71438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37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TRACING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1564481" y="3301898"/>
            <a:ext cx="837716" cy="254203"/>
          </a:xfrm>
          <a:prstGeom prst="roundRect">
            <a:avLst>
              <a:gd name="adj" fmla="val 1498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3"/>
          <p:cNvSpPr/>
          <p:nvPr/>
        </p:nvSpPr>
        <p:spPr>
          <a:xfrm>
            <a:off x="1562736" y="3314700"/>
            <a:ext cx="84120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Grafana Tempo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2487923" y="3301898"/>
            <a:ext cx="458763" cy="254203"/>
          </a:xfrm>
          <a:prstGeom prst="roundRect">
            <a:avLst>
              <a:gd name="adj" fmla="val 1498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5"/>
          <p:cNvSpPr/>
          <p:nvPr/>
        </p:nvSpPr>
        <p:spPr>
          <a:xfrm>
            <a:off x="2487923" y="3314700"/>
            <a:ext cx="45876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Jaeger</a:t>
            </a: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3032410" y="3301898"/>
            <a:ext cx="763265" cy="254203"/>
          </a:xfrm>
          <a:prstGeom prst="roundRect">
            <a:avLst>
              <a:gd name="adj" fmla="val 1498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7"/>
          <p:cNvSpPr/>
          <p:nvPr/>
        </p:nvSpPr>
        <p:spPr>
          <a:xfrm>
            <a:off x="3032410" y="3314700"/>
            <a:ext cx="76326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Datadog APM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3881400" y="3301898"/>
            <a:ext cx="697967" cy="254203"/>
          </a:xfrm>
          <a:prstGeom prst="roundRect">
            <a:avLst>
              <a:gd name="adj" fmla="val 1498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39"/>
          <p:cNvSpPr/>
          <p:nvPr/>
        </p:nvSpPr>
        <p:spPr>
          <a:xfrm>
            <a:off x="3881400" y="3314700"/>
            <a:ext cx="69796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Honeycomb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517922" y="3832622"/>
            <a:ext cx="8108156" cy="621506"/>
          </a:xfrm>
          <a:prstGeom prst="roundRect">
            <a:avLst>
              <a:gd name="adj" fmla="val 12261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1"/>
          <p:cNvSpPr/>
          <p:nvPr/>
        </p:nvSpPr>
        <p:spPr>
          <a:xfrm>
            <a:off x="521494" y="3836194"/>
            <a:ext cx="928688" cy="614363"/>
          </a:xfrm>
          <a:prstGeom prst="rect">
            <a:avLst/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Shape 42"/>
          <p:cNvSpPr/>
          <p:nvPr/>
        </p:nvSpPr>
        <p:spPr>
          <a:xfrm>
            <a:off x="1446609" y="3836194"/>
            <a:ext cx="0" cy="614363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521494" y="3836194"/>
            <a:ext cx="928688" cy="614363"/>
          </a:xfrm>
          <a:prstGeom prst="rect">
            <a:avLst/>
          </a:prstGeom>
          <a:noFill/>
          <a:ln/>
        </p:spPr>
        <p:txBody>
          <a:bodyPr wrap="none" lIns="85725" tIns="71438" rIns="85725" bIns="71438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37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LOGGING</a:t>
            </a:r>
            <a:endParaRPr lang="en-US" sz="800" dirty="0"/>
          </a:p>
        </p:txBody>
      </p:sp>
      <p:sp>
        <p:nvSpPr>
          <p:cNvPr id="47" name="Text 44"/>
          <p:cNvSpPr/>
          <p:nvPr/>
        </p:nvSpPr>
        <p:spPr>
          <a:xfrm>
            <a:off x="1564481" y="4016273"/>
            <a:ext cx="728997" cy="254203"/>
          </a:xfrm>
          <a:prstGeom prst="roundRect">
            <a:avLst>
              <a:gd name="adj" fmla="val 1498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5"/>
          <p:cNvSpPr/>
          <p:nvPr/>
        </p:nvSpPr>
        <p:spPr>
          <a:xfrm>
            <a:off x="1539547" y="4029075"/>
            <a:ext cx="77886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Grafana Loki</a:t>
            </a:r>
            <a:endParaRPr lang="en-US" sz="800" dirty="0"/>
          </a:p>
        </p:txBody>
      </p:sp>
      <p:sp>
        <p:nvSpPr>
          <p:cNvPr id="49" name="Text 46"/>
          <p:cNvSpPr/>
          <p:nvPr/>
        </p:nvSpPr>
        <p:spPr>
          <a:xfrm>
            <a:off x="2379204" y="4016273"/>
            <a:ext cx="539018" cy="254203"/>
          </a:xfrm>
          <a:prstGeom prst="roundRect">
            <a:avLst>
              <a:gd name="adj" fmla="val 1498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7"/>
          <p:cNvSpPr/>
          <p:nvPr/>
        </p:nvSpPr>
        <p:spPr>
          <a:xfrm>
            <a:off x="2375571" y="4029075"/>
            <a:ext cx="54628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Promtail</a:t>
            </a:r>
            <a:endParaRPr lang="en-US" sz="800" dirty="0"/>
          </a:p>
        </p:txBody>
      </p:sp>
      <p:sp>
        <p:nvSpPr>
          <p:cNvPr id="51" name="Text 48"/>
          <p:cNvSpPr/>
          <p:nvPr/>
        </p:nvSpPr>
        <p:spPr>
          <a:xfrm>
            <a:off x="3003947" y="4016273"/>
            <a:ext cx="458986" cy="254203"/>
          </a:xfrm>
          <a:prstGeom prst="roundRect">
            <a:avLst>
              <a:gd name="adj" fmla="val 1498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49"/>
          <p:cNvSpPr/>
          <p:nvPr/>
        </p:nvSpPr>
        <p:spPr>
          <a:xfrm>
            <a:off x="3003947" y="4029075"/>
            <a:ext cx="45898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Vector</a:t>
            </a:r>
            <a:endParaRPr lang="en-US" sz="800" dirty="0"/>
          </a:p>
        </p:txBody>
      </p:sp>
      <p:sp>
        <p:nvSpPr>
          <p:cNvPr id="53" name="Text 50"/>
          <p:cNvSpPr/>
          <p:nvPr/>
        </p:nvSpPr>
        <p:spPr>
          <a:xfrm>
            <a:off x="3548658" y="4016273"/>
            <a:ext cx="597396" cy="254203"/>
          </a:xfrm>
          <a:prstGeom prst="roundRect">
            <a:avLst>
              <a:gd name="adj" fmla="val 1498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1"/>
          <p:cNvSpPr/>
          <p:nvPr/>
        </p:nvSpPr>
        <p:spPr>
          <a:xfrm>
            <a:off x="3520265" y="4029075"/>
            <a:ext cx="65418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Fluent Bit</a:t>
            </a:r>
            <a:endParaRPr lang="en-US" sz="800" dirty="0"/>
          </a:p>
        </p:txBody>
      </p:sp>
      <p:sp>
        <p:nvSpPr>
          <p:cNvPr id="55" name="Text 52"/>
          <p:cNvSpPr/>
          <p:nvPr/>
        </p:nvSpPr>
        <p:spPr>
          <a:xfrm>
            <a:off x="517922" y="4546997"/>
            <a:ext cx="8108156" cy="621506"/>
          </a:xfrm>
          <a:prstGeom prst="roundRect">
            <a:avLst>
              <a:gd name="adj" fmla="val 12261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3"/>
          <p:cNvSpPr/>
          <p:nvPr/>
        </p:nvSpPr>
        <p:spPr>
          <a:xfrm>
            <a:off x="521494" y="4550569"/>
            <a:ext cx="928688" cy="614363"/>
          </a:xfrm>
          <a:prstGeom prst="rect">
            <a:avLst/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Shape 54"/>
          <p:cNvSpPr/>
          <p:nvPr/>
        </p:nvSpPr>
        <p:spPr>
          <a:xfrm>
            <a:off x="1446609" y="4550569"/>
            <a:ext cx="0" cy="614363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521494" y="4550569"/>
            <a:ext cx="928688" cy="592931"/>
          </a:xfrm>
          <a:prstGeom prst="rect">
            <a:avLst/>
          </a:prstGeom>
          <a:noFill/>
          <a:ln/>
        </p:spPr>
        <p:txBody>
          <a:bodyPr wrap="none" lIns="85725" tIns="71438" rIns="85725" bIns="71438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37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RELIABILITY</a:t>
            </a:r>
            <a:endParaRPr lang="en-US" sz="800" dirty="0"/>
          </a:p>
        </p:txBody>
      </p:sp>
      <p:sp>
        <p:nvSpPr>
          <p:cNvPr id="59" name="Text 56"/>
          <p:cNvSpPr/>
          <p:nvPr/>
        </p:nvSpPr>
        <p:spPr>
          <a:xfrm>
            <a:off x="1564481" y="4730648"/>
            <a:ext cx="702543" cy="254203"/>
          </a:xfrm>
          <a:prstGeom prst="roundRect">
            <a:avLst>
              <a:gd name="adj" fmla="val 1498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57"/>
          <p:cNvSpPr/>
          <p:nvPr/>
        </p:nvSpPr>
        <p:spPr>
          <a:xfrm>
            <a:off x="1564481" y="4743450"/>
            <a:ext cx="70254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Chaos Mesh</a:t>
            </a:r>
            <a:endParaRPr lang="en-US" sz="800" dirty="0"/>
          </a:p>
        </p:txBody>
      </p:sp>
      <p:sp>
        <p:nvSpPr>
          <p:cNvPr id="61" name="Text 58"/>
          <p:cNvSpPr/>
          <p:nvPr/>
        </p:nvSpPr>
        <p:spPr>
          <a:xfrm>
            <a:off x="2352749" y="4730648"/>
            <a:ext cx="523838" cy="254203"/>
          </a:xfrm>
          <a:prstGeom prst="roundRect">
            <a:avLst>
              <a:gd name="adj" fmla="val 1498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59"/>
          <p:cNvSpPr/>
          <p:nvPr/>
        </p:nvSpPr>
        <p:spPr>
          <a:xfrm>
            <a:off x="2352749" y="4743450"/>
            <a:ext cx="52383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Gremlin</a:t>
            </a:r>
            <a:endParaRPr lang="en-US" sz="800" dirty="0"/>
          </a:p>
        </p:txBody>
      </p:sp>
      <p:sp>
        <p:nvSpPr>
          <p:cNvPr id="63" name="Text 60"/>
          <p:cNvSpPr/>
          <p:nvPr/>
        </p:nvSpPr>
        <p:spPr>
          <a:xfrm>
            <a:off x="2962312" y="4730648"/>
            <a:ext cx="737257" cy="254203"/>
          </a:xfrm>
          <a:prstGeom prst="roundRect">
            <a:avLst>
              <a:gd name="adj" fmla="val 1498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4" name="Text 61"/>
          <p:cNvSpPr/>
          <p:nvPr/>
        </p:nvSpPr>
        <p:spPr>
          <a:xfrm>
            <a:off x="2958292" y="4743450"/>
            <a:ext cx="74529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LitmusChaos</a:t>
            </a:r>
            <a:endParaRPr lang="en-US" sz="800" dirty="0"/>
          </a:p>
        </p:txBody>
      </p:sp>
      <p:sp>
        <p:nvSpPr>
          <p:cNvPr id="65" name="Text 62"/>
          <p:cNvSpPr/>
          <p:nvPr/>
        </p:nvSpPr>
        <p:spPr>
          <a:xfrm>
            <a:off x="3785295" y="4730648"/>
            <a:ext cx="404403" cy="254203"/>
          </a:xfrm>
          <a:prstGeom prst="roundRect">
            <a:avLst>
              <a:gd name="adj" fmla="val 1498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6" name="Text 63"/>
          <p:cNvSpPr/>
          <p:nvPr/>
        </p:nvSpPr>
        <p:spPr>
          <a:xfrm>
            <a:off x="3785295" y="4743450"/>
            <a:ext cx="40440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Sloth</a:t>
            </a:r>
            <a:endParaRPr lang="en-US" sz="800" dirty="0"/>
          </a:p>
        </p:txBody>
      </p:sp>
      <p:sp>
        <p:nvSpPr>
          <p:cNvPr id="67" name="Shape 64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514350" y="4754166"/>
            <a:ext cx="3937434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69" name="Text 66"/>
          <p:cNvSpPr/>
          <p:nvPr/>
        </p:nvSpPr>
        <p:spPr>
          <a:xfrm>
            <a:off x="4466072" y="4750594"/>
            <a:ext cx="3547430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56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09 / 12</a:t>
            </a:r>
            <a:endParaRPr lang="en-US" sz="800" dirty="0"/>
          </a:p>
        </p:txBody>
      </p:sp>
      <p:sp>
        <p:nvSpPr>
          <p:cNvPr id="70" name="Text 67"/>
          <p:cNvSpPr/>
          <p:nvPr/>
        </p:nvSpPr>
        <p:spPr>
          <a:xfrm>
            <a:off x="7980897" y="4750594"/>
            <a:ext cx="69564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56" kern="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</a:t>
            </a:r>
            <a:endParaRPr lang="en-US" sz="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2863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2950" y="364331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742950" y="685800"/>
            <a:ext cx="8401050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IMPLEMENTATION ROADMAP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742950" y="875109"/>
            <a:ext cx="7858125" cy="2483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11"/>
              </a:lnSpc>
              <a:buNone/>
            </a:pPr>
            <a:r>
              <a:rPr lang="en-US" sz="1575" b="1" spc="-16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phased engineering roadmap from assessment to production.</a:t>
            </a:r>
            <a:endParaRPr lang="en-US" sz="1575" dirty="0"/>
          </a:p>
        </p:txBody>
      </p:sp>
      <p:sp>
        <p:nvSpPr>
          <p:cNvPr id="6" name="Text 3"/>
          <p:cNvSpPr/>
          <p:nvPr/>
        </p:nvSpPr>
        <p:spPr>
          <a:xfrm>
            <a:off x="742950" y="1162199"/>
            <a:ext cx="76581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Each phase carries concrete engineering deliverables, technical milestones, and exit criteria.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17922" y="1689497"/>
            <a:ext cx="1921669" cy="2564606"/>
          </a:xfrm>
          <a:prstGeom prst="roundRect">
            <a:avLst>
              <a:gd name="adj" fmla="val 4957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621506" y="1807369"/>
            <a:ext cx="1714500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621506" y="1982391"/>
            <a:ext cx="1714500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44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Technical Assessment</a:t>
            </a:r>
            <a:endParaRPr lang="en-US" sz="844" dirty="0"/>
          </a:p>
        </p:txBody>
      </p:sp>
      <p:sp>
        <p:nvSpPr>
          <p:cNvPr id="10" name="Text 7"/>
          <p:cNvSpPr/>
          <p:nvPr/>
        </p:nvSpPr>
        <p:spPr>
          <a:xfrm>
            <a:off x="621506" y="2168128"/>
            <a:ext cx="17145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 WEEKS · FIXED FEE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621506" y="2375297"/>
            <a:ext cx="1714500" cy="7144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621506" y="2468166"/>
            <a:ext cx="1817370" cy="126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71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ENGINEERING DELIVERABLES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621506" y="2621756"/>
            <a:ext cx="1714500" cy="645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Architecture audit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Tool landscape assessment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Gap analysis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Engineering roadmap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621506" y="3946922"/>
            <a:ext cx="17145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1506" y="3943350"/>
            <a:ext cx="1714500" cy="192881"/>
          </a:xfrm>
          <a:prstGeom prst="rect">
            <a:avLst/>
          </a:prstGeom>
          <a:noFill/>
          <a:ln/>
        </p:spPr>
        <p:txBody>
          <a:bodyPr wrap="none" lIns="0" tIns="5715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$25K–$75K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2580122" y="1689497"/>
            <a:ext cx="1921669" cy="2564606"/>
          </a:xfrm>
          <a:prstGeom prst="roundRect">
            <a:avLst>
              <a:gd name="adj" fmla="val 4957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2683706" y="1807369"/>
            <a:ext cx="1714500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2683706" y="1982391"/>
            <a:ext cx="1714500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44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Foundation Engineering</a:t>
            </a:r>
            <a:endParaRPr lang="en-US" sz="844" dirty="0"/>
          </a:p>
        </p:txBody>
      </p:sp>
      <p:sp>
        <p:nvSpPr>
          <p:cNvPr id="19" name="Text 16"/>
          <p:cNvSpPr/>
          <p:nvPr/>
        </p:nvSpPr>
        <p:spPr>
          <a:xfrm>
            <a:off x="2683706" y="2168128"/>
            <a:ext cx="17145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3–6 WEEKS · FIXED FEE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2683706" y="2375297"/>
            <a:ext cx="1714500" cy="7144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2683706" y="2468166"/>
            <a:ext cx="1817370" cy="126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71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ENGINEERING DELIVERABLES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2683706" y="2621756"/>
            <a:ext cx="1714500" cy="645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Core platform setup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CI/CD pipeline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Observability stack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Security baseline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2683706" y="3946922"/>
            <a:ext cx="17145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2683706" y="3943350"/>
            <a:ext cx="1714500" cy="192881"/>
          </a:xfrm>
          <a:prstGeom prst="rect">
            <a:avLst/>
          </a:prstGeom>
          <a:noFill/>
          <a:ln/>
        </p:spPr>
        <p:txBody>
          <a:bodyPr wrap="none" lIns="0" tIns="5715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$50K–$150K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4642210" y="1689497"/>
            <a:ext cx="1921669" cy="2564606"/>
          </a:xfrm>
          <a:prstGeom prst="roundRect">
            <a:avLst>
              <a:gd name="adj" fmla="val 4957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4745794" y="1807369"/>
            <a:ext cx="1714500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4745794" y="1982391"/>
            <a:ext cx="1714500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44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Production Build</a:t>
            </a:r>
            <a:endParaRPr lang="en-US" sz="844" dirty="0"/>
          </a:p>
        </p:txBody>
      </p:sp>
      <p:sp>
        <p:nvSpPr>
          <p:cNvPr id="28" name="Text 25"/>
          <p:cNvSpPr/>
          <p:nvPr/>
        </p:nvSpPr>
        <p:spPr>
          <a:xfrm>
            <a:off x="4745794" y="2168128"/>
            <a:ext cx="17145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8–24 WEEKS · T&amp;M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4745794" y="2375297"/>
            <a:ext cx="1714500" cy="7144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4745794" y="2468166"/>
            <a:ext cx="1817370" cy="126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71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ENGINEERING DELIVERABLES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4745794" y="2621756"/>
            <a:ext cx="1714500" cy="645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Production system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Performance validation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Security hardening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Documentation + handover</a:t>
            </a:r>
            <a:endParaRPr lang="en-US" sz="800" dirty="0"/>
          </a:p>
        </p:txBody>
      </p:sp>
      <p:sp>
        <p:nvSpPr>
          <p:cNvPr id="32" name="Shape 29"/>
          <p:cNvSpPr/>
          <p:nvPr/>
        </p:nvSpPr>
        <p:spPr>
          <a:xfrm>
            <a:off x="4745794" y="3946922"/>
            <a:ext cx="17145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745794" y="3943350"/>
            <a:ext cx="1714500" cy="192881"/>
          </a:xfrm>
          <a:prstGeom prst="rect">
            <a:avLst/>
          </a:prstGeom>
          <a:noFill/>
          <a:ln/>
        </p:spPr>
        <p:txBody>
          <a:bodyPr wrap="none" lIns="0" tIns="5715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$300K–$1M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6704409" y="1689497"/>
            <a:ext cx="1921669" cy="2564606"/>
          </a:xfrm>
          <a:prstGeom prst="roundRect">
            <a:avLst>
              <a:gd name="adj" fmla="val 4957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2"/>
          <p:cNvSpPr/>
          <p:nvPr/>
        </p:nvSpPr>
        <p:spPr>
          <a:xfrm>
            <a:off x="6807994" y="1807369"/>
            <a:ext cx="1714500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6807994" y="1982391"/>
            <a:ext cx="1714500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44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Managed Engineering</a:t>
            </a:r>
            <a:endParaRPr lang="en-US" sz="844" dirty="0"/>
          </a:p>
        </p:txBody>
      </p:sp>
      <p:sp>
        <p:nvSpPr>
          <p:cNvPr id="37" name="Text 34"/>
          <p:cNvSpPr/>
          <p:nvPr/>
        </p:nvSpPr>
        <p:spPr>
          <a:xfrm>
            <a:off x="6807994" y="2168128"/>
            <a:ext cx="17145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ONGOING · RETAINER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6807994" y="2375297"/>
            <a:ext cx="1714500" cy="7144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6"/>
          <p:cNvSpPr/>
          <p:nvPr/>
        </p:nvSpPr>
        <p:spPr>
          <a:xfrm>
            <a:off x="6807994" y="2468166"/>
            <a:ext cx="1817370" cy="126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71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ENGINEERING DELIVERABLES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6807994" y="2621756"/>
            <a:ext cx="1714500" cy="645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FF6C0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Production operations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FF6C0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Continuous optimization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FF6C0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Quarterly architecture reviews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FF6C0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SLA-backed engineering</a:t>
            </a:r>
            <a:endParaRPr lang="en-US" sz="800" dirty="0"/>
          </a:p>
        </p:txBody>
      </p:sp>
      <p:sp>
        <p:nvSpPr>
          <p:cNvPr id="41" name="Shape 38"/>
          <p:cNvSpPr/>
          <p:nvPr/>
        </p:nvSpPr>
        <p:spPr>
          <a:xfrm>
            <a:off x="6807994" y="3946922"/>
            <a:ext cx="17145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6807994" y="3943350"/>
            <a:ext cx="1714500" cy="192881"/>
          </a:xfrm>
          <a:prstGeom prst="rect">
            <a:avLst/>
          </a:prstGeom>
          <a:noFill/>
          <a:ln/>
        </p:spPr>
        <p:txBody>
          <a:bodyPr wrap="none" lIns="0" tIns="5715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$50K–$500K / mo</a:t>
            </a:r>
            <a:endParaRPr lang="en-US" sz="800" dirty="0"/>
          </a:p>
        </p:txBody>
      </p:sp>
      <p:sp>
        <p:nvSpPr>
          <p:cNvPr id="43" name="Shape 40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514350" y="4754166"/>
            <a:ext cx="4062785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5" name="Text 42"/>
          <p:cNvSpPr/>
          <p:nvPr/>
        </p:nvSpPr>
        <p:spPr>
          <a:xfrm>
            <a:off x="4591422" y="4750594"/>
            <a:ext cx="3672780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56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 / 12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8245617" y="4750594"/>
            <a:ext cx="41690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56" kern="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ROADMAP</a:t>
            </a:r>
            <a:endParaRPr lang="en-US" sz="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2863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2950" y="364331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742950" y="685800"/>
            <a:ext cx="8401050" cy="1618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ENGINEERING BEST PRACTICES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742950" y="875109"/>
            <a:ext cx="8401050" cy="2838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spc="-18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Principles that separate production from prototype.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742950" y="1195127"/>
            <a:ext cx="76581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Not theoretical — these are the engineering disciplines we enforce on every engagement.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42950" y="1771650"/>
            <a:ext cx="3893344" cy="1071563"/>
          </a:xfrm>
          <a:prstGeom prst="roundRect">
            <a:avLst>
              <a:gd name="adj" fmla="val 7111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742950" y="1775222"/>
            <a:ext cx="3893344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632722" y="1771650"/>
            <a:ext cx="0" cy="1071563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42950" y="2839641"/>
            <a:ext cx="3893344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57238" y="1771650"/>
            <a:ext cx="0" cy="1071563"/>
          </a:xfrm>
          <a:prstGeom prst="line">
            <a:avLst/>
          </a:prstGeom>
          <a:noFill/>
          <a:ln w="28575">
            <a:solidFill>
              <a:srgbClr val="004C9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28688" y="1907381"/>
            <a:ext cx="35433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79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928688" y="2100263"/>
            <a:ext cx="3653028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Production requirements first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928688" y="2286000"/>
            <a:ext cx="35433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Start with latency, throughput, reliability, cost, and compliance SLAs. Engineer backward from constraints, not forward from tools.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4779169" y="1771650"/>
            <a:ext cx="3893344" cy="1071563"/>
          </a:xfrm>
          <a:prstGeom prst="roundRect">
            <a:avLst>
              <a:gd name="adj" fmla="val 7111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3"/>
          <p:cNvSpPr/>
          <p:nvPr/>
        </p:nvSpPr>
        <p:spPr>
          <a:xfrm>
            <a:off x="4779169" y="1775222"/>
            <a:ext cx="3893344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668941" y="1771650"/>
            <a:ext cx="0" cy="1071563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779169" y="2839641"/>
            <a:ext cx="3893344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793456" y="1771650"/>
            <a:ext cx="0" cy="1071563"/>
          </a:xfrm>
          <a:prstGeom prst="line">
            <a:avLst/>
          </a:prstGeom>
          <a:noFill/>
          <a:ln w="28575">
            <a:solidFill>
              <a:srgbClr val="004C9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964906" y="1907381"/>
            <a:ext cx="35433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79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4964906" y="2100263"/>
            <a:ext cx="3653028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Observability is not optional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4964906" y="2286000"/>
            <a:ext cx="35433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Every system ships with distributed tracing, metrics, and logging from day one. If you can't measure it, you can't operate it.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742950" y="2986088"/>
            <a:ext cx="3893344" cy="1071563"/>
          </a:xfrm>
          <a:prstGeom prst="roundRect">
            <a:avLst>
              <a:gd name="adj" fmla="val 7111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1"/>
          <p:cNvSpPr/>
          <p:nvPr/>
        </p:nvSpPr>
        <p:spPr>
          <a:xfrm>
            <a:off x="742950" y="2989659"/>
            <a:ext cx="3893344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632722" y="2986088"/>
            <a:ext cx="0" cy="1071563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42950" y="4054078"/>
            <a:ext cx="3893344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57238" y="2986088"/>
            <a:ext cx="0" cy="1071563"/>
          </a:xfrm>
          <a:prstGeom prst="line">
            <a:avLst/>
          </a:prstGeom>
          <a:noFill/>
          <a:ln w="28575">
            <a:solidFill>
              <a:srgbClr val="004C97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928688" y="3121819"/>
            <a:ext cx="35433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79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928688" y="3314700"/>
            <a:ext cx="3543300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Security in the pipeline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928688" y="3500438"/>
            <a:ext cx="35433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Security scanning, SBOM, and compliance checks embedded in CI/CD — not a separate audit after launch.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4779169" y="2986088"/>
            <a:ext cx="3893344" cy="1071563"/>
          </a:xfrm>
          <a:prstGeom prst="roundRect">
            <a:avLst>
              <a:gd name="adj" fmla="val 7111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Shape 29"/>
          <p:cNvSpPr/>
          <p:nvPr/>
        </p:nvSpPr>
        <p:spPr>
          <a:xfrm>
            <a:off x="4779169" y="2989659"/>
            <a:ext cx="3893344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8668941" y="2986088"/>
            <a:ext cx="0" cy="1071563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4779169" y="4054078"/>
            <a:ext cx="3893344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4793456" y="2986088"/>
            <a:ext cx="0" cy="1071563"/>
          </a:xfrm>
          <a:prstGeom prst="line">
            <a:avLst/>
          </a:prstGeom>
          <a:noFill/>
          <a:ln w="28575">
            <a:solidFill>
              <a:srgbClr val="FF6C0E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964906" y="3121819"/>
            <a:ext cx="35433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79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4964906" y="3314700"/>
            <a:ext cx="3543300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 for rollback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4964906" y="3500438"/>
            <a:ext cx="35433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Every deployment must be reversible. Feature flags, blue-green, canary — not big-bang deployments.</a:t>
            </a:r>
            <a:endParaRPr lang="en-US" sz="800" dirty="0"/>
          </a:p>
        </p:txBody>
      </p:sp>
      <p:sp>
        <p:nvSpPr>
          <p:cNvPr id="39" name="Shape 36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514350" y="4754166"/>
            <a:ext cx="3887316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4415954" y="4750594"/>
            <a:ext cx="3497200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56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11 / 12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7927442" y="4750594"/>
            <a:ext cx="702208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56" kern="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BEST PRACTICES</a:t>
            </a:r>
            <a:endParaRPr lang="en-US" sz="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2863" cy="5143500"/>
          </a:xfrm>
          <a:prstGeom prst="rect">
            <a:avLst/>
          </a:prstGeom>
        </p:spPr>
      </p:pic>
      <p:pic>
        <p:nvPicPr>
          <p:cNvPr id="3" name="Image 1" descr="/tmp/h2p-fit-1790857382674-6v8esj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685800"/>
            <a:ext cx="1857375" cy="30215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400800" y="1571625"/>
            <a:ext cx="7144" cy="2714625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1"/>
          <p:cNvSpPr/>
          <p:nvPr/>
        </p:nvSpPr>
        <p:spPr>
          <a:xfrm>
            <a:off x="742950" y="1714500"/>
            <a:ext cx="451515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GET IN TOUCH</a:t>
            </a:r>
            <a:endParaRPr lang="en-US" sz="800" dirty="0"/>
          </a:p>
        </p:txBody>
      </p:sp>
      <p:sp>
        <p:nvSpPr>
          <p:cNvPr id="6" name="Text 2"/>
          <p:cNvSpPr/>
          <p:nvPr/>
        </p:nvSpPr>
        <p:spPr>
          <a:xfrm>
            <a:off x="742950" y="1960959"/>
            <a:ext cx="3573494" cy="4211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3307"/>
              </a:lnSpc>
              <a:buNone/>
            </a:pPr>
            <a:r>
              <a:rPr lang="en-US" sz="3150" b="1" spc="-63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Let us engineer</a:t>
            </a:r>
            <a:endParaRPr lang="en-US" sz="3150" dirty="0"/>
          </a:p>
        </p:txBody>
      </p:sp>
      <p:sp>
        <p:nvSpPr>
          <p:cNvPr id="7" name="Text 3"/>
          <p:cNvSpPr/>
          <p:nvPr/>
        </p:nvSpPr>
        <p:spPr>
          <a:xfrm>
            <a:off x="742950" y="2409565"/>
            <a:ext cx="3988699" cy="45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7"/>
              </a:lnSpc>
              <a:buNone/>
            </a:pPr>
            <a:r>
              <a:rPr lang="en-US" sz="3150" b="1" spc="-63" kern="0" dirty="0">
                <a:solidFill>
                  <a:srgbClr val="FF6C0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is next.</a:t>
            </a:r>
            <a:endParaRPr lang="en-US" sz="3150" dirty="0"/>
          </a:p>
        </p:txBody>
      </p:sp>
      <p:sp>
        <p:nvSpPr>
          <p:cNvPr id="8" name="Text 4"/>
          <p:cNvSpPr/>
          <p:nvPr/>
        </p:nvSpPr>
        <p:spPr>
          <a:xfrm>
            <a:off x="742950" y="2986757"/>
            <a:ext cx="342900" cy="21431"/>
          </a:xfrm>
          <a:prstGeom prst="roundRect">
            <a:avLst>
              <a:gd name="adj" fmla="val 88890"/>
            </a:avLst>
          </a:prstGeom>
          <a:solidFill>
            <a:srgbClr val="FF6C0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5"/>
          <p:cNvSpPr/>
          <p:nvPr/>
        </p:nvSpPr>
        <p:spPr>
          <a:xfrm>
            <a:off x="742950" y="3151063"/>
            <a:ext cx="3675593" cy="1839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info@kefitech.com · www.kefitech.com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742950" y="3362474"/>
            <a:ext cx="3675593" cy="197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Bengaluru, India · Hyderabad, India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6528691" y="1857375"/>
            <a:ext cx="980841" cy="194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418"/>
              </a:lnSpc>
              <a:buNone/>
            </a:pPr>
            <a:r>
              <a:rPr lang="en-US" sz="1013" spc="41" kern="0" dirty="0">
                <a:solidFill>
                  <a:srgbClr val="004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Discover.</a:t>
            </a:r>
            <a:endParaRPr lang="en-US" sz="1013" dirty="0"/>
          </a:p>
        </p:txBody>
      </p:sp>
      <p:sp>
        <p:nvSpPr>
          <p:cNvPr id="12" name="Text 8"/>
          <p:cNvSpPr/>
          <p:nvPr/>
        </p:nvSpPr>
        <p:spPr>
          <a:xfrm>
            <a:off x="6528691" y="2237333"/>
            <a:ext cx="980841" cy="194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418"/>
              </a:lnSpc>
              <a:buNone/>
            </a:pPr>
            <a:r>
              <a:rPr lang="en-US" sz="1013" spc="41" kern="0" dirty="0">
                <a:solidFill>
                  <a:srgbClr val="004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Engineer.</a:t>
            </a:r>
            <a:endParaRPr lang="en-US" sz="1013" dirty="0"/>
          </a:p>
        </p:txBody>
      </p:sp>
      <p:sp>
        <p:nvSpPr>
          <p:cNvPr id="13" name="Text 9"/>
          <p:cNvSpPr/>
          <p:nvPr/>
        </p:nvSpPr>
        <p:spPr>
          <a:xfrm>
            <a:off x="6528691" y="2617291"/>
            <a:ext cx="980841" cy="194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418"/>
              </a:lnSpc>
              <a:buNone/>
            </a:pPr>
            <a:r>
              <a:rPr lang="en-US" sz="1013" spc="41" kern="0" dirty="0">
                <a:solidFill>
                  <a:srgbClr val="FF6C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Scale.</a:t>
            </a:r>
            <a:endParaRPr lang="en-US" sz="1013" dirty="0"/>
          </a:p>
        </p:txBody>
      </p:sp>
      <p:sp>
        <p:nvSpPr>
          <p:cNvPr id="14" name="Shape 10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14350" y="4754166"/>
            <a:ext cx="3335573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3864211" y="4750594"/>
            <a:ext cx="2945569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56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12 / 12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6824067" y="4750594"/>
            <a:ext cx="1913918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56" kern="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INFO@KEFITECH.COM · WWW.KEFITECH.COM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2026-10-01T12:23:02Z</dcterms:created>
  <dcterms:modified xsi:type="dcterms:W3CDTF">2026-10-01T12:23:02Z</dcterms:modified>
</cp:coreProperties>
</file>