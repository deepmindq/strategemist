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pic>
        <p:nvPicPr>
          <p:cNvPr id="3" name="Image 1" descr="/tmp/h2p-fit-1790857289116-7tq7x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457200"/>
            <a:ext cx="1857375" cy="30215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36679" y="557213"/>
            <a:ext cx="410732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90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KEFI TECH · EVENT-DRIVEN ARCHITECTURE &amp; REAL-TIME STREAMING · 2026</a:t>
            </a:r>
            <a:endParaRPr lang="en-US" sz="600" dirty="0"/>
          </a:p>
        </p:txBody>
      </p:sp>
      <p:sp>
        <p:nvSpPr>
          <p:cNvPr id="5" name="Text 1"/>
          <p:cNvSpPr/>
          <p:nvPr/>
        </p:nvSpPr>
        <p:spPr>
          <a:xfrm>
            <a:off x="742950" y="1685925"/>
            <a:ext cx="720291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 · DEEP TECH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742950" y="1946672"/>
            <a:ext cx="5972175" cy="7353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700" b="1" spc="-4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Event-Driven Architecture</a:t>
            </a:r>
            <a:endParaRPr lang="en-US" sz="2700" dirty="0"/>
          </a:p>
          <a:p>
            <a:pPr algn="l" indent="0" marL="0">
              <a:lnSpc>
                <a:spcPts val="2835"/>
              </a:lnSpc>
              <a:buNone/>
            </a:pPr>
            <a:r>
              <a:rPr lang="en-US" sz="2700" b="1" spc="-4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&amp; Real-Time Streaming</a:t>
            </a:r>
            <a:endParaRPr lang="en-US" sz="2700" dirty="0"/>
          </a:p>
        </p:txBody>
      </p:sp>
      <p:sp>
        <p:nvSpPr>
          <p:cNvPr id="7" name="Text 3"/>
          <p:cNvSpPr/>
          <p:nvPr/>
        </p:nvSpPr>
        <p:spPr>
          <a:xfrm>
            <a:off x="742950" y="2709490"/>
            <a:ext cx="5972175" cy="388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700" b="1" spc="-49" kern="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engineered for production.</a:t>
            </a:r>
            <a:endParaRPr lang="en-US" sz="2700" dirty="0"/>
          </a:p>
        </p:txBody>
      </p:sp>
      <p:sp>
        <p:nvSpPr>
          <p:cNvPr id="8" name="Text 4"/>
          <p:cNvSpPr/>
          <p:nvPr/>
        </p:nvSpPr>
        <p:spPr>
          <a:xfrm>
            <a:off x="742950" y="3255206"/>
            <a:ext cx="342900" cy="21431"/>
          </a:xfrm>
          <a:prstGeom prst="roundRect">
            <a:avLst>
              <a:gd name="adj" fmla="val 88890"/>
            </a:avLst>
          </a:prstGeom>
          <a:solidFill>
            <a:srgbClr val="FF6C0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742950" y="3405225"/>
            <a:ext cx="5863590" cy="237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238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Events as the source of truth — at any throughput.</a:t>
            </a:r>
            <a:endParaRPr lang="en-US" sz="1238" dirty="0"/>
          </a:p>
        </p:txBody>
      </p:sp>
      <p:sp>
        <p:nvSpPr>
          <p:cNvPr id="10" name="Text 6"/>
          <p:cNvSpPr/>
          <p:nvPr/>
        </p:nvSpPr>
        <p:spPr>
          <a:xfrm>
            <a:off x="6400800" y="1714500"/>
            <a:ext cx="7144" cy="2257425"/>
          </a:xfrm>
          <a:prstGeom prst="rect">
            <a:avLst/>
          </a:prstGeom>
          <a:solidFill>
            <a:srgbClr val="94A3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6572250" y="1814513"/>
            <a:ext cx="1324161" cy="307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spc="62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pPr algn="l" indent="0" marL="0">
              <a:lnSpc>
                <a:spcPts val="866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Streaming Platform</a:t>
            </a:r>
            <a:endParaRPr lang="en-US" sz="800" dirty="0"/>
          </a:p>
          <a:p>
            <a:pPr algn="l" indent="0" marL="0">
              <a:lnSpc>
                <a:spcPts val="866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Engineering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6572250" y="2248719"/>
            <a:ext cx="1324161" cy="307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spc="62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pPr algn="l" indent="0" marL="0">
              <a:lnSpc>
                <a:spcPts val="866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Change Data Capture</a:t>
            </a:r>
            <a:endParaRPr lang="en-US" sz="800" dirty="0"/>
          </a:p>
          <a:p>
            <a:pPr algn="l" indent="0" marL="0">
              <a:lnSpc>
                <a:spcPts val="866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(CDC)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6572250" y="2682925"/>
            <a:ext cx="1324161" cy="307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spc="62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pPr algn="l" indent="0" marL="0">
              <a:lnSpc>
                <a:spcPts val="866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Stream Processing</a:t>
            </a:r>
            <a:endParaRPr lang="en-US" sz="800" dirty="0"/>
          </a:p>
          <a:p>
            <a:pPr algn="l" indent="0" marL="0">
              <a:lnSpc>
                <a:spcPts val="866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 Materialization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14350" y="4754166"/>
            <a:ext cx="5434719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5963357" y="4750594"/>
            <a:ext cx="2666293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/ 12 · EVENT-DRIVEN ARCHITECTURE &amp; REAL-TIME STREAMING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60772"/>
            <a:ext cx="6828755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57393" y="457200"/>
            <a:ext cx="15247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79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TECHNICAL CHALLENGE · 02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514350" y="721519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TECHNICAL CHALLENGE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910828"/>
            <a:ext cx="7700963" cy="535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91"/>
              </a:lnSpc>
              <a:buNone/>
            </a:pPr>
            <a:r>
              <a:rPr lang="en-US" sz="1688" b="1" spc="-20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Where most event-driven architecture &amp; real-time streaming programs fail.</a:t>
            </a:r>
            <a:endParaRPr lang="en-US" sz="1688" dirty="0"/>
          </a:p>
        </p:txBody>
      </p:sp>
      <p:sp>
        <p:nvSpPr>
          <p:cNvPr id="6" name="Text 4"/>
          <p:cNvSpPr/>
          <p:nvPr/>
        </p:nvSpPr>
        <p:spPr>
          <a:xfrm>
            <a:off x="514350" y="1473622"/>
            <a:ext cx="65722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gap between prototype and production is where engineering discipline matters most.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7922" y="1798662"/>
            <a:ext cx="3993356" cy="2564606"/>
          </a:xfrm>
          <a:prstGeom prst="roundRect">
            <a:avLst>
              <a:gd name="adj" fmla="val 445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64369" y="1930822"/>
            <a:ext cx="370046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COMMON FAILURE POINTS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67941" y="2137990"/>
            <a:ext cx="3693319" cy="410989"/>
          </a:xfrm>
          <a:prstGeom prst="roundRect">
            <a:avLst>
              <a:gd name="adj" fmla="val 27811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71525" y="2220144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406" dirty="0"/>
          </a:p>
        </p:txBody>
      </p:sp>
      <p:sp>
        <p:nvSpPr>
          <p:cNvPr id="11" name="Text 9"/>
          <p:cNvSpPr/>
          <p:nvPr/>
        </p:nvSpPr>
        <p:spPr>
          <a:xfrm>
            <a:off x="1000125" y="2220144"/>
            <a:ext cx="3367278" cy="105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Prototype-grade architecture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00125" y="2352973"/>
            <a:ext cx="3257550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Solutions built for demos, not production load, latency, or reliability requirements.</a:t>
            </a:r>
            <a:endParaRPr lang="en-US" sz="619" dirty="0"/>
          </a:p>
        </p:txBody>
      </p:sp>
      <p:sp>
        <p:nvSpPr>
          <p:cNvPr id="13" name="Text 11"/>
          <p:cNvSpPr/>
          <p:nvPr/>
        </p:nvSpPr>
        <p:spPr>
          <a:xfrm>
            <a:off x="667941" y="2613273"/>
            <a:ext cx="3693319" cy="410989"/>
          </a:xfrm>
          <a:prstGeom prst="roundRect">
            <a:avLst>
              <a:gd name="adj" fmla="val 27811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71525" y="2695426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15" name="Text 13"/>
          <p:cNvSpPr/>
          <p:nvPr/>
        </p:nvSpPr>
        <p:spPr>
          <a:xfrm>
            <a:off x="1000125" y="2695426"/>
            <a:ext cx="3367278" cy="105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observability or evaluation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00125" y="2828255"/>
            <a:ext cx="3257550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metrics for accuracy, latency, cost, or drift — teams fly blind in production.</a:t>
            </a:r>
            <a:endParaRPr lang="en-US" sz="619" dirty="0"/>
          </a:p>
        </p:txBody>
      </p:sp>
      <p:sp>
        <p:nvSpPr>
          <p:cNvPr id="17" name="Text 15"/>
          <p:cNvSpPr/>
          <p:nvPr/>
        </p:nvSpPr>
        <p:spPr>
          <a:xfrm>
            <a:off x="667941" y="3088556"/>
            <a:ext cx="3693319" cy="410989"/>
          </a:xfrm>
          <a:prstGeom prst="roundRect">
            <a:avLst>
              <a:gd name="adj" fmla="val 27811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71525" y="3170709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406" dirty="0"/>
          </a:p>
        </p:txBody>
      </p:sp>
      <p:sp>
        <p:nvSpPr>
          <p:cNvPr id="19" name="Text 17"/>
          <p:cNvSpPr/>
          <p:nvPr/>
        </p:nvSpPr>
        <p:spPr>
          <a:xfrm>
            <a:off x="1000125" y="3170709"/>
            <a:ext cx="3257550" cy="1053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as afterthought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00125" y="3303538"/>
            <a:ext cx="3257550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guardrails, no audit trails, no compliance — bolted on after launch.</a:t>
            </a:r>
            <a:endParaRPr lang="en-US" sz="619" dirty="0"/>
          </a:p>
        </p:txBody>
      </p:sp>
      <p:sp>
        <p:nvSpPr>
          <p:cNvPr id="21" name="Text 19"/>
          <p:cNvSpPr/>
          <p:nvPr/>
        </p:nvSpPr>
        <p:spPr>
          <a:xfrm>
            <a:off x="667941" y="3563838"/>
            <a:ext cx="3693319" cy="410989"/>
          </a:xfrm>
          <a:prstGeom prst="roundRect">
            <a:avLst>
              <a:gd name="adj" fmla="val 27811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71525" y="3645991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↘</a:t>
            </a:r>
            <a:endParaRPr lang="en-US" sz="1406" dirty="0"/>
          </a:p>
        </p:txBody>
      </p:sp>
      <p:sp>
        <p:nvSpPr>
          <p:cNvPr id="23" name="Text 21"/>
          <p:cNvSpPr/>
          <p:nvPr/>
        </p:nvSpPr>
        <p:spPr>
          <a:xfrm>
            <a:off x="1000125" y="3645991"/>
            <a:ext cx="3257550" cy="1053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operational maturity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00125" y="3778821"/>
            <a:ext cx="3257550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CI/CD for models, no rollback, no A/B testing, no drift detection.</a:t>
            </a:r>
            <a:endParaRPr lang="en-US" sz="619" dirty="0"/>
          </a:p>
        </p:txBody>
      </p:sp>
      <p:sp>
        <p:nvSpPr>
          <p:cNvPr id="25" name="Text 23"/>
          <p:cNvSpPr/>
          <p:nvPr/>
        </p:nvSpPr>
        <p:spPr>
          <a:xfrm>
            <a:off x="4689872" y="1798662"/>
            <a:ext cx="3936206" cy="2564606"/>
          </a:xfrm>
          <a:prstGeom prst="roundRect">
            <a:avLst>
              <a:gd name="adj" fmla="val 445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36319" y="1930822"/>
            <a:ext cx="36433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D43F0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 APPROACH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836319" y="2148706"/>
            <a:ext cx="3643313" cy="1883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 treat event-driven architecture &amp; real-time streaming as an engineering discipline, not a science experiment. Every engagement starts with production requirements — latency, throughput, reliability, cost, compliance — and engineers backward from those constraints.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836319" y="4095378"/>
            <a:ext cx="1997236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836319" y="4095378"/>
            <a:ext cx="1997236" cy="135731"/>
          </a:xfrm>
          <a:prstGeom prst="rect">
            <a:avLst/>
          </a:prstGeom>
          <a:noFill/>
          <a:ln/>
        </p:spPr>
        <p:txBody>
          <a:bodyPr wrap="squar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PRODUCTION-FIRST · ENGINEERING-GRADE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4350" y="4754166"/>
            <a:ext cx="4026954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555592" y="4750594"/>
            <a:ext cx="3577121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12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124125" y="4750594"/>
            <a:ext cx="52840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CHALLENGE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60772"/>
            <a:ext cx="7199784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28421" y="457200"/>
            <a:ext cx="114495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CAPABILITIES · 03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721519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910828"/>
            <a:ext cx="8629650" cy="291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b="1" spc="-2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capability areas. One engineering system.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14350" y="1237655"/>
            <a:ext cx="65722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capability area is a deep technical domain — not a generic service line.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7922" y="1562695"/>
            <a:ext cx="3886200" cy="1064419"/>
          </a:xfrm>
          <a:prstGeom prst="roundRect">
            <a:avLst>
              <a:gd name="adj" fmla="val 1073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78656" y="1694855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969" dirty="0"/>
          </a:p>
        </p:txBody>
      </p:sp>
      <p:sp>
        <p:nvSpPr>
          <p:cNvPr id="9" name="Text 7"/>
          <p:cNvSpPr/>
          <p:nvPr/>
        </p:nvSpPr>
        <p:spPr>
          <a:xfrm>
            <a:off x="4086469" y="1719858"/>
            <a:ext cx="181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47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788" dirty="0"/>
          </a:p>
        </p:txBody>
      </p:sp>
      <p:sp>
        <p:nvSpPr>
          <p:cNvPr id="10" name="Text 8"/>
          <p:cNvSpPr/>
          <p:nvPr/>
        </p:nvSpPr>
        <p:spPr>
          <a:xfrm>
            <a:off x="678656" y="1952030"/>
            <a:ext cx="3674459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Streaming Platform Engineering</a:t>
            </a:r>
            <a:endParaRPr lang="en-US" sz="1238" dirty="0"/>
          </a:p>
        </p:txBody>
      </p:sp>
      <p:sp>
        <p:nvSpPr>
          <p:cNvPr id="11" name="Text 9"/>
          <p:cNvSpPr/>
          <p:nvPr/>
        </p:nvSpPr>
        <p:spPr>
          <a:xfrm>
            <a:off x="678656" y="2197708"/>
            <a:ext cx="3564731" cy="297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in streaming platform engineering with real platforms and tools.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25566" y="1562695"/>
            <a:ext cx="3886200" cy="1064419"/>
          </a:xfrm>
          <a:prstGeom prst="roundRect">
            <a:avLst>
              <a:gd name="adj" fmla="val 1073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686300" y="1694855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1969" dirty="0"/>
          </a:p>
        </p:txBody>
      </p:sp>
      <p:sp>
        <p:nvSpPr>
          <p:cNvPr id="14" name="Text 12"/>
          <p:cNvSpPr/>
          <p:nvPr/>
        </p:nvSpPr>
        <p:spPr>
          <a:xfrm>
            <a:off x="8094113" y="1719858"/>
            <a:ext cx="181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47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788" dirty="0"/>
          </a:p>
        </p:txBody>
      </p:sp>
      <p:sp>
        <p:nvSpPr>
          <p:cNvPr id="15" name="Text 13"/>
          <p:cNvSpPr/>
          <p:nvPr/>
        </p:nvSpPr>
        <p:spPr>
          <a:xfrm>
            <a:off x="4686300" y="1952030"/>
            <a:ext cx="3564731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Change Data Capture (CDC)</a:t>
            </a:r>
            <a:endParaRPr lang="en-US" sz="1238" dirty="0"/>
          </a:p>
        </p:txBody>
      </p:sp>
      <p:sp>
        <p:nvSpPr>
          <p:cNvPr id="16" name="Text 14"/>
          <p:cNvSpPr/>
          <p:nvPr/>
        </p:nvSpPr>
        <p:spPr>
          <a:xfrm>
            <a:off x="4686300" y="2197708"/>
            <a:ext cx="3564731" cy="297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in change data capture (cdc) with real platforms and tools.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17922" y="2748558"/>
            <a:ext cx="3886200" cy="1064419"/>
          </a:xfrm>
          <a:prstGeom prst="roundRect">
            <a:avLst>
              <a:gd name="adj" fmla="val 1073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78656" y="2880717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969" dirty="0"/>
          </a:p>
        </p:txBody>
      </p:sp>
      <p:sp>
        <p:nvSpPr>
          <p:cNvPr id="19" name="Text 17"/>
          <p:cNvSpPr/>
          <p:nvPr/>
        </p:nvSpPr>
        <p:spPr>
          <a:xfrm>
            <a:off x="4086469" y="2905720"/>
            <a:ext cx="181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47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788" dirty="0"/>
          </a:p>
        </p:txBody>
      </p:sp>
      <p:sp>
        <p:nvSpPr>
          <p:cNvPr id="20" name="Text 18"/>
          <p:cNvSpPr/>
          <p:nvPr/>
        </p:nvSpPr>
        <p:spPr>
          <a:xfrm>
            <a:off x="678656" y="3137892"/>
            <a:ext cx="3674459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Stream Processing &amp; Materialization</a:t>
            </a:r>
            <a:endParaRPr lang="en-US" sz="1238" dirty="0"/>
          </a:p>
        </p:txBody>
      </p:sp>
      <p:sp>
        <p:nvSpPr>
          <p:cNvPr id="21" name="Text 19"/>
          <p:cNvSpPr/>
          <p:nvPr/>
        </p:nvSpPr>
        <p:spPr>
          <a:xfrm>
            <a:off x="678656" y="3383570"/>
            <a:ext cx="3564731" cy="297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in stream processing &amp; materialization with real platforms and tools.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25566" y="2748558"/>
            <a:ext cx="3886200" cy="1064419"/>
          </a:xfrm>
          <a:prstGeom prst="roundRect">
            <a:avLst>
              <a:gd name="adj" fmla="val 1073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686300" y="2880717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969" dirty="0"/>
          </a:p>
        </p:txBody>
      </p:sp>
      <p:sp>
        <p:nvSpPr>
          <p:cNvPr id="24" name="Text 22"/>
          <p:cNvSpPr/>
          <p:nvPr/>
        </p:nvSpPr>
        <p:spPr>
          <a:xfrm>
            <a:off x="8094113" y="2905720"/>
            <a:ext cx="181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47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788" dirty="0"/>
          </a:p>
        </p:txBody>
      </p:sp>
      <p:sp>
        <p:nvSpPr>
          <p:cNvPr id="25" name="Text 23"/>
          <p:cNvSpPr/>
          <p:nvPr/>
        </p:nvSpPr>
        <p:spPr>
          <a:xfrm>
            <a:off x="4686300" y="3137892"/>
            <a:ext cx="3674459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Schema, Governance &amp; Connectors</a:t>
            </a:r>
            <a:endParaRPr lang="en-US" sz="1238" dirty="0"/>
          </a:p>
        </p:txBody>
      </p:sp>
      <p:sp>
        <p:nvSpPr>
          <p:cNvPr id="26" name="Text 24"/>
          <p:cNvSpPr/>
          <p:nvPr/>
        </p:nvSpPr>
        <p:spPr>
          <a:xfrm>
            <a:off x="4686300" y="3383570"/>
            <a:ext cx="3564731" cy="297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in schema, governance &amp; connectors with real platforms and tools.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4350" y="4754166"/>
            <a:ext cx="3997821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526459" y="4750594"/>
            <a:ext cx="354798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12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011370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60772"/>
            <a:ext cx="7146764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675401" y="457200"/>
            <a:ext cx="12123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01 · 04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721519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910828"/>
            <a:ext cx="8629650" cy="285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b="1" spc="-2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Streaming Platform Engineering.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14350" y="1223367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with real platforms, tools, and frameworks.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7922" y="1534120"/>
            <a:ext cx="399335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78656" y="1680567"/>
            <a:ext cx="36718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APPROACH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78656" y="1898452"/>
            <a:ext cx="3671888" cy="21406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streaming platform engineering capability goes beyond surface-level integration. We engineer at the protocol, configuration, and architecture level — working with real platforms and tools, not abstract concepts. Every sub-service below carries specific tool names, configuration patterns, and engineering decisions.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55796" y="4094583"/>
            <a:ext cx="978872" cy="144018"/>
          </a:xfrm>
          <a:prstGeom prst="roundRect">
            <a:avLst>
              <a:gd name="adj" fmla="val 26455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78656" y="4102298"/>
            <a:ext cx="9331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1 OF 4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689872" y="1534120"/>
            <a:ext cx="393620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07744" y="1637705"/>
            <a:ext cx="3700463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811316" y="1830586"/>
            <a:ext cx="3693319" cy="431416"/>
          </a:xfrm>
          <a:prstGeom prst="roundRect">
            <a:avLst>
              <a:gd name="adj" fmla="val 1324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72885" y="1884164"/>
            <a:ext cx="184221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57887" y="188416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266" dirty="0"/>
          </a:p>
        </p:txBody>
      </p:sp>
      <p:sp>
        <p:nvSpPr>
          <p:cNvPr id="17" name="Text 15"/>
          <p:cNvSpPr/>
          <p:nvPr/>
        </p:nvSpPr>
        <p:spPr>
          <a:xfrm>
            <a:off x="5257912" y="1884164"/>
            <a:ext cx="3288585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Confluent Kafka Cluster Operations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257912" y="2001255"/>
            <a:ext cx="3178857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Confluent Kafka multi-region clusters — KRaft consensus, tiered storage to S3, Confluent Schema Registry, ksqlDB.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811316" y="2312008"/>
            <a:ext cx="3693319" cy="431416"/>
          </a:xfrm>
          <a:prstGeom prst="roundRect">
            <a:avLst>
              <a:gd name="adj" fmla="val 1324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72885" y="2365586"/>
            <a:ext cx="184221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057887" y="236558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266" dirty="0"/>
          </a:p>
        </p:txBody>
      </p:sp>
      <p:sp>
        <p:nvSpPr>
          <p:cNvPr id="22" name="Text 20"/>
          <p:cNvSpPr/>
          <p:nvPr/>
        </p:nvSpPr>
        <p:spPr>
          <a:xfrm>
            <a:off x="5257912" y="2365586"/>
            <a:ext cx="3288585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Apache Pulsar Geo-Replication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257912" y="2482676"/>
            <a:ext cx="3178857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Apache Pulsar — BookKeeper persistence, cross-region geo-replication, tiered storage to S3/GCS, Pulsar Functions.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811316" y="2793429"/>
            <a:ext cx="3693319" cy="431416"/>
          </a:xfrm>
          <a:prstGeom prst="roundRect">
            <a:avLst>
              <a:gd name="adj" fmla="val 1324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872885" y="2847008"/>
            <a:ext cx="184221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057887" y="284700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266" dirty="0"/>
          </a:p>
        </p:txBody>
      </p:sp>
      <p:sp>
        <p:nvSpPr>
          <p:cNvPr id="27" name="Text 25"/>
          <p:cNvSpPr/>
          <p:nvPr/>
        </p:nvSpPr>
        <p:spPr>
          <a:xfrm>
            <a:off x="5257912" y="2847008"/>
            <a:ext cx="3288585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MSK Serverless Auto-Scaling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257912" y="2964098"/>
            <a:ext cx="3178857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MSK Serverless — on-demand partitions, automatic broker scaling, IAM auth, Kinesis-compatible APIs.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811316" y="3274851"/>
            <a:ext cx="3693319" cy="431416"/>
          </a:xfrm>
          <a:prstGeom prst="roundRect">
            <a:avLst>
              <a:gd name="adj" fmla="val 1324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872885" y="3328429"/>
            <a:ext cx="184221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057887" y="332842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266" dirty="0"/>
          </a:p>
        </p:txBody>
      </p:sp>
      <p:sp>
        <p:nvSpPr>
          <p:cNvPr id="32" name="Text 30"/>
          <p:cNvSpPr/>
          <p:nvPr/>
        </p:nvSpPr>
        <p:spPr>
          <a:xfrm>
            <a:off x="5257912" y="3328429"/>
            <a:ext cx="3288585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Redpanda Kafka-Compatible Engine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257912" y="3445520"/>
            <a:ext cx="3178857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Redpanda Community / Enterprise — C++ Kafka-compatible, no JVM, no ZooKeeper, tiered storage to S3.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811316" y="3756273"/>
            <a:ext cx="3693319" cy="431416"/>
          </a:xfrm>
          <a:prstGeom prst="roundRect">
            <a:avLst>
              <a:gd name="adj" fmla="val 1324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872885" y="3809851"/>
            <a:ext cx="184221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057887" y="380985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266" dirty="0"/>
          </a:p>
        </p:txBody>
      </p:sp>
      <p:sp>
        <p:nvSpPr>
          <p:cNvPr id="37" name="Text 35"/>
          <p:cNvSpPr/>
          <p:nvPr/>
        </p:nvSpPr>
        <p:spPr>
          <a:xfrm>
            <a:off x="5257912" y="3809851"/>
            <a:ext cx="3288585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Aiven Kafka Managed Service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257912" y="3926942"/>
            <a:ext cx="3178857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Aiven for Apache Kafka — multi-cloud, BYOC, Kafka Connect pre-installed, Karapace schema registry + Klaw governance.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4350" y="4754166"/>
            <a:ext cx="3508697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037335" y="4750594"/>
            <a:ext cx="3058753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12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110375" y="4750594"/>
            <a:ext cx="1610431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STREAMING PLATFORM ENGINEERING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60772"/>
            <a:ext cx="7146764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675401" y="457200"/>
            <a:ext cx="12123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02 · 05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721519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910828"/>
            <a:ext cx="8629650" cy="285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b="1" spc="-2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Change Data Capture (CDC).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14350" y="1223367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with real platforms, tools, and frameworks.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7922" y="1534120"/>
            <a:ext cx="399335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78656" y="1680567"/>
            <a:ext cx="36718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APPROACH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78656" y="1898452"/>
            <a:ext cx="3671888" cy="21406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change data capture (cdc) capability goes beyond surface-level integration. We engineer at the protocol, configuration, and architecture level — working with real platforms and tools, not abstract concepts. Every sub-service below carries specific tool names, configuration patterns, and engineering decisions.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55796" y="4094583"/>
            <a:ext cx="978872" cy="144018"/>
          </a:xfrm>
          <a:prstGeom prst="roundRect">
            <a:avLst>
              <a:gd name="adj" fmla="val 26455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78656" y="4102298"/>
            <a:ext cx="9331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2 OF 4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689872" y="1534120"/>
            <a:ext cx="393620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07744" y="1637705"/>
            <a:ext cx="3700463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811316" y="1830586"/>
            <a:ext cx="3693319" cy="431416"/>
          </a:xfrm>
          <a:prstGeom prst="roundRect">
            <a:avLst>
              <a:gd name="adj" fmla="val 1324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72885" y="1884164"/>
            <a:ext cx="184221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57887" y="188416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266" dirty="0"/>
          </a:p>
        </p:txBody>
      </p:sp>
      <p:sp>
        <p:nvSpPr>
          <p:cNvPr id="17" name="Text 15"/>
          <p:cNvSpPr/>
          <p:nvPr/>
        </p:nvSpPr>
        <p:spPr>
          <a:xfrm>
            <a:off x="5257912" y="1884164"/>
            <a:ext cx="3288585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Debezium MySQL/Postgres CDC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257912" y="2001255"/>
            <a:ext cx="3178857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Debezium connectors — log-based CDC (MySQL binlog, Postgres logical replication), exactly-once via Kafka Connect.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811316" y="2312008"/>
            <a:ext cx="3693319" cy="431416"/>
          </a:xfrm>
          <a:prstGeom prst="roundRect">
            <a:avLst>
              <a:gd name="adj" fmla="val 1324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72885" y="2365586"/>
            <a:ext cx="184221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057887" y="236558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266" dirty="0"/>
          </a:p>
        </p:txBody>
      </p:sp>
      <p:sp>
        <p:nvSpPr>
          <p:cNvPr id="22" name="Text 20"/>
          <p:cNvSpPr/>
          <p:nvPr/>
        </p:nvSpPr>
        <p:spPr>
          <a:xfrm>
            <a:off x="5257912" y="2365586"/>
            <a:ext cx="3288585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Confluent JDBC &amp; Debezium Connectors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257912" y="2482676"/>
            <a:ext cx="3178857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Confluent JDBC / Debezium connectors — schema evolution with Schema Registry, Avro / Protobuf serialization.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811316" y="2793429"/>
            <a:ext cx="3693319" cy="431416"/>
          </a:xfrm>
          <a:prstGeom prst="roundRect">
            <a:avLst>
              <a:gd name="adj" fmla="val 1324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872885" y="2847008"/>
            <a:ext cx="184221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057887" y="284700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266" dirty="0"/>
          </a:p>
        </p:txBody>
      </p:sp>
      <p:sp>
        <p:nvSpPr>
          <p:cNvPr id="27" name="Text 25"/>
          <p:cNvSpPr/>
          <p:nvPr/>
        </p:nvSpPr>
        <p:spPr>
          <a:xfrm>
            <a:off x="5257912" y="2847008"/>
            <a:ext cx="3178857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DMS CDC Migration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257912" y="2964098"/>
            <a:ext cx="3178857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Database Migration Service (DMS) — Oracle/SQL Server → Kafka, full load + CDC, schema conversion via SCT.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811316" y="3274851"/>
            <a:ext cx="3693319" cy="431416"/>
          </a:xfrm>
          <a:prstGeom prst="roundRect">
            <a:avLst>
              <a:gd name="adj" fmla="val 1324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872885" y="3328429"/>
            <a:ext cx="184221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057887" y="332842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266" dirty="0"/>
          </a:p>
        </p:txBody>
      </p:sp>
      <p:sp>
        <p:nvSpPr>
          <p:cNvPr id="32" name="Text 30"/>
          <p:cNvSpPr/>
          <p:nvPr/>
        </p:nvSpPr>
        <p:spPr>
          <a:xfrm>
            <a:off x="5257912" y="3328429"/>
            <a:ext cx="3178857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Striim Streaming CDC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257912" y="3445520"/>
            <a:ext cx="3178857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Striim — log-based CDC across Oracle, SQL Server, PostgreSQL, SAP HANA, mainframe DB2.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811316" y="3756273"/>
            <a:ext cx="3693319" cy="431416"/>
          </a:xfrm>
          <a:prstGeom prst="roundRect">
            <a:avLst>
              <a:gd name="adj" fmla="val 1324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872885" y="3809851"/>
            <a:ext cx="184221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057887" y="380985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266" dirty="0"/>
          </a:p>
        </p:txBody>
      </p:sp>
      <p:sp>
        <p:nvSpPr>
          <p:cNvPr id="37" name="Text 35"/>
          <p:cNvSpPr/>
          <p:nvPr/>
        </p:nvSpPr>
        <p:spPr>
          <a:xfrm>
            <a:off x="5257912" y="3809851"/>
            <a:ext cx="3178857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Decodable Real-Time ETL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257912" y="3926942"/>
            <a:ext cx="3178857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Decodable (Flink-based) — fully managed CDC pipelines, Flink SQL streaming queries to Kafka / Kinesis.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4350" y="4754166"/>
            <a:ext cx="3645991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174629" y="4750594"/>
            <a:ext cx="319615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12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385075" y="4750594"/>
            <a:ext cx="124457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CHANGE DATA CAPTURE (CDC)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60772"/>
            <a:ext cx="7146764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675401" y="457200"/>
            <a:ext cx="12123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03 · 06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721519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910828"/>
            <a:ext cx="8629650" cy="285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b="1" spc="-2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Stream Processing &amp; Materialization.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14350" y="1223367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with real platforms, tools, and frameworks.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7922" y="1534120"/>
            <a:ext cx="399335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78656" y="1680567"/>
            <a:ext cx="36718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APPROACH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78656" y="1898452"/>
            <a:ext cx="3671888" cy="21406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stream processing &amp; materialization capability goes beyond surface-level integration. We engineer at the protocol, configuration, and architecture level — working with real platforms and tools, not abstract concepts. Every sub-service below carries specific tool names, configuration patterns, and engineering decisions.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55796" y="4094583"/>
            <a:ext cx="978872" cy="144018"/>
          </a:xfrm>
          <a:prstGeom prst="roundRect">
            <a:avLst>
              <a:gd name="adj" fmla="val 26455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78656" y="4102298"/>
            <a:ext cx="9331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3 OF 4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689872" y="1534120"/>
            <a:ext cx="393620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07744" y="1637705"/>
            <a:ext cx="3700463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811316" y="1830586"/>
            <a:ext cx="3693319" cy="431416"/>
          </a:xfrm>
          <a:prstGeom prst="roundRect">
            <a:avLst>
              <a:gd name="adj" fmla="val 1324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72885" y="1884164"/>
            <a:ext cx="184221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57887" y="188416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266" dirty="0"/>
          </a:p>
        </p:txBody>
      </p:sp>
      <p:sp>
        <p:nvSpPr>
          <p:cNvPr id="17" name="Text 15"/>
          <p:cNvSpPr/>
          <p:nvPr/>
        </p:nvSpPr>
        <p:spPr>
          <a:xfrm>
            <a:off x="5257912" y="1884164"/>
            <a:ext cx="3288585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Apache Flink Stream Processing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257912" y="2001255"/>
            <a:ext cx="3178857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Apache Flink — event-time processing, watermarking, stateful CEP, exactly-once via 2PC sink to Kafka.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811316" y="2312008"/>
            <a:ext cx="3693319" cy="431416"/>
          </a:xfrm>
          <a:prstGeom prst="roundRect">
            <a:avLst>
              <a:gd name="adj" fmla="val 1324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72885" y="2365586"/>
            <a:ext cx="184221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057887" y="236558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266" dirty="0"/>
          </a:p>
        </p:txBody>
      </p:sp>
      <p:sp>
        <p:nvSpPr>
          <p:cNvPr id="22" name="Text 20"/>
          <p:cNvSpPr/>
          <p:nvPr/>
        </p:nvSpPr>
        <p:spPr>
          <a:xfrm>
            <a:off x="5257912" y="2365586"/>
            <a:ext cx="3178857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RisingWave Streaming SQL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257912" y="2482676"/>
            <a:ext cx="3178857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RisingWave — streaming materialized views in SQL, Postgres-compatible, incremental computation, Flink alternative.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811316" y="2793429"/>
            <a:ext cx="3693319" cy="431416"/>
          </a:xfrm>
          <a:prstGeom prst="roundRect">
            <a:avLst>
              <a:gd name="adj" fmla="val 1324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872885" y="2847008"/>
            <a:ext cx="184221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057887" y="284700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266" dirty="0"/>
          </a:p>
        </p:txBody>
      </p:sp>
      <p:sp>
        <p:nvSpPr>
          <p:cNvPr id="27" name="Text 25"/>
          <p:cNvSpPr/>
          <p:nvPr/>
        </p:nvSpPr>
        <p:spPr>
          <a:xfrm>
            <a:off x="5257912" y="2847008"/>
            <a:ext cx="3288585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Materialize Streaming Database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257912" y="2964098"/>
            <a:ext cx="3178857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Materialize — SQL materialized views on Kafka, real-time joins with Postgres CDC, no-ETL operational analytics.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811316" y="3274851"/>
            <a:ext cx="3693319" cy="431416"/>
          </a:xfrm>
          <a:prstGeom prst="roundRect">
            <a:avLst>
              <a:gd name="adj" fmla="val 1324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872885" y="3328429"/>
            <a:ext cx="184221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057887" y="332842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266" dirty="0"/>
          </a:p>
        </p:txBody>
      </p:sp>
      <p:sp>
        <p:nvSpPr>
          <p:cNvPr id="32" name="Text 30"/>
          <p:cNvSpPr/>
          <p:nvPr/>
        </p:nvSpPr>
        <p:spPr>
          <a:xfrm>
            <a:off x="5257912" y="3328429"/>
            <a:ext cx="3288585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Kafka Streams Native Processing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257912" y="3445520"/>
            <a:ext cx="3178857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Kafka Streams DSL / Processor API — windowed aggregations, KStream-KTable joins, Interactive Queries.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811316" y="3756273"/>
            <a:ext cx="3693319" cy="431416"/>
          </a:xfrm>
          <a:prstGeom prst="roundRect">
            <a:avLst>
              <a:gd name="adj" fmla="val 1324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872885" y="3809851"/>
            <a:ext cx="184221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057887" y="380985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266" dirty="0"/>
          </a:p>
        </p:txBody>
      </p:sp>
      <p:sp>
        <p:nvSpPr>
          <p:cNvPr id="37" name="Text 35"/>
          <p:cNvSpPr/>
          <p:nvPr/>
        </p:nvSpPr>
        <p:spPr>
          <a:xfrm>
            <a:off x="5257912" y="3809851"/>
            <a:ext cx="3288585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Apache Pinot Real-Time Analytics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257912" y="3926942"/>
            <a:ext cx="3178857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Apache Pinot — real-time OLAP ingestion from Kafka, star-tree index, sub-second SQL via Trino.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4350" y="4754166"/>
            <a:ext cx="3406564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935202" y="4750594"/>
            <a:ext cx="295662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12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906109" y="4750594"/>
            <a:ext cx="1826954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STREAM PROCESSING &amp; MATERIALIZATION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60772"/>
            <a:ext cx="7146764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675401" y="457200"/>
            <a:ext cx="12123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04 · 07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721519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910828"/>
            <a:ext cx="8629650" cy="285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b="1" spc="-2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Schema, Governance &amp; Connectors.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14350" y="1223367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with real platforms, tools, and frameworks.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7922" y="1534120"/>
            <a:ext cx="399335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78656" y="1680567"/>
            <a:ext cx="36718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APPROACH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78656" y="1898452"/>
            <a:ext cx="3671888" cy="21406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schema, governance &amp; connectors capability goes beyond surface-level integration. We engineer at the protocol, configuration, and architecture level — working with real platforms and tools, not abstract concepts. Every sub-service below carries specific tool names, configuration patterns, and engineering decisions.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55796" y="4094583"/>
            <a:ext cx="978872" cy="144018"/>
          </a:xfrm>
          <a:prstGeom prst="roundRect">
            <a:avLst>
              <a:gd name="adj" fmla="val 26455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78656" y="4102298"/>
            <a:ext cx="9331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4 OF 4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689872" y="1534120"/>
            <a:ext cx="393620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07744" y="1637705"/>
            <a:ext cx="3700463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811316" y="1830586"/>
            <a:ext cx="3693319" cy="431416"/>
          </a:xfrm>
          <a:prstGeom prst="roundRect">
            <a:avLst>
              <a:gd name="adj" fmla="val 1324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72885" y="1884164"/>
            <a:ext cx="184221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57887" y="188416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266" dirty="0"/>
          </a:p>
        </p:txBody>
      </p:sp>
      <p:sp>
        <p:nvSpPr>
          <p:cNvPr id="17" name="Text 15"/>
          <p:cNvSpPr/>
          <p:nvPr/>
        </p:nvSpPr>
        <p:spPr>
          <a:xfrm>
            <a:off x="5257912" y="1884164"/>
            <a:ext cx="3288585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Confluent Schema Registry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257912" y="2001255"/>
            <a:ext cx="3178857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Confluent Schema Registry — Avro / Protobuf / JSON Schema, schema evolution rules (BACKWARD/FORWARD/FULL compatibility).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811316" y="2312008"/>
            <a:ext cx="3693319" cy="431416"/>
          </a:xfrm>
          <a:prstGeom prst="roundRect">
            <a:avLst>
              <a:gd name="adj" fmla="val 1324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72885" y="2365586"/>
            <a:ext cx="184221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057887" y="236558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266" dirty="0"/>
          </a:p>
        </p:txBody>
      </p:sp>
      <p:sp>
        <p:nvSpPr>
          <p:cNvPr id="22" name="Text 20"/>
          <p:cNvSpPr/>
          <p:nvPr/>
        </p:nvSpPr>
        <p:spPr>
          <a:xfrm>
            <a:off x="5257912" y="2365586"/>
            <a:ext cx="3178857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Glue Schema Registry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257912" y="2482676"/>
            <a:ext cx="3178857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Glue Schema Registry — Avro / JSON / Protobuf schemas, MSK integration, Kinesis Data Streams binding.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811316" y="2793429"/>
            <a:ext cx="3693319" cy="431416"/>
          </a:xfrm>
          <a:prstGeom prst="roundRect">
            <a:avLst>
              <a:gd name="adj" fmla="val 1324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872885" y="2847008"/>
            <a:ext cx="184221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057887" y="284700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266" dirty="0"/>
          </a:p>
        </p:txBody>
      </p:sp>
      <p:sp>
        <p:nvSpPr>
          <p:cNvPr id="27" name="Text 25"/>
          <p:cNvSpPr/>
          <p:nvPr/>
        </p:nvSpPr>
        <p:spPr>
          <a:xfrm>
            <a:off x="5257912" y="2847008"/>
            <a:ext cx="3178857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Klaw Schema Governance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257912" y="2964098"/>
            <a:ext cx="3178857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Klaw (Aiven) — schema request / approval workflow, multi-tenant, ACL governance, topic lifecycle.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811316" y="3274851"/>
            <a:ext cx="3693319" cy="431416"/>
          </a:xfrm>
          <a:prstGeom prst="roundRect">
            <a:avLst>
              <a:gd name="adj" fmla="val 1324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872885" y="3328429"/>
            <a:ext cx="184221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057887" y="332842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266" dirty="0"/>
          </a:p>
        </p:txBody>
      </p:sp>
      <p:sp>
        <p:nvSpPr>
          <p:cNvPr id="32" name="Text 30"/>
          <p:cNvSpPr/>
          <p:nvPr/>
        </p:nvSpPr>
        <p:spPr>
          <a:xfrm>
            <a:off x="5257912" y="3328429"/>
            <a:ext cx="3288585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Kafka Connect Sink/Source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257912" y="3445520"/>
            <a:ext cx="3178857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Kafka Connect ecosystem — JDBC, Elasticsearch, S3, Snowflake, MongoDB, BigQuery connectors via Debezium / Confluent.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811316" y="3756273"/>
            <a:ext cx="3693319" cy="431416"/>
          </a:xfrm>
          <a:prstGeom prst="roundRect">
            <a:avLst>
              <a:gd name="adj" fmla="val 1324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872885" y="3809851"/>
            <a:ext cx="184221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057887" y="380985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266" dirty="0"/>
          </a:p>
        </p:txBody>
      </p:sp>
      <p:sp>
        <p:nvSpPr>
          <p:cNvPr id="37" name="Text 35"/>
          <p:cNvSpPr/>
          <p:nvPr/>
        </p:nvSpPr>
        <p:spPr>
          <a:xfrm>
            <a:off x="5257912" y="3809851"/>
            <a:ext cx="3178857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Karapace Schema Registry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257912" y="3926942"/>
            <a:ext cx="3178857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Aiven Karapace — Schema Registry + REST proxy open-source, Confluent-compatible, multi-region failover.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4350" y="4754166"/>
            <a:ext cx="345032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978957" y="4750594"/>
            <a:ext cx="3000487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12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993731" y="4750594"/>
            <a:ext cx="1734074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SCHEMA, GOVERNANCE &amp; CONNECTORS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60772"/>
            <a:ext cx="6669695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198333" y="457200"/>
            <a:ext cx="15834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79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TECHNICAL APPLICATIONS · 08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514350" y="721519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TECHNICAL APPLICATIONS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910828"/>
            <a:ext cx="8629650" cy="291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b="1" spc="-2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Where this creates engineering value.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14350" y="1237655"/>
            <a:ext cx="70008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specific engineering scenarios where event-driven architecture &amp; real-time streaming delivers measurable production impact.</a:t>
            </a:r>
            <a:endParaRPr lang="en-US" sz="788" dirty="0"/>
          </a:p>
        </p:txBody>
      </p:sp>
      <p:sp>
        <p:nvSpPr>
          <p:cNvPr id="7" name="Text 5"/>
          <p:cNvSpPr/>
          <p:nvPr/>
        </p:nvSpPr>
        <p:spPr>
          <a:xfrm>
            <a:off x="517922" y="1562695"/>
            <a:ext cx="3886200" cy="1064419"/>
          </a:xfrm>
          <a:prstGeom prst="roundRect">
            <a:avLst>
              <a:gd name="adj" fmla="val 1073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78656" y="1694855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➤</a:t>
            </a:r>
            <a:endParaRPr lang="en-US" sz="1969" dirty="0"/>
          </a:p>
        </p:txBody>
      </p:sp>
      <p:sp>
        <p:nvSpPr>
          <p:cNvPr id="9" name="Text 7"/>
          <p:cNvSpPr/>
          <p:nvPr/>
        </p:nvSpPr>
        <p:spPr>
          <a:xfrm>
            <a:off x="4177085" y="1719858"/>
            <a:ext cx="914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47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78656" y="1952030"/>
            <a:ext cx="3564731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Deployment</a:t>
            </a:r>
            <a:endParaRPr lang="en-US" sz="1238" dirty="0"/>
          </a:p>
        </p:txBody>
      </p:sp>
      <p:sp>
        <p:nvSpPr>
          <p:cNvPr id="11" name="Text 9"/>
          <p:cNvSpPr/>
          <p:nvPr/>
        </p:nvSpPr>
        <p:spPr>
          <a:xfrm>
            <a:off x="678656" y="2197708"/>
            <a:ext cx="3564731" cy="297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From prototype to production-grade deployment with real reliability, latency, and cost SLAs.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25566" y="1562695"/>
            <a:ext cx="3886200" cy="1064419"/>
          </a:xfrm>
          <a:prstGeom prst="roundRect">
            <a:avLst>
              <a:gd name="adj" fmla="val 1073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686300" y="1694855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969" dirty="0"/>
          </a:p>
        </p:txBody>
      </p:sp>
      <p:sp>
        <p:nvSpPr>
          <p:cNvPr id="14" name="Text 12"/>
          <p:cNvSpPr/>
          <p:nvPr/>
        </p:nvSpPr>
        <p:spPr>
          <a:xfrm>
            <a:off x="8094113" y="1719858"/>
            <a:ext cx="181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47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</a:t>
            </a:r>
            <a:endParaRPr lang="en-US" sz="788" dirty="0"/>
          </a:p>
        </p:txBody>
      </p:sp>
      <p:sp>
        <p:nvSpPr>
          <p:cNvPr id="15" name="Text 13"/>
          <p:cNvSpPr/>
          <p:nvPr/>
        </p:nvSpPr>
        <p:spPr>
          <a:xfrm>
            <a:off x="4686300" y="1952030"/>
            <a:ext cx="3674459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Observability &amp; Operations</a:t>
            </a:r>
            <a:endParaRPr lang="en-US" sz="1238" dirty="0"/>
          </a:p>
        </p:txBody>
      </p:sp>
      <p:sp>
        <p:nvSpPr>
          <p:cNvPr id="16" name="Text 14"/>
          <p:cNvSpPr/>
          <p:nvPr/>
        </p:nvSpPr>
        <p:spPr>
          <a:xfrm>
            <a:off x="4686300" y="2197708"/>
            <a:ext cx="3564731" cy="297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Continuous monitoring, evaluation, drift detection, and operational runbooks for production systems.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17922" y="2748558"/>
            <a:ext cx="3886200" cy="1064419"/>
          </a:xfrm>
          <a:prstGeom prst="roundRect">
            <a:avLst>
              <a:gd name="adj" fmla="val 1073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78656" y="2880717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969" dirty="0"/>
          </a:p>
        </p:txBody>
      </p:sp>
      <p:sp>
        <p:nvSpPr>
          <p:cNvPr id="19" name="Text 17"/>
          <p:cNvSpPr/>
          <p:nvPr/>
        </p:nvSpPr>
        <p:spPr>
          <a:xfrm>
            <a:off x="4016789" y="2905720"/>
            <a:ext cx="25451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47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III</a:t>
            </a:r>
            <a:endParaRPr lang="en-US" sz="788" dirty="0"/>
          </a:p>
        </p:txBody>
      </p:sp>
      <p:sp>
        <p:nvSpPr>
          <p:cNvPr id="20" name="Text 18"/>
          <p:cNvSpPr/>
          <p:nvPr/>
        </p:nvSpPr>
        <p:spPr>
          <a:xfrm>
            <a:off x="678656" y="3137892"/>
            <a:ext cx="3564731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&amp; Compliance</a:t>
            </a:r>
            <a:endParaRPr lang="en-US" sz="1238" dirty="0"/>
          </a:p>
        </p:txBody>
      </p:sp>
      <p:sp>
        <p:nvSpPr>
          <p:cNvPr id="21" name="Text 19"/>
          <p:cNvSpPr/>
          <p:nvPr/>
        </p:nvSpPr>
        <p:spPr>
          <a:xfrm>
            <a:off x="678656" y="3383570"/>
            <a:ext cx="3564731" cy="297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engineering, compliance automation, and audit-ready evidence collection built into the pipeline.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25566" y="2748558"/>
            <a:ext cx="3886200" cy="1064419"/>
          </a:xfrm>
          <a:prstGeom prst="roundRect">
            <a:avLst>
              <a:gd name="adj" fmla="val 1073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686300" y="2880717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969" dirty="0"/>
          </a:p>
        </p:txBody>
      </p:sp>
      <p:sp>
        <p:nvSpPr>
          <p:cNvPr id="24" name="Text 22"/>
          <p:cNvSpPr/>
          <p:nvPr/>
        </p:nvSpPr>
        <p:spPr>
          <a:xfrm>
            <a:off x="8094113" y="2905720"/>
            <a:ext cx="181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47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</a:t>
            </a:r>
            <a:endParaRPr lang="en-US" sz="788" dirty="0"/>
          </a:p>
        </p:txBody>
      </p:sp>
      <p:sp>
        <p:nvSpPr>
          <p:cNvPr id="25" name="Text 23"/>
          <p:cNvSpPr/>
          <p:nvPr/>
        </p:nvSpPr>
        <p:spPr>
          <a:xfrm>
            <a:off x="4686300" y="3137892"/>
            <a:ext cx="3564731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Scale &amp; Optimization</a:t>
            </a:r>
            <a:endParaRPr lang="en-US" sz="1238" dirty="0"/>
          </a:p>
        </p:txBody>
      </p:sp>
      <p:sp>
        <p:nvSpPr>
          <p:cNvPr id="26" name="Text 24"/>
          <p:cNvSpPr/>
          <p:nvPr/>
        </p:nvSpPr>
        <p:spPr>
          <a:xfrm>
            <a:off x="4686300" y="3383570"/>
            <a:ext cx="3564731" cy="297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Scaling from single-tenant to multi-tenant, optimizing cost, latency, and resource utilization.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4350" y="4754166"/>
            <a:ext cx="3979627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508264" y="4750594"/>
            <a:ext cx="3529682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12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993120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APPLICATIONS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60772"/>
            <a:ext cx="6669695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198333" y="457200"/>
            <a:ext cx="15834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79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REFERENCE ARCHITECTURE · 09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514350" y="721519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REFERENCE ARCHITECTURE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910828"/>
            <a:ext cx="8486775" cy="509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575" b="1" spc="-1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production reference architecture for event-driven architecture &amp; real-time streaming.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514350" y="1447949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Five layers with real platform and tool names — not generic architecture diagrams.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7922" y="1744414"/>
            <a:ext cx="8108156" cy="385763"/>
          </a:xfrm>
          <a:prstGeom prst="roundRect">
            <a:avLst>
              <a:gd name="adj" fmla="val 1975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21494" y="1747986"/>
            <a:ext cx="928688" cy="378619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1446609" y="1747986"/>
            <a:ext cx="0" cy="378619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494" y="1747986"/>
            <a:ext cx="928688" cy="378619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STREAMING BROKER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564481" y="1837283"/>
            <a:ext cx="630548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490322" y="1847999"/>
            <a:ext cx="778866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Apache Kafka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280754" y="1837283"/>
            <a:ext cx="649412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184856" y="1847999"/>
            <a:ext cx="841207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Apache Pulsar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015890" y="1837283"/>
            <a:ext cx="502183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993841" y="1847999"/>
            <a:ext cx="546283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Redpanda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603799" y="1837283"/>
            <a:ext cx="480417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586451" y="1847999"/>
            <a:ext cx="515112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MSK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17922" y="2208758"/>
            <a:ext cx="8108156" cy="300038"/>
          </a:xfrm>
          <a:prstGeom prst="roundRect">
            <a:avLst>
              <a:gd name="adj" fmla="val 2539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21494" y="2199528"/>
            <a:ext cx="928688" cy="318497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1446609" y="2212330"/>
            <a:ext cx="0" cy="292894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494" y="2212330"/>
            <a:ext cx="928688" cy="292894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CDC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564481" y="2258764"/>
            <a:ext cx="503411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543045" y="2269480"/>
            <a:ext cx="546283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Debezium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153617" y="2258764"/>
            <a:ext cx="685688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2153617" y="2269480"/>
            <a:ext cx="685688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Confluent JDBC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925031" y="2258764"/>
            <a:ext cx="488566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2911758" y="2269480"/>
            <a:ext cx="515112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DMS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499321" y="2258764"/>
            <a:ext cx="354955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465999" y="2269480"/>
            <a:ext cx="421599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Striim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17922" y="2587377"/>
            <a:ext cx="8108156" cy="385763"/>
          </a:xfrm>
          <a:prstGeom prst="roundRect">
            <a:avLst>
              <a:gd name="adj" fmla="val 1975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21494" y="2590949"/>
            <a:ext cx="928688" cy="378619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1446609" y="2590949"/>
            <a:ext cx="0" cy="378619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1494" y="2590949"/>
            <a:ext cx="928688" cy="378619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STREAM PROCESSING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564481" y="2680246"/>
            <a:ext cx="599517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474807" y="2690961"/>
            <a:ext cx="778866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Apache Flink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249723" y="2680246"/>
            <a:ext cx="556208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2186349" y="2690961"/>
            <a:ext cx="682955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RisingWave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891656" y="2680246"/>
            <a:ext cx="534442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2792223" y="2690961"/>
            <a:ext cx="733308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Materialize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511823" y="2680246"/>
            <a:ext cx="659681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3421060" y="2690961"/>
            <a:ext cx="841207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Kafka Streams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17922" y="3051721"/>
            <a:ext cx="8108156" cy="300038"/>
          </a:xfrm>
          <a:prstGeom prst="roundRect">
            <a:avLst>
              <a:gd name="adj" fmla="val 2539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521494" y="3042491"/>
            <a:ext cx="928688" cy="318497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1446609" y="3055293"/>
            <a:ext cx="0" cy="292894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21494" y="3055293"/>
            <a:ext cx="928688" cy="292894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ANALYTICS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564481" y="3101727"/>
            <a:ext cx="610456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1480276" y="3112443"/>
            <a:ext cx="778866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Apache Pinot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260662" y="3101727"/>
            <a:ext cx="537009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2187689" y="3112443"/>
            <a:ext cx="682955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ClickHouse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883396" y="3101727"/>
            <a:ext cx="626976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2807451" y="3112443"/>
            <a:ext cx="778866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Apache Druid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3596097" y="3101727"/>
            <a:ext cx="497384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3534482" y="3112443"/>
            <a:ext cx="620613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StarRocks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17922" y="3430339"/>
            <a:ext cx="8108156" cy="300038"/>
          </a:xfrm>
          <a:prstGeom prst="roundRect">
            <a:avLst>
              <a:gd name="adj" fmla="val 2539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521494" y="3421110"/>
            <a:ext cx="928688" cy="318497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Shape 55"/>
          <p:cNvSpPr/>
          <p:nvPr/>
        </p:nvSpPr>
        <p:spPr>
          <a:xfrm>
            <a:off x="1446609" y="3433911"/>
            <a:ext cx="0" cy="292894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21494" y="3433911"/>
            <a:ext cx="928688" cy="292894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SCHEMA &amp; GOV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1568053" y="3494633"/>
            <a:ext cx="1107281" cy="1714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1564481" y="3491061"/>
            <a:ext cx="1157288" cy="235744"/>
          </a:xfrm>
          <a:prstGeom prst="rect">
            <a:avLst/>
          </a:prstGeom>
          <a:noFill/>
          <a:ln/>
        </p:spPr>
        <p:txBody>
          <a:bodyPr wrap="square" lIns="64294" tIns="28575" rIns="64294" bIns="28575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Confluent Schema Registry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2764631" y="3480346"/>
            <a:ext cx="608670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2701113" y="3491061"/>
            <a:ext cx="735706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Glue SR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3459026" y="3480346"/>
            <a:ext cx="477738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3424754" y="3491061"/>
            <a:ext cx="546283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Karapace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4022489" y="3480346"/>
            <a:ext cx="311869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4022489" y="3491061"/>
            <a:ext cx="311869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Klaw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517922" y="3866108"/>
            <a:ext cx="8108156" cy="267891"/>
          </a:xfrm>
          <a:prstGeom prst="roundRect">
            <a:avLst>
              <a:gd name="adj" fmla="val 28444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621506" y="3941118"/>
            <a:ext cx="6482395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Five layers · Twenty real platforms · One engineering system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7118189" y="3946475"/>
            <a:ext cx="1404305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56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L1 → L5 · TOP-DOWN DATA FLOW</a:t>
            </a:r>
            <a:endParaRPr lang="en-US" sz="600" dirty="0"/>
          </a:p>
        </p:txBody>
      </p:sp>
      <p:sp>
        <p:nvSpPr>
          <p:cNvPr id="70" name="Shape 68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14350" y="4754166"/>
            <a:ext cx="395953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4488173" y="4750594"/>
            <a:ext cx="350959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12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7973028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ARCHITECTURE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60772"/>
            <a:ext cx="6669695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198333" y="457200"/>
            <a:ext cx="15834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79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IMPLEMENTATION ROADMAP · 10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514350" y="721519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IMPLEMENTATION ROADMAP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910828"/>
            <a:ext cx="8629650" cy="291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b="1" spc="-2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phased engineering roadmap from assessment to production.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14350" y="1237655"/>
            <a:ext cx="70008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phase carries concrete engineering deliverables, technical milestones, and exit criteria.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7922" y="1562695"/>
            <a:ext cx="1935956" cy="2564606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21506" y="1680567"/>
            <a:ext cx="1728788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21506" y="1855589"/>
            <a:ext cx="1728787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Technical Assessment</a:t>
            </a:r>
            <a:endParaRPr lang="en-US" sz="844" dirty="0"/>
          </a:p>
        </p:txBody>
      </p:sp>
      <p:sp>
        <p:nvSpPr>
          <p:cNvPr id="10" name="Text 8"/>
          <p:cNvSpPr/>
          <p:nvPr/>
        </p:nvSpPr>
        <p:spPr>
          <a:xfrm>
            <a:off x="621506" y="2041327"/>
            <a:ext cx="17287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WEEKS · FIXED FEE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21506" y="2248495"/>
            <a:ext cx="1728788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21506" y="2341364"/>
            <a:ext cx="183251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7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DELIVERABLES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21506" y="2537817"/>
            <a:ext cx="1728788" cy="1300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66"/>
              </a:lnSpc>
              <a:spcAft>
                <a:spcPts val="281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Architecture audit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281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Tool landscape assessment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281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Gap analysis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281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roadmap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21506" y="3820120"/>
            <a:ext cx="17287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506" y="3816548"/>
            <a:ext cx="1728788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$25K–$75K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575322" y="1562695"/>
            <a:ext cx="1935956" cy="2564606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678906" y="1680567"/>
            <a:ext cx="1728788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678906" y="1855589"/>
            <a:ext cx="1728787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Foundation Engineering</a:t>
            </a:r>
            <a:endParaRPr lang="en-US" sz="844" dirty="0"/>
          </a:p>
        </p:txBody>
      </p:sp>
      <p:sp>
        <p:nvSpPr>
          <p:cNvPr id="19" name="Text 17"/>
          <p:cNvSpPr/>
          <p:nvPr/>
        </p:nvSpPr>
        <p:spPr>
          <a:xfrm>
            <a:off x="2678906" y="2041327"/>
            <a:ext cx="17287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3–6 WEEKS · FIXED FEE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678906" y="2248495"/>
            <a:ext cx="1728788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678906" y="2341364"/>
            <a:ext cx="183251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7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DELIVERABLES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678906" y="2537817"/>
            <a:ext cx="1728788" cy="1300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66"/>
              </a:lnSpc>
              <a:spcAft>
                <a:spcPts val="281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Core platform setup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281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CI/CD pipeline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281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Observability stack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281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baseline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678906" y="3820120"/>
            <a:ext cx="17287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78906" y="3816548"/>
            <a:ext cx="1728788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$50K–$150K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632722" y="1562695"/>
            <a:ext cx="1935956" cy="2564606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736306" y="1680567"/>
            <a:ext cx="1728788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03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736306" y="1855589"/>
            <a:ext cx="1728787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Build</a:t>
            </a:r>
            <a:endParaRPr lang="en-US" sz="844" dirty="0"/>
          </a:p>
        </p:txBody>
      </p:sp>
      <p:sp>
        <p:nvSpPr>
          <p:cNvPr id="28" name="Text 26"/>
          <p:cNvSpPr/>
          <p:nvPr/>
        </p:nvSpPr>
        <p:spPr>
          <a:xfrm>
            <a:off x="4736306" y="2041327"/>
            <a:ext cx="17287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8–24 WEEKS · T&amp;M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36306" y="2248495"/>
            <a:ext cx="1728788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736306" y="2341364"/>
            <a:ext cx="183251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7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DELIVERABLES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736306" y="2537817"/>
            <a:ext cx="1728788" cy="1300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66"/>
              </a:lnSpc>
              <a:spcAft>
                <a:spcPts val="281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system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281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Performance validation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281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hardening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281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Documentation + handover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736306" y="3820120"/>
            <a:ext cx="17287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36306" y="3816548"/>
            <a:ext cx="1728788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$300K–$1M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690122" y="1562695"/>
            <a:ext cx="1935956" cy="2564606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793706" y="1680567"/>
            <a:ext cx="1728787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04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793706" y="1855589"/>
            <a:ext cx="1728788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Managed Engineering</a:t>
            </a:r>
            <a:endParaRPr lang="en-US" sz="844" dirty="0"/>
          </a:p>
        </p:txBody>
      </p:sp>
      <p:sp>
        <p:nvSpPr>
          <p:cNvPr id="37" name="Text 35"/>
          <p:cNvSpPr/>
          <p:nvPr/>
        </p:nvSpPr>
        <p:spPr>
          <a:xfrm>
            <a:off x="6793706" y="2041327"/>
            <a:ext cx="17287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ONGOING · RETAINER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793706" y="2248495"/>
            <a:ext cx="1728788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793706" y="2341364"/>
            <a:ext cx="183251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7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DELIVERABLES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793706" y="2537817"/>
            <a:ext cx="1728788" cy="1300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66"/>
              </a:lnSpc>
              <a:spcAft>
                <a:spcPts val="281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operations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281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Continuous optimization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281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Quarterly architecture reviews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281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SLA-backed engineering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793706" y="3820120"/>
            <a:ext cx="17287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93706" y="3816548"/>
            <a:ext cx="1728788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$50K–$500K / mo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4350" y="4754166"/>
            <a:ext cx="4067249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595887" y="4750594"/>
            <a:ext cx="361730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12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220112" y="4750594"/>
            <a:ext cx="41690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ROADMAP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60772"/>
            <a:ext cx="6457615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986253" y="457200"/>
            <a:ext cx="182903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79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ENGINEERING BEST PRACTICES · 11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514350" y="721519"/>
            <a:ext cx="862965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BEST PRACTICES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910828"/>
            <a:ext cx="8629650" cy="291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b="1" spc="-2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Principles that separate production from prototype.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14350" y="1237655"/>
            <a:ext cx="70008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 theoretical — these are the engineering disciplines we enforce on every engagement.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4350" y="1559123"/>
            <a:ext cx="3893344" cy="1071563"/>
          </a:xfrm>
          <a:prstGeom prst="roundRect">
            <a:avLst>
              <a:gd name="adj" fmla="val 711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14350" y="1562695"/>
            <a:ext cx="3893344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04122" y="1559123"/>
            <a:ext cx="0" cy="10715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4350" y="2627114"/>
            <a:ext cx="3893344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8638" y="1559123"/>
            <a:ext cx="0" cy="1071563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0088" y="1694855"/>
            <a:ext cx="35433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00088" y="1902023"/>
            <a:ext cx="3653028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requirements first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00088" y="2102048"/>
            <a:ext cx="35433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Start with latency, throughput, reliability, cost, and compliance SLAs. Engineer backward from constraints, not forward from tools.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50569" y="1559123"/>
            <a:ext cx="3893344" cy="1071563"/>
          </a:xfrm>
          <a:prstGeom prst="roundRect">
            <a:avLst>
              <a:gd name="adj" fmla="val 711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550569" y="1562695"/>
            <a:ext cx="3893344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40341" y="1559123"/>
            <a:ext cx="0" cy="10715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50569" y="2627114"/>
            <a:ext cx="3893344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64856" y="1559123"/>
            <a:ext cx="0" cy="1071563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36306" y="1694855"/>
            <a:ext cx="35433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736306" y="1902023"/>
            <a:ext cx="3653028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Observability is not optional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36306" y="2102048"/>
            <a:ext cx="35433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system ships with distributed tracing, metrics, and logging from day one. If you can't measure it, you can't operate it.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14350" y="2773561"/>
            <a:ext cx="3893344" cy="1071563"/>
          </a:xfrm>
          <a:prstGeom prst="roundRect">
            <a:avLst>
              <a:gd name="adj" fmla="val 711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514350" y="2777133"/>
            <a:ext cx="3893344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04122" y="2773561"/>
            <a:ext cx="0" cy="10715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4350" y="3841552"/>
            <a:ext cx="3893344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8638" y="2773561"/>
            <a:ext cx="0" cy="1071563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0088" y="2909292"/>
            <a:ext cx="35433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00088" y="3116461"/>
            <a:ext cx="3543300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in the pipeline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00088" y="3316486"/>
            <a:ext cx="35433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scanning, SBOM, and compliance checks embedded in CI/CD — not a separate audit after launch.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550569" y="2773561"/>
            <a:ext cx="3893344" cy="1071563"/>
          </a:xfrm>
          <a:prstGeom prst="roundRect">
            <a:avLst>
              <a:gd name="adj" fmla="val 711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4550569" y="2777133"/>
            <a:ext cx="3893344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40341" y="2773561"/>
            <a:ext cx="0" cy="10715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50569" y="3841552"/>
            <a:ext cx="3893344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64856" y="2773561"/>
            <a:ext cx="0" cy="1071563"/>
          </a:xfrm>
          <a:prstGeom prst="line">
            <a:avLst/>
          </a:prstGeom>
          <a:noFill/>
          <a:ln w="28575">
            <a:solidFill>
              <a:srgbClr val="FF6C0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36306" y="2909292"/>
            <a:ext cx="35433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736306" y="3116461"/>
            <a:ext cx="3543300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 for rollback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736306" y="3316486"/>
            <a:ext cx="35433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deployment must be reversible. Feature flags, blue-green, canary — not big-bang deployments.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4350" y="4754166"/>
            <a:ext cx="3929174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457812" y="4750594"/>
            <a:ext cx="3479229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/ 12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951329" y="4750594"/>
            <a:ext cx="67832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BEST PRACTICES</a:t>
            </a: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pic>
        <p:nvPicPr>
          <p:cNvPr id="3" name="Image 1" descr="/tmp/h2p-fit-1790857295856-c7tifz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685800"/>
            <a:ext cx="1857375" cy="30215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214183" y="785813"/>
            <a:ext cx="171625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90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KEFI TECH · CLOSING · 2026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742950" y="1714500"/>
            <a:ext cx="720291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GET IN TOUCH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742950" y="1975247"/>
            <a:ext cx="5700713" cy="4354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spc="-5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Let us engineer</a:t>
            </a:r>
            <a:endParaRPr lang="en-US" sz="3150" dirty="0"/>
          </a:p>
        </p:txBody>
      </p:sp>
      <p:sp>
        <p:nvSpPr>
          <p:cNvPr id="7" name="Text 3"/>
          <p:cNvSpPr/>
          <p:nvPr/>
        </p:nvSpPr>
        <p:spPr>
          <a:xfrm>
            <a:off x="742950" y="2438140"/>
            <a:ext cx="6363081" cy="45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spc="-57" kern="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is next.</a:t>
            </a:r>
            <a:endParaRPr lang="en-US" sz="3150" dirty="0"/>
          </a:p>
        </p:txBody>
      </p:sp>
      <p:sp>
        <p:nvSpPr>
          <p:cNvPr id="8" name="Text 4"/>
          <p:cNvSpPr/>
          <p:nvPr/>
        </p:nvSpPr>
        <p:spPr>
          <a:xfrm>
            <a:off x="742950" y="3058195"/>
            <a:ext cx="342900" cy="21431"/>
          </a:xfrm>
          <a:prstGeom prst="roundRect">
            <a:avLst>
              <a:gd name="adj" fmla="val 88890"/>
            </a:avLst>
          </a:prstGeom>
          <a:solidFill>
            <a:srgbClr val="FF6C0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742950" y="3222501"/>
            <a:ext cx="5429250" cy="39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Bengaluru, India · Hyderabad, India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6400800" y="1714500"/>
            <a:ext cx="7144" cy="2257425"/>
          </a:xfrm>
          <a:prstGeom prst="rect">
            <a:avLst/>
          </a:prstGeom>
          <a:solidFill>
            <a:srgbClr val="94A3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7758479" y="1857375"/>
            <a:ext cx="87117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Discover.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758479" y="2264569"/>
            <a:ext cx="87117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Engineer.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8048818" y="2671763"/>
            <a:ext cx="58083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81"/>
              </a:lnSpc>
              <a:buNone/>
            </a:pPr>
            <a:r>
              <a:rPr lang="en-US" sz="800" b="1" spc="79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Scale.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14350" y="4754166"/>
            <a:ext cx="336080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3889437" y="4750594"/>
            <a:ext cx="291085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/ 12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6814579" y="4750594"/>
            <a:ext cx="192397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2026-10-01T12:21:36Z</dcterms:created>
  <dcterms:modified xsi:type="dcterms:W3CDTF">2026-10-01T12:21:36Z</dcterms:modified>
</cp:coreProperties>
</file>