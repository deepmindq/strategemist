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2863" cy="5143500"/>
          </a:xfrm>
          <a:prstGeom prst="rect">
            <a:avLst/>
          </a:prstGeom>
        </p:spPr>
      </p:pic>
      <p:pic>
        <p:nvPicPr>
          <p:cNvPr id="3" name="Image 1" descr="/tmp/h2p-fit-1790857270270-ege19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950" y="457200"/>
            <a:ext cx="1857375" cy="30215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395987" y="571500"/>
            <a:ext cx="369203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79" kern="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KEFI TECH · ENTERPRISE MLOPS &amp; MODEL PRODUCTIONIZATION · 2026</a:t>
            </a:r>
            <a:endParaRPr lang="en-US" sz="600" dirty="0"/>
          </a:p>
        </p:txBody>
      </p:sp>
      <p:sp>
        <p:nvSpPr>
          <p:cNvPr id="5" name="Text 1"/>
          <p:cNvSpPr/>
          <p:nvPr/>
        </p:nvSpPr>
        <p:spPr>
          <a:xfrm>
            <a:off x="742950" y="1714500"/>
            <a:ext cx="671645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 · DEEP TECH</a:t>
            </a:r>
            <a:endParaRPr lang="en-US" sz="800" dirty="0"/>
          </a:p>
        </p:txBody>
      </p:sp>
      <p:sp>
        <p:nvSpPr>
          <p:cNvPr id="6" name="Text 2"/>
          <p:cNvSpPr/>
          <p:nvPr/>
        </p:nvSpPr>
        <p:spPr>
          <a:xfrm>
            <a:off x="742950" y="1932384"/>
            <a:ext cx="5568832" cy="7559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916"/>
              </a:lnSpc>
              <a:buNone/>
            </a:pPr>
            <a:r>
              <a:rPr lang="en-US" sz="2700" b="1" spc="-49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Enterprise MLOps &amp; Model</a:t>
            </a:r>
            <a:endParaRPr lang="en-US" sz="2700" dirty="0"/>
          </a:p>
          <a:p>
            <a:pPr algn="l" indent="0" marL="0">
              <a:lnSpc>
                <a:spcPts val="2916"/>
              </a:lnSpc>
              <a:buNone/>
            </a:pPr>
            <a:r>
              <a:rPr lang="en-US" sz="2700" b="1" spc="-49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Productionization</a:t>
            </a:r>
            <a:endParaRPr lang="en-US" sz="2700" dirty="0"/>
          </a:p>
        </p:txBody>
      </p:sp>
      <p:sp>
        <p:nvSpPr>
          <p:cNvPr id="7" name="Text 3"/>
          <p:cNvSpPr/>
          <p:nvPr/>
        </p:nvSpPr>
        <p:spPr>
          <a:xfrm>
            <a:off x="742950" y="2715741"/>
            <a:ext cx="5568832" cy="3998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16"/>
              </a:lnSpc>
              <a:buNone/>
            </a:pPr>
            <a:r>
              <a:rPr lang="en-US" sz="2700" b="1" i="1" spc="-49" kern="0" dirty="0">
                <a:solidFill>
                  <a:srgbClr val="FF6C0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engineered for production.</a:t>
            </a:r>
            <a:endParaRPr lang="en-US" sz="2700" dirty="0"/>
          </a:p>
        </p:txBody>
      </p:sp>
      <p:sp>
        <p:nvSpPr>
          <p:cNvPr id="8" name="Text 4"/>
          <p:cNvSpPr/>
          <p:nvPr/>
        </p:nvSpPr>
        <p:spPr>
          <a:xfrm>
            <a:off x="742950" y="3243151"/>
            <a:ext cx="342900" cy="21431"/>
          </a:xfrm>
          <a:prstGeom prst="roundRect">
            <a:avLst>
              <a:gd name="adj" fmla="val 88890"/>
            </a:avLst>
          </a:prstGeom>
          <a:solidFill>
            <a:srgbClr val="FF6C0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5"/>
          <p:cNvSpPr/>
          <p:nvPr/>
        </p:nvSpPr>
        <p:spPr>
          <a:xfrm>
            <a:off x="742950" y="3393170"/>
            <a:ext cx="5467581" cy="2376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33"/>
              </a:lnSpc>
              <a:buNone/>
            </a:pPr>
            <a:r>
              <a:rPr lang="en-US" sz="1238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From notebook to production — at ML velocity.</a:t>
            </a:r>
            <a:endParaRPr lang="en-US" sz="1238" dirty="0"/>
          </a:p>
        </p:txBody>
      </p:sp>
      <p:sp>
        <p:nvSpPr>
          <p:cNvPr id="10" name="Shape 6"/>
          <p:cNvSpPr/>
          <p:nvPr/>
        </p:nvSpPr>
        <p:spPr>
          <a:xfrm>
            <a:off x="6404372" y="1714500"/>
            <a:ext cx="0" cy="2571750"/>
          </a:xfrm>
          <a:prstGeom prst="line">
            <a:avLst/>
          </a:prstGeom>
          <a:noFill/>
          <a:ln w="7144">
            <a:solidFill>
              <a:srgbClr val="94A3B8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6607969" y="1714500"/>
            <a:ext cx="2081064" cy="1535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9"/>
              </a:lnSpc>
              <a:buNone/>
            </a:pPr>
            <a:r>
              <a:rPr lang="en-US" sz="800" spc="91" kern="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CAPABILITY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6607969" y="2185876"/>
            <a:ext cx="2079019" cy="1535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 Pipeline Orchestration &amp; Training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6607969" y="2538710"/>
            <a:ext cx="1610416" cy="1535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 Feature Store &amp; Serving</a:t>
            </a:r>
            <a:endParaRPr lang="en-US" sz="800" dirty="0"/>
          </a:p>
        </p:txBody>
      </p:sp>
      <p:sp>
        <p:nvSpPr>
          <p:cNvPr id="14" name="Text 10"/>
          <p:cNvSpPr/>
          <p:nvPr/>
        </p:nvSpPr>
        <p:spPr>
          <a:xfrm>
            <a:off x="6607969" y="4189809"/>
            <a:ext cx="1293244" cy="96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spc="91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+ 1 CAPABILITY BELOW</a:t>
            </a:r>
            <a:endParaRPr lang="en-US" sz="800" dirty="0"/>
          </a:p>
        </p:txBody>
      </p:sp>
      <p:sp>
        <p:nvSpPr>
          <p:cNvPr id="15" name="Shape 11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514350" y="4754166"/>
            <a:ext cx="5627043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17" name="Text 13"/>
          <p:cNvSpPr/>
          <p:nvPr/>
        </p:nvSpPr>
        <p:spPr>
          <a:xfrm>
            <a:off x="6155680" y="4750594"/>
            <a:ext cx="2473970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01 / 12 · ENTERPRISE MLOPS &amp; MODEL PRODUCTIONIZATION</a:t>
            </a:r>
            <a:endParaRPr lang="en-US" sz="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1431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4350" y="342900"/>
            <a:ext cx="1154710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514350" y="514350"/>
            <a:ext cx="8629650" cy="1618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TECHNICAL CHALLENGE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514350" y="703659"/>
            <a:ext cx="8251031" cy="5353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91"/>
              </a:lnSpc>
              <a:buNone/>
            </a:pPr>
            <a:r>
              <a:rPr lang="en-US" sz="1688" b="1" spc="-25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Where most enterprise mlops &amp; model productionization programs fail.</a:t>
            </a:r>
            <a:endParaRPr lang="en-US" sz="1688" dirty="0"/>
          </a:p>
        </p:txBody>
      </p:sp>
      <p:sp>
        <p:nvSpPr>
          <p:cNvPr id="6" name="Text 3"/>
          <p:cNvSpPr/>
          <p:nvPr/>
        </p:nvSpPr>
        <p:spPr>
          <a:xfrm>
            <a:off x="514350" y="1266453"/>
            <a:ext cx="700087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gap between prototype and production is where engineering discipline matters most.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517922" y="1577206"/>
            <a:ext cx="3993356" cy="2315021"/>
          </a:xfrm>
          <a:prstGeom prst="roundRect">
            <a:avLst>
              <a:gd name="adj" fmla="val 4937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678656" y="1723653"/>
            <a:ext cx="367188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COMMON FAILURE POINTS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682228" y="1945109"/>
            <a:ext cx="3664744" cy="390339"/>
          </a:xfrm>
          <a:prstGeom prst="roundRect">
            <a:avLst>
              <a:gd name="adj" fmla="val 29282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771525" y="2027262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FF6C0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⚠</a:t>
            </a:r>
            <a:endParaRPr lang="en-US" sz="1406" dirty="0"/>
          </a:p>
        </p:txBody>
      </p:sp>
      <p:sp>
        <p:nvSpPr>
          <p:cNvPr id="11" name="Text 8"/>
          <p:cNvSpPr/>
          <p:nvPr/>
        </p:nvSpPr>
        <p:spPr>
          <a:xfrm>
            <a:off x="1000125" y="2020119"/>
            <a:ext cx="3367278" cy="102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1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Prototype-grade architecture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1000125" y="2150492"/>
            <a:ext cx="3257550" cy="1099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619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Solutions built for demos, not production load, latency, or reliability requirements.</a:t>
            </a:r>
            <a:endParaRPr lang="en-US" sz="619" dirty="0"/>
          </a:p>
        </p:txBody>
      </p:sp>
      <p:sp>
        <p:nvSpPr>
          <p:cNvPr id="13" name="Text 10"/>
          <p:cNvSpPr/>
          <p:nvPr/>
        </p:nvSpPr>
        <p:spPr>
          <a:xfrm>
            <a:off x="682228" y="2414029"/>
            <a:ext cx="3664744" cy="390339"/>
          </a:xfrm>
          <a:prstGeom prst="roundRect">
            <a:avLst>
              <a:gd name="adj" fmla="val 29282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771525" y="2496183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FF6C0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406" dirty="0"/>
          </a:p>
        </p:txBody>
      </p:sp>
      <p:sp>
        <p:nvSpPr>
          <p:cNvPr id="15" name="Text 12"/>
          <p:cNvSpPr/>
          <p:nvPr/>
        </p:nvSpPr>
        <p:spPr>
          <a:xfrm>
            <a:off x="1000125" y="2489039"/>
            <a:ext cx="3367278" cy="102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1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 observability or evaluation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1000125" y="2619412"/>
            <a:ext cx="3257550" cy="1099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619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 metrics for accuracy, latency, cost, or drift — teams fly blind in production.</a:t>
            </a:r>
            <a:endParaRPr lang="en-US" sz="619" dirty="0"/>
          </a:p>
        </p:txBody>
      </p:sp>
      <p:sp>
        <p:nvSpPr>
          <p:cNvPr id="17" name="Text 14"/>
          <p:cNvSpPr/>
          <p:nvPr/>
        </p:nvSpPr>
        <p:spPr>
          <a:xfrm>
            <a:off x="682228" y="2882950"/>
            <a:ext cx="3664744" cy="390339"/>
          </a:xfrm>
          <a:prstGeom prst="roundRect">
            <a:avLst>
              <a:gd name="adj" fmla="val 29282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771525" y="2965103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FF6C0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406" dirty="0"/>
          </a:p>
        </p:txBody>
      </p:sp>
      <p:sp>
        <p:nvSpPr>
          <p:cNvPr id="19" name="Text 16"/>
          <p:cNvSpPr/>
          <p:nvPr/>
        </p:nvSpPr>
        <p:spPr>
          <a:xfrm>
            <a:off x="1000125" y="2957959"/>
            <a:ext cx="3257550" cy="1029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1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Security as afterthought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1000125" y="3088332"/>
            <a:ext cx="3257550" cy="1099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619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 guardrails, no audit trails, no compliance — bolted on after launch.</a:t>
            </a:r>
            <a:endParaRPr lang="en-US" sz="619" dirty="0"/>
          </a:p>
        </p:txBody>
      </p:sp>
      <p:sp>
        <p:nvSpPr>
          <p:cNvPr id="21" name="Text 18"/>
          <p:cNvSpPr/>
          <p:nvPr/>
        </p:nvSpPr>
        <p:spPr>
          <a:xfrm>
            <a:off x="682228" y="3351870"/>
            <a:ext cx="3664744" cy="390339"/>
          </a:xfrm>
          <a:prstGeom prst="roundRect">
            <a:avLst>
              <a:gd name="adj" fmla="val 29282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771525" y="3434023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FF6C0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↘</a:t>
            </a:r>
            <a:endParaRPr lang="en-US" sz="1406" dirty="0"/>
          </a:p>
        </p:txBody>
      </p:sp>
      <p:sp>
        <p:nvSpPr>
          <p:cNvPr id="23" name="Text 20"/>
          <p:cNvSpPr/>
          <p:nvPr/>
        </p:nvSpPr>
        <p:spPr>
          <a:xfrm>
            <a:off x="1000125" y="3426879"/>
            <a:ext cx="3257550" cy="1029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1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 operational maturity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1000125" y="3557253"/>
            <a:ext cx="3257550" cy="1099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619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 CI/CD for models, no rollback, no A/B testing, no drift detection.</a:t>
            </a:r>
            <a:endParaRPr lang="en-US" sz="619" dirty="0"/>
          </a:p>
        </p:txBody>
      </p:sp>
      <p:sp>
        <p:nvSpPr>
          <p:cNvPr id="25" name="Text 22"/>
          <p:cNvSpPr/>
          <p:nvPr/>
        </p:nvSpPr>
        <p:spPr>
          <a:xfrm>
            <a:off x="4689872" y="1577206"/>
            <a:ext cx="3936206" cy="2315021"/>
          </a:xfrm>
          <a:prstGeom prst="roundRect">
            <a:avLst>
              <a:gd name="adj" fmla="val 4937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3"/>
          <p:cNvSpPr/>
          <p:nvPr/>
        </p:nvSpPr>
        <p:spPr>
          <a:xfrm>
            <a:off x="4850606" y="1723653"/>
            <a:ext cx="361473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D43F0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 APPROACH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4850606" y="1941537"/>
            <a:ext cx="3614738" cy="7459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We treat enterprise mlops &amp; model productionization as an engineering discipline, not a science experiment. Every engagement starts with production requirements — latency, throughput, reliability, cost, compliance — and engineers backward from those constraints.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4850606" y="3467174"/>
            <a:ext cx="1997236" cy="128588"/>
          </a:xfrm>
          <a:prstGeom prst="roundRect">
            <a:avLst>
              <a:gd name="adj" fmla="val 29630"/>
            </a:avLst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6"/>
          <p:cNvSpPr/>
          <p:nvPr/>
        </p:nvSpPr>
        <p:spPr>
          <a:xfrm>
            <a:off x="4850606" y="3467174"/>
            <a:ext cx="1997236" cy="197510"/>
          </a:xfrm>
          <a:prstGeom prst="rect">
            <a:avLst/>
          </a:prstGeom>
          <a:noFill/>
          <a:ln/>
        </p:spPr>
        <p:txBody>
          <a:bodyPr wrap="square" lIns="57150" tIns="21431" rIns="57150" bIns="21431" rtlCol="0" anchor="t"/>
          <a:lstStyle/>
          <a:p>
            <a:pPr algn="l" indent="0" marL="0">
              <a:lnSpc>
                <a:spcPts val="675"/>
              </a:lnSpc>
              <a:buNone/>
            </a:pPr>
            <a:r>
              <a:rPr lang="en-US" sz="600" spc="3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PRODUCTION-FIRST · ENGINEERING-GRADE</a:t>
            </a:r>
            <a:endParaRPr lang="en-US" sz="600" dirty="0"/>
          </a:p>
        </p:txBody>
      </p:sp>
      <p:sp>
        <p:nvSpPr>
          <p:cNvPr id="30" name="Text 27"/>
          <p:cNvSpPr/>
          <p:nvPr/>
        </p:nvSpPr>
        <p:spPr>
          <a:xfrm>
            <a:off x="4850606" y="3731493"/>
            <a:ext cx="228600" cy="14288"/>
          </a:xfrm>
          <a:prstGeom prst="rect">
            <a:avLst/>
          </a:prstGeom>
          <a:solidFill>
            <a:srgbClr val="004C9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8"/>
          <p:cNvSpPr/>
          <p:nvPr/>
        </p:nvSpPr>
        <p:spPr>
          <a:xfrm>
            <a:off x="5136356" y="3731493"/>
            <a:ext cx="100013" cy="14288"/>
          </a:xfrm>
          <a:prstGeom prst="rect">
            <a:avLst/>
          </a:prstGeom>
          <a:solidFill>
            <a:srgbClr val="FF6C0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29"/>
          <p:cNvSpPr/>
          <p:nvPr/>
        </p:nvSpPr>
        <p:spPr>
          <a:xfrm>
            <a:off x="5293519" y="3731493"/>
            <a:ext cx="42863" cy="14288"/>
          </a:xfrm>
          <a:prstGeom prst="rect">
            <a:avLst/>
          </a:prstGeom>
          <a:solidFill>
            <a:srgbClr val="4C81B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Shape 30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14350" y="4754166"/>
            <a:ext cx="4026954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4555592" y="4750594"/>
            <a:ext cx="3577121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 / 12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8124125" y="4750594"/>
            <a:ext cx="528401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CHALLENGE</a:t>
            </a:r>
            <a:endParaRPr lang="en-US" sz="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1431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4350" y="342900"/>
            <a:ext cx="1154710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514350" y="514350"/>
            <a:ext cx="8629650" cy="1618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CAPABILITIES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514350" y="703659"/>
            <a:ext cx="8629650" cy="309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7"/>
              </a:lnSpc>
              <a:buNone/>
            </a:pPr>
            <a:r>
              <a:rPr lang="en-US" sz="1913" b="1" spc="-29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Four capability areas. One engineering system.</a:t>
            </a:r>
            <a:endParaRPr lang="en-US" sz="1913" dirty="0"/>
          </a:p>
        </p:txBody>
      </p:sp>
      <p:sp>
        <p:nvSpPr>
          <p:cNvPr id="6" name="Text 3"/>
          <p:cNvSpPr/>
          <p:nvPr/>
        </p:nvSpPr>
        <p:spPr>
          <a:xfrm>
            <a:off x="514350" y="1047341"/>
            <a:ext cx="81153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Each capability area is a deep technical domain — not a generic service line.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517922" y="1372381"/>
            <a:ext cx="3993356" cy="1278731"/>
          </a:xfrm>
          <a:prstGeom prst="roundRect">
            <a:avLst>
              <a:gd name="adj" fmla="val 8939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678656" y="1518828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⚗</a:t>
            </a:r>
            <a:endParaRPr lang="en-US" sz="1969" dirty="0"/>
          </a:p>
        </p:txBody>
      </p:sp>
      <p:sp>
        <p:nvSpPr>
          <p:cNvPr id="9" name="Text 6"/>
          <p:cNvSpPr/>
          <p:nvPr/>
        </p:nvSpPr>
        <p:spPr>
          <a:xfrm>
            <a:off x="4148799" y="1522400"/>
            <a:ext cx="233155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spc="61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1013" dirty="0"/>
          </a:p>
        </p:txBody>
      </p:sp>
      <p:sp>
        <p:nvSpPr>
          <p:cNvPr id="10" name="Text 7"/>
          <p:cNvSpPr/>
          <p:nvPr/>
        </p:nvSpPr>
        <p:spPr>
          <a:xfrm>
            <a:off x="678656" y="1790291"/>
            <a:ext cx="3781616" cy="203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238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Experiment Tracking &amp; Model Registry</a:t>
            </a:r>
            <a:endParaRPr lang="en-US" sz="1238" dirty="0"/>
          </a:p>
        </p:txBody>
      </p:sp>
      <p:sp>
        <p:nvSpPr>
          <p:cNvPr id="11" name="Text 8"/>
          <p:cNvSpPr/>
          <p:nvPr/>
        </p:nvSpPr>
        <p:spPr>
          <a:xfrm>
            <a:off x="678656" y="2050256"/>
            <a:ext cx="3671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Deep technical engineering in experiment tracking &amp; model registry with real platforms and tools.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4632722" y="1372381"/>
            <a:ext cx="3993356" cy="1278731"/>
          </a:xfrm>
          <a:prstGeom prst="roundRect">
            <a:avLst>
              <a:gd name="adj" fmla="val 8939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4793456" y="1518828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✿</a:t>
            </a:r>
            <a:endParaRPr lang="en-US" sz="1969" dirty="0"/>
          </a:p>
        </p:txBody>
      </p:sp>
      <p:sp>
        <p:nvSpPr>
          <p:cNvPr id="14" name="Text 11"/>
          <p:cNvSpPr/>
          <p:nvPr/>
        </p:nvSpPr>
        <p:spPr>
          <a:xfrm>
            <a:off x="8263599" y="1522400"/>
            <a:ext cx="233155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spc="61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1013" dirty="0"/>
          </a:p>
        </p:txBody>
      </p:sp>
      <p:sp>
        <p:nvSpPr>
          <p:cNvPr id="15" name="Text 12"/>
          <p:cNvSpPr/>
          <p:nvPr/>
        </p:nvSpPr>
        <p:spPr>
          <a:xfrm>
            <a:off x="4793456" y="1790291"/>
            <a:ext cx="3781616" cy="203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238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Pipeline Orchestration &amp; Training</a:t>
            </a:r>
            <a:endParaRPr lang="en-US" sz="1238" dirty="0"/>
          </a:p>
        </p:txBody>
      </p:sp>
      <p:sp>
        <p:nvSpPr>
          <p:cNvPr id="16" name="Text 13"/>
          <p:cNvSpPr/>
          <p:nvPr/>
        </p:nvSpPr>
        <p:spPr>
          <a:xfrm>
            <a:off x="4793456" y="2050256"/>
            <a:ext cx="3671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Deep technical engineering in pipeline orchestration &amp; training with real platforms and tools.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517922" y="2772556"/>
            <a:ext cx="3993356" cy="1278731"/>
          </a:xfrm>
          <a:prstGeom prst="roundRect">
            <a:avLst>
              <a:gd name="adj" fmla="val 8939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678656" y="2919003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969" dirty="0"/>
          </a:p>
        </p:txBody>
      </p:sp>
      <p:sp>
        <p:nvSpPr>
          <p:cNvPr id="19" name="Text 16"/>
          <p:cNvSpPr/>
          <p:nvPr/>
        </p:nvSpPr>
        <p:spPr>
          <a:xfrm>
            <a:off x="4148799" y="2922575"/>
            <a:ext cx="233155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spc="61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1013" dirty="0"/>
          </a:p>
        </p:txBody>
      </p:sp>
      <p:sp>
        <p:nvSpPr>
          <p:cNvPr id="20" name="Text 17"/>
          <p:cNvSpPr/>
          <p:nvPr/>
        </p:nvSpPr>
        <p:spPr>
          <a:xfrm>
            <a:off x="678656" y="3190466"/>
            <a:ext cx="3671888" cy="203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238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Feature Store &amp; Serving</a:t>
            </a:r>
            <a:endParaRPr lang="en-US" sz="1238" dirty="0"/>
          </a:p>
        </p:txBody>
      </p:sp>
      <p:sp>
        <p:nvSpPr>
          <p:cNvPr id="21" name="Text 18"/>
          <p:cNvSpPr/>
          <p:nvPr/>
        </p:nvSpPr>
        <p:spPr>
          <a:xfrm>
            <a:off x="678656" y="3450431"/>
            <a:ext cx="3671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Deep technical engineering in feature store &amp; serving with real platforms and tools.</a:t>
            </a:r>
            <a:endParaRPr lang="en-US" sz="675" dirty="0"/>
          </a:p>
        </p:txBody>
      </p:sp>
      <p:sp>
        <p:nvSpPr>
          <p:cNvPr id="22" name="Text 19"/>
          <p:cNvSpPr/>
          <p:nvPr/>
        </p:nvSpPr>
        <p:spPr>
          <a:xfrm>
            <a:off x="4632722" y="2772556"/>
            <a:ext cx="3993356" cy="1278731"/>
          </a:xfrm>
          <a:prstGeom prst="roundRect">
            <a:avLst>
              <a:gd name="adj" fmla="val 8939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4793456" y="2919003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♥</a:t>
            </a:r>
            <a:endParaRPr lang="en-US" sz="1969" dirty="0"/>
          </a:p>
        </p:txBody>
      </p:sp>
      <p:sp>
        <p:nvSpPr>
          <p:cNvPr id="24" name="Text 21"/>
          <p:cNvSpPr/>
          <p:nvPr/>
        </p:nvSpPr>
        <p:spPr>
          <a:xfrm>
            <a:off x="8263599" y="2922575"/>
            <a:ext cx="233155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spc="61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1013" dirty="0"/>
          </a:p>
        </p:txBody>
      </p:sp>
      <p:sp>
        <p:nvSpPr>
          <p:cNvPr id="25" name="Text 22"/>
          <p:cNvSpPr/>
          <p:nvPr/>
        </p:nvSpPr>
        <p:spPr>
          <a:xfrm>
            <a:off x="4793456" y="3190466"/>
            <a:ext cx="3781616" cy="203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238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Model Monitoring &amp; Observability</a:t>
            </a:r>
            <a:endParaRPr lang="en-US" sz="1238" dirty="0"/>
          </a:p>
        </p:txBody>
      </p:sp>
      <p:sp>
        <p:nvSpPr>
          <p:cNvPr id="26" name="Text 23"/>
          <p:cNvSpPr/>
          <p:nvPr/>
        </p:nvSpPr>
        <p:spPr>
          <a:xfrm>
            <a:off x="4793456" y="3450431"/>
            <a:ext cx="3671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Deep technical engineering in model monitoring &amp; observability with real platforms and tools.</a:t>
            </a:r>
            <a:endParaRPr lang="en-US" sz="800" dirty="0"/>
          </a:p>
        </p:txBody>
      </p:sp>
      <p:sp>
        <p:nvSpPr>
          <p:cNvPr id="27" name="Shape 24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14350" y="4754166"/>
            <a:ext cx="3997821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4526459" y="4750594"/>
            <a:ext cx="3547988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 / 12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8011370" y="4750594"/>
            <a:ext cx="695645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CAPABILITIES</a:t>
            </a:r>
            <a:endParaRPr lang="en-US" sz="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1431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4350" y="342900"/>
            <a:ext cx="1154710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514350" y="514350"/>
            <a:ext cx="8629650" cy="1618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01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514350" y="703659"/>
            <a:ext cx="8629650" cy="309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7"/>
              </a:lnSpc>
              <a:buNone/>
            </a:pPr>
            <a:r>
              <a:rPr lang="en-US" sz="1913" b="1" spc="-29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Experiment Tracking &amp; Model Registry.</a:t>
            </a:r>
            <a:endParaRPr lang="en-US" sz="1913" dirty="0"/>
          </a:p>
        </p:txBody>
      </p:sp>
      <p:sp>
        <p:nvSpPr>
          <p:cNvPr id="6" name="Text 3"/>
          <p:cNvSpPr/>
          <p:nvPr/>
        </p:nvSpPr>
        <p:spPr>
          <a:xfrm>
            <a:off x="514350" y="1047341"/>
            <a:ext cx="81153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Deep technical engineering with real platforms, tools, and frameworks.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517922" y="1343806"/>
            <a:ext cx="3993356" cy="2850356"/>
          </a:xfrm>
          <a:prstGeom prst="roundRect">
            <a:avLst>
              <a:gd name="adj" fmla="val 4010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692944" y="1504541"/>
            <a:ext cx="364331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ENGINEERING APPROACH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692944" y="1722425"/>
            <a:ext cx="3643313" cy="932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Our experiment tracking &amp; model registry capability goes beyond surface-level integration. We engineer at the protocol, configuration, and architecture level — working with real platforms and tools, not abstract concepts. Every sub-service below carries specific tool names, configuration patterns, and engineering decisions.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670084" y="3747107"/>
            <a:ext cx="978872" cy="144018"/>
          </a:xfrm>
          <a:prstGeom prst="roundRect">
            <a:avLst>
              <a:gd name="adj" fmla="val 26455"/>
            </a:avLst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692944" y="3754822"/>
            <a:ext cx="933152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675"/>
              </a:lnSpc>
              <a:buNone/>
            </a:pPr>
            <a:r>
              <a:rPr lang="en-US" sz="800" spc="3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1 OF 4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692944" y="4019141"/>
            <a:ext cx="257175" cy="14288"/>
          </a:xfrm>
          <a:prstGeom prst="rect">
            <a:avLst/>
          </a:prstGeom>
          <a:solidFill>
            <a:srgbClr val="004C9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992981" y="4019141"/>
            <a:ext cx="85725" cy="14288"/>
          </a:xfrm>
          <a:prstGeom prst="rect">
            <a:avLst/>
          </a:prstGeom>
          <a:solidFill>
            <a:srgbClr val="FF6C0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1121569" y="4019141"/>
            <a:ext cx="42863" cy="14288"/>
          </a:xfrm>
          <a:prstGeom prst="rect">
            <a:avLst/>
          </a:prstGeom>
          <a:solidFill>
            <a:srgbClr val="4C81B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4689872" y="1343806"/>
            <a:ext cx="3936206" cy="2850356"/>
          </a:xfrm>
          <a:prstGeom prst="roundRect">
            <a:avLst>
              <a:gd name="adj" fmla="val 4010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4836319" y="1475966"/>
            <a:ext cx="364331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4C81B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SUB-SERVICES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4839891" y="1683134"/>
            <a:ext cx="3636169" cy="421481"/>
          </a:xfrm>
          <a:prstGeom prst="roundRect">
            <a:avLst>
              <a:gd name="adj" fmla="val 27119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4914900" y="1743856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5114925" y="1743856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⊟</a:t>
            </a:r>
            <a:endParaRPr lang="en-US" sz="1266" dirty="0"/>
          </a:p>
        </p:txBody>
      </p:sp>
      <p:sp>
        <p:nvSpPr>
          <p:cNvPr id="20" name="Text 17"/>
          <p:cNvSpPr/>
          <p:nvPr/>
        </p:nvSpPr>
        <p:spPr>
          <a:xfrm>
            <a:off x="5314950" y="1736713"/>
            <a:ext cx="319582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MLflow Tracking &amp; Registry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5314950" y="1851013"/>
            <a:ext cx="30861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MLflow open source — experiments, runs, artifacts (S3 / GCS / Azure Blob), model registry stages (None / Staging / Production).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4839891" y="2161766"/>
            <a:ext cx="3636169" cy="421481"/>
          </a:xfrm>
          <a:prstGeom prst="roundRect">
            <a:avLst>
              <a:gd name="adj" fmla="val 27119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4914900" y="2222488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5114925" y="2222488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⊟</a:t>
            </a:r>
            <a:endParaRPr lang="en-US" sz="1266" dirty="0"/>
          </a:p>
        </p:txBody>
      </p:sp>
      <p:sp>
        <p:nvSpPr>
          <p:cNvPr id="25" name="Text 22"/>
          <p:cNvSpPr/>
          <p:nvPr/>
        </p:nvSpPr>
        <p:spPr>
          <a:xfrm>
            <a:off x="5314950" y="2215344"/>
            <a:ext cx="319582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Weights &amp; Biases Experiment Tracking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5314950" y="2329644"/>
            <a:ext cx="30861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W&amp;B — runs / projects / sweeps, hyperparameter search (Bayesian via Hyperband), model artifacts, reports.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4839891" y="2640397"/>
            <a:ext cx="3636169" cy="421481"/>
          </a:xfrm>
          <a:prstGeom prst="roundRect">
            <a:avLst>
              <a:gd name="adj" fmla="val 27119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5"/>
          <p:cNvSpPr/>
          <p:nvPr/>
        </p:nvSpPr>
        <p:spPr>
          <a:xfrm>
            <a:off x="4914900" y="2701119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5114925" y="2701119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⊟</a:t>
            </a:r>
            <a:endParaRPr lang="en-US" sz="1266" dirty="0"/>
          </a:p>
        </p:txBody>
      </p:sp>
      <p:sp>
        <p:nvSpPr>
          <p:cNvPr id="30" name="Text 27"/>
          <p:cNvSpPr/>
          <p:nvPr/>
        </p:nvSpPr>
        <p:spPr>
          <a:xfrm>
            <a:off x="5314950" y="2693975"/>
            <a:ext cx="319582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SageMaker Experiments Integration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5314950" y="2808275"/>
            <a:ext cx="30861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AWS SageMaker Experiments — trial components, trial, lineages, integration with Model Registry &amp; Pipelines.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4839891" y="3119028"/>
            <a:ext cx="3636169" cy="421481"/>
          </a:xfrm>
          <a:prstGeom prst="roundRect">
            <a:avLst>
              <a:gd name="adj" fmla="val 27119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0"/>
          <p:cNvSpPr/>
          <p:nvPr/>
        </p:nvSpPr>
        <p:spPr>
          <a:xfrm>
            <a:off x="4914900" y="3179750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5114925" y="3179750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⊟</a:t>
            </a:r>
            <a:endParaRPr lang="en-US" sz="1266" dirty="0"/>
          </a:p>
        </p:txBody>
      </p:sp>
      <p:sp>
        <p:nvSpPr>
          <p:cNvPr id="35" name="Text 32"/>
          <p:cNvSpPr/>
          <p:nvPr/>
        </p:nvSpPr>
        <p:spPr>
          <a:xfrm>
            <a:off x="5314950" y="3172606"/>
            <a:ext cx="308610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DVC Pipeline Versioning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5314950" y="3286906"/>
            <a:ext cx="30861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DVC — Git-like versioning of data + models, dvc.yaml pipeline, dvc metrics diff across experiments.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4839891" y="3597659"/>
            <a:ext cx="3636169" cy="421481"/>
          </a:xfrm>
          <a:prstGeom prst="roundRect">
            <a:avLst>
              <a:gd name="adj" fmla="val 27119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5"/>
          <p:cNvSpPr/>
          <p:nvPr/>
        </p:nvSpPr>
        <p:spPr>
          <a:xfrm>
            <a:off x="4914900" y="3658381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800" dirty="0"/>
          </a:p>
        </p:txBody>
      </p:sp>
      <p:sp>
        <p:nvSpPr>
          <p:cNvPr id="39" name="Text 36"/>
          <p:cNvSpPr/>
          <p:nvPr/>
        </p:nvSpPr>
        <p:spPr>
          <a:xfrm>
            <a:off x="5114925" y="3658381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⊟</a:t>
            </a:r>
            <a:endParaRPr lang="en-US" sz="1266" dirty="0"/>
          </a:p>
        </p:txBody>
      </p:sp>
      <p:sp>
        <p:nvSpPr>
          <p:cNvPr id="40" name="Text 37"/>
          <p:cNvSpPr/>
          <p:nvPr/>
        </p:nvSpPr>
        <p:spPr>
          <a:xfrm>
            <a:off x="5314950" y="3651238"/>
            <a:ext cx="319582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Neptune.ai Metadata Store</a:t>
            </a:r>
            <a:endParaRPr lang="en-US" sz="800" dirty="0"/>
          </a:p>
        </p:txBody>
      </p:sp>
      <p:sp>
        <p:nvSpPr>
          <p:cNvPr id="41" name="Text 38"/>
          <p:cNvSpPr/>
          <p:nvPr/>
        </p:nvSpPr>
        <p:spPr>
          <a:xfrm>
            <a:off x="5314950" y="3765538"/>
            <a:ext cx="30861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Neptune.ai — metadata for reproducible runs, model registry, comparison views, interactive dashboards.</a:t>
            </a:r>
            <a:endParaRPr lang="en-US" sz="800" dirty="0"/>
          </a:p>
        </p:txBody>
      </p:sp>
      <p:sp>
        <p:nvSpPr>
          <p:cNvPr id="42" name="Shape 39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514350" y="4754166"/>
            <a:ext cx="3378101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4" name="Text 41"/>
          <p:cNvSpPr/>
          <p:nvPr/>
        </p:nvSpPr>
        <p:spPr>
          <a:xfrm>
            <a:off x="3906738" y="4750594"/>
            <a:ext cx="2928156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 / 12</a:t>
            </a:r>
            <a:endParaRPr lang="en-US" sz="800" dirty="0"/>
          </a:p>
        </p:txBody>
      </p:sp>
      <p:sp>
        <p:nvSpPr>
          <p:cNvPr id="45" name="Text 42"/>
          <p:cNvSpPr/>
          <p:nvPr/>
        </p:nvSpPr>
        <p:spPr>
          <a:xfrm>
            <a:off x="6849182" y="4750594"/>
            <a:ext cx="1887296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EXPERIMENT TRACKING &amp; MODEL REGISTRY</a:t>
            </a:r>
            <a:endParaRPr lang="en-US" sz="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1431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4350" y="342900"/>
            <a:ext cx="1154710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514350" y="514350"/>
            <a:ext cx="8629650" cy="1618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02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514350" y="703659"/>
            <a:ext cx="8629650" cy="309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7"/>
              </a:lnSpc>
              <a:buNone/>
            </a:pPr>
            <a:r>
              <a:rPr lang="en-US" sz="1913" b="1" spc="-29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Pipeline Orchestration &amp; Training.</a:t>
            </a:r>
            <a:endParaRPr lang="en-US" sz="1913" dirty="0"/>
          </a:p>
        </p:txBody>
      </p:sp>
      <p:sp>
        <p:nvSpPr>
          <p:cNvPr id="6" name="Text 3"/>
          <p:cNvSpPr/>
          <p:nvPr/>
        </p:nvSpPr>
        <p:spPr>
          <a:xfrm>
            <a:off x="514350" y="1047341"/>
            <a:ext cx="81153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Deep technical engineering with real platforms, tools, and frameworks.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517922" y="1343806"/>
            <a:ext cx="3993356" cy="2850356"/>
          </a:xfrm>
          <a:prstGeom prst="roundRect">
            <a:avLst>
              <a:gd name="adj" fmla="val 4010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692944" y="1504541"/>
            <a:ext cx="364331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ENGINEERING APPROACH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692944" y="1722425"/>
            <a:ext cx="3643313" cy="932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Our pipeline orchestration &amp; training capability goes beyond surface-level integration. We engineer at the protocol, configuration, and architecture level — working with real platforms and tools, not abstract concepts. Every sub-service below carries specific tool names, configuration patterns, and engineering decisions.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670084" y="3747107"/>
            <a:ext cx="978872" cy="144018"/>
          </a:xfrm>
          <a:prstGeom prst="roundRect">
            <a:avLst>
              <a:gd name="adj" fmla="val 26455"/>
            </a:avLst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692944" y="3754822"/>
            <a:ext cx="933152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675"/>
              </a:lnSpc>
              <a:buNone/>
            </a:pPr>
            <a:r>
              <a:rPr lang="en-US" sz="800" spc="3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2 OF 4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692944" y="4019141"/>
            <a:ext cx="257175" cy="14288"/>
          </a:xfrm>
          <a:prstGeom prst="rect">
            <a:avLst/>
          </a:prstGeom>
          <a:solidFill>
            <a:srgbClr val="004C9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992981" y="4019141"/>
            <a:ext cx="85725" cy="14288"/>
          </a:xfrm>
          <a:prstGeom prst="rect">
            <a:avLst/>
          </a:prstGeom>
          <a:solidFill>
            <a:srgbClr val="FF6C0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1121569" y="4019141"/>
            <a:ext cx="42863" cy="14288"/>
          </a:xfrm>
          <a:prstGeom prst="rect">
            <a:avLst/>
          </a:prstGeom>
          <a:solidFill>
            <a:srgbClr val="4C81B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4689872" y="1343806"/>
            <a:ext cx="3936206" cy="2850356"/>
          </a:xfrm>
          <a:prstGeom prst="roundRect">
            <a:avLst>
              <a:gd name="adj" fmla="val 4010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4836319" y="1475966"/>
            <a:ext cx="364331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4C81B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SUB-SERVICES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4839891" y="1683134"/>
            <a:ext cx="3636169" cy="421481"/>
          </a:xfrm>
          <a:prstGeom prst="roundRect">
            <a:avLst>
              <a:gd name="adj" fmla="val 27119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4914900" y="1743856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5114925" y="1743856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⊟</a:t>
            </a:r>
            <a:endParaRPr lang="en-US" sz="1266" dirty="0"/>
          </a:p>
        </p:txBody>
      </p:sp>
      <p:sp>
        <p:nvSpPr>
          <p:cNvPr id="20" name="Text 17"/>
          <p:cNvSpPr/>
          <p:nvPr/>
        </p:nvSpPr>
        <p:spPr>
          <a:xfrm>
            <a:off x="5314950" y="1736713"/>
            <a:ext cx="308610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Kubeflow Pipelines v2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5314950" y="1851013"/>
            <a:ext cx="30861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Kubeflow Pipelines (KFP v2) — component spec, pipeline DSL (Python), artifact tracking, recurring runs.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4839891" y="2161766"/>
            <a:ext cx="3636169" cy="421481"/>
          </a:xfrm>
          <a:prstGeom prst="roundRect">
            <a:avLst>
              <a:gd name="adj" fmla="val 27119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4914900" y="2222488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5114925" y="2222488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⊟</a:t>
            </a:r>
            <a:endParaRPr lang="en-US" sz="1266" dirty="0"/>
          </a:p>
        </p:txBody>
      </p:sp>
      <p:sp>
        <p:nvSpPr>
          <p:cNvPr id="25" name="Text 22"/>
          <p:cNvSpPr/>
          <p:nvPr/>
        </p:nvSpPr>
        <p:spPr>
          <a:xfrm>
            <a:off x="5314950" y="2215344"/>
            <a:ext cx="308610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SageMaker Pipelines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5314950" y="2329644"/>
            <a:ext cx="30861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AWS SageMaker Pipelines — ProcessingStep / TrainingStep / TransformStep, model registry, model deploy step.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4839891" y="2640397"/>
            <a:ext cx="3636169" cy="421481"/>
          </a:xfrm>
          <a:prstGeom prst="roundRect">
            <a:avLst>
              <a:gd name="adj" fmla="val 27119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5"/>
          <p:cNvSpPr/>
          <p:nvPr/>
        </p:nvSpPr>
        <p:spPr>
          <a:xfrm>
            <a:off x="4914900" y="2701119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5114925" y="2701119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⊟</a:t>
            </a:r>
            <a:endParaRPr lang="en-US" sz="1266" dirty="0"/>
          </a:p>
        </p:txBody>
      </p:sp>
      <p:sp>
        <p:nvSpPr>
          <p:cNvPr id="30" name="Text 27"/>
          <p:cNvSpPr/>
          <p:nvPr/>
        </p:nvSpPr>
        <p:spPr>
          <a:xfrm>
            <a:off x="5314950" y="2693975"/>
            <a:ext cx="308610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Vertex AI Pipelines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5314950" y="2808275"/>
            <a:ext cx="30861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Google Vertex AI Pipelines — Kubeflow Pipelines SDK v2 / TFX runtime, model registry integration.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4839891" y="3119028"/>
            <a:ext cx="3636169" cy="421481"/>
          </a:xfrm>
          <a:prstGeom prst="roundRect">
            <a:avLst>
              <a:gd name="adj" fmla="val 27119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0"/>
          <p:cNvSpPr/>
          <p:nvPr/>
        </p:nvSpPr>
        <p:spPr>
          <a:xfrm>
            <a:off x="4914900" y="3179750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5114925" y="3179750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⊟</a:t>
            </a:r>
            <a:endParaRPr lang="en-US" sz="1266" dirty="0"/>
          </a:p>
        </p:txBody>
      </p:sp>
      <p:sp>
        <p:nvSpPr>
          <p:cNvPr id="35" name="Text 32"/>
          <p:cNvSpPr/>
          <p:nvPr/>
        </p:nvSpPr>
        <p:spPr>
          <a:xfrm>
            <a:off x="5314950" y="3172606"/>
            <a:ext cx="319582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Ray Train Distributed Training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5314950" y="3286906"/>
            <a:ext cx="30861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Ray Train — Trainer API, TorchTrainer / HuggingFaceTrainer, multi-node GPU training with Ray Actor.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4839891" y="3597659"/>
            <a:ext cx="3636169" cy="421481"/>
          </a:xfrm>
          <a:prstGeom prst="roundRect">
            <a:avLst>
              <a:gd name="adj" fmla="val 27119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5"/>
          <p:cNvSpPr/>
          <p:nvPr/>
        </p:nvSpPr>
        <p:spPr>
          <a:xfrm>
            <a:off x="4914900" y="3658381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800" dirty="0"/>
          </a:p>
        </p:txBody>
      </p:sp>
      <p:sp>
        <p:nvSpPr>
          <p:cNvPr id="39" name="Text 36"/>
          <p:cNvSpPr/>
          <p:nvPr/>
        </p:nvSpPr>
        <p:spPr>
          <a:xfrm>
            <a:off x="5114925" y="3658381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⊟</a:t>
            </a:r>
            <a:endParaRPr lang="en-US" sz="1266" dirty="0"/>
          </a:p>
        </p:txBody>
      </p:sp>
      <p:sp>
        <p:nvSpPr>
          <p:cNvPr id="40" name="Text 37"/>
          <p:cNvSpPr/>
          <p:nvPr/>
        </p:nvSpPr>
        <p:spPr>
          <a:xfrm>
            <a:off x="5314950" y="3651238"/>
            <a:ext cx="319582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Metaflow Netflix Pipelines</a:t>
            </a:r>
            <a:endParaRPr lang="en-US" sz="800" dirty="0"/>
          </a:p>
        </p:txBody>
      </p:sp>
      <p:sp>
        <p:nvSpPr>
          <p:cNvPr id="41" name="Text 38"/>
          <p:cNvSpPr/>
          <p:nvPr/>
        </p:nvSpPr>
        <p:spPr>
          <a:xfrm>
            <a:off x="5314950" y="3765538"/>
            <a:ext cx="30861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Metaflow — FlowSpec, @step / @batch / @kubernetes, Artifacts datastore on S3, Netflix bundler.</a:t>
            </a:r>
            <a:endParaRPr lang="en-US" sz="800" dirty="0"/>
          </a:p>
        </p:txBody>
      </p:sp>
      <p:sp>
        <p:nvSpPr>
          <p:cNvPr id="42" name="Shape 39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514350" y="4754166"/>
            <a:ext cx="3482132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4" name="Text 41"/>
          <p:cNvSpPr/>
          <p:nvPr/>
        </p:nvSpPr>
        <p:spPr>
          <a:xfrm>
            <a:off x="4010769" y="4750594"/>
            <a:ext cx="3032187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 / 12</a:t>
            </a:r>
            <a:endParaRPr lang="en-US" sz="800" dirty="0"/>
          </a:p>
        </p:txBody>
      </p:sp>
      <p:sp>
        <p:nvSpPr>
          <p:cNvPr id="45" name="Text 42"/>
          <p:cNvSpPr/>
          <p:nvPr/>
        </p:nvSpPr>
        <p:spPr>
          <a:xfrm>
            <a:off x="7057244" y="4750594"/>
            <a:ext cx="1666751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PIPELINE ORCHESTRATION &amp; TRAINING</a:t>
            </a:r>
            <a:endParaRPr lang="en-US" sz="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1431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4350" y="342900"/>
            <a:ext cx="1154710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514350" y="514350"/>
            <a:ext cx="8629650" cy="1618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03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514350" y="703659"/>
            <a:ext cx="8521065" cy="309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7"/>
              </a:lnSpc>
              <a:buNone/>
            </a:pPr>
            <a:r>
              <a:rPr lang="en-US" sz="1913" b="1" spc="-29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Feature Store &amp; Serving.</a:t>
            </a:r>
            <a:endParaRPr lang="en-US" sz="1913" dirty="0"/>
          </a:p>
        </p:txBody>
      </p:sp>
      <p:sp>
        <p:nvSpPr>
          <p:cNvPr id="6" name="Text 3"/>
          <p:cNvSpPr/>
          <p:nvPr/>
        </p:nvSpPr>
        <p:spPr>
          <a:xfrm>
            <a:off x="514350" y="1047341"/>
            <a:ext cx="81153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Deep technical engineering with real platforms, tools, and frameworks.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517922" y="1343806"/>
            <a:ext cx="3993356" cy="2850356"/>
          </a:xfrm>
          <a:prstGeom prst="roundRect">
            <a:avLst>
              <a:gd name="adj" fmla="val 4010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692944" y="1504541"/>
            <a:ext cx="364331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ENGINEERING APPROACH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692944" y="1722425"/>
            <a:ext cx="3643313" cy="932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Our feature store &amp; serving capability goes beyond surface-level integration. We engineer at the protocol, configuration, and architecture level — working with real platforms and tools, not abstract concepts. Every sub-service below carries specific tool names, configuration patterns, and engineering decisions.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670084" y="3747107"/>
            <a:ext cx="978872" cy="144018"/>
          </a:xfrm>
          <a:prstGeom prst="roundRect">
            <a:avLst>
              <a:gd name="adj" fmla="val 26455"/>
            </a:avLst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692944" y="3754822"/>
            <a:ext cx="933152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675"/>
              </a:lnSpc>
              <a:buNone/>
            </a:pPr>
            <a:r>
              <a:rPr lang="en-US" sz="800" spc="3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3 OF 4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692944" y="4019141"/>
            <a:ext cx="257175" cy="14288"/>
          </a:xfrm>
          <a:prstGeom prst="rect">
            <a:avLst/>
          </a:prstGeom>
          <a:solidFill>
            <a:srgbClr val="004C9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992981" y="4019141"/>
            <a:ext cx="85725" cy="14288"/>
          </a:xfrm>
          <a:prstGeom prst="rect">
            <a:avLst/>
          </a:prstGeom>
          <a:solidFill>
            <a:srgbClr val="FF6C0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1121569" y="4019141"/>
            <a:ext cx="42863" cy="14288"/>
          </a:xfrm>
          <a:prstGeom prst="rect">
            <a:avLst/>
          </a:prstGeom>
          <a:solidFill>
            <a:srgbClr val="4C81B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4689872" y="1343806"/>
            <a:ext cx="3936206" cy="2850356"/>
          </a:xfrm>
          <a:prstGeom prst="roundRect">
            <a:avLst>
              <a:gd name="adj" fmla="val 4010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4836319" y="1475966"/>
            <a:ext cx="364331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4C81B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SUB-SERVICES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4839891" y="1683134"/>
            <a:ext cx="3636169" cy="421481"/>
          </a:xfrm>
          <a:prstGeom prst="roundRect">
            <a:avLst>
              <a:gd name="adj" fmla="val 27119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4914900" y="1743856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5114925" y="1743856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⊟</a:t>
            </a:r>
            <a:endParaRPr lang="en-US" sz="1266" dirty="0"/>
          </a:p>
        </p:txBody>
      </p:sp>
      <p:sp>
        <p:nvSpPr>
          <p:cNvPr id="20" name="Text 17"/>
          <p:cNvSpPr/>
          <p:nvPr/>
        </p:nvSpPr>
        <p:spPr>
          <a:xfrm>
            <a:off x="5314950" y="1736713"/>
            <a:ext cx="319582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Feast Open Source Feature Store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5314950" y="1851013"/>
            <a:ext cx="30861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Feast — feature views, on-demand transformations, offline (BigQuery / Snowflake / S3) vs online (DynamoDB / Redis) parity.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4839891" y="2161766"/>
            <a:ext cx="3636169" cy="421481"/>
          </a:xfrm>
          <a:prstGeom prst="roundRect">
            <a:avLst>
              <a:gd name="adj" fmla="val 27119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4914900" y="2222488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5114925" y="2222488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⊟</a:t>
            </a:r>
            <a:endParaRPr lang="en-US" sz="1266" dirty="0"/>
          </a:p>
        </p:txBody>
      </p:sp>
      <p:sp>
        <p:nvSpPr>
          <p:cNvPr id="25" name="Text 22"/>
          <p:cNvSpPr/>
          <p:nvPr/>
        </p:nvSpPr>
        <p:spPr>
          <a:xfrm>
            <a:off x="5314950" y="2215344"/>
            <a:ext cx="319582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Tecton Enterprise Feature Store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5314950" y="2329644"/>
            <a:ext cx="30861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Tecton — declarative feature definitions, materialization, time-travel offline / online, streaming features via Kafka.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4839891" y="2640397"/>
            <a:ext cx="3636169" cy="421481"/>
          </a:xfrm>
          <a:prstGeom prst="roundRect">
            <a:avLst>
              <a:gd name="adj" fmla="val 27119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5"/>
          <p:cNvSpPr/>
          <p:nvPr/>
        </p:nvSpPr>
        <p:spPr>
          <a:xfrm>
            <a:off x="4914900" y="2701119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5114925" y="2701119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⊟</a:t>
            </a:r>
            <a:endParaRPr lang="en-US" sz="1266" dirty="0"/>
          </a:p>
        </p:txBody>
      </p:sp>
      <p:sp>
        <p:nvSpPr>
          <p:cNvPr id="30" name="Text 27"/>
          <p:cNvSpPr/>
          <p:nvPr/>
        </p:nvSpPr>
        <p:spPr>
          <a:xfrm>
            <a:off x="5314950" y="2693975"/>
            <a:ext cx="308610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Vertex AI Feature Store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5314950" y="2808275"/>
            <a:ext cx="30861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Google Vertex AI Feature Store — entity types, feature values, online / offline serving, point-in-time correctness.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4839891" y="3119028"/>
            <a:ext cx="3636169" cy="421481"/>
          </a:xfrm>
          <a:prstGeom prst="roundRect">
            <a:avLst>
              <a:gd name="adj" fmla="val 27119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0"/>
          <p:cNvSpPr/>
          <p:nvPr/>
        </p:nvSpPr>
        <p:spPr>
          <a:xfrm>
            <a:off x="4914900" y="3179750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5114925" y="3179750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⊟</a:t>
            </a:r>
            <a:endParaRPr lang="en-US" sz="1266" dirty="0"/>
          </a:p>
        </p:txBody>
      </p:sp>
      <p:sp>
        <p:nvSpPr>
          <p:cNvPr id="35" name="Text 32"/>
          <p:cNvSpPr/>
          <p:nvPr/>
        </p:nvSpPr>
        <p:spPr>
          <a:xfrm>
            <a:off x="5314950" y="3172606"/>
            <a:ext cx="308610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SageMaker Feature Store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5314950" y="3286906"/>
            <a:ext cx="30861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AWS SageMaker Feature Store — online (low-latency) + offline (S3), T+1 ingestion, ingests via PutRecord API.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4839891" y="3597659"/>
            <a:ext cx="3636169" cy="421481"/>
          </a:xfrm>
          <a:prstGeom prst="roundRect">
            <a:avLst>
              <a:gd name="adj" fmla="val 27119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5"/>
          <p:cNvSpPr/>
          <p:nvPr/>
        </p:nvSpPr>
        <p:spPr>
          <a:xfrm>
            <a:off x="4914900" y="3658381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800" dirty="0"/>
          </a:p>
        </p:txBody>
      </p:sp>
      <p:sp>
        <p:nvSpPr>
          <p:cNvPr id="39" name="Text 36"/>
          <p:cNvSpPr/>
          <p:nvPr/>
        </p:nvSpPr>
        <p:spPr>
          <a:xfrm>
            <a:off x="5114925" y="3658381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⊟</a:t>
            </a:r>
            <a:endParaRPr lang="en-US" sz="1266" dirty="0"/>
          </a:p>
        </p:txBody>
      </p:sp>
      <p:sp>
        <p:nvSpPr>
          <p:cNvPr id="40" name="Text 37"/>
          <p:cNvSpPr/>
          <p:nvPr/>
        </p:nvSpPr>
        <p:spPr>
          <a:xfrm>
            <a:off x="5314950" y="3651238"/>
            <a:ext cx="308610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Hopsworks Feature Store</a:t>
            </a:r>
            <a:endParaRPr lang="en-US" sz="800" dirty="0"/>
          </a:p>
        </p:txBody>
      </p:sp>
      <p:sp>
        <p:nvSpPr>
          <p:cNvPr id="41" name="Text 38"/>
          <p:cNvSpPr/>
          <p:nvPr/>
        </p:nvSpPr>
        <p:spPr>
          <a:xfrm>
            <a:off x="5314950" y="3765538"/>
            <a:ext cx="30861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Hopsworks — feature groups, training datasets, on-demand transformations via Spark / Python UDFs.</a:t>
            </a:r>
            <a:endParaRPr lang="en-US" sz="800" dirty="0"/>
          </a:p>
        </p:txBody>
      </p:sp>
      <p:sp>
        <p:nvSpPr>
          <p:cNvPr id="42" name="Shape 39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514350" y="4754166"/>
            <a:ext cx="3703030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4" name="Text 41"/>
          <p:cNvSpPr/>
          <p:nvPr/>
        </p:nvSpPr>
        <p:spPr>
          <a:xfrm>
            <a:off x="4231667" y="4750594"/>
            <a:ext cx="3253197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06 / 12</a:t>
            </a:r>
            <a:endParaRPr lang="en-US" sz="800" dirty="0"/>
          </a:p>
        </p:txBody>
      </p:sp>
      <p:sp>
        <p:nvSpPr>
          <p:cNvPr id="45" name="Text 42"/>
          <p:cNvSpPr/>
          <p:nvPr/>
        </p:nvSpPr>
        <p:spPr>
          <a:xfrm>
            <a:off x="7499152" y="4750594"/>
            <a:ext cx="1130498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FEATURE STORE &amp; SERVING</a:t>
            </a:r>
            <a:endParaRPr lang="en-US" sz="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1431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4350" y="342900"/>
            <a:ext cx="1154710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514350" y="514350"/>
            <a:ext cx="8629650" cy="1618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04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514350" y="703659"/>
            <a:ext cx="8629650" cy="309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7"/>
              </a:lnSpc>
              <a:buNone/>
            </a:pPr>
            <a:r>
              <a:rPr lang="en-US" sz="1913" b="1" spc="-29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Model Monitoring &amp; Observability.</a:t>
            </a:r>
            <a:endParaRPr lang="en-US" sz="1913" dirty="0"/>
          </a:p>
        </p:txBody>
      </p:sp>
      <p:sp>
        <p:nvSpPr>
          <p:cNvPr id="6" name="Text 3"/>
          <p:cNvSpPr/>
          <p:nvPr/>
        </p:nvSpPr>
        <p:spPr>
          <a:xfrm>
            <a:off x="514350" y="1047341"/>
            <a:ext cx="81153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Deep technical engineering with real platforms, tools, and frameworks.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517922" y="1343806"/>
            <a:ext cx="3993356" cy="2850356"/>
          </a:xfrm>
          <a:prstGeom prst="roundRect">
            <a:avLst>
              <a:gd name="adj" fmla="val 4010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692944" y="1504541"/>
            <a:ext cx="364331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ENGINEERING APPROACH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692944" y="1722425"/>
            <a:ext cx="3643313" cy="932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Our model monitoring &amp; observability capability goes beyond surface-level integration. We engineer at the protocol, configuration, and architecture level — working with real platforms and tools, not abstract concepts. Every sub-service below carries specific tool names, configuration patterns, and engineering decisions.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670084" y="3747107"/>
            <a:ext cx="978872" cy="144018"/>
          </a:xfrm>
          <a:prstGeom prst="roundRect">
            <a:avLst>
              <a:gd name="adj" fmla="val 26455"/>
            </a:avLst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692944" y="3754822"/>
            <a:ext cx="933152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675"/>
              </a:lnSpc>
              <a:buNone/>
            </a:pPr>
            <a:r>
              <a:rPr lang="en-US" sz="800" spc="3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4 OF 4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692944" y="4019141"/>
            <a:ext cx="257175" cy="14288"/>
          </a:xfrm>
          <a:prstGeom prst="rect">
            <a:avLst/>
          </a:prstGeom>
          <a:solidFill>
            <a:srgbClr val="004C9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992981" y="4019141"/>
            <a:ext cx="85725" cy="14288"/>
          </a:xfrm>
          <a:prstGeom prst="rect">
            <a:avLst/>
          </a:prstGeom>
          <a:solidFill>
            <a:srgbClr val="FF6C0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1121569" y="4019141"/>
            <a:ext cx="42863" cy="14288"/>
          </a:xfrm>
          <a:prstGeom prst="rect">
            <a:avLst/>
          </a:prstGeom>
          <a:solidFill>
            <a:srgbClr val="4C81B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4689872" y="1343806"/>
            <a:ext cx="3936206" cy="2850356"/>
          </a:xfrm>
          <a:prstGeom prst="roundRect">
            <a:avLst>
              <a:gd name="adj" fmla="val 4010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4836319" y="1475966"/>
            <a:ext cx="364331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4C81B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SUB-SERVICES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4839891" y="1683134"/>
            <a:ext cx="3636169" cy="421481"/>
          </a:xfrm>
          <a:prstGeom prst="roundRect">
            <a:avLst>
              <a:gd name="adj" fmla="val 27119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4914900" y="1743856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5114925" y="1743856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⊟</a:t>
            </a:r>
            <a:endParaRPr lang="en-US" sz="1266" dirty="0"/>
          </a:p>
        </p:txBody>
      </p:sp>
      <p:sp>
        <p:nvSpPr>
          <p:cNvPr id="20" name="Text 17"/>
          <p:cNvSpPr/>
          <p:nvPr/>
        </p:nvSpPr>
        <p:spPr>
          <a:xfrm>
            <a:off x="5314950" y="1736713"/>
            <a:ext cx="319582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Evidently AI Drift Detection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5314950" y="1851013"/>
            <a:ext cx="30861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Evidently AI — data drift (Jensen-Shannon), concept drift, data quality, target drift, Report / Test Suite outputs.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4839891" y="2161766"/>
            <a:ext cx="3636169" cy="421481"/>
          </a:xfrm>
          <a:prstGeom prst="roundRect">
            <a:avLst>
              <a:gd name="adj" fmla="val 27119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4914900" y="2222488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5114925" y="2222488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⊟</a:t>
            </a:r>
            <a:endParaRPr lang="en-US" sz="1266" dirty="0"/>
          </a:p>
        </p:txBody>
      </p:sp>
      <p:sp>
        <p:nvSpPr>
          <p:cNvPr id="25" name="Text 22"/>
          <p:cNvSpPr/>
          <p:nvPr/>
        </p:nvSpPr>
        <p:spPr>
          <a:xfrm>
            <a:off x="5314950" y="2215344"/>
            <a:ext cx="308610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WhyLabs Observability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5314950" y="2329644"/>
            <a:ext cx="30861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WhyLabs — data profiling via whylogs, statistical fingerprints, drift alerts, privacy-preserving telemetry.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4839891" y="2640397"/>
            <a:ext cx="3636169" cy="421481"/>
          </a:xfrm>
          <a:prstGeom prst="roundRect">
            <a:avLst>
              <a:gd name="adj" fmla="val 27119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5"/>
          <p:cNvSpPr/>
          <p:nvPr/>
        </p:nvSpPr>
        <p:spPr>
          <a:xfrm>
            <a:off x="4914900" y="2701119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5114925" y="2701119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⊟</a:t>
            </a:r>
            <a:endParaRPr lang="en-US" sz="1266" dirty="0"/>
          </a:p>
        </p:txBody>
      </p:sp>
      <p:sp>
        <p:nvSpPr>
          <p:cNvPr id="30" name="Text 27"/>
          <p:cNvSpPr/>
          <p:nvPr/>
        </p:nvSpPr>
        <p:spPr>
          <a:xfrm>
            <a:off x="5314950" y="2693975"/>
            <a:ext cx="308610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Arize AX Platform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5314950" y="2808275"/>
            <a:ext cx="30861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Arize AI — model performance monitoring, drift, fairness, explainability via SHAP, embedding drift for LLMs.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4839891" y="3119028"/>
            <a:ext cx="3636169" cy="421481"/>
          </a:xfrm>
          <a:prstGeom prst="roundRect">
            <a:avLst>
              <a:gd name="adj" fmla="val 27119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0"/>
          <p:cNvSpPr/>
          <p:nvPr/>
        </p:nvSpPr>
        <p:spPr>
          <a:xfrm>
            <a:off x="4914900" y="3179750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5114925" y="3179750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⊟</a:t>
            </a:r>
            <a:endParaRPr lang="en-US" sz="1266" dirty="0"/>
          </a:p>
        </p:txBody>
      </p:sp>
      <p:sp>
        <p:nvSpPr>
          <p:cNvPr id="35" name="Text 32"/>
          <p:cNvSpPr/>
          <p:nvPr/>
        </p:nvSpPr>
        <p:spPr>
          <a:xfrm>
            <a:off x="5314950" y="3172606"/>
            <a:ext cx="308610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Fiddler AI Observability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5314950" y="3286906"/>
            <a:ext cx="30861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Fiddler — Unified Model Observability, UQ (uncertainty quantification), drift, explainability via Fiddler Score.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4839891" y="3597659"/>
            <a:ext cx="3636169" cy="421481"/>
          </a:xfrm>
          <a:prstGeom prst="roundRect">
            <a:avLst>
              <a:gd name="adj" fmla="val 27119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5"/>
          <p:cNvSpPr/>
          <p:nvPr/>
        </p:nvSpPr>
        <p:spPr>
          <a:xfrm>
            <a:off x="4914900" y="3658381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800" dirty="0"/>
          </a:p>
        </p:txBody>
      </p:sp>
      <p:sp>
        <p:nvSpPr>
          <p:cNvPr id="39" name="Text 36"/>
          <p:cNvSpPr/>
          <p:nvPr/>
        </p:nvSpPr>
        <p:spPr>
          <a:xfrm>
            <a:off x="5114925" y="3658381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⊟</a:t>
            </a:r>
            <a:endParaRPr lang="en-US" sz="1266" dirty="0"/>
          </a:p>
        </p:txBody>
      </p:sp>
      <p:sp>
        <p:nvSpPr>
          <p:cNvPr id="40" name="Text 37"/>
          <p:cNvSpPr/>
          <p:nvPr/>
        </p:nvSpPr>
        <p:spPr>
          <a:xfrm>
            <a:off x="5314950" y="3651238"/>
            <a:ext cx="308610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SageMaker Model Monitor</a:t>
            </a:r>
            <a:endParaRPr lang="en-US" sz="800" dirty="0"/>
          </a:p>
        </p:txBody>
      </p:sp>
      <p:sp>
        <p:nvSpPr>
          <p:cNvPr id="41" name="Text 38"/>
          <p:cNvSpPr/>
          <p:nvPr/>
        </p:nvSpPr>
        <p:spPr>
          <a:xfrm>
            <a:off x="5314950" y="3765538"/>
            <a:ext cx="30861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AWS SageMaker Model Monitor — baseline constraints from training data, monitoring schedules, CloudWatch alerts on violations.</a:t>
            </a:r>
            <a:endParaRPr lang="en-US" sz="800" dirty="0"/>
          </a:p>
        </p:txBody>
      </p:sp>
      <p:sp>
        <p:nvSpPr>
          <p:cNvPr id="42" name="Shape 39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514350" y="4754166"/>
            <a:ext cx="3474318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4" name="Text 41"/>
          <p:cNvSpPr/>
          <p:nvPr/>
        </p:nvSpPr>
        <p:spPr>
          <a:xfrm>
            <a:off x="4002956" y="4750594"/>
            <a:ext cx="3024485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07 / 12</a:t>
            </a:r>
            <a:endParaRPr lang="en-US" sz="800" dirty="0"/>
          </a:p>
        </p:txBody>
      </p:sp>
      <p:sp>
        <p:nvSpPr>
          <p:cNvPr id="45" name="Text 42"/>
          <p:cNvSpPr/>
          <p:nvPr/>
        </p:nvSpPr>
        <p:spPr>
          <a:xfrm>
            <a:off x="7041728" y="4750594"/>
            <a:ext cx="1683197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MODEL MONITORING &amp; OBSERVABILITY</a:t>
            </a:r>
            <a:endParaRPr lang="en-US" sz="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1431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4350" y="342900"/>
            <a:ext cx="1154710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514350" y="514350"/>
            <a:ext cx="8629650" cy="1618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TECHNICAL APPLICATIONS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514350" y="703659"/>
            <a:ext cx="8629650" cy="309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7"/>
              </a:lnSpc>
              <a:buNone/>
            </a:pPr>
            <a:r>
              <a:rPr lang="en-US" sz="1913" b="1" spc="-29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Where this creates engineering value.</a:t>
            </a:r>
            <a:endParaRPr lang="en-US" sz="1913" dirty="0"/>
          </a:p>
        </p:txBody>
      </p:sp>
      <p:sp>
        <p:nvSpPr>
          <p:cNvPr id="6" name="Text 3"/>
          <p:cNvSpPr/>
          <p:nvPr/>
        </p:nvSpPr>
        <p:spPr>
          <a:xfrm>
            <a:off x="514350" y="1047341"/>
            <a:ext cx="65722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788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Four specific engineering scenarios where enterprise mlops &amp; model productionization delivers measurable production impact.</a:t>
            </a:r>
            <a:endParaRPr lang="en-US" sz="788" dirty="0"/>
          </a:p>
        </p:txBody>
      </p:sp>
      <p:sp>
        <p:nvSpPr>
          <p:cNvPr id="7" name="Text 4"/>
          <p:cNvSpPr/>
          <p:nvPr/>
        </p:nvSpPr>
        <p:spPr>
          <a:xfrm>
            <a:off x="517922" y="1372381"/>
            <a:ext cx="3993356" cy="1278731"/>
          </a:xfrm>
          <a:prstGeom prst="roundRect">
            <a:avLst>
              <a:gd name="adj" fmla="val 8939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678656" y="1518828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➤</a:t>
            </a:r>
            <a:endParaRPr lang="en-US" sz="1969" dirty="0"/>
          </a:p>
        </p:txBody>
      </p:sp>
      <p:sp>
        <p:nvSpPr>
          <p:cNvPr id="9" name="Text 6"/>
          <p:cNvSpPr/>
          <p:nvPr/>
        </p:nvSpPr>
        <p:spPr>
          <a:xfrm>
            <a:off x="4241557" y="1522400"/>
            <a:ext cx="139080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spc="61" kern="0" dirty="0">
                <a:solidFill>
                  <a:srgbClr val="FF6C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endParaRPr lang="en-US" sz="1013" dirty="0"/>
          </a:p>
        </p:txBody>
      </p:sp>
      <p:sp>
        <p:nvSpPr>
          <p:cNvPr id="10" name="Text 7"/>
          <p:cNvSpPr/>
          <p:nvPr/>
        </p:nvSpPr>
        <p:spPr>
          <a:xfrm>
            <a:off x="678656" y="1790291"/>
            <a:ext cx="3671888" cy="203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238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Production Deployment</a:t>
            </a:r>
            <a:endParaRPr lang="en-US" sz="1238" dirty="0"/>
          </a:p>
        </p:txBody>
      </p:sp>
      <p:sp>
        <p:nvSpPr>
          <p:cNvPr id="11" name="Text 8"/>
          <p:cNvSpPr/>
          <p:nvPr/>
        </p:nvSpPr>
        <p:spPr>
          <a:xfrm>
            <a:off x="678656" y="2050256"/>
            <a:ext cx="3671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From prototype to production-grade deployment with real reliability, latency, and cost SLAs.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4632722" y="1372381"/>
            <a:ext cx="3993356" cy="1278731"/>
          </a:xfrm>
          <a:prstGeom prst="roundRect">
            <a:avLst>
              <a:gd name="adj" fmla="val 8939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4793456" y="1518828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⌇</a:t>
            </a:r>
            <a:endParaRPr lang="en-US" sz="1969" dirty="0"/>
          </a:p>
        </p:txBody>
      </p:sp>
      <p:sp>
        <p:nvSpPr>
          <p:cNvPr id="14" name="Text 11"/>
          <p:cNvSpPr/>
          <p:nvPr/>
        </p:nvSpPr>
        <p:spPr>
          <a:xfrm>
            <a:off x="8263599" y="1522400"/>
            <a:ext cx="233155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spc="61" kern="0" dirty="0">
                <a:solidFill>
                  <a:srgbClr val="FF6C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II</a:t>
            </a:r>
            <a:endParaRPr lang="en-US" sz="1013" dirty="0"/>
          </a:p>
        </p:txBody>
      </p:sp>
      <p:sp>
        <p:nvSpPr>
          <p:cNvPr id="15" name="Text 12"/>
          <p:cNvSpPr/>
          <p:nvPr/>
        </p:nvSpPr>
        <p:spPr>
          <a:xfrm>
            <a:off x="4793456" y="1790291"/>
            <a:ext cx="3781616" cy="203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238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Observability &amp; Operations</a:t>
            </a:r>
            <a:endParaRPr lang="en-US" sz="1238" dirty="0"/>
          </a:p>
        </p:txBody>
      </p:sp>
      <p:sp>
        <p:nvSpPr>
          <p:cNvPr id="16" name="Text 13"/>
          <p:cNvSpPr/>
          <p:nvPr/>
        </p:nvSpPr>
        <p:spPr>
          <a:xfrm>
            <a:off x="4793456" y="2050256"/>
            <a:ext cx="3671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Continuous monitoring, evaluation, drift detection, and operational runbooks for production systems.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517922" y="2772556"/>
            <a:ext cx="3993356" cy="1278731"/>
          </a:xfrm>
          <a:prstGeom prst="roundRect">
            <a:avLst>
              <a:gd name="adj" fmla="val 8939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678656" y="2919003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969" dirty="0"/>
          </a:p>
        </p:txBody>
      </p:sp>
      <p:sp>
        <p:nvSpPr>
          <p:cNvPr id="19" name="Text 16"/>
          <p:cNvSpPr/>
          <p:nvPr/>
        </p:nvSpPr>
        <p:spPr>
          <a:xfrm>
            <a:off x="4059179" y="2922575"/>
            <a:ext cx="327229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spc="61" kern="0" dirty="0">
                <a:solidFill>
                  <a:srgbClr val="FF6C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III</a:t>
            </a:r>
            <a:endParaRPr lang="en-US" sz="1013" dirty="0"/>
          </a:p>
        </p:txBody>
      </p:sp>
      <p:sp>
        <p:nvSpPr>
          <p:cNvPr id="20" name="Text 17"/>
          <p:cNvSpPr/>
          <p:nvPr/>
        </p:nvSpPr>
        <p:spPr>
          <a:xfrm>
            <a:off x="678656" y="3190466"/>
            <a:ext cx="3671888" cy="203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238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Security &amp; Compliance</a:t>
            </a:r>
            <a:endParaRPr lang="en-US" sz="1238" dirty="0"/>
          </a:p>
        </p:txBody>
      </p:sp>
      <p:sp>
        <p:nvSpPr>
          <p:cNvPr id="21" name="Text 18"/>
          <p:cNvSpPr/>
          <p:nvPr/>
        </p:nvSpPr>
        <p:spPr>
          <a:xfrm>
            <a:off x="678656" y="3450431"/>
            <a:ext cx="3671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Security engineering, compliance automation, and audit-ready evidence collection built into the pipeline.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4632722" y="2772556"/>
            <a:ext cx="3993356" cy="1278731"/>
          </a:xfrm>
          <a:prstGeom prst="roundRect">
            <a:avLst>
              <a:gd name="adj" fmla="val 8939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4793456" y="2919003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↗</a:t>
            </a:r>
            <a:endParaRPr lang="en-US" sz="1969" dirty="0"/>
          </a:p>
        </p:txBody>
      </p:sp>
      <p:sp>
        <p:nvSpPr>
          <p:cNvPr id="24" name="Text 21"/>
          <p:cNvSpPr/>
          <p:nvPr/>
        </p:nvSpPr>
        <p:spPr>
          <a:xfrm>
            <a:off x="8263599" y="2922575"/>
            <a:ext cx="233155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spc="61" kern="0" dirty="0">
                <a:solidFill>
                  <a:srgbClr val="FF6C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IV</a:t>
            </a:r>
            <a:endParaRPr lang="en-US" sz="1013" dirty="0"/>
          </a:p>
        </p:txBody>
      </p:sp>
      <p:sp>
        <p:nvSpPr>
          <p:cNvPr id="25" name="Text 22"/>
          <p:cNvSpPr/>
          <p:nvPr/>
        </p:nvSpPr>
        <p:spPr>
          <a:xfrm>
            <a:off x="4793456" y="3190466"/>
            <a:ext cx="3671888" cy="203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238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Scale &amp; Optimization</a:t>
            </a:r>
            <a:endParaRPr lang="en-US" sz="1238" dirty="0"/>
          </a:p>
        </p:txBody>
      </p:sp>
      <p:sp>
        <p:nvSpPr>
          <p:cNvPr id="26" name="Text 23"/>
          <p:cNvSpPr/>
          <p:nvPr/>
        </p:nvSpPr>
        <p:spPr>
          <a:xfrm>
            <a:off x="4793456" y="3450431"/>
            <a:ext cx="3671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Scaling from single-tenant to multi-tenant, optimizing cost, latency, and resource utilization.</a:t>
            </a:r>
            <a:endParaRPr lang="en-US" sz="800" dirty="0"/>
          </a:p>
        </p:txBody>
      </p:sp>
      <p:sp>
        <p:nvSpPr>
          <p:cNvPr id="27" name="Shape 24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14350" y="4754166"/>
            <a:ext cx="3979627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4508264" y="4750594"/>
            <a:ext cx="3529682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08 / 12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7993120" y="4750594"/>
            <a:ext cx="695645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APPLICATIONS</a:t>
            </a:r>
            <a:endParaRPr lang="en-US" sz="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1431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4350" y="342900"/>
            <a:ext cx="1154710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514350" y="514350"/>
            <a:ext cx="8629650" cy="1618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REFERENCE ARCHITECTURE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514350" y="703659"/>
            <a:ext cx="8629650" cy="5353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91"/>
              </a:lnSpc>
              <a:buNone/>
            </a:pPr>
            <a:r>
              <a:rPr lang="en-US" sz="1688" b="1" spc="-25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production reference architecture for enterprise mlops &amp; model productionization.</a:t>
            </a:r>
            <a:endParaRPr lang="en-US" sz="1688" dirty="0"/>
          </a:p>
        </p:txBody>
      </p:sp>
      <p:sp>
        <p:nvSpPr>
          <p:cNvPr id="6" name="Text 3"/>
          <p:cNvSpPr/>
          <p:nvPr/>
        </p:nvSpPr>
        <p:spPr>
          <a:xfrm>
            <a:off x="514350" y="1266453"/>
            <a:ext cx="81153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Five layers with real platform and tool names — not generic architecture diagrams.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517922" y="1577206"/>
            <a:ext cx="8108156" cy="507206"/>
          </a:xfrm>
          <a:prstGeom prst="roundRect">
            <a:avLst>
              <a:gd name="adj" fmla="val 15023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521494" y="1580778"/>
            <a:ext cx="928688" cy="500063"/>
          </a:xfrm>
          <a:prstGeom prst="rect">
            <a:avLst/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6"/>
          <p:cNvSpPr/>
          <p:nvPr/>
        </p:nvSpPr>
        <p:spPr>
          <a:xfrm>
            <a:off x="1446609" y="1580778"/>
            <a:ext cx="0" cy="500063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07219" y="1712937"/>
            <a:ext cx="75009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b="1" spc="51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LAYER 01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1564481" y="1730797"/>
            <a:ext cx="391455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1543415" y="1741512"/>
            <a:ext cx="433588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MLflow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2041661" y="1730797"/>
            <a:ext cx="761144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2041661" y="1741512"/>
            <a:ext cx="761144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Weights &amp; Biases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2888531" y="1730797"/>
            <a:ext cx="1011622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2888531" y="1741512"/>
            <a:ext cx="1011622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SageMaker Experiments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3985878" y="1730797"/>
            <a:ext cx="534553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3921867" y="1741512"/>
            <a:ext cx="662574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Neptune.ai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517922" y="2162994"/>
            <a:ext cx="8108156" cy="507206"/>
          </a:xfrm>
          <a:prstGeom prst="roundRect">
            <a:avLst>
              <a:gd name="adj" fmla="val 15023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521494" y="2166565"/>
            <a:ext cx="928688" cy="500063"/>
          </a:xfrm>
          <a:prstGeom prst="rect">
            <a:avLst/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8"/>
          <p:cNvSpPr/>
          <p:nvPr/>
        </p:nvSpPr>
        <p:spPr>
          <a:xfrm>
            <a:off x="1446609" y="2166565"/>
            <a:ext cx="0" cy="500063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04428" y="2298725"/>
            <a:ext cx="58944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b="1" spc="51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LAYER 02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1564481" y="2316584"/>
            <a:ext cx="807467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1564481" y="2327300"/>
            <a:ext cx="807467" cy="178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Kubeflow Pipelines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2457673" y="2316584"/>
            <a:ext cx="878458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3"/>
          <p:cNvSpPr/>
          <p:nvPr/>
        </p:nvSpPr>
        <p:spPr>
          <a:xfrm>
            <a:off x="2457673" y="2327300"/>
            <a:ext cx="878458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SageMaker Pipelines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3421856" y="2316584"/>
            <a:ext cx="804676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5"/>
          <p:cNvSpPr/>
          <p:nvPr/>
        </p:nvSpPr>
        <p:spPr>
          <a:xfrm>
            <a:off x="3421856" y="2327300"/>
            <a:ext cx="804676" cy="178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Vertex AI Pipelines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4312258" y="2316584"/>
            <a:ext cx="467469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7"/>
          <p:cNvSpPr/>
          <p:nvPr/>
        </p:nvSpPr>
        <p:spPr>
          <a:xfrm>
            <a:off x="4272851" y="2327300"/>
            <a:ext cx="546283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Metaflow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517922" y="2748781"/>
            <a:ext cx="8108156" cy="507206"/>
          </a:xfrm>
          <a:prstGeom prst="roundRect">
            <a:avLst>
              <a:gd name="adj" fmla="val 15023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29"/>
          <p:cNvSpPr/>
          <p:nvPr/>
        </p:nvSpPr>
        <p:spPr>
          <a:xfrm>
            <a:off x="521494" y="2752353"/>
            <a:ext cx="928688" cy="500063"/>
          </a:xfrm>
          <a:prstGeom prst="rect">
            <a:avLst/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Shape 30"/>
          <p:cNvSpPr/>
          <p:nvPr/>
        </p:nvSpPr>
        <p:spPr>
          <a:xfrm>
            <a:off x="1446609" y="2752353"/>
            <a:ext cx="0" cy="500063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07219" y="2825576"/>
            <a:ext cx="75009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b="1" spc="51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LAYER 03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1564481" y="2902372"/>
            <a:ext cx="333077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3"/>
          <p:cNvSpPr/>
          <p:nvPr/>
        </p:nvSpPr>
        <p:spPr>
          <a:xfrm>
            <a:off x="1551391" y="2913087"/>
            <a:ext cx="359258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Feast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1983284" y="2902372"/>
            <a:ext cx="374600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5"/>
          <p:cNvSpPr/>
          <p:nvPr/>
        </p:nvSpPr>
        <p:spPr>
          <a:xfrm>
            <a:off x="1959784" y="2913087"/>
            <a:ext cx="421599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Tecton</a:t>
            </a:r>
            <a:endParaRPr lang="en-US" sz="800" dirty="0"/>
          </a:p>
        </p:txBody>
      </p:sp>
      <p:sp>
        <p:nvSpPr>
          <p:cNvPr id="39" name="Text 36"/>
          <p:cNvSpPr/>
          <p:nvPr/>
        </p:nvSpPr>
        <p:spPr>
          <a:xfrm>
            <a:off x="2443609" y="2902372"/>
            <a:ext cx="1043099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7"/>
          <p:cNvSpPr/>
          <p:nvPr/>
        </p:nvSpPr>
        <p:spPr>
          <a:xfrm>
            <a:off x="2443609" y="2913087"/>
            <a:ext cx="1043099" cy="178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SageMaker Feature Store</a:t>
            </a:r>
            <a:endParaRPr lang="en-US" sz="800" dirty="0"/>
          </a:p>
        </p:txBody>
      </p:sp>
      <p:sp>
        <p:nvSpPr>
          <p:cNvPr id="41" name="Text 38"/>
          <p:cNvSpPr/>
          <p:nvPr/>
        </p:nvSpPr>
        <p:spPr>
          <a:xfrm>
            <a:off x="3572433" y="2902372"/>
            <a:ext cx="532991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39"/>
          <p:cNvSpPr/>
          <p:nvPr/>
        </p:nvSpPr>
        <p:spPr>
          <a:xfrm>
            <a:off x="3534616" y="2913087"/>
            <a:ext cx="608625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Hopsworks</a:t>
            </a:r>
            <a:endParaRPr lang="en-US" sz="800" dirty="0"/>
          </a:p>
        </p:txBody>
      </p:sp>
      <p:sp>
        <p:nvSpPr>
          <p:cNvPr id="43" name="Text 40"/>
          <p:cNvSpPr/>
          <p:nvPr/>
        </p:nvSpPr>
        <p:spPr>
          <a:xfrm>
            <a:off x="517922" y="3334569"/>
            <a:ext cx="8108156" cy="507206"/>
          </a:xfrm>
          <a:prstGeom prst="roundRect">
            <a:avLst>
              <a:gd name="adj" fmla="val 15023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1"/>
          <p:cNvSpPr/>
          <p:nvPr/>
        </p:nvSpPr>
        <p:spPr>
          <a:xfrm>
            <a:off x="521494" y="3338140"/>
            <a:ext cx="928688" cy="500063"/>
          </a:xfrm>
          <a:prstGeom prst="rect">
            <a:avLst/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Shape 42"/>
          <p:cNvSpPr/>
          <p:nvPr/>
        </p:nvSpPr>
        <p:spPr>
          <a:xfrm>
            <a:off x="1446609" y="3338140"/>
            <a:ext cx="0" cy="500063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597381" y="3470300"/>
            <a:ext cx="58944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b="1" spc="51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LAYER 04</a:t>
            </a:r>
            <a:endParaRPr lang="en-US" sz="800" dirty="0"/>
          </a:p>
        </p:txBody>
      </p:sp>
      <p:sp>
        <p:nvSpPr>
          <p:cNvPr id="47" name="Text 44"/>
          <p:cNvSpPr/>
          <p:nvPr/>
        </p:nvSpPr>
        <p:spPr>
          <a:xfrm>
            <a:off x="1564481" y="3488159"/>
            <a:ext cx="394692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5"/>
          <p:cNvSpPr/>
          <p:nvPr/>
        </p:nvSpPr>
        <p:spPr>
          <a:xfrm>
            <a:off x="1545033" y="3498875"/>
            <a:ext cx="433588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KServe</a:t>
            </a:r>
            <a:endParaRPr lang="en-US" sz="800" dirty="0"/>
          </a:p>
        </p:txBody>
      </p:sp>
      <p:sp>
        <p:nvSpPr>
          <p:cNvPr id="49" name="Text 46"/>
          <p:cNvSpPr/>
          <p:nvPr/>
        </p:nvSpPr>
        <p:spPr>
          <a:xfrm>
            <a:off x="2044898" y="3488159"/>
            <a:ext cx="454298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7"/>
          <p:cNvSpPr/>
          <p:nvPr/>
        </p:nvSpPr>
        <p:spPr>
          <a:xfrm>
            <a:off x="2018088" y="3498875"/>
            <a:ext cx="507919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BentoML</a:t>
            </a:r>
            <a:endParaRPr lang="en-US" sz="800" dirty="0"/>
          </a:p>
        </p:txBody>
      </p:sp>
      <p:sp>
        <p:nvSpPr>
          <p:cNvPr id="51" name="Text 48"/>
          <p:cNvSpPr/>
          <p:nvPr/>
        </p:nvSpPr>
        <p:spPr>
          <a:xfrm>
            <a:off x="2584921" y="3488159"/>
            <a:ext cx="574402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49"/>
          <p:cNvSpPr/>
          <p:nvPr/>
        </p:nvSpPr>
        <p:spPr>
          <a:xfrm>
            <a:off x="2513860" y="3498875"/>
            <a:ext cx="716524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Seldon Core</a:t>
            </a:r>
            <a:endParaRPr lang="en-US" sz="800" dirty="0"/>
          </a:p>
        </p:txBody>
      </p:sp>
      <p:sp>
        <p:nvSpPr>
          <p:cNvPr id="53" name="Text 50"/>
          <p:cNvSpPr/>
          <p:nvPr/>
        </p:nvSpPr>
        <p:spPr>
          <a:xfrm>
            <a:off x="3245048" y="3488159"/>
            <a:ext cx="504639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Text 51"/>
          <p:cNvSpPr/>
          <p:nvPr/>
        </p:nvSpPr>
        <p:spPr>
          <a:xfrm>
            <a:off x="3201448" y="3498875"/>
            <a:ext cx="591840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Ray Serve</a:t>
            </a:r>
            <a:endParaRPr lang="en-US" sz="800" dirty="0"/>
          </a:p>
        </p:txBody>
      </p:sp>
      <p:sp>
        <p:nvSpPr>
          <p:cNvPr id="55" name="Text 52"/>
          <p:cNvSpPr/>
          <p:nvPr/>
        </p:nvSpPr>
        <p:spPr>
          <a:xfrm>
            <a:off x="517922" y="3920356"/>
            <a:ext cx="8108156" cy="507206"/>
          </a:xfrm>
          <a:prstGeom prst="roundRect">
            <a:avLst>
              <a:gd name="adj" fmla="val 15023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6" name="Text 53"/>
          <p:cNvSpPr/>
          <p:nvPr/>
        </p:nvSpPr>
        <p:spPr>
          <a:xfrm>
            <a:off x="521494" y="3923928"/>
            <a:ext cx="928688" cy="500063"/>
          </a:xfrm>
          <a:prstGeom prst="rect">
            <a:avLst/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Shape 54"/>
          <p:cNvSpPr/>
          <p:nvPr/>
        </p:nvSpPr>
        <p:spPr>
          <a:xfrm>
            <a:off x="1446609" y="3923928"/>
            <a:ext cx="0" cy="500063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607219" y="4056087"/>
            <a:ext cx="75009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b="1" spc="51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LAYER 05</a:t>
            </a:r>
            <a:endParaRPr lang="en-US" sz="800" dirty="0"/>
          </a:p>
        </p:txBody>
      </p:sp>
      <p:sp>
        <p:nvSpPr>
          <p:cNvPr id="59" name="Text 56"/>
          <p:cNvSpPr/>
          <p:nvPr/>
        </p:nvSpPr>
        <p:spPr>
          <a:xfrm>
            <a:off x="1564481" y="4073947"/>
            <a:ext cx="567593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0" name="Text 57"/>
          <p:cNvSpPr/>
          <p:nvPr/>
        </p:nvSpPr>
        <p:spPr>
          <a:xfrm>
            <a:off x="1452851" y="4084662"/>
            <a:ext cx="790854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Evidently AI</a:t>
            </a:r>
            <a:endParaRPr lang="en-US" sz="800" dirty="0"/>
          </a:p>
        </p:txBody>
      </p:sp>
      <p:sp>
        <p:nvSpPr>
          <p:cNvPr id="61" name="Text 58"/>
          <p:cNvSpPr/>
          <p:nvPr/>
        </p:nvSpPr>
        <p:spPr>
          <a:xfrm>
            <a:off x="2217800" y="4073947"/>
            <a:ext cx="467246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2" name="Text 59"/>
          <p:cNvSpPr/>
          <p:nvPr/>
        </p:nvSpPr>
        <p:spPr>
          <a:xfrm>
            <a:off x="2203458" y="4084662"/>
            <a:ext cx="495930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WhyLabs</a:t>
            </a:r>
            <a:endParaRPr lang="en-US" sz="800" dirty="0"/>
          </a:p>
        </p:txBody>
      </p:sp>
      <p:sp>
        <p:nvSpPr>
          <p:cNvPr id="63" name="Text 60"/>
          <p:cNvSpPr/>
          <p:nvPr/>
        </p:nvSpPr>
        <p:spPr>
          <a:xfrm>
            <a:off x="2770770" y="4073947"/>
            <a:ext cx="415119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4" name="Text 61"/>
          <p:cNvSpPr/>
          <p:nvPr/>
        </p:nvSpPr>
        <p:spPr>
          <a:xfrm>
            <a:off x="2707586" y="4084662"/>
            <a:ext cx="541487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Arize AI</a:t>
            </a:r>
            <a:endParaRPr lang="en-US" sz="800" dirty="0"/>
          </a:p>
        </p:txBody>
      </p:sp>
      <p:sp>
        <p:nvSpPr>
          <p:cNvPr id="65" name="Text 62"/>
          <p:cNvSpPr/>
          <p:nvPr/>
        </p:nvSpPr>
        <p:spPr>
          <a:xfrm>
            <a:off x="3271614" y="4073947"/>
            <a:ext cx="475171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6" name="Text 63"/>
          <p:cNvSpPr/>
          <p:nvPr/>
        </p:nvSpPr>
        <p:spPr>
          <a:xfrm>
            <a:off x="3176114" y="4084662"/>
            <a:ext cx="666171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Fiddler AI</a:t>
            </a:r>
            <a:endParaRPr lang="en-US" sz="800" dirty="0"/>
          </a:p>
        </p:txBody>
      </p:sp>
      <p:sp>
        <p:nvSpPr>
          <p:cNvPr id="67" name="Shape 64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68" name="Text 65"/>
          <p:cNvSpPr/>
          <p:nvPr/>
        </p:nvSpPr>
        <p:spPr>
          <a:xfrm>
            <a:off x="514350" y="4754166"/>
            <a:ext cx="3959535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69" name="Text 66"/>
          <p:cNvSpPr/>
          <p:nvPr/>
        </p:nvSpPr>
        <p:spPr>
          <a:xfrm>
            <a:off x="4488173" y="4750594"/>
            <a:ext cx="3509590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09 / 12</a:t>
            </a:r>
            <a:endParaRPr lang="en-US" sz="800" dirty="0"/>
          </a:p>
        </p:txBody>
      </p:sp>
      <p:sp>
        <p:nvSpPr>
          <p:cNvPr id="70" name="Text 67"/>
          <p:cNvSpPr/>
          <p:nvPr/>
        </p:nvSpPr>
        <p:spPr>
          <a:xfrm>
            <a:off x="7973028" y="4750594"/>
            <a:ext cx="695645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ARCHITECTURE</a:t>
            </a:r>
            <a:endParaRPr lang="en-US" sz="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1431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4350" y="342900"/>
            <a:ext cx="1154710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514350" y="514350"/>
            <a:ext cx="8629650" cy="1618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IMPLEMENTATION ROADMAP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514350" y="703659"/>
            <a:ext cx="8629650" cy="273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91"/>
              </a:lnSpc>
              <a:buNone/>
            </a:pPr>
            <a:r>
              <a:rPr lang="en-US" sz="1688" b="1" spc="-25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phased engineering roadmap from assessment to production.</a:t>
            </a:r>
            <a:endParaRPr lang="en-US" sz="1688" dirty="0"/>
          </a:p>
        </p:txBody>
      </p:sp>
      <p:sp>
        <p:nvSpPr>
          <p:cNvPr id="6" name="Text 3"/>
          <p:cNvSpPr/>
          <p:nvPr/>
        </p:nvSpPr>
        <p:spPr>
          <a:xfrm>
            <a:off x="514350" y="1013631"/>
            <a:ext cx="81153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Each phase carries concrete engineering deliverables, technical milestones, and exit criteria.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517922" y="1324384"/>
            <a:ext cx="1935956" cy="2707481"/>
          </a:xfrm>
          <a:prstGeom prst="roundRect">
            <a:avLst>
              <a:gd name="adj" fmla="val 4920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621506" y="1442256"/>
            <a:ext cx="1728788" cy="1475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62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STAGE 01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621506" y="1617278"/>
            <a:ext cx="1728787" cy="138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44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Technical Assessment</a:t>
            </a:r>
            <a:endParaRPr lang="en-US" sz="844" dirty="0"/>
          </a:p>
        </p:txBody>
      </p:sp>
      <p:sp>
        <p:nvSpPr>
          <p:cNvPr id="10" name="Text 7"/>
          <p:cNvSpPr/>
          <p:nvPr/>
        </p:nvSpPr>
        <p:spPr>
          <a:xfrm>
            <a:off x="621506" y="1803016"/>
            <a:ext cx="172878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 WEEKS · FIXED FEE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621506" y="2010184"/>
            <a:ext cx="1728788" cy="7144"/>
          </a:xfrm>
          <a:prstGeom prst="rect">
            <a:avLst/>
          </a:prstGeom>
          <a:solidFill>
            <a:srgbClr val="CBD5E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621506" y="2117341"/>
            <a:ext cx="183251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spc="91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ENGINEERING DELIVERABLES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621506" y="2313794"/>
            <a:ext cx="1728788" cy="661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897"/>
              </a:lnSpc>
              <a:spcAft>
                <a:spcPts val="338"/>
              </a:spcAft>
              <a:buSzPct val="100000"/>
              <a:buChar char="•"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Architecture audit</a:t>
            </a:r>
            <a:endParaRPr lang="en-US" sz="800" dirty="0"/>
          </a:p>
          <a:p>
            <a:pPr algn="l" marL="342900" indent="-342900">
              <a:lnSpc>
                <a:spcPts val="897"/>
              </a:lnSpc>
              <a:spcAft>
                <a:spcPts val="338"/>
              </a:spcAft>
              <a:buSzPct val="100000"/>
              <a:buChar char="•"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Tool landscape assessment</a:t>
            </a:r>
            <a:endParaRPr lang="en-US" sz="800" dirty="0"/>
          </a:p>
          <a:p>
            <a:pPr algn="l" marL="342900" indent="-342900">
              <a:lnSpc>
                <a:spcPts val="897"/>
              </a:lnSpc>
              <a:spcAft>
                <a:spcPts val="338"/>
              </a:spcAft>
              <a:buSzPct val="100000"/>
              <a:buChar char="•"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Gap analysis</a:t>
            </a:r>
            <a:endParaRPr lang="en-US" sz="800" dirty="0"/>
          </a:p>
          <a:p>
            <a:pPr algn="l" marL="342900" indent="-342900">
              <a:lnSpc>
                <a:spcPts val="897"/>
              </a:lnSpc>
              <a:spcAft>
                <a:spcPts val="338"/>
              </a:spcAft>
              <a:buSzPct val="100000"/>
              <a:buChar char="•"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Engineering roadmap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621506" y="3724684"/>
            <a:ext cx="1728788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1506" y="3721112"/>
            <a:ext cx="1728788" cy="192881"/>
          </a:xfrm>
          <a:prstGeom prst="rect">
            <a:avLst/>
          </a:prstGeom>
          <a:noFill/>
          <a:ln/>
        </p:spPr>
        <p:txBody>
          <a:bodyPr wrap="none" lIns="0" tIns="5715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$25K–$75K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2575322" y="1324384"/>
            <a:ext cx="1935956" cy="2707481"/>
          </a:xfrm>
          <a:prstGeom prst="roundRect">
            <a:avLst>
              <a:gd name="adj" fmla="val 4920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2678906" y="1442256"/>
            <a:ext cx="1728788" cy="1475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62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STAGE 02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2678906" y="1617278"/>
            <a:ext cx="1728787" cy="138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44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Foundation Engineering</a:t>
            </a:r>
            <a:endParaRPr lang="en-US" sz="844" dirty="0"/>
          </a:p>
        </p:txBody>
      </p:sp>
      <p:sp>
        <p:nvSpPr>
          <p:cNvPr id="19" name="Text 16"/>
          <p:cNvSpPr/>
          <p:nvPr/>
        </p:nvSpPr>
        <p:spPr>
          <a:xfrm>
            <a:off x="2678906" y="1803016"/>
            <a:ext cx="172878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3–6 WEEKS · FIXED FEE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2678906" y="2010184"/>
            <a:ext cx="1728788" cy="7144"/>
          </a:xfrm>
          <a:prstGeom prst="rect">
            <a:avLst/>
          </a:prstGeom>
          <a:solidFill>
            <a:srgbClr val="CBD5E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2678906" y="2117341"/>
            <a:ext cx="183251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spc="91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ENGINEERING DELIVERABLES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2678906" y="2313794"/>
            <a:ext cx="1728788" cy="661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897"/>
              </a:lnSpc>
              <a:spcAft>
                <a:spcPts val="338"/>
              </a:spcAft>
              <a:buSzPct val="100000"/>
              <a:buChar char="•"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Core platform setup</a:t>
            </a:r>
            <a:endParaRPr lang="en-US" sz="800" dirty="0"/>
          </a:p>
          <a:p>
            <a:pPr algn="l" marL="342900" indent="-342900">
              <a:lnSpc>
                <a:spcPts val="897"/>
              </a:lnSpc>
              <a:spcAft>
                <a:spcPts val="338"/>
              </a:spcAft>
              <a:buSzPct val="100000"/>
              <a:buChar char="•"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CI/CD pipeline</a:t>
            </a:r>
            <a:endParaRPr lang="en-US" sz="800" dirty="0"/>
          </a:p>
          <a:p>
            <a:pPr algn="l" marL="342900" indent="-342900">
              <a:lnSpc>
                <a:spcPts val="897"/>
              </a:lnSpc>
              <a:spcAft>
                <a:spcPts val="338"/>
              </a:spcAft>
              <a:buSzPct val="100000"/>
              <a:buChar char="•"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Observability stack</a:t>
            </a:r>
            <a:endParaRPr lang="en-US" sz="800" dirty="0"/>
          </a:p>
          <a:p>
            <a:pPr algn="l" marL="342900" indent="-342900">
              <a:lnSpc>
                <a:spcPts val="897"/>
              </a:lnSpc>
              <a:spcAft>
                <a:spcPts val="338"/>
              </a:spcAft>
              <a:buSzPct val="100000"/>
              <a:buChar char="•"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Security baseline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2678906" y="3724684"/>
            <a:ext cx="1728788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2678906" y="3721112"/>
            <a:ext cx="1728788" cy="192881"/>
          </a:xfrm>
          <a:prstGeom prst="rect">
            <a:avLst/>
          </a:prstGeom>
          <a:noFill/>
          <a:ln/>
        </p:spPr>
        <p:txBody>
          <a:bodyPr wrap="none" lIns="0" tIns="5715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$50K–$150K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4632722" y="1324384"/>
            <a:ext cx="1935956" cy="2707481"/>
          </a:xfrm>
          <a:prstGeom prst="roundRect">
            <a:avLst>
              <a:gd name="adj" fmla="val 4920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3"/>
          <p:cNvSpPr/>
          <p:nvPr/>
        </p:nvSpPr>
        <p:spPr>
          <a:xfrm>
            <a:off x="4736306" y="1442256"/>
            <a:ext cx="1728788" cy="1475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62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STAGE 03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4736306" y="1617278"/>
            <a:ext cx="1728787" cy="138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44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Production Build</a:t>
            </a:r>
            <a:endParaRPr lang="en-US" sz="844" dirty="0"/>
          </a:p>
        </p:txBody>
      </p:sp>
      <p:sp>
        <p:nvSpPr>
          <p:cNvPr id="28" name="Text 25"/>
          <p:cNvSpPr/>
          <p:nvPr/>
        </p:nvSpPr>
        <p:spPr>
          <a:xfrm>
            <a:off x="4736306" y="1803016"/>
            <a:ext cx="172878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8–24 WEEKS · T&amp;M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4736306" y="2010184"/>
            <a:ext cx="1728788" cy="7144"/>
          </a:xfrm>
          <a:prstGeom prst="rect">
            <a:avLst/>
          </a:prstGeom>
          <a:solidFill>
            <a:srgbClr val="CBD5E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7"/>
          <p:cNvSpPr/>
          <p:nvPr/>
        </p:nvSpPr>
        <p:spPr>
          <a:xfrm>
            <a:off x="4736306" y="2117341"/>
            <a:ext cx="183251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spc="91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ENGINEERING DELIVERABLES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4736306" y="2313794"/>
            <a:ext cx="1728788" cy="661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897"/>
              </a:lnSpc>
              <a:spcAft>
                <a:spcPts val="338"/>
              </a:spcAft>
              <a:buSzPct val="100000"/>
              <a:buChar char="•"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Production system</a:t>
            </a:r>
            <a:endParaRPr lang="en-US" sz="800" dirty="0"/>
          </a:p>
          <a:p>
            <a:pPr algn="l" marL="342900" indent="-342900">
              <a:lnSpc>
                <a:spcPts val="897"/>
              </a:lnSpc>
              <a:spcAft>
                <a:spcPts val="338"/>
              </a:spcAft>
              <a:buSzPct val="100000"/>
              <a:buChar char="•"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Performance validation</a:t>
            </a:r>
            <a:endParaRPr lang="en-US" sz="800" dirty="0"/>
          </a:p>
          <a:p>
            <a:pPr algn="l" marL="342900" indent="-342900">
              <a:lnSpc>
                <a:spcPts val="897"/>
              </a:lnSpc>
              <a:spcAft>
                <a:spcPts val="338"/>
              </a:spcAft>
              <a:buSzPct val="100000"/>
              <a:buChar char="•"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Security hardening</a:t>
            </a:r>
            <a:endParaRPr lang="en-US" sz="800" dirty="0"/>
          </a:p>
          <a:p>
            <a:pPr algn="l" marL="342900" indent="-342900">
              <a:lnSpc>
                <a:spcPts val="897"/>
              </a:lnSpc>
              <a:spcAft>
                <a:spcPts val="338"/>
              </a:spcAft>
              <a:buSzPct val="100000"/>
              <a:buChar char="•"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Documentation + handover</a:t>
            </a:r>
            <a:endParaRPr lang="en-US" sz="800" dirty="0"/>
          </a:p>
        </p:txBody>
      </p:sp>
      <p:sp>
        <p:nvSpPr>
          <p:cNvPr id="32" name="Shape 29"/>
          <p:cNvSpPr/>
          <p:nvPr/>
        </p:nvSpPr>
        <p:spPr>
          <a:xfrm>
            <a:off x="4736306" y="3724684"/>
            <a:ext cx="1728788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736306" y="3721112"/>
            <a:ext cx="1728788" cy="192881"/>
          </a:xfrm>
          <a:prstGeom prst="rect">
            <a:avLst/>
          </a:prstGeom>
          <a:noFill/>
          <a:ln/>
        </p:spPr>
        <p:txBody>
          <a:bodyPr wrap="none" lIns="0" tIns="5715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$300K–$1M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6690122" y="1324384"/>
            <a:ext cx="1935956" cy="2707481"/>
          </a:xfrm>
          <a:prstGeom prst="roundRect">
            <a:avLst>
              <a:gd name="adj" fmla="val 4920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2"/>
          <p:cNvSpPr/>
          <p:nvPr/>
        </p:nvSpPr>
        <p:spPr>
          <a:xfrm>
            <a:off x="6793706" y="1442256"/>
            <a:ext cx="1728787" cy="1475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62" kern="0" dirty="0">
                <a:solidFill>
                  <a:srgbClr val="D43F0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STAGE 04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6793706" y="1617278"/>
            <a:ext cx="1728788" cy="138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44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Managed Engineering</a:t>
            </a:r>
            <a:endParaRPr lang="en-US" sz="844" dirty="0"/>
          </a:p>
        </p:txBody>
      </p:sp>
      <p:sp>
        <p:nvSpPr>
          <p:cNvPr id="37" name="Text 34"/>
          <p:cNvSpPr/>
          <p:nvPr/>
        </p:nvSpPr>
        <p:spPr>
          <a:xfrm>
            <a:off x="6793706" y="1803016"/>
            <a:ext cx="172878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ONGOING · RETAINER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6793706" y="2010184"/>
            <a:ext cx="1728788" cy="7144"/>
          </a:xfrm>
          <a:prstGeom prst="rect">
            <a:avLst/>
          </a:prstGeom>
          <a:solidFill>
            <a:srgbClr val="CBD5E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6"/>
          <p:cNvSpPr/>
          <p:nvPr/>
        </p:nvSpPr>
        <p:spPr>
          <a:xfrm>
            <a:off x="6793706" y="2117341"/>
            <a:ext cx="183251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spc="91" kern="0" dirty="0">
                <a:solidFill>
                  <a:srgbClr val="D43F0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ENGINEERING DELIVERABLES</a:t>
            </a:r>
            <a:endParaRPr lang="en-US" sz="800" dirty="0"/>
          </a:p>
        </p:txBody>
      </p:sp>
      <p:sp>
        <p:nvSpPr>
          <p:cNvPr id="40" name="Text 37"/>
          <p:cNvSpPr/>
          <p:nvPr/>
        </p:nvSpPr>
        <p:spPr>
          <a:xfrm>
            <a:off x="6793706" y="2313794"/>
            <a:ext cx="1728788" cy="661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897"/>
              </a:lnSpc>
              <a:spcAft>
                <a:spcPts val="338"/>
              </a:spcAft>
              <a:buSzPct val="100000"/>
              <a:buChar char="•"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Production operations</a:t>
            </a:r>
            <a:endParaRPr lang="en-US" sz="800" dirty="0"/>
          </a:p>
          <a:p>
            <a:pPr algn="l" marL="342900" indent="-342900">
              <a:lnSpc>
                <a:spcPts val="897"/>
              </a:lnSpc>
              <a:spcAft>
                <a:spcPts val="338"/>
              </a:spcAft>
              <a:buSzPct val="100000"/>
              <a:buChar char="•"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Continuous optimization</a:t>
            </a:r>
            <a:endParaRPr lang="en-US" sz="800" dirty="0"/>
          </a:p>
          <a:p>
            <a:pPr algn="l" marL="342900" indent="-342900">
              <a:lnSpc>
                <a:spcPts val="897"/>
              </a:lnSpc>
              <a:spcAft>
                <a:spcPts val="338"/>
              </a:spcAft>
              <a:buSzPct val="100000"/>
              <a:buChar char="•"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Quarterly architecture reviews</a:t>
            </a:r>
            <a:endParaRPr lang="en-US" sz="800" dirty="0"/>
          </a:p>
          <a:p>
            <a:pPr algn="l" marL="342900" indent="-342900">
              <a:lnSpc>
                <a:spcPts val="897"/>
              </a:lnSpc>
              <a:spcAft>
                <a:spcPts val="338"/>
              </a:spcAft>
              <a:buSzPct val="100000"/>
              <a:buChar char="•"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SLA-backed engineering</a:t>
            </a:r>
            <a:endParaRPr lang="en-US" sz="800" dirty="0"/>
          </a:p>
        </p:txBody>
      </p:sp>
      <p:sp>
        <p:nvSpPr>
          <p:cNvPr id="41" name="Shape 38"/>
          <p:cNvSpPr/>
          <p:nvPr/>
        </p:nvSpPr>
        <p:spPr>
          <a:xfrm>
            <a:off x="6793706" y="3724684"/>
            <a:ext cx="1728788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6793706" y="3721112"/>
            <a:ext cx="1728788" cy="192881"/>
          </a:xfrm>
          <a:prstGeom prst="rect">
            <a:avLst/>
          </a:prstGeom>
          <a:noFill/>
          <a:ln/>
        </p:spPr>
        <p:txBody>
          <a:bodyPr wrap="none" lIns="0" tIns="5715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D43F0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$50K–$500K / mo</a:t>
            </a:r>
            <a:endParaRPr lang="en-US" sz="800" dirty="0"/>
          </a:p>
        </p:txBody>
      </p:sp>
      <p:sp>
        <p:nvSpPr>
          <p:cNvPr id="43" name="Shape 40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514350" y="4754166"/>
            <a:ext cx="4067249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5" name="Text 42"/>
          <p:cNvSpPr/>
          <p:nvPr/>
        </p:nvSpPr>
        <p:spPr>
          <a:xfrm>
            <a:off x="4595887" y="4750594"/>
            <a:ext cx="3617305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 / 12</a:t>
            </a:r>
            <a:endParaRPr lang="en-US" sz="800" dirty="0"/>
          </a:p>
        </p:txBody>
      </p:sp>
      <p:sp>
        <p:nvSpPr>
          <p:cNvPr id="46" name="Text 43"/>
          <p:cNvSpPr/>
          <p:nvPr/>
        </p:nvSpPr>
        <p:spPr>
          <a:xfrm>
            <a:off x="8220112" y="4750594"/>
            <a:ext cx="416905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ROADMAP</a:t>
            </a:r>
            <a:endParaRPr lang="en-US" sz="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1431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4350" y="342900"/>
            <a:ext cx="1154710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514350" y="514350"/>
            <a:ext cx="8629650" cy="1618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ENGINEERING BEST PRACTICES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514350" y="703659"/>
            <a:ext cx="8629650" cy="309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7"/>
              </a:lnSpc>
              <a:buNone/>
            </a:pPr>
            <a:r>
              <a:rPr lang="en-US" sz="1913" b="1" spc="-29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Principles that separate production from prototype.</a:t>
            </a:r>
            <a:endParaRPr lang="en-US" sz="1913" dirty="0"/>
          </a:p>
        </p:txBody>
      </p:sp>
      <p:sp>
        <p:nvSpPr>
          <p:cNvPr id="6" name="Text 3"/>
          <p:cNvSpPr/>
          <p:nvPr/>
        </p:nvSpPr>
        <p:spPr>
          <a:xfrm>
            <a:off x="514350" y="1047341"/>
            <a:ext cx="81153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Not theoretical — these are the engineering disciplines we enforce on every engagement.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514350" y="1397384"/>
            <a:ext cx="3986213" cy="1214438"/>
          </a:xfrm>
          <a:prstGeom prst="roundRect">
            <a:avLst>
              <a:gd name="adj" fmla="val 6275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5"/>
          <p:cNvSpPr/>
          <p:nvPr/>
        </p:nvSpPr>
        <p:spPr>
          <a:xfrm>
            <a:off x="514350" y="1400956"/>
            <a:ext cx="39862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496991" y="1397384"/>
            <a:ext cx="0" cy="1214438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14350" y="2608250"/>
            <a:ext cx="39862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28638" y="1397384"/>
            <a:ext cx="0" cy="1214438"/>
          </a:xfrm>
          <a:prstGeom prst="line">
            <a:avLst/>
          </a:prstGeom>
          <a:noFill/>
          <a:ln w="28575">
            <a:solidFill>
              <a:srgbClr val="004C9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00088" y="1533116"/>
            <a:ext cx="363616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79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700088" y="1740284"/>
            <a:ext cx="3745897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Production requirements first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700088" y="1940309"/>
            <a:ext cx="36361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Start with latency, throughput, reliability, cost, and compliance SLAs. Engineer backward from constraints, not forward from tools.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4643438" y="1397384"/>
            <a:ext cx="3986213" cy="1214438"/>
          </a:xfrm>
          <a:prstGeom prst="roundRect">
            <a:avLst>
              <a:gd name="adj" fmla="val 6275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3"/>
          <p:cNvSpPr/>
          <p:nvPr/>
        </p:nvSpPr>
        <p:spPr>
          <a:xfrm>
            <a:off x="4643438" y="1400956"/>
            <a:ext cx="39862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626078" y="1397384"/>
            <a:ext cx="0" cy="1214438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643438" y="2608250"/>
            <a:ext cx="39862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657725" y="1397384"/>
            <a:ext cx="0" cy="1214438"/>
          </a:xfrm>
          <a:prstGeom prst="line">
            <a:avLst/>
          </a:prstGeom>
          <a:noFill/>
          <a:ln w="28575">
            <a:solidFill>
              <a:srgbClr val="004C97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829175" y="1533116"/>
            <a:ext cx="363616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79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4829175" y="1740284"/>
            <a:ext cx="3745897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Observability is not optional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4829175" y="1940309"/>
            <a:ext cx="36361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Every system ships with distributed tracing, metrics, and logging from day one. If you can't measure it, you can't operate it.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514350" y="2754697"/>
            <a:ext cx="3986213" cy="1214438"/>
          </a:xfrm>
          <a:prstGeom prst="roundRect">
            <a:avLst>
              <a:gd name="adj" fmla="val 6275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Shape 21"/>
          <p:cNvSpPr/>
          <p:nvPr/>
        </p:nvSpPr>
        <p:spPr>
          <a:xfrm>
            <a:off x="514350" y="2758269"/>
            <a:ext cx="39862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4496991" y="2754697"/>
            <a:ext cx="0" cy="1214438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514350" y="3965563"/>
            <a:ext cx="39862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528638" y="2754697"/>
            <a:ext cx="0" cy="1214438"/>
          </a:xfrm>
          <a:prstGeom prst="line">
            <a:avLst/>
          </a:prstGeom>
          <a:noFill/>
          <a:ln w="28575">
            <a:solidFill>
              <a:srgbClr val="004C97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00088" y="2890428"/>
            <a:ext cx="363616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79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700088" y="3097597"/>
            <a:ext cx="3636169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Security in the pipeline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700088" y="3297622"/>
            <a:ext cx="36361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Security scanning, SBOM, and compliance checks embedded in CI/CD — not a separate audit after launch.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4643438" y="2754697"/>
            <a:ext cx="3986213" cy="1214438"/>
          </a:xfrm>
          <a:prstGeom prst="roundRect">
            <a:avLst>
              <a:gd name="adj" fmla="val 6275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Shape 29"/>
          <p:cNvSpPr/>
          <p:nvPr/>
        </p:nvSpPr>
        <p:spPr>
          <a:xfrm>
            <a:off x="4643438" y="2758269"/>
            <a:ext cx="39862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8626078" y="2754697"/>
            <a:ext cx="0" cy="1214438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4643438" y="3965563"/>
            <a:ext cx="39862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4657725" y="2754697"/>
            <a:ext cx="0" cy="1214438"/>
          </a:xfrm>
          <a:prstGeom prst="line">
            <a:avLst/>
          </a:prstGeom>
          <a:noFill/>
          <a:ln w="28575">
            <a:solidFill>
              <a:srgbClr val="FF6C0E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829175" y="2890428"/>
            <a:ext cx="363616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79" kern="0" dirty="0">
                <a:solidFill>
                  <a:srgbClr val="D43F0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4829175" y="3097597"/>
            <a:ext cx="3636169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Engineer for rollback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4829175" y="3297622"/>
            <a:ext cx="36361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Every deployment must be reversible. Feature flags, blue-green, canary — not big-bang deployments.</a:t>
            </a:r>
            <a:endParaRPr lang="en-US" sz="800" dirty="0"/>
          </a:p>
        </p:txBody>
      </p:sp>
      <p:sp>
        <p:nvSpPr>
          <p:cNvPr id="39" name="Shape 36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514350" y="4754166"/>
            <a:ext cx="3929174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1" name="Text 38"/>
          <p:cNvSpPr/>
          <p:nvPr/>
        </p:nvSpPr>
        <p:spPr>
          <a:xfrm>
            <a:off x="4457812" y="4750594"/>
            <a:ext cx="3479229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11 / 12</a:t>
            </a:r>
            <a:endParaRPr lang="en-US" sz="800" dirty="0"/>
          </a:p>
        </p:txBody>
      </p:sp>
      <p:sp>
        <p:nvSpPr>
          <p:cNvPr id="42" name="Text 39"/>
          <p:cNvSpPr/>
          <p:nvPr/>
        </p:nvSpPr>
        <p:spPr>
          <a:xfrm>
            <a:off x="7951329" y="4750594"/>
            <a:ext cx="678321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BEST PRACTICES</a:t>
            </a:r>
            <a:endParaRPr lang="en-US" sz="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2863" cy="5143500"/>
          </a:xfrm>
          <a:prstGeom prst="rect">
            <a:avLst/>
          </a:prstGeom>
        </p:spPr>
      </p:pic>
      <p:pic>
        <p:nvPicPr>
          <p:cNvPr id="3" name="Image 1" descr="/tmp/h2p-fit-1790857278066-oxy3w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950" y="685800"/>
            <a:ext cx="1857375" cy="30215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42950" y="2000250"/>
            <a:ext cx="451515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GET IN TOUCH</a:t>
            </a:r>
            <a:endParaRPr lang="en-US" sz="800" dirty="0"/>
          </a:p>
        </p:txBody>
      </p:sp>
      <p:sp>
        <p:nvSpPr>
          <p:cNvPr id="5" name="Text 1"/>
          <p:cNvSpPr/>
          <p:nvPr/>
        </p:nvSpPr>
        <p:spPr>
          <a:xfrm>
            <a:off x="742950" y="2246709"/>
            <a:ext cx="3573494" cy="4411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3465"/>
              </a:lnSpc>
              <a:buNone/>
            </a:pPr>
            <a:r>
              <a:rPr lang="en-US" sz="3150" b="1" spc="-63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Let us engineer</a:t>
            </a:r>
            <a:endParaRPr lang="en-US" sz="3150" dirty="0"/>
          </a:p>
        </p:txBody>
      </p:sp>
      <p:sp>
        <p:nvSpPr>
          <p:cNvPr id="6" name="Text 2"/>
          <p:cNvSpPr/>
          <p:nvPr/>
        </p:nvSpPr>
        <p:spPr>
          <a:xfrm>
            <a:off x="742950" y="2715295"/>
            <a:ext cx="4124833" cy="4752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65"/>
              </a:lnSpc>
              <a:buNone/>
            </a:pPr>
            <a:r>
              <a:rPr lang="en-US" sz="3150" b="1" i="1" spc="-63" kern="0" dirty="0">
                <a:solidFill>
                  <a:srgbClr val="FF6C0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is next.</a:t>
            </a:r>
            <a:endParaRPr lang="en-US" sz="3150" dirty="0"/>
          </a:p>
        </p:txBody>
      </p:sp>
      <p:sp>
        <p:nvSpPr>
          <p:cNvPr id="7" name="Text 3"/>
          <p:cNvSpPr/>
          <p:nvPr/>
        </p:nvSpPr>
        <p:spPr>
          <a:xfrm>
            <a:off x="742950" y="3341043"/>
            <a:ext cx="342900" cy="21431"/>
          </a:xfrm>
          <a:prstGeom prst="roundRect">
            <a:avLst>
              <a:gd name="adj" fmla="val 88890"/>
            </a:avLst>
          </a:prstGeom>
          <a:solidFill>
            <a:srgbClr val="FF6C0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4"/>
          <p:cNvSpPr/>
          <p:nvPr/>
        </p:nvSpPr>
        <p:spPr>
          <a:xfrm>
            <a:off x="742950" y="3519636"/>
            <a:ext cx="3403327" cy="4195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info@kefitech.com · www.kefitech.com</a:t>
            </a:r>
            <a:endParaRPr lang="en-US" sz="900" dirty="0"/>
          </a:p>
          <a:p>
            <a:pPr algn="l" indent="0" marL="0">
              <a:lnSpc>
                <a:spcPts val="153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Bengaluru, India · Hyderabad, India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6404372" y="2000250"/>
            <a:ext cx="0" cy="2286000"/>
          </a:xfrm>
          <a:prstGeom prst="line">
            <a:avLst/>
          </a:prstGeom>
          <a:noFill/>
          <a:ln w="7144">
            <a:solidFill>
              <a:srgbClr val="94A3B8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6614526" y="2000250"/>
            <a:ext cx="79800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181"/>
              </a:lnSpc>
              <a:buNone/>
            </a:pPr>
            <a:r>
              <a:rPr lang="en-US" sz="800" spc="47" kern="0" dirty="0">
                <a:solidFill>
                  <a:srgbClr val="004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Discover.</a:t>
            </a:r>
            <a:endParaRPr lang="en-US" sz="800" dirty="0"/>
          </a:p>
        </p:txBody>
      </p:sp>
      <p:sp>
        <p:nvSpPr>
          <p:cNvPr id="11" name="Text 7"/>
          <p:cNvSpPr/>
          <p:nvPr/>
        </p:nvSpPr>
        <p:spPr>
          <a:xfrm>
            <a:off x="6614526" y="2364581"/>
            <a:ext cx="79800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181"/>
              </a:lnSpc>
              <a:buNone/>
            </a:pPr>
            <a:r>
              <a:rPr lang="en-US" sz="800" spc="47" kern="0" dirty="0">
                <a:solidFill>
                  <a:srgbClr val="004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Engineer.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6880429" y="2728913"/>
            <a:ext cx="53210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181"/>
              </a:lnSpc>
              <a:buNone/>
            </a:pPr>
            <a:r>
              <a:rPr lang="en-US" sz="800" spc="47" kern="0" dirty="0">
                <a:solidFill>
                  <a:srgbClr val="FF6C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Scale.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6607969" y="4189809"/>
            <a:ext cx="804565" cy="96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759"/>
              </a:lnSpc>
              <a:buNone/>
            </a:pPr>
            <a:r>
              <a:rPr lang="en-US" sz="600" spc="91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KEFI TECH · 2026</a:t>
            </a:r>
            <a:endParaRPr lang="en-US" sz="600" dirty="0"/>
          </a:p>
        </p:txBody>
      </p:sp>
      <p:sp>
        <p:nvSpPr>
          <p:cNvPr id="14" name="Shape 10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514350" y="4754166"/>
            <a:ext cx="3360800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16" name="Text 12"/>
          <p:cNvSpPr/>
          <p:nvPr/>
        </p:nvSpPr>
        <p:spPr>
          <a:xfrm>
            <a:off x="3889437" y="4750594"/>
            <a:ext cx="2910855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12 / 12</a:t>
            </a:r>
            <a:endParaRPr lang="en-US" sz="800" dirty="0"/>
          </a:p>
        </p:txBody>
      </p:sp>
      <p:sp>
        <p:nvSpPr>
          <p:cNvPr id="17" name="Text 13"/>
          <p:cNvSpPr/>
          <p:nvPr/>
        </p:nvSpPr>
        <p:spPr>
          <a:xfrm>
            <a:off x="6814579" y="4750594"/>
            <a:ext cx="1923975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INFO@KEFITECH.COM · WWW.KEFITECH.COM</a:t>
            </a:r>
            <a:endParaRPr lang="en-US" sz="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2026-10-01T12:21:18Z</dcterms:created>
  <dcterms:modified xsi:type="dcterms:W3CDTF">2026-10-01T12:21:18Z</dcterms:modified>
</cp:coreProperties>
</file>