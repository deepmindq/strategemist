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57254038-w76ar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572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308811" y="628650"/>
            <a:ext cx="383518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90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KEFI TECH · ENTERPRISE INTEGRATION &amp; IPAAS ENGINEERING · 2026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6400800" y="685800"/>
            <a:ext cx="7144" cy="360045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6965134" y="1864519"/>
            <a:ext cx="17627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45"/>
              </a:lnSpc>
              <a:buNone/>
            </a:pPr>
            <a:r>
              <a:rPr lang="en-US" sz="800" b="1" spc="2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7084068" y="1864519"/>
            <a:ext cx="15455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45"/>
              </a:lnSpc>
              <a:buNone/>
            </a:pPr>
            <a:r>
              <a:rPr lang="en-US" sz="800" spc="27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iPaaS Platform Engineering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6910105" y="2141674"/>
            <a:ext cx="17627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45"/>
              </a:lnSpc>
              <a:buNone/>
            </a:pPr>
            <a:r>
              <a:rPr lang="en-US" sz="800" b="1" spc="2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7024637" y="2141674"/>
            <a:ext cx="160501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45"/>
              </a:lnSpc>
              <a:buNone/>
            </a:pPr>
            <a:r>
              <a:rPr lang="en-US" sz="800" spc="27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&amp; Integration Standards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7185251" y="2418829"/>
            <a:ext cx="176272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945"/>
              </a:lnSpc>
              <a:buNone/>
            </a:pPr>
            <a:r>
              <a:rPr lang="en-US" sz="800" b="1" spc="2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7418673" y="2418829"/>
            <a:ext cx="1210977" cy="2816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45"/>
              </a:lnSpc>
              <a:buNone/>
            </a:pPr>
            <a:r>
              <a:rPr lang="en-US" sz="800" spc="27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 &amp; Message Broker Integration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42950" y="1757363"/>
            <a:ext cx="680776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49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DEEP TECH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742950" y="1982391"/>
            <a:ext cx="4972106" cy="824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62"/>
              </a:lnSpc>
              <a:buNone/>
            </a:pPr>
            <a:r>
              <a:rPr lang="en-US" sz="2700" b="1" spc="-6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Enterprise Integration &amp; iPaaS Engineering</a:t>
            </a:r>
            <a:endParaRPr lang="en-US" sz="2700" dirty="0"/>
          </a:p>
        </p:txBody>
      </p:sp>
      <p:sp>
        <p:nvSpPr>
          <p:cNvPr id="14" name="Text 10"/>
          <p:cNvSpPr/>
          <p:nvPr/>
        </p:nvSpPr>
        <p:spPr>
          <a:xfrm>
            <a:off x="742950" y="2773561"/>
            <a:ext cx="5415623" cy="392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62"/>
              </a:lnSpc>
              <a:buNone/>
            </a:pPr>
            <a:r>
              <a:rPr lang="en-US" sz="2700" b="1" i="1" spc="-67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engineered for production.</a:t>
            </a:r>
            <a:endParaRPr lang="en-US" sz="2700" dirty="0"/>
          </a:p>
        </p:txBody>
      </p:sp>
      <p:sp>
        <p:nvSpPr>
          <p:cNvPr id="15" name="Text 11"/>
          <p:cNvSpPr/>
          <p:nvPr/>
        </p:nvSpPr>
        <p:spPr>
          <a:xfrm>
            <a:off x="742950" y="3294162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742950" y="3444180"/>
            <a:ext cx="5014466" cy="237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spc="-6" kern="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 everything — from mainframe to microservice.</a:t>
            </a:r>
            <a:endParaRPr lang="en-US" sz="1238" dirty="0"/>
          </a:p>
        </p:txBody>
      </p:sp>
      <p:sp>
        <p:nvSpPr>
          <p:cNvPr id="17" name="Shape 13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14350" y="4754166"/>
            <a:ext cx="571064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6239284" y="4750594"/>
            <a:ext cx="2390366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/ 12 · ENTERPRISE INTEGRATION &amp; IPAAS ENGINEERING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403622"/>
            <a:ext cx="6794376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323013" y="400050"/>
            <a:ext cx="158429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· TECHNICAL CHALLENGE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664369"/>
            <a:ext cx="862965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CHALLENGE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14350" y="825103"/>
            <a:ext cx="8172450" cy="5416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most enterprise integration &amp; iPaaS engineering programs fail.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14350" y="1394147"/>
            <a:ext cx="67151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gap between prototype and production is where engineering discipline matters most.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17922" y="1704901"/>
            <a:ext cx="3993356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678656" y="2047801"/>
            <a:ext cx="367188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8656" y="1851347"/>
            <a:ext cx="3671888" cy="272606"/>
          </a:xfrm>
          <a:prstGeom prst="rect">
            <a:avLst/>
          </a:prstGeom>
          <a:noFill/>
          <a:ln/>
        </p:spPr>
        <p:txBody>
          <a:bodyPr wrap="none" lIns="0" tIns="0" rIns="0" bIns="85725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COMMON FAILURE POINTS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82228" y="2154957"/>
            <a:ext cx="3664744" cy="397483"/>
          </a:xfrm>
          <a:prstGeom prst="roundRect">
            <a:avLst>
              <a:gd name="adj" fmla="val 1917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71525" y="2237110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406" dirty="0"/>
          </a:p>
        </p:txBody>
      </p:sp>
      <p:sp>
        <p:nvSpPr>
          <p:cNvPr id="13" name="Text 10"/>
          <p:cNvSpPr/>
          <p:nvPr/>
        </p:nvSpPr>
        <p:spPr>
          <a:xfrm>
            <a:off x="1000125" y="2229966"/>
            <a:ext cx="3367278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Prototype-grade architecture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00125" y="2367483"/>
            <a:ext cx="3257550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Solutions built for demos, not production load, latency, or reliability requirements.</a:t>
            </a:r>
            <a:endParaRPr lang="en-US" sz="619" dirty="0"/>
          </a:p>
        </p:txBody>
      </p:sp>
      <p:sp>
        <p:nvSpPr>
          <p:cNvPr id="15" name="Text 12"/>
          <p:cNvSpPr/>
          <p:nvPr/>
        </p:nvSpPr>
        <p:spPr>
          <a:xfrm>
            <a:off x="682228" y="2631021"/>
            <a:ext cx="3664744" cy="397483"/>
          </a:xfrm>
          <a:prstGeom prst="roundRect">
            <a:avLst>
              <a:gd name="adj" fmla="val 1917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771525" y="271317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⊗</a:t>
            </a:r>
            <a:endParaRPr lang="en-US" sz="1406" dirty="0"/>
          </a:p>
        </p:txBody>
      </p:sp>
      <p:sp>
        <p:nvSpPr>
          <p:cNvPr id="17" name="Text 14"/>
          <p:cNvSpPr/>
          <p:nvPr/>
        </p:nvSpPr>
        <p:spPr>
          <a:xfrm>
            <a:off x="1000125" y="2706030"/>
            <a:ext cx="3367278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observability or evaluation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00125" y="2843547"/>
            <a:ext cx="3257550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metrics for accuracy, latency, cost, or drift — teams fly blind in production.</a:t>
            </a:r>
            <a:endParaRPr lang="en-US" sz="619" dirty="0"/>
          </a:p>
        </p:txBody>
      </p:sp>
      <p:sp>
        <p:nvSpPr>
          <p:cNvPr id="19" name="Text 16"/>
          <p:cNvSpPr/>
          <p:nvPr/>
        </p:nvSpPr>
        <p:spPr>
          <a:xfrm>
            <a:off x="682228" y="3107085"/>
            <a:ext cx="3664744" cy="397483"/>
          </a:xfrm>
          <a:prstGeom prst="roundRect">
            <a:avLst>
              <a:gd name="adj" fmla="val 1917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771525" y="3189238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21" name="Text 18"/>
          <p:cNvSpPr/>
          <p:nvPr/>
        </p:nvSpPr>
        <p:spPr>
          <a:xfrm>
            <a:off x="1000125" y="3182094"/>
            <a:ext cx="3257550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as afterthought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000125" y="3319611"/>
            <a:ext cx="3257550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guardrails, no audit trails, no compliance — bolted on after launch.</a:t>
            </a:r>
            <a:endParaRPr lang="en-US" sz="619" dirty="0"/>
          </a:p>
        </p:txBody>
      </p:sp>
      <p:sp>
        <p:nvSpPr>
          <p:cNvPr id="23" name="Text 20"/>
          <p:cNvSpPr/>
          <p:nvPr/>
        </p:nvSpPr>
        <p:spPr>
          <a:xfrm>
            <a:off x="682228" y="3583149"/>
            <a:ext cx="3664744" cy="397483"/>
          </a:xfrm>
          <a:prstGeom prst="roundRect">
            <a:avLst>
              <a:gd name="adj" fmla="val 1917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771525" y="366530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↘</a:t>
            </a:r>
            <a:endParaRPr lang="en-US" sz="1406" dirty="0"/>
          </a:p>
        </p:txBody>
      </p:sp>
      <p:sp>
        <p:nvSpPr>
          <p:cNvPr id="25" name="Text 22"/>
          <p:cNvSpPr/>
          <p:nvPr/>
        </p:nvSpPr>
        <p:spPr>
          <a:xfrm>
            <a:off x="1000125" y="3658158"/>
            <a:ext cx="3257550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operational maturity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000125" y="3795675"/>
            <a:ext cx="3257550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CI/CD for models, no rollback, no A/B testing, no drift detection.</a:t>
            </a:r>
            <a:endParaRPr lang="en-US" sz="619" dirty="0"/>
          </a:p>
        </p:txBody>
      </p:sp>
      <p:sp>
        <p:nvSpPr>
          <p:cNvPr id="27" name="Text 24"/>
          <p:cNvSpPr/>
          <p:nvPr/>
        </p:nvSpPr>
        <p:spPr>
          <a:xfrm>
            <a:off x="4689872" y="1704901"/>
            <a:ext cx="3136106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4850606" y="2047801"/>
            <a:ext cx="281463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50606" y="1851347"/>
            <a:ext cx="2814638" cy="272606"/>
          </a:xfrm>
          <a:prstGeom prst="rect">
            <a:avLst/>
          </a:prstGeom>
          <a:noFill/>
          <a:ln/>
        </p:spPr>
        <p:txBody>
          <a:bodyPr wrap="none" lIns="0" tIns="0" rIns="0" bIns="85725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APPROACH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850606" y="2151385"/>
            <a:ext cx="2814638" cy="1665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 treat enterprise integration &amp; iPaaS engineering as an engineering discipline, not a science experiment. Every engagement starts with production requirements — latency, throughput, reliability, cost, compliance — and engineers backward from those constraints.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850606" y="3848026"/>
            <a:ext cx="2814638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50606" y="3987329"/>
            <a:ext cx="1997236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4850606" y="3987329"/>
            <a:ext cx="1997236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PRODUCTION-FIRST · ENGINEERING-GRADE</a:t>
            </a:r>
            <a:endParaRPr lang="en-US" sz="600" dirty="0"/>
          </a:p>
        </p:txBody>
      </p:sp>
      <p:sp>
        <p:nvSpPr>
          <p:cNvPr id="34" name="Shape 31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14350" y="4754166"/>
            <a:ext cx="402695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4555592" y="4750594"/>
            <a:ext cx="357712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8124125" y="4750594"/>
            <a:ext cx="52840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CHALLENGE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403622"/>
            <a:ext cx="717545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704088" y="400050"/>
            <a:ext cx="11888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· CAPABILITIES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664369"/>
            <a:ext cx="862965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14350" y="825103"/>
            <a:ext cx="8629650" cy="276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capability areas. One engineering system.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14350" y="1138200"/>
            <a:ext cx="6572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capability area is a deep technical domain — not a generic service line.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17922" y="1477528"/>
            <a:ext cx="3993356" cy="1193006"/>
          </a:xfrm>
          <a:prstGeom prst="roundRect">
            <a:avLst>
              <a:gd name="adj" fmla="val 958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92944" y="163826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▭</a:t>
            </a:r>
            <a:endParaRPr lang="en-US" sz="1969" dirty="0"/>
          </a:p>
        </p:txBody>
      </p:sp>
      <p:sp>
        <p:nvSpPr>
          <p:cNvPr id="10" name="Text 7"/>
          <p:cNvSpPr/>
          <p:nvPr/>
        </p:nvSpPr>
        <p:spPr>
          <a:xfrm>
            <a:off x="4137079" y="1641835"/>
            <a:ext cx="23315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013" dirty="0"/>
          </a:p>
        </p:txBody>
      </p:sp>
      <p:sp>
        <p:nvSpPr>
          <p:cNvPr id="11" name="Text 8"/>
          <p:cNvSpPr/>
          <p:nvPr/>
        </p:nvSpPr>
        <p:spPr>
          <a:xfrm>
            <a:off x="692944" y="1952588"/>
            <a:ext cx="3753041" cy="20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1238" b="1" spc="-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iPaaS Platform Engineering</a:t>
            </a:r>
            <a:endParaRPr lang="en-US" sz="1238" dirty="0"/>
          </a:p>
        </p:txBody>
      </p:sp>
      <p:sp>
        <p:nvSpPr>
          <p:cNvPr id="12" name="Text 9"/>
          <p:cNvSpPr/>
          <p:nvPr/>
        </p:nvSpPr>
        <p:spPr>
          <a:xfrm>
            <a:off x="692944" y="2266578"/>
            <a:ext cx="3429000" cy="24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iPaaS platform engineering with real platforms and tools.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632722" y="1477528"/>
            <a:ext cx="3993356" cy="1193006"/>
          </a:xfrm>
          <a:prstGeom prst="roundRect">
            <a:avLst>
              <a:gd name="adj" fmla="val 958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807744" y="163826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▭</a:t>
            </a:r>
            <a:endParaRPr lang="en-US" sz="1969" dirty="0"/>
          </a:p>
        </p:txBody>
      </p:sp>
      <p:sp>
        <p:nvSpPr>
          <p:cNvPr id="15" name="Text 12"/>
          <p:cNvSpPr/>
          <p:nvPr/>
        </p:nvSpPr>
        <p:spPr>
          <a:xfrm>
            <a:off x="8251879" y="1641835"/>
            <a:ext cx="23315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013" dirty="0"/>
          </a:p>
        </p:txBody>
      </p:sp>
      <p:sp>
        <p:nvSpPr>
          <p:cNvPr id="16" name="Text 13"/>
          <p:cNvSpPr/>
          <p:nvPr/>
        </p:nvSpPr>
        <p:spPr>
          <a:xfrm>
            <a:off x="4807744" y="1952588"/>
            <a:ext cx="3753040" cy="20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1238" b="1" spc="-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&amp; Integration Standards</a:t>
            </a:r>
            <a:endParaRPr lang="en-US" sz="1238" dirty="0"/>
          </a:p>
        </p:txBody>
      </p:sp>
      <p:sp>
        <p:nvSpPr>
          <p:cNvPr id="17" name="Text 14"/>
          <p:cNvSpPr/>
          <p:nvPr/>
        </p:nvSpPr>
        <p:spPr>
          <a:xfrm>
            <a:off x="4807744" y="2266578"/>
            <a:ext cx="3429000" cy="24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API &amp; integration standards with real platforms and tools.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17922" y="2791978"/>
            <a:ext cx="3993356" cy="1193006"/>
          </a:xfrm>
          <a:prstGeom prst="roundRect">
            <a:avLst>
              <a:gd name="adj" fmla="val 958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92944" y="295271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969" dirty="0"/>
          </a:p>
        </p:txBody>
      </p:sp>
      <p:sp>
        <p:nvSpPr>
          <p:cNvPr id="20" name="Text 17"/>
          <p:cNvSpPr/>
          <p:nvPr/>
        </p:nvSpPr>
        <p:spPr>
          <a:xfrm>
            <a:off x="4137079" y="2956285"/>
            <a:ext cx="23315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013" dirty="0"/>
          </a:p>
        </p:txBody>
      </p:sp>
      <p:sp>
        <p:nvSpPr>
          <p:cNvPr id="21" name="Text 18"/>
          <p:cNvSpPr/>
          <p:nvPr/>
        </p:nvSpPr>
        <p:spPr>
          <a:xfrm>
            <a:off x="692944" y="3267038"/>
            <a:ext cx="3753041" cy="20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1238" b="1" spc="-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Event &amp; Message Broker Integration</a:t>
            </a:r>
            <a:endParaRPr lang="en-US" sz="1238" dirty="0"/>
          </a:p>
        </p:txBody>
      </p:sp>
      <p:sp>
        <p:nvSpPr>
          <p:cNvPr id="22" name="Text 19"/>
          <p:cNvSpPr/>
          <p:nvPr/>
        </p:nvSpPr>
        <p:spPr>
          <a:xfrm>
            <a:off x="692944" y="3581028"/>
            <a:ext cx="3429000" cy="24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event &amp; message broker integration with real platforms and tools.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632722" y="2791978"/>
            <a:ext cx="3993356" cy="1193006"/>
          </a:xfrm>
          <a:prstGeom prst="roundRect">
            <a:avLst>
              <a:gd name="adj" fmla="val 9581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807744" y="295271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▭</a:t>
            </a:r>
            <a:endParaRPr lang="en-US" sz="1969" dirty="0"/>
          </a:p>
        </p:txBody>
      </p:sp>
      <p:sp>
        <p:nvSpPr>
          <p:cNvPr id="25" name="Text 22"/>
          <p:cNvSpPr/>
          <p:nvPr/>
        </p:nvSpPr>
        <p:spPr>
          <a:xfrm>
            <a:off x="8251879" y="2956285"/>
            <a:ext cx="23315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013" dirty="0"/>
          </a:p>
        </p:txBody>
      </p:sp>
      <p:sp>
        <p:nvSpPr>
          <p:cNvPr id="26" name="Text 23"/>
          <p:cNvSpPr/>
          <p:nvPr/>
        </p:nvSpPr>
        <p:spPr>
          <a:xfrm>
            <a:off x="4807744" y="3267038"/>
            <a:ext cx="3643313" cy="200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1238" b="1" spc="-6" kern="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B2B &amp; EDI Integration</a:t>
            </a:r>
            <a:endParaRPr lang="en-US" sz="1238" dirty="0"/>
          </a:p>
        </p:txBody>
      </p:sp>
      <p:sp>
        <p:nvSpPr>
          <p:cNvPr id="27" name="Text 24"/>
          <p:cNvSpPr/>
          <p:nvPr/>
        </p:nvSpPr>
        <p:spPr>
          <a:xfrm>
            <a:off x="4807744" y="3581028"/>
            <a:ext cx="3429000" cy="24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in B2B &amp; EDI integration with real platforms and tools.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14350" y="4754166"/>
            <a:ext cx="399782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526459" y="4750594"/>
            <a:ext cx="35479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801137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403622"/>
            <a:ext cx="7121091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649728" y="400050"/>
            <a:ext cx="12587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· CAPABILITY 01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664369"/>
            <a:ext cx="862965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14350" y="825103"/>
            <a:ext cx="8629650" cy="276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iPaaS Platform Engineering.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14350" y="1138200"/>
            <a:ext cx="6572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17922" y="1463241"/>
            <a:ext cx="3993356" cy="2993231"/>
          </a:xfrm>
          <a:prstGeom prst="roundRect">
            <a:avLst>
              <a:gd name="adj" fmla="val 381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664369" y="1791853"/>
            <a:ext cx="370046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4369" y="1595400"/>
            <a:ext cx="3700463" cy="272606"/>
          </a:xfrm>
          <a:prstGeom prst="rect">
            <a:avLst/>
          </a:prstGeom>
          <a:noFill/>
          <a:ln/>
        </p:spPr>
        <p:txBody>
          <a:bodyPr wrap="none" lIns="0" tIns="0" rIns="0" bIns="85725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64369" y="1895438"/>
            <a:ext cx="3700463" cy="2122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iPaaS platform engineering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64369" y="4049278"/>
            <a:ext cx="370046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1509" y="4180866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64369" y="4188582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4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689872" y="1463241"/>
            <a:ext cx="3136106" cy="2993231"/>
          </a:xfrm>
          <a:prstGeom prst="roundRect">
            <a:avLst>
              <a:gd name="adj" fmla="val 381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836319" y="1791853"/>
            <a:ext cx="2843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36319" y="1595400"/>
            <a:ext cx="2843212" cy="272606"/>
          </a:xfrm>
          <a:prstGeom prst="rect">
            <a:avLst/>
          </a:prstGeom>
          <a:noFill/>
          <a:ln/>
        </p:spPr>
        <p:txBody>
          <a:bodyPr wrap="none" lIns="0" tIns="0" rIns="0" bIns="85725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839891" y="1899010"/>
            <a:ext cx="2836069" cy="517922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914900" y="1952588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143500" y="195973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1" name="Text 18"/>
          <p:cNvSpPr/>
          <p:nvPr/>
        </p:nvSpPr>
        <p:spPr>
          <a:xfrm>
            <a:off x="5386388" y="1952588"/>
            <a:ext cx="2324290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MuleSoft Anypoint Platform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386388" y="2074032"/>
            <a:ext cx="2214563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MuleSoft Anypoint Studio + Runtime + API Manager + Exchange — DataWeave transformations, Mule 4 SDK, CloudHub / RTF runtime.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839891" y="2466938"/>
            <a:ext cx="2836069" cy="421481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914900" y="2520516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143500" y="252766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6" name="Text 23"/>
          <p:cNvSpPr/>
          <p:nvPr/>
        </p:nvSpPr>
        <p:spPr>
          <a:xfrm>
            <a:off x="5386388" y="2520516"/>
            <a:ext cx="2324290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Boomi AtomSphere Platform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386388" y="2641960"/>
            <a:ext cx="221456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Boomi AtomSphere — Atom / Molecule runtime, Atom Queue, Boomi Suggest (AI-assisted mapping).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839891" y="2938425"/>
            <a:ext cx="2836069" cy="517922"/>
          </a:xfrm>
          <a:prstGeom prst="roundRect">
            <a:avLst>
              <a:gd name="adj" fmla="val 1103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914900" y="2992003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143500" y="299914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1" name="Text 28"/>
          <p:cNvSpPr/>
          <p:nvPr/>
        </p:nvSpPr>
        <p:spPr>
          <a:xfrm>
            <a:off x="5386388" y="2992003"/>
            <a:ext cx="2214563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Integration Suite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386388" y="3113447"/>
            <a:ext cx="2214563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Integration Suite — Cloud Integration (CPI), API Management, Event Mesh, Integration Advisor (prepackaged iFlows).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839891" y="3506353"/>
            <a:ext cx="2836069" cy="421481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4914900" y="3559932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143500" y="356707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6" name="Text 33"/>
          <p:cNvSpPr/>
          <p:nvPr/>
        </p:nvSpPr>
        <p:spPr>
          <a:xfrm>
            <a:off x="5386388" y="3559932"/>
            <a:ext cx="2214563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Workato One-Platform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386388" y="3681375"/>
            <a:ext cx="221456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Workato — Recipe-based integration, Workbot, Workato Copilot (AI), job execution in Recipe Framework.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4839891" y="3977841"/>
            <a:ext cx="2836069" cy="421481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4914900" y="4031419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143500" y="403856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41" name="Text 38"/>
          <p:cNvSpPr/>
          <p:nvPr/>
        </p:nvSpPr>
        <p:spPr>
          <a:xfrm>
            <a:off x="5386388" y="4031419"/>
            <a:ext cx="2324290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SnapLogic Intelligent Integration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5386388" y="4152863"/>
            <a:ext cx="221456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SnapLogic — Snaplex (runtime), Snaps (connectors), SnapLogic Intelligent Assistant (SLA via AI).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14350" y="4754166"/>
            <a:ext cx="362980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158444" y="4750594"/>
            <a:ext cx="317997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352705" y="4750594"/>
            <a:ext cx="135356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IPAAS PLATFORM ENGINEERING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403622"/>
            <a:ext cx="7121091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649728" y="400050"/>
            <a:ext cx="12587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· CAPABILITY 02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664369"/>
            <a:ext cx="862965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14350" y="825103"/>
            <a:ext cx="8629650" cy="276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&amp; Integration Standards.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14350" y="1138200"/>
            <a:ext cx="6572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17922" y="1463241"/>
            <a:ext cx="3993356" cy="2993231"/>
          </a:xfrm>
          <a:prstGeom prst="roundRect">
            <a:avLst>
              <a:gd name="adj" fmla="val 381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664369" y="1791853"/>
            <a:ext cx="370046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4369" y="1595400"/>
            <a:ext cx="3700463" cy="272606"/>
          </a:xfrm>
          <a:prstGeom prst="rect">
            <a:avLst/>
          </a:prstGeom>
          <a:noFill/>
          <a:ln/>
        </p:spPr>
        <p:txBody>
          <a:bodyPr wrap="none" lIns="0" tIns="0" rIns="0" bIns="85725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64369" y="1895438"/>
            <a:ext cx="3700463" cy="2122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API &amp; integration standards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64369" y="4049278"/>
            <a:ext cx="370046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1509" y="4180866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64369" y="4188582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4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689872" y="1463241"/>
            <a:ext cx="3136106" cy="2993231"/>
          </a:xfrm>
          <a:prstGeom prst="roundRect">
            <a:avLst>
              <a:gd name="adj" fmla="val 381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836319" y="1791853"/>
            <a:ext cx="2843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36319" y="1595400"/>
            <a:ext cx="2843212" cy="272606"/>
          </a:xfrm>
          <a:prstGeom prst="rect">
            <a:avLst/>
          </a:prstGeom>
          <a:noFill/>
          <a:ln/>
        </p:spPr>
        <p:txBody>
          <a:bodyPr wrap="none" lIns="0" tIns="0" rIns="0" bIns="85725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839891" y="1899010"/>
            <a:ext cx="2836069" cy="421481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914900" y="1952588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143500" y="195973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1" name="Text 18"/>
          <p:cNvSpPr/>
          <p:nvPr/>
        </p:nvSpPr>
        <p:spPr>
          <a:xfrm>
            <a:off x="5386388" y="1952588"/>
            <a:ext cx="2324290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Apache Camel Enterprise Routing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386388" y="2074032"/>
            <a:ext cx="221456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Apache Camel — Routes, Enterprise Integration Patterns (EIPs), 300+ components (REST / SOAP / Kafka / Salesforce).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839891" y="2370497"/>
            <a:ext cx="2836069" cy="421481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914900" y="2424075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143500" y="24312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6" name="Text 23"/>
          <p:cNvSpPr/>
          <p:nvPr/>
        </p:nvSpPr>
        <p:spPr>
          <a:xfrm>
            <a:off x="5386388" y="2424075"/>
            <a:ext cx="2214563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Red Hat Fuse / AMQ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386388" y="2545519"/>
            <a:ext cx="221456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Red Hat Fuse (Camel-based) — Fuse Online (low-code), Fuse on EAP / Spring Boot / Karaf / Quarkus.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839891" y="2841985"/>
            <a:ext cx="2836069" cy="421481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914900" y="2895563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143500" y="290270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1" name="Text 28"/>
          <p:cNvSpPr/>
          <p:nvPr/>
        </p:nvSpPr>
        <p:spPr>
          <a:xfrm>
            <a:off x="5386388" y="2895563"/>
            <a:ext cx="2324290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WSO2 Enterprise Integrator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386388" y="3017007"/>
            <a:ext cx="221456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WSO2 EI — Micro Integrator, Streaming Integrator (Siddhi), Integration Studio, API Microgateway.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839891" y="3313472"/>
            <a:ext cx="2836069" cy="421481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4914900" y="3367050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143500" y="337419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6" name="Text 33"/>
          <p:cNvSpPr/>
          <p:nvPr/>
        </p:nvSpPr>
        <p:spPr>
          <a:xfrm>
            <a:off x="5386388" y="3367050"/>
            <a:ext cx="2324290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Spring Integration Framework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386388" y="3488494"/>
            <a:ext cx="221456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Spring Integration — Channels, Endpoints, DSL, Spring Cloud Stream binders (Kafka / Rabbit / Kinesis).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4839891" y="3784960"/>
            <a:ext cx="2836069" cy="421481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4914900" y="3838538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143500" y="384568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41" name="Text 38"/>
          <p:cNvSpPr/>
          <p:nvPr/>
        </p:nvSpPr>
        <p:spPr>
          <a:xfrm>
            <a:off x="5386388" y="3838538"/>
            <a:ext cx="2324290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Apache NiFi Flow-Based Integration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5386388" y="3959982"/>
            <a:ext cx="221456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Apache NiFi — FlowFile + Processor + Relationship model, Cloudera CDF runtime, MiNiFi edge.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14350" y="4754166"/>
            <a:ext cx="361194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140584" y="4750594"/>
            <a:ext cx="316211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316986" y="4750594"/>
            <a:ext cx="139142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&amp; INTEGRATION STANDARDS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403622"/>
            <a:ext cx="7121091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649728" y="400050"/>
            <a:ext cx="12587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· CAPABILITY 03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664369"/>
            <a:ext cx="862965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14350" y="825103"/>
            <a:ext cx="8629650" cy="276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Event &amp; Message Broker Integration.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14350" y="1138200"/>
            <a:ext cx="6572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17922" y="1463241"/>
            <a:ext cx="3993356" cy="2993231"/>
          </a:xfrm>
          <a:prstGeom prst="roundRect">
            <a:avLst>
              <a:gd name="adj" fmla="val 381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664369" y="1791853"/>
            <a:ext cx="370046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4369" y="1595400"/>
            <a:ext cx="3700463" cy="272606"/>
          </a:xfrm>
          <a:prstGeom prst="rect">
            <a:avLst/>
          </a:prstGeom>
          <a:noFill/>
          <a:ln/>
        </p:spPr>
        <p:txBody>
          <a:bodyPr wrap="none" lIns="0" tIns="0" rIns="0" bIns="85725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64369" y="1895438"/>
            <a:ext cx="3700463" cy="2122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event &amp; message broker integration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64369" y="4049278"/>
            <a:ext cx="370046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1509" y="4180866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64369" y="4188582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4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689872" y="1463241"/>
            <a:ext cx="3136106" cy="2993231"/>
          </a:xfrm>
          <a:prstGeom prst="roundRect">
            <a:avLst>
              <a:gd name="adj" fmla="val 381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836319" y="1791853"/>
            <a:ext cx="2843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36319" y="1595400"/>
            <a:ext cx="2843212" cy="272606"/>
          </a:xfrm>
          <a:prstGeom prst="rect">
            <a:avLst/>
          </a:prstGeom>
          <a:noFill/>
          <a:ln/>
        </p:spPr>
        <p:txBody>
          <a:bodyPr wrap="none" lIns="0" tIns="0" rIns="0" bIns="85725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839891" y="1899010"/>
            <a:ext cx="2836069" cy="421481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914900" y="1952588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143500" y="195973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1" name="Text 18"/>
          <p:cNvSpPr/>
          <p:nvPr/>
        </p:nvSpPr>
        <p:spPr>
          <a:xfrm>
            <a:off x="5386388" y="1952588"/>
            <a:ext cx="2324290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Apache Kafka Connect Connectors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386388" y="2074032"/>
            <a:ext cx="221456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Kafka Connect — Source / Sink connectors (Debezium / JDBC / S3 / BigQuery), exactly-once via 2PC.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839891" y="2370497"/>
            <a:ext cx="2836069" cy="421481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914900" y="2424075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143500" y="24312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6" name="Text 23"/>
          <p:cNvSpPr/>
          <p:nvPr/>
        </p:nvSpPr>
        <p:spPr>
          <a:xfrm>
            <a:off x="5386388" y="2424075"/>
            <a:ext cx="2214563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Solace PubSub+ Event Mesh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386388" y="2545519"/>
            <a:ext cx="221456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Solace PubSub+ Broker — Topic hierarchy / queue hybrid, DMQ (Dead Message Queue), MQTT / REST / JMS bindings.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839891" y="2841985"/>
            <a:ext cx="2836069" cy="421481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914900" y="2895563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143500" y="290270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1" name="Text 28"/>
          <p:cNvSpPr/>
          <p:nvPr/>
        </p:nvSpPr>
        <p:spPr>
          <a:xfrm>
            <a:off x="5386388" y="2895563"/>
            <a:ext cx="2214563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Apache ActiveMQ Artemis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386388" y="3017007"/>
            <a:ext cx="221456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Apache ActiveMQ Artemis — high-performance non-blocking journal, AMQP 1.0 / OpenWire / STOMP / MQTT.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839891" y="3313472"/>
            <a:ext cx="2836069" cy="421481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4914900" y="3367050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143500" y="337419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6" name="Text 33"/>
          <p:cNvSpPr/>
          <p:nvPr/>
        </p:nvSpPr>
        <p:spPr>
          <a:xfrm>
            <a:off x="5386388" y="3367050"/>
            <a:ext cx="2214563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IBM MQ Async Integration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386388" y="3488494"/>
            <a:ext cx="221456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IBM MQ — Queue managers, channels, XA transactions, MQ on Cloud / MQ Appliance.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4839891" y="3784960"/>
            <a:ext cx="2836069" cy="421481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4914900" y="3838538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143500" y="384568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41" name="Text 38"/>
          <p:cNvSpPr/>
          <p:nvPr/>
        </p:nvSpPr>
        <p:spPr>
          <a:xfrm>
            <a:off x="5386388" y="3838538"/>
            <a:ext cx="2214563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RabbitMQ AMQP Routing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5386388" y="3959982"/>
            <a:ext cx="221456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RabbitMQ — Exchanges (direct / fanout / topic / headers), Shovel / Federation plugin for multi-region.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14350" y="4754166"/>
            <a:ext cx="341649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3945136" y="4750594"/>
            <a:ext cx="296666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6926089" y="4750594"/>
            <a:ext cx="18057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EVENT &amp; MESSAGE BROKER INTEGRATION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403622"/>
            <a:ext cx="7121091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649728" y="400050"/>
            <a:ext cx="125870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90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· CAPABILITY 04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14350" y="664369"/>
            <a:ext cx="862965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14350" y="825103"/>
            <a:ext cx="8521065" cy="276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B2B &amp; EDI Integration.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14350" y="1138200"/>
            <a:ext cx="6572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technical engineering with real platforms, tools, and frameworks.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17922" y="1463241"/>
            <a:ext cx="3993356" cy="2993231"/>
          </a:xfrm>
          <a:prstGeom prst="roundRect">
            <a:avLst>
              <a:gd name="adj" fmla="val 381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664369" y="1791853"/>
            <a:ext cx="370046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4369" y="1595400"/>
            <a:ext cx="3700463" cy="272606"/>
          </a:xfrm>
          <a:prstGeom prst="rect">
            <a:avLst/>
          </a:prstGeom>
          <a:noFill/>
          <a:ln/>
        </p:spPr>
        <p:txBody>
          <a:bodyPr wrap="none" lIns="0" tIns="0" rIns="0" bIns="85725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APPROACH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64369" y="1895438"/>
            <a:ext cx="3700463" cy="2122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B2B &amp; EDI integration capability goes beyond surface-level integration. We engineer at the protocol, configuration, and architecture level — working with real platforms and tools, not abstract concepts. Every sub-service below carries specific tool names, configuration patterns, and engineering decisions.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664369" y="4049278"/>
            <a:ext cx="370046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1509" y="4180866"/>
            <a:ext cx="978872" cy="144018"/>
          </a:xfrm>
          <a:prstGeom prst="roundRect">
            <a:avLst>
              <a:gd name="adj" fmla="val 26455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64369" y="4188582"/>
            <a:ext cx="933152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4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689872" y="1463241"/>
            <a:ext cx="3136106" cy="2993231"/>
          </a:xfrm>
          <a:prstGeom prst="roundRect">
            <a:avLst>
              <a:gd name="adj" fmla="val 3819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836319" y="1791853"/>
            <a:ext cx="2843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36319" y="1595400"/>
            <a:ext cx="2843212" cy="272606"/>
          </a:xfrm>
          <a:prstGeom prst="rect">
            <a:avLst/>
          </a:prstGeom>
          <a:noFill/>
          <a:ln/>
        </p:spPr>
        <p:txBody>
          <a:bodyPr wrap="none" lIns="0" tIns="0" rIns="0" bIns="85725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839891" y="1899010"/>
            <a:ext cx="2836069" cy="421481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914900" y="1952588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143500" y="195973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1" name="Text 18"/>
          <p:cNvSpPr/>
          <p:nvPr/>
        </p:nvSpPr>
        <p:spPr>
          <a:xfrm>
            <a:off x="5386388" y="1952588"/>
            <a:ext cx="2324290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IBM Sterling B2B Integrator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386388" y="2074032"/>
            <a:ext cx="221456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IBM Sterling B2B Integrator — EDI X12 / EDIFACT / RosettaNet, AS2 / SFTP file transfer, Partner Manager.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839891" y="2370497"/>
            <a:ext cx="2836069" cy="421481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914900" y="2424075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143500" y="24312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6" name="Text 23"/>
          <p:cNvSpPr/>
          <p:nvPr/>
        </p:nvSpPr>
        <p:spPr>
          <a:xfrm>
            <a:off x="5386388" y="2424075"/>
            <a:ext cx="2214563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Cleo Integration Cloud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386388" y="2545519"/>
            <a:ext cx="221456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Cleo — EDI / API / MFT unification, Active Dashboard, Business Process automation via Cleo Unite.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839891" y="2841985"/>
            <a:ext cx="2836069" cy="421481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914900" y="2895563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143500" y="290270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1" name="Text 28"/>
          <p:cNvSpPr/>
          <p:nvPr/>
        </p:nvSpPr>
        <p:spPr>
          <a:xfrm>
            <a:off x="5386388" y="2895563"/>
            <a:ext cx="2324290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OpenText Business Network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386388" y="3017007"/>
            <a:ext cx="221456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OpenText (GXS) — Trading grid, B2B managed services, EDI / API translation.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839891" y="3313472"/>
            <a:ext cx="2836069" cy="421481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4914900" y="3367050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143500" y="337419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6" name="Text 33"/>
          <p:cNvSpPr/>
          <p:nvPr/>
        </p:nvSpPr>
        <p:spPr>
          <a:xfrm>
            <a:off x="5386388" y="3367050"/>
            <a:ext cx="2324290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MuleSoft Anypoint Partner Manager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5386388" y="3488494"/>
            <a:ext cx="221456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MuleSoft Anypoint Partner Manager — EDI X12 / EDIFACT templates, message tracking, trading partner onboarding.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4839891" y="3784960"/>
            <a:ext cx="2836069" cy="421481"/>
          </a:xfrm>
          <a:prstGeom prst="roundRect">
            <a:avLst>
              <a:gd name="adj" fmla="val 1355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4914900" y="3838538"/>
            <a:ext cx="251460" cy="174567"/>
          </a:xfrm>
          <a:prstGeom prst="rect">
            <a:avLst/>
          </a:prstGeom>
          <a:noFill/>
          <a:ln/>
        </p:spPr>
        <p:txBody>
          <a:bodyPr wrap="none" lIns="0" tIns="7144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25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143500" y="384568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41" name="Text 38"/>
          <p:cNvSpPr/>
          <p:nvPr/>
        </p:nvSpPr>
        <p:spPr>
          <a:xfrm>
            <a:off x="5386388" y="3838538"/>
            <a:ext cx="2324290" cy="94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Salesforce B2B Commerce &amp; Composer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5386388" y="3959982"/>
            <a:ext cx="2214563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Salesforce B2B Commerce / Composer — Quote-to-cash integration, MuleSoft Composer no-code flows.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14350" y="4754166"/>
            <a:ext cx="377245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301096" y="4750594"/>
            <a:ext cx="332262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638008" y="4750594"/>
            <a:ext cx="99164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B2B &amp; EDI INTEGRATION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403622"/>
            <a:ext cx="6631074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159712" y="400050"/>
            <a:ext cx="1648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90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· TECHNICAL APPLICATIONS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514350" y="664369"/>
            <a:ext cx="862965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APPLICATIONS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14350" y="825103"/>
            <a:ext cx="8629650" cy="276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Where this creates engineering value.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14350" y="1138200"/>
            <a:ext cx="65722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specific engineering scenarios where enterprise integration &amp; iPaaS engineering delivers measurable production impact.</a:t>
            </a:r>
            <a:endParaRPr lang="en-US" sz="788" dirty="0"/>
          </a:p>
        </p:txBody>
      </p:sp>
      <p:sp>
        <p:nvSpPr>
          <p:cNvPr id="8" name="Text 5"/>
          <p:cNvSpPr/>
          <p:nvPr/>
        </p:nvSpPr>
        <p:spPr>
          <a:xfrm>
            <a:off x="517922" y="1477528"/>
            <a:ext cx="3993356" cy="1193006"/>
          </a:xfrm>
          <a:prstGeom prst="roundRect">
            <a:avLst>
              <a:gd name="adj" fmla="val 958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92944" y="163826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969" dirty="0"/>
          </a:p>
        </p:txBody>
      </p:sp>
      <p:sp>
        <p:nvSpPr>
          <p:cNvPr id="10" name="Text 7"/>
          <p:cNvSpPr/>
          <p:nvPr/>
        </p:nvSpPr>
        <p:spPr>
          <a:xfrm>
            <a:off x="4229837" y="1641835"/>
            <a:ext cx="139080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013" dirty="0"/>
          </a:p>
        </p:txBody>
      </p:sp>
      <p:sp>
        <p:nvSpPr>
          <p:cNvPr id="11" name="Text 8"/>
          <p:cNvSpPr/>
          <p:nvPr/>
        </p:nvSpPr>
        <p:spPr>
          <a:xfrm>
            <a:off x="692944" y="1938300"/>
            <a:ext cx="3643313" cy="200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1238" b="1" spc="-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Deployment</a:t>
            </a:r>
            <a:endParaRPr lang="en-US" sz="1238" dirty="0"/>
          </a:p>
        </p:txBody>
      </p:sp>
      <p:sp>
        <p:nvSpPr>
          <p:cNvPr id="12" name="Text 9"/>
          <p:cNvSpPr/>
          <p:nvPr/>
        </p:nvSpPr>
        <p:spPr>
          <a:xfrm>
            <a:off x="692944" y="2223715"/>
            <a:ext cx="3429000" cy="286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prototype to production-grade deployment with real reliability, latency, and cost SLAs.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632722" y="1477528"/>
            <a:ext cx="3993356" cy="1193006"/>
          </a:xfrm>
          <a:prstGeom prst="roundRect">
            <a:avLst>
              <a:gd name="adj" fmla="val 958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807744" y="163826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969" dirty="0"/>
          </a:p>
        </p:txBody>
      </p:sp>
      <p:sp>
        <p:nvSpPr>
          <p:cNvPr id="15" name="Text 12"/>
          <p:cNvSpPr/>
          <p:nvPr/>
        </p:nvSpPr>
        <p:spPr>
          <a:xfrm>
            <a:off x="8251879" y="1641835"/>
            <a:ext cx="23315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</a:t>
            </a:r>
            <a:endParaRPr lang="en-US" sz="1013" dirty="0"/>
          </a:p>
        </p:txBody>
      </p:sp>
      <p:sp>
        <p:nvSpPr>
          <p:cNvPr id="16" name="Text 13"/>
          <p:cNvSpPr/>
          <p:nvPr/>
        </p:nvSpPr>
        <p:spPr>
          <a:xfrm>
            <a:off x="4807744" y="1938300"/>
            <a:ext cx="3753040" cy="20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1238" b="1" spc="-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&amp; Operations</a:t>
            </a:r>
            <a:endParaRPr lang="en-US" sz="1238" dirty="0"/>
          </a:p>
        </p:txBody>
      </p:sp>
      <p:sp>
        <p:nvSpPr>
          <p:cNvPr id="17" name="Text 14"/>
          <p:cNvSpPr/>
          <p:nvPr/>
        </p:nvSpPr>
        <p:spPr>
          <a:xfrm>
            <a:off x="4807744" y="2223715"/>
            <a:ext cx="3429000" cy="286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monitoring, evaluation, drift detection, and operational runbooks for production systems.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517922" y="2791978"/>
            <a:ext cx="3993356" cy="1193006"/>
          </a:xfrm>
          <a:prstGeom prst="roundRect">
            <a:avLst>
              <a:gd name="adj" fmla="val 958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692944" y="295271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969" dirty="0"/>
          </a:p>
        </p:txBody>
      </p:sp>
      <p:sp>
        <p:nvSpPr>
          <p:cNvPr id="20" name="Text 17"/>
          <p:cNvSpPr/>
          <p:nvPr/>
        </p:nvSpPr>
        <p:spPr>
          <a:xfrm>
            <a:off x="4048798" y="2956285"/>
            <a:ext cx="32722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</a:t>
            </a:r>
            <a:endParaRPr lang="en-US" sz="1013" dirty="0"/>
          </a:p>
        </p:txBody>
      </p:sp>
      <p:sp>
        <p:nvSpPr>
          <p:cNvPr id="21" name="Text 18"/>
          <p:cNvSpPr/>
          <p:nvPr/>
        </p:nvSpPr>
        <p:spPr>
          <a:xfrm>
            <a:off x="692944" y="3252750"/>
            <a:ext cx="3643313" cy="200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1238" b="1" spc="-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&amp; Compliance</a:t>
            </a:r>
            <a:endParaRPr lang="en-US" sz="1238" dirty="0"/>
          </a:p>
        </p:txBody>
      </p:sp>
      <p:sp>
        <p:nvSpPr>
          <p:cNvPr id="22" name="Text 19"/>
          <p:cNvSpPr/>
          <p:nvPr/>
        </p:nvSpPr>
        <p:spPr>
          <a:xfrm>
            <a:off x="692944" y="3538165"/>
            <a:ext cx="3429000" cy="286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engineering, compliance automation, and audit-ready evidence collection built into the pipeline.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632722" y="2791978"/>
            <a:ext cx="3993356" cy="1193006"/>
          </a:xfrm>
          <a:prstGeom prst="roundRect">
            <a:avLst>
              <a:gd name="adj" fmla="val 958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807744" y="2952713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969" dirty="0"/>
          </a:p>
        </p:txBody>
      </p:sp>
      <p:sp>
        <p:nvSpPr>
          <p:cNvPr id="25" name="Text 22"/>
          <p:cNvSpPr/>
          <p:nvPr/>
        </p:nvSpPr>
        <p:spPr>
          <a:xfrm>
            <a:off x="8251879" y="2956285"/>
            <a:ext cx="23315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41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</a:t>
            </a:r>
            <a:endParaRPr lang="en-US" sz="1013" dirty="0"/>
          </a:p>
        </p:txBody>
      </p:sp>
      <p:sp>
        <p:nvSpPr>
          <p:cNvPr id="26" name="Text 23"/>
          <p:cNvSpPr/>
          <p:nvPr/>
        </p:nvSpPr>
        <p:spPr>
          <a:xfrm>
            <a:off x="4807744" y="3252750"/>
            <a:ext cx="3643313" cy="200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0"/>
              </a:lnSpc>
              <a:buNone/>
            </a:pPr>
            <a:r>
              <a:rPr lang="en-US" sz="1238" b="1" spc="-6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Scale &amp; Optimization</a:t>
            </a:r>
            <a:endParaRPr lang="en-US" sz="1238" dirty="0"/>
          </a:p>
        </p:txBody>
      </p:sp>
      <p:sp>
        <p:nvSpPr>
          <p:cNvPr id="27" name="Text 24"/>
          <p:cNvSpPr/>
          <p:nvPr/>
        </p:nvSpPr>
        <p:spPr>
          <a:xfrm>
            <a:off x="4807744" y="3538165"/>
            <a:ext cx="3429000" cy="2860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Scaling from single-tenant to multi-tenant, optimizing cost, latency, and resource utilization.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14350" y="4754166"/>
            <a:ext cx="397962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508264" y="4750594"/>
            <a:ext cx="352968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99312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403622"/>
            <a:ext cx="6631074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159712" y="400050"/>
            <a:ext cx="1648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90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· REFERENCE ARCHITECTURE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514350" y="664369"/>
            <a:ext cx="862965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14350" y="825103"/>
            <a:ext cx="8486775" cy="5226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688" b="1" spc="-2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production reference architecture for enterprise integration &amp; iPaaS engineering.</a:t>
            </a:r>
            <a:endParaRPr lang="en-US" sz="1688" dirty="0"/>
          </a:p>
        </p:txBody>
      </p:sp>
      <p:sp>
        <p:nvSpPr>
          <p:cNvPr id="7" name="Text 4"/>
          <p:cNvSpPr/>
          <p:nvPr/>
        </p:nvSpPr>
        <p:spPr>
          <a:xfrm>
            <a:off x="514350" y="1375172"/>
            <a:ext cx="67151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with real platform and tool names — not generic architecture diagrams.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17922" y="1700213"/>
            <a:ext cx="8108156" cy="450056"/>
          </a:xfrm>
          <a:prstGeom prst="roundRect">
            <a:avLst>
              <a:gd name="adj" fmla="val 1693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21494" y="1703784"/>
            <a:ext cx="1071563" cy="44291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1589484" y="1703784"/>
            <a:ext cx="0" cy="44291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9403" y="1810941"/>
            <a:ext cx="18422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61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L1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07219" y="1921669"/>
            <a:ext cx="462915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IPAAS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707356" y="1811226"/>
            <a:ext cx="1020998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1707356" y="1823442"/>
            <a:ext cx="1020998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MuleSoft Anypoint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799792" y="1811226"/>
            <a:ext cx="1049127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2799792" y="1823442"/>
            <a:ext cx="1049127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Boomi AtomSphere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3920356" y="1811226"/>
            <a:ext cx="1163092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920356" y="1823442"/>
            <a:ext cx="1163092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Integration Suite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154885" y="1811226"/>
            <a:ext cx="555985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154885" y="1823442"/>
            <a:ext cx="555985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Workato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517922" y="2228850"/>
            <a:ext cx="8108156" cy="496491"/>
          </a:xfrm>
          <a:prstGeom prst="roundRect">
            <a:avLst>
              <a:gd name="adj" fmla="val 1534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21494" y="2232422"/>
            <a:ext cx="1071563" cy="489347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0"/>
          <p:cNvSpPr/>
          <p:nvPr/>
        </p:nvSpPr>
        <p:spPr>
          <a:xfrm>
            <a:off x="1589484" y="2232422"/>
            <a:ext cx="0" cy="489347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9403" y="2303859"/>
            <a:ext cx="18422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61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L2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07219" y="2414588"/>
            <a:ext cx="89296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EIP / INTEGRATION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707356" y="2363081"/>
            <a:ext cx="816397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1707356" y="2375297"/>
            <a:ext cx="816397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Apache Camel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2595190" y="2363081"/>
            <a:ext cx="777218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2595190" y="2375297"/>
            <a:ext cx="777218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Red Hat Fuse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443846" y="2363081"/>
            <a:ext cx="557547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3443846" y="2375297"/>
            <a:ext cx="557547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WSO2 EI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072830" y="2363081"/>
            <a:ext cx="1016422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4072830" y="2375297"/>
            <a:ext cx="1016422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Spring Integration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517922" y="2803922"/>
            <a:ext cx="8108156" cy="496491"/>
          </a:xfrm>
          <a:prstGeom prst="roundRect">
            <a:avLst>
              <a:gd name="adj" fmla="val 1534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521494" y="2807494"/>
            <a:ext cx="1071563" cy="489347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3"/>
          <p:cNvSpPr/>
          <p:nvPr/>
        </p:nvSpPr>
        <p:spPr>
          <a:xfrm>
            <a:off x="1589484" y="2807494"/>
            <a:ext cx="0" cy="489347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89403" y="2878931"/>
            <a:ext cx="18422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61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L3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07219" y="2989659"/>
            <a:ext cx="892969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MESSAGE BROKER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1707356" y="2938153"/>
            <a:ext cx="833698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1703602" y="2950369"/>
            <a:ext cx="841207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Kafka Connect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2612492" y="2938153"/>
            <a:ext cx="915739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2612492" y="2950369"/>
            <a:ext cx="915739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Solace PubSub+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3599669" y="2938153"/>
            <a:ext cx="520601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3599669" y="2950369"/>
            <a:ext cx="520601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IBM MQ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191707" y="2938153"/>
            <a:ext cx="619609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4191707" y="2950369"/>
            <a:ext cx="619609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RabbitMQ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517922" y="3378994"/>
            <a:ext cx="8108156" cy="450056"/>
          </a:xfrm>
          <a:prstGeom prst="roundRect">
            <a:avLst>
              <a:gd name="adj" fmla="val 1693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5"/>
          <p:cNvSpPr/>
          <p:nvPr/>
        </p:nvSpPr>
        <p:spPr>
          <a:xfrm>
            <a:off x="521494" y="3382566"/>
            <a:ext cx="1071563" cy="44291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6"/>
          <p:cNvSpPr/>
          <p:nvPr/>
        </p:nvSpPr>
        <p:spPr>
          <a:xfrm>
            <a:off x="1589484" y="3382566"/>
            <a:ext cx="0" cy="44291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89403" y="3489722"/>
            <a:ext cx="18422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61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L4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607219" y="3600450"/>
            <a:ext cx="620845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B2B / EDI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1707356" y="3490008"/>
            <a:ext cx="945431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1707356" y="3502223"/>
            <a:ext cx="945431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IBM Sterling B2B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2724224" y="3490008"/>
            <a:ext cx="1201936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2"/>
          <p:cNvSpPr/>
          <p:nvPr/>
        </p:nvSpPr>
        <p:spPr>
          <a:xfrm>
            <a:off x="2724224" y="3502223"/>
            <a:ext cx="1201936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Cleo Integration Cloud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4001170" y="3505795"/>
            <a:ext cx="1441921" cy="196453"/>
          </a:xfrm>
          <a:prstGeom prst="roundRect">
            <a:avLst>
              <a:gd name="adj" fmla="val 19394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4"/>
          <p:cNvSpPr/>
          <p:nvPr/>
        </p:nvSpPr>
        <p:spPr>
          <a:xfrm>
            <a:off x="3997598" y="3502223"/>
            <a:ext cx="1484784" cy="284295"/>
          </a:xfrm>
          <a:prstGeom prst="rect">
            <a:avLst/>
          </a:prstGeom>
          <a:noFill/>
          <a:ln/>
        </p:spPr>
        <p:txBody>
          <a:bodyPr wrap="none" lIns="78581" tIns="35719" rIns="78581" bIns="35719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OpenText Business Network</a:t>
            </a:r>
            <a:endParaRPr lang="en-US" sz="800" dirty="0"/>
          </a:p>
        </p:txBody>
      </p:sp>
      <p:sp>
        <p:nvSpPr>
          <p:cNvPr id="58" name="Text 55"/>
          <p:cNvSpPr/>
          <p:nvPr/>
        </p:nvSpPr>
        <p:spPr>
          <a:xfrm>
            <a:off x="5518100" y="3490008"/>
            <a:ext cx="1381981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6"/>
          <p:cNvSpPr/>
          <p:nvPr/>
        </p:nvSpPr>
        <p:spPr>
          <a:xfrm>
            <a:off x="5518100" y="3502223"/>
            <a:ext cx="1381981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MuleSoft Partner Manager</a:t>
            </a:r>
            <a:endParaRPr lang="en-US" sz="800" dirty="0"/>
          </a:p>
        </p:txBody>
      </p:sp>
      <p:sp>
        <p:nvSpPr>
          <p:cNvPr id="60" name="Text 57"/>
          <p:cNvSpPr/>
          <p:nvPr/>
        </p:nvSpPr>
        <p:spPr>
          <a:xfrm>
            <a:off x="517922" y="3907631"/>
            <a:ext cx="8108156" cy="450056"/>
          </a:xfrm>
          <a:prstGeom prst="roundRect">
            <a:avLst>
              <a:gd name="adj" fmla="val 16931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8"/>
          <p:cNvSpPr/>
          <p:nvPr/>
        </p:nvSpPr>
        <p:spPr>
          <a:xfrm>
            <a:off x="521494" y="3911203"/>
            <a:ext cx="1071563" cy="442913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Shape 59"/>
          <p:cNvSpPr/>
          <p:nvPr/>
        </p:nvSpPr>
        <p:spPr>
          <a:xfrm>
            <a:off x="1589484" y="3911203"/>
            <a:ext cx="0" cy="44291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589403" y="4018359"/>
            <a:ext cx="18422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61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L5</a:t>
            </a:r>
            <a:endParaRPr lang="en-US" sz="800" dirty="0"/>
          </a:p>
        </p:txBody>
      </p:sp>
      <p:sp>
        <p:nvSpPr>
          <p:cNvPr id="64" name="Text 61"/>
          <p:cNvSpPr/>
          <p:nvPr/>
        </p:nvSpPr>
        <p:spPr>
          <a:xfrm>
            <a:off x="607219" y="4129088"/>
            <a:ext cx="822750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TRANSFORM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1707356" y="4018645"/>
            <a:ext cx="1202382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1707356" y="4030861"/>
            <a:ext cx="1202382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DataWeave (MuleSoft)</a:t>
            </a:r>
            <a:endParaRPr lang="en-US" sz="800" dirty="0"/>
          </a:p>
        </p:txBody>
      </p:sp>
      <p:sp>
        <p:nvSpPr>
          <p:cNvPr id="67" name="Text 64"/>
          <p:cNvSpPr/>
          <p:nvPr/>
        </p:nvSpPr>
        <p:spPr>
          <a:xfrm>
            <a:off x="2981176" y="4018645"/>
            <a:ext cx="715380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5"/>
          <p:cNvSpPr/>
          <p:nvPr/>
        </p:nvSpPr>
        <p:spPr>
          <a:xfrm>
            <a:off x="2974610" y="4030861"/>
            <a:ext cx="728513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Apache NiFi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3767993" y="4018645"/>
            <a:ext cx="946658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7"/>
          <p:cNvSpPr/>
          <p:nvPr/>
        </p:nvSpPr>
        <p:spPr>
          <a:xfrm>
            <a:off x="3767993" y="4030861"/>
            <a:ext cx="946658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SnapLogic Snaps</a:t>
            </a:r>
            <a:endParaRPr lang="en-US" sz="800" dirty="0"/>
          </a:p>
        </p:txBody>
      </p:sp>
      <p:sp>
        <p:nvSpPr>
          <p:cNvPr id="71" name="Text 68"/>
          <p:cNvSpPr/>
          <p:nvPr/>
        </p:nvSpPr>
        <p:spPr>
          <a:xfrm>
            <a:off x="4786089" y="4018645"/>
            <a:ext cx="858701" cy="228029"/>
          </a:xfrm>
          <a:prstGeom prst="roundRect">
            <a:avLst>
              <a:gd name="adj" fmla="val 1670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69"/>
          <p:cNvSpPr/>
          <p:nvPr/>
        </p:nvSpPr>
        <p:spPr>
          <a:xfrm>
            <a:off x="4786089" y="4030861"/>
            <a:ext cx="858701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Boomi Suggest</a:t>
            </a:r>
            <a:endParaRPr lang="en-US" sz="800" dirty="0"/>
          </a:p>
        </p:txBody>
      </p:sp>
      <p:sp>
        <p:nvSpPr>
          <p:cNvPr id="73" name="Shape 7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514350" y="4754166"/>
            <a:ext cx="39595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75" name="Text 72"/>
          <p:cNvSpPr/>
          <p:nvPr/>
        </p:nvSpPr>
        <p:spPr>
          <a:xfrm>
            <a:off x="4488173" y="4750594"/>
            <a:ext cx="350959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76" name="Text 73"/>
          <p:cNvSpPr/>
          <p:nvPr/>
        </p:nvSpPr>
        <p:spPr>
          <a:xfrm>
            <a:off x="7973028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403622"/>
            <a:ext cx="6631074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7159712" y="400050"/>
            <a:ext cx="1648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90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· IMPLEMENTATION ROADMAP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514350" y="664369"/>
            <a:ext cx="8629650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IMPLEMENTATION ROADMAP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14350" y="825103"/>
            <a:ext cx="8629650" cy="26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688" b="1" spc="-2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phased engineering roadmap from assessment to production.</a:t>
            </a:r>
            <a:endParaRPr lang="en-US" sz="1688" dirty="0"/>
          </a:p>
        </p:txBody>
      </p:sp>
      <p:sp>
        <p:nvSpPr>
          <p:cNvPr id="7" name="Text 4"/>
          <p:cNvSpPr/>
          <p:nvPr/>
        </p:nvSpPr>
        <p:spPr>
          <a:xfrm>
            <a:off x="514350" y="1128713"/>
            <a:ext cx="67151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phase carries concrete engineering deliverables, technical milestones, and exit criteria.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17922" y="1468041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35794" y="1600200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635794" y="1803797"/>
            <a:ext cx="1700213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Technical Assessment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35794" y="2012305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35794" y="2276624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635794" y="2398068"/>
            <a:ext cx="18022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35794" y="2608808"/>
            <a:ext cx="1700213" cy="101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 audit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Tool landscape assessment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Gap analysis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roadmap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35794" y="3682603"/>
            <a:ext cx="1700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5794" y="3679031"/>
            <a:ext cx="1700213" cy="221456"/>
          </a:xfrm>
          <a:prstGeom prst="rect">
            <a:avLst/>
          </a:prstGeom>
          <a:noFill/>
          <a:ln/>
        </p:spPr>
        <p:txBody>
          <a:bodyPr wrap="none" lIns="0" tIns="85725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$25K–$75K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575322" y="1468041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2693194" y="1600200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693194" y="1803797"/>
            <a:ext cx="1700213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Foundation Engineering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693194" y="2012305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3–6 WEEKS · FIXED FEE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2693194" y="2276624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2693194" y="2398068"/>
            <a:ext cx="18022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2693194" y="2608808"/>
            <a:ext cx="1700213" cy="101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Core platform setup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CI/CD pipeline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stack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baseline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693194" y="3682603"/>
            <a:ext cx="1700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693194" y="3679031"/>
            <a:ext cx="1700213" cy="221456"/>
          </a:xfrm>
          <a:prstGeom prst="rect">
            <a:avLst/>
          </a:prstGeom>
          <a:noFill/>
          <a:ln/>
        </p:spPr>
        <p:txBody>
          <a:bodyPr wrap="none" lIns="0" tIns="85725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$50K–$150K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632722" y="1468041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750594" y="1600200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750594" y="1803797"/>
            <a:ext cx="1700213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Build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750594" y="2012305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8–24 WEEKS · T&amp;M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750594" y="2276624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4750594" y="2398068"/>
            <a:ext cx="18022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750594" y="2608808"/>
            <a:ext cx="1700213" cy="101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validation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hardening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 + handover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750594" y="3682603"/>
            <a:ext cx="1700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50594" y="3679031"/>
            <a:ext cx="1700213" cy="221456"/>
          </a:xfrm>
          <a:prstGeom prst="rect">
            <a:avLst/>
          </a:prstGeom>
          <a:noFill/>
          <a:ln/>
        </p:spPr>
        <p:txBody>
          <a:bodyPr wrap="none" lIns="0" tIns="85725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$300K–$1M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690122" y="1468041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6807994" y="1600200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6807994" y="1803797"/>
            <a:ext cx="1700212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Engineering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807994" y="2012305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6807994" y="2276624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6807994" y="2398068"/>
            <a:ext cx="18022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91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DELIVERABLES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807994" y="2608808"/>
            <a:ext cx="1700213" cy="101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operations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architecture reviews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engineering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807994" y="3682603"/>
            <a:ext cx="1700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807994" y="3679031"/>
            <a:ext cx="1700212" cy="221456"/>
          </a:xfrm>
          <a:prstGeom prst="rect">
            <a:avLst/>
          </a:prstGeom>
          <a:noFill/>
          <a:ln/>
        </p:spPr>
        <p:txBody>
          <a:bodyPr wrap="none" lIns="0" tIns="85725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$50K–$500K / mo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14350" y="4754166"/>
            <a:ext cx="4067249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4595887" y="4750594"/>
            <a:ext cx="361730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8220112" y="4750594"/>
            <a:ext cx="4169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ROADMAP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1431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4350" y="403622"/>
            <a:ext cx="6413302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6941939" y="400050"/>
            <a:ext cx="1905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90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· ENGINEERING BEST PRACTICES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514350" y="664369"/>
            <a:ext cx="8629650" cy="133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ENGINEERING BEST PRACTICES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14350" y="825103"/>
            <a:ext cx="8629650" cy="276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Principles that separate production from prototype.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14350" y="1138200"/>
            <a:ext cx="67151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theoretical — these are the engineering disciplines we enforce on every engagement.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14350" y="1473957"/>
            <a:ext cx="3986213" cy="1200150"/>
          </a:xfrm>
          <a:prstGeom prst="roundRect">
            <a:avLst>
              <a:gd name="adj" fmla="val 634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514350" y="1477528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96991" y="1473957"/>
            <a:ext cx="0" cy="12001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14350" y="2670535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28638" y="1473957"/>
            <a:ext cx="0" cy="1200150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4375" y="1623975"/>
            <a:ext cx="36075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14375" y="1820428"/>
            <a:ext cx="3717322" cy="15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7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requirements first</a:t>
            </a:r>
            <a:endParaRPr lang="en-US" sz="956" dirty="0"/>
          </a:p>
        </p:txBody>
      </p:sp>
      <p:sp>
        <p:nvSpPr>
          <p:cNvPr id="15" name="Text 12"/>
          <p:cNvSpPr/>
          <p:nvPr/>
        </p:nvSpPr>
        <p:spPr>
          <a:xfrm>
            <a:off x="714375" y="2025700"/>
            <a:ext cx="3429000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Start with latency, throughput, reliability, cost, and compliance SLAs. Engineer backward from constraints, not forward from tools.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643438" y="1473957"/>
            <a:ext cx="3986213" cy="1200150"/>
          </a:xfrm>
          <a:prstGeom prst="roundRect">
            <a:avLst>
              <a:gd name="adj" fmla="val 634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4"/>
          <p:cNvSpPr/>
          <p:nvPr/>
        </p:nvSpPr>
        <p:spPr>
          <a:xfrm>
            <a:off x="4643438" y="1477528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626078" y="1473957"/>
            <a:ext cx="0" cy="12001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43438" y="2670535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57725" y="1473957"/>
            <a:ext cx="0" cy="1200150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43463" y="1623975"/>
            <a:ext cx="36075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843463" y="1820428"/>
            <a:ext cx="3717322" cy="15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7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Observability is not optional</a:t>
            </a:r>
            <a:endParaRPr lang="en-US" sz="956" dirty="0"/>
          </a:p>
        </p:txBody>
      </p:sp>
      <p:sp>
        <p:nvSpPr>
          <p:cNvPr id="23" name="Text 20"/>
          <p:cNvSpPr/>
          <p:nvPr/>
        </p:nvSpPr>
        <p:spPr>
          <a:xfrm>
            <a:off x="4843463" y="2025700"/>
            <a:ext cx="3429000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system ships with distributed tracing, metrics, and logging from day one. If you can’t measure it, you can’t operate it.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14350" y="2816982"/>
            <a:ext cx="3986213" cy="1200150"/>
          </a:xfrm>
          <a:prstGeom prst="roundRect">
            <a:avLst>
              <a:gd name="adj" fmla="val 634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514350" y="2820553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496991" y="2816982"/>
            <a:ext cx="0" cy="12001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14350" y="4013560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28638" y="2816982"/>
            <a:ext cx="0" cy="1200150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14375" y="2967000"/>
            <a:ext cx="36075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14375" y="3163453"/>
            <a:ext cx="3607594" cy="159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7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in the pipeline</a:t>
            </a:r>
            <a:endParaRPr lang="en-US" sz="956" dirty="0"/>
          </a:p>
        </p:txBody>
      </p:sp>
      <p:sp>
        <p:nvSpPr>
          <p:cNvPr id="31" name="Text 28"/>
          <p:cNvSpPr/>
          <p:nvPr/>
        </p:nvSpPr>
        <p:spPr>
          <a:xfrm>
            <a:off x="714375" y="3368725"/>
            <a:ext cx="3429000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scanning, SBOM, and compliance checks embedded in CI/CD — not a separate audit after launch.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643438" y="2816982"/>
            <a:ext cx="3986213" cy="1200150"/>
          </a:xfrm>
          <a:prstGeom prst="roundRect">
            <a:avLst>
              <a:gd name="adj" fmla="val 6349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0"/>
          <p:cNvSpPr/>
          <p:nvPr/>
        </p:nvSpPr>
        <p:spPr>
          <a:xfrm>
            <a:off x="4643438" y="2820553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626078" y="2816982"/>
            <a:ext cx="0" cy="120015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643438" y="4013560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657725" y="2816982"/>
            <a:ext cx="0" cy="1200150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843463" y="2967000"/>
            <a:ext cx="36075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4843463" y="3163453"/>
            <a:ext cx="3607594" cy="1599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7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 for rollback</a:t>
            </a:r>
            <a:endParaRPr lang="en-US" sz="956" dirty="0"/>
          </a:p>
        </p:txBody>
      </p:sp>
      <p:sp>
        <p:nvSpPr>
          <p:cNvPr id="39" name="Text 36"/>
          <p:cNvSpPr/>
          <p:nvPr/>
        </p:nvSpPr>
        <p:spPr>
          <a:xfrm>
            <a:off x="4843463" y="3368725"/>
            <a:ext cx="3429000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deployment must be reversible. Feature flags, blue-green, canary — not big-bang deployments.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14350" y="4754166"/>
            <a:ext cx="3929174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4457812" y="4750594"/>
            <a:ext cx="347922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951329" y="4750594"/>
            <a:ext cx="67832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BEST PRACTICES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57260813-bjlap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6858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308811" y="685800"/>
            <a:ext cx="383518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90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KEFI TECH · ENTERPRISE INTEGRATION &amp; IPAAS ENGINEERING · 2026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6400800" y="685800"/>
            <a:ext cx="7144" cy="3600450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7716960" y="1857375"/>
            <a:ext cx="912690" cy="160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70"/>
              </a:lnSpc>
              <a:buNone/>
            </a:pPr>
            <a:r>
              <a:rPr lang="en-US" sz="900" spc="54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Discover.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7716960" y="2191680"/>
            <a:ext cx="912690" cy="160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70"/>
              </a:lnSpc>
              <a:buNone/>
            </a:pPr>
            <a:r>
              <a:rPr lang="en-US" sz="900" spc="54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Engineer.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8021190" y="2525985"/>
            <a:ext cx="608460" cy="160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170"/>
              </a:lnSpc>
              <a:buNone/>
            </a:pPr>
            <a:r>
              <a:rPr lang="en-US" sz="900" spc="54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Scale.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42950" y="1857375"/>
            <a:ext cx="462044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49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742950" y="2082403"/>
            <a:ext cx="3573494" cy="501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2"/>
              </a:lnSpc>
              <a:buNone/>
            </a:pPr>
            <a:r>
              <a:rPr lang="en-US" sz="3150" b="1" spc="-63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</p:txBody>
      </p:sp>
      <p:sp>
        <p:nvSpPr>
          <p:cNvPr id="11" name="Text 7"/>
          <p:cNvSpPr/>
          <p:nvPr/>
        </p:nvSpPr>
        <p:spPr>
          <a:xfrm>
            <a:off x="742950" y="2535808"/>
            <a:ext cx="3988699" cy="466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2"/>
              </a:lnSpc>
              <a:buNone/>
            </a:pPr>
            <a:r>
              <a:rPr lang="en-US" sz="3150" b="1" spc="-63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12" name="Text 8"/>
          <p:cNvSpPr/>
          <p:nvPr/>
        </p:nvSpPr>
        <p:spPr>
          <a:xfrm>
            <a:off x="742950" y="3153519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742950" y="3332113"/>
            <a:ext cx="3675593" cy="166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spc="-4" kern="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</a:t>
            </a:r>
            <a:pPr algn="l" indent="0" marL="0">
              <a:lnSpc>
                <a:spcPts val="1530"/>
              </a:lnSpc>
              <a:buNone/>
            </a:pPr>
            <a:r>
              <a:rPr lang="en-US" sz="900" spc="-4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lnSpc>
                <a:spcPts val="1530"/>
              </a:lnSpc>
              <a:buNone/>
            </a:pPr>
            <a:r>
              <a:rPr lang="en-US" sz="900" spc="-4" kern="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www.kefitech.com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742950" y="3526334"/>
            <a:ext cx="3675593" cy="20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spc="-4" kern="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</a:t>
            </a:r>
            <a:pPr algn="l" indent="0" marL="0">
              <a:lnSpc>
                <a:spcPts val="1530"/>
              </a:lnSpc>
              <a:buNone/>
            </a:pPr>
            <a:r>
              <a:rPr lang="en-US" sz="900" spc="-4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pPr algn="l" indent="0" marL="0">
              <a:lnSpc>
                <a:spcPts val="1530"/>
              </a:lnSpc>
              <a:buNone/>
            </a:pPr>
            <a:r>
              <a:rPr lang="en-US" sz="900" spc="-4" kern="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Hyderabad, India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14350" y="4754166"/>
            <a:ext cx="33608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3889437" y="4750594"/>
            <a:ext cx="29108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6814579" y="4750594"/>
            <a:ext cx="1923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2026-10-01T12:21:01Z</dcterms:created>
  <dcterms:modified xsi:type="dcterms:W3CDTF">2026-10-01T12:21:01Z</dcterms:modified>
</cp:coreProperties>
</file>