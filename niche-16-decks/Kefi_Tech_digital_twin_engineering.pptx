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2863" cy="5143500"/>
          </a:xfrm>
          <a:prstGeom prst="rect">
            <a:avLst/>
          </a:prstGeom>
        </p:spPr>
      </p:pic>
      <p:pic>
        <p:nvPicPr>
          <p:cNvPr id="3" name="Image 1" descr="/tmp/h2p-fit-1790857219611-f54tj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950" y="457200"/>
            <a:ext cx="1857375" cy="302158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449007" y="600075"/>
            <a:ext cx="3631499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79" kern="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KEFI TECH · DIGITAL TWIN ENGINEERING &amp; SIMULATION · 2026</a:t>
            </a:r>
            <a:endParaRPr lang="en-US" sz="800" dirty="0"/>
          </a:p>
        </p:txBody>
      </p:sp>
      <p:sp>
        <p:nvSpPr>
          <p:cNvPr id="5" name="Text 1"/>
          <p:cNvSpPr/>
          <p:nvPr/>
        </p:nvSpPr>
        <p:spPr>
          <a:xfrm>
            <a:off x="742950" y="1685925"/>
            <a:ext cx="720291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24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 · DEEP TECH</a:t>
            </a:r>
            <a:endParaRPr lang="en-US" sz="800" dirty="0"/>
          </a:p>
        </p:txBody>
      </p:sp>
      <p:sp>
        <p:nvSpPr>
          <p:cNvPr id="6" name="Text 2"/>
          <p:cNvSpPr/>
          <p:nvPr/>
        </p:nvSpPr>
        <p:spPr>
          <a:xfrm>
            <a:off x="742950" y="1960959"/>
            <a:ext cx="5972175" cy="8177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3159"/>
              </a:lnSpc>
              <a:buNone/>
            </a:pPr>
            <a:r>
              <a:rPr lang="en-US" sz="3038" b="1" spc="-76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Digital Twin Engineering</a:t>
            </a:r>
            <a:endParaRPr lang="en-US" sz="3038" dirty="0"/>
          </a:p>
          <a:p>
            <a:pPr algn="l" indent="0" marL="0">
              <a:lnSpc>
                <a:spcPts val="3159"/>
              </a:lnSpc>
              <a:buNone/>
            </a:pPr>
            <a:r>
              <a:rPr lang="en-US" sz="3038" b="1" spc="-76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&amp; Simulation</a:t>
            </a:r>
            <a:endParaRPr lang="en-US" sz="3038" dirty="0"/>
          </a:p>
        </p:txBody>
      </p:sp>
      <p:sp>
        <p:nvSpPr>
          <p:cNvPr id="7" name="Text 3"/>
          <p:cNvSpPr/>
          <p:nvPr/>
        </p:nvSpPr>
        <p:spPr>
          <a:xfrm>
            <a:off x="742950" y="2806154"/>
            <a:ext cx="5972175" cy="8665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59"/>
              </a:lnSpc>
              <a:buNone/>
            </a:pPr>
            <a:r>
              <a:rPr lang="en-US" sz="3038" b="1" i="1" spc="-76" kern="0" dirty="0">
                <a:solidFill>
                  <a:srgbClr val="FF6C0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engineered for production.</a:t>
            </a:r>
            <a:endParaRPr lang="en-US" sz="3038" dirty="0"/>
          </a:p>
        </p:txBody>
      </p:sp>
      <p:sp>
        <p:nvSpPr>
          <p:cNvPr id="8" name="Text 4"/>
          <p:cNvSpPr/>
          <p:nvPr/>
        </p:nvSpPr>
        <p:spPr>
          <a:xfrm>
            <a:off x="742950" y="3794224"/>
            <a:ext cx="342900" cy="21431"/>
          </a:xfrm>
          <a:prstGeom prst="roundRect">
            <a:avLst>
              <a:gd name="adj" fmla="val 88890"/>
            </a:avLst>
          </a:prstGeom>
          <a:solidFill>
            <a:srgbClr val="FF6C0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5"/>
          <p:cNvSpPr/>
          <p:nvPr/>
        </p:nvSpPr>
        <p:spPr>
          <a:xfrm>
            <a:off x="742950" y="3944243"/>
            <a:ext cx="5863590" cy="2376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33"/>
              </a:lnSpc>
              <a:buNone/>
            </a:pPr>
            <a:r>
              <a:rPr lang="en-US" sz="1238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Mirror the physical — predict the future.</a:t>
            </a:r>
            <a:endParaRPr lang="en-US" sz="1238" dirty="0"/>
          </a:p>
        </p:txBody>
      </p:sp>
      <p:sp>
        <p:nvSpPr>
          <p:cNvPr id="10" name="Text 6"/>
          <p:cNvSpPr/>
          <p:nvPr/>
        </p:nvSpPr>
        <p:spPr>
          <a:xfrm>
            <a:off x="6400800" y="1714500"/>
            <a:ext cx="7144" cy="2143125"/>
          </a:xfrm>
          <a:prstGeom prst="rect">
            <a:avLst/>
          </a:prstGeom>
          <a:solidFill>
            <a:srgbClr val="CBD5E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7"/>
          <p:cNvSpPr/>
          <p:nvPr/>
        </p:nvSpPr>
        <p:spPr>
          <a:xfrm>
            <a:off x="6565106" y="1757363"/>
            <a:ext cx="19681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spc="44" kern="0" dirty="0">
                <a:solidFill>
                  <a:srgbClr val="FF6C0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800" dirty="0"/>
          </a:p>
        </p:txBody>
      </p:sp>
      <p:sp>
        <p:nvSpPr>
          <p:cNvPr id="12" name="Text 8"/>
          <p:cNvSpPr/>
          <p:nvPr/>
        </p:nvSpPr>
        <p:spPr>
          <a:xfrm>
            <a:off x="6788125" y="1778794"/>
            <a:ext cx="1100807" cy="2851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77"/>
              </a:lnSpc>
              <a:buNone/>
            </a:pPr>
            <a:r>
              <a:rPr lang="en-US" sz="800" spc="27" kern="0" dirty="0">
                <a:solidFill>
                  <a:srgbClr val="004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Twin Platform</a:t>
            </a:r>
            <a:endParaRPr lang="en-US" sz="800" dirty="0"/>
          </a:p>
          <a:p>
            <a:pPr algn="l" indent="0" marL="0">
              <a:lnSpc>
                <a:spcPts val="877"/>
              </a:lnSpc>
              <a:buNone/>
            </a:pPr>
            <a:r>
              <a:rPr lang="en-US" sz="800" spc="27" kern="0" dirty="0">
                <a:solidFill>
                  <a:srgbClr val="004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&amp; Runtime</a:t>
            </a:r>
            <a:endParaRPr lang="en-US" sz="800" dirty="0"/>
          </a:p>
        </p:txBody>
      </p:sp>
      <p:sp>
        <p:nvSpPr>
          <p:cNvPr id="13" name="Text 9"/>
          <p:cNvSpPr/>
          <p:nvPr/>
        </p:nvSpPr>
        <p:spPr>
          <a:xfrm>
            <a:off x="6565106" y="2173039"/>
            <a:ext cx="19681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spc="44" kern="0" dirty="0">
                <a:solidFill>
                  <a:srgbClr val="FF6C0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800" dirty="0"/>
          </a:p>
        </p:txBody>
      </p:sp>
      <p:sp>
        <p:nvSpPr>
          <p:cNvPr id="14" name="Text 10"/>
          <p:cNvSpPr/>
          <p:nvPr/>
        </p:nvSpPr>
        <p:spPr>
          <a:xfrm>
            <a:off x="6788125" y="2194471"/>
            <a:ext cx="1100807" cy="2851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77"/>
              </a:lnSpc>
              <a:buNone/>
            </a:pPr>
            <a:r>
              <a:rPr lang="en-US" sz="800" spc="27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3D Visualization</a:t>
            </a:r>
            <a:endParaRPr lang="en-US" sz="800" dirty="0"/>
          </a:p>
          <a:p>
            <a:pPr algn="l" indent="0" marL="0">
              <a:lnSpc>
                <a:spcPts val="877"/>
              </a:lnSpc>
              <a:buNone/>
            </a:pPr>
            <a:r>
              <a:rPr lang="en-US" sz="800" spc="27" kern="0" dirty="0">
                <a:solidFill>
                  <a:srgbClr val="004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&amp; Rendering</a:t>
            </a:r>
            <a:endParaRPr lang="en-US" sz="800" dirty="0"/>
          </a:p>
        </p:txBody>
      </p:sp>
      <p:sp>
        <p:nvSpPr>
          <p:cNvPr id="15" name="Text 11"/>
          <p:cNvSpPr/>
          <p:nvPr/>
        </p:nvSpPr>
        <p:spPr>
          <a:xfrm>
            <a:off x="6565106" y="2588716"/>
            <a:ext cx="19681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spc="44" kern="0" dirty="0">
                <a:solidFill>
                  <a:srgbClr val="FF6C0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800" dirty="0"/>
          </a:p>
        </p:txBody>
      </p:sp>
      <p:sp>
        <p:nvSpPr>
          <p:cNvPr id="16" name="Text 12"/>
          <p:cNvSpPr/>
          <p:nvPr/>
        </p:nvSpPr>
        <p:spPr>
          <a:xfrm>
            <a:off x="6788125" y="2610148"/>
            <a:ext cx="1100807" cy="2851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77"/>
              </a:lnSpc>
              <a:buNone/>
            </a:pPr>
            <a:r>
              <a:rPr lang="en-US" sz="800" spc="27" kern="0" dirty="0">
                <a:solidFill>
                  <a:srgbClr val="004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Physics &amp; Simulation</a:t>
            </a:r>
            <a:endParaRPr lang="en-US" sz="800" dirty="0"/>
          </a:p>
          <a:p>
            <a:pPr algn="l" indent="0" marL="0">
              <a:lnSpc>
                <a:spcPts val="877"/>
              </a:lnSpc>
              <a:buNone/>
            </a:pPr>
            <a:r>
              <a:rPr lang="en-US" sz="800" spc="27" kern="0" dirty="0">
                <a:solidFill>
                  <a:srgbClr val="004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Solvers</a:t>
            </a:r>
            <a:endParaRPr lang="en-US" sz="800" dirty="0"/>
          </a:p>
        </p:txBody>
      </p:sp>
      <p:sp>
        <p:nvSpPr>
          <p:cNvPr id="17" name="Shape 13"/>
          <p:cNvSpPr/>
          <p:nvPr/>
        </p:nvSpPr>
        <p:spPr>
          <a:xfrm>
            <a:off x="514350" y="4647009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514350" y="4754166"/>
            <a:ext cx="5903863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19" name="Text 15"/>
          <p:cNvSpPr/>
          <p:nvPr/>
        </p:nvSpPr>
        <p:spPr>
          <a:xfrm>
            <a:off x="6432500" y="4750594"/>
            <a:ext cx="2306878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45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01 / 12 · DIGITAL TWIN ENGINEERING &amp; SIMULATION</a:t>
            </a:r>
            <a:endParaRPr lang="en-US" sz="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4350" y="460772"/>
            <a:ext cx="7093744" cy="118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7622381" y="457200"/>
            <a:ext cx="1279672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79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CHALLENGE · 02 / 12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14350" y="735806"/>
            <a:ext cx="8629650" cy="1618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24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TECHNICAL CHALLENGE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14350" y="925116"/>
            <a:ext cx="8486775" cy="5882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99"/>
              </a:lnSpc>
              <a:buNone/>
            </a:pPr>
            <a:r>
              <a:rPr lang="en-US" sz="1913" b="1" spc="-29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Where most digital twin engineering &amp; simulation programs fail.</a:t>
            </a:r>
            <a:endParaRPr lang="en-US" sz="1913" dirty="0"/>
          </a:p>
        </p:txBody>
      </p:sp>
      <p:sp>
        <p:nvSpPr>
          <p:cNvPr id="6" name="Text 4"/>
          <p:cNvSpPr/>
          <p:nvPr/>
        </p:nvSpPr>
        <p:spPr>
          <a:xfrm>
            <a:off x="514350" y="1540818"/>
            <a:ext cx="7000875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The gap between prototype and production is where engineering discipline matters most.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17922" y="1865858"/>
            <a:ext cx="4379677" cy="2346275"/>
          </a:xfrm>
          <a:prstGeom prst="roundRect">
            <a:avLst>
              <a:gd name="adj" fmla="val 4872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78656" y="1998018"/>
            <a:ext cx="3592525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24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COMMON FAILURE POINTS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4262252" y="2003375"/>
            <a:ext cx="49783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56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 ISSUES</a:t>
            </a:r>
            <a:endParaRPr lang="en-US" sz="600" dirty="0"/>
          </a:p>
        </p:txBody>
      </p:sp>
      <p:sp>
        <p:nvSpPr>
          <p:cNvPr id="10" name="Text 8"/>
          <p:cNvSpPr/>
          <p:nvPr/>
        </p:nvSpPr>
        <p:spPr>
          <a:xfrm>
            <a:off x="678656" y="2187327"/>
            <a:ext cx="4058208" cy="7144"/>
          </a:xfrm>
          <a:prstGeom prst="rect">
            <a:avLst/>
          </a:prstGeom>
          <a:solidFill>
            <a:srgbClr val="E2E8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682228" y="2269480"/>
            <a:ext cx="4051064" cy="392795"/>
          </a:xfrm>
          <a:prstGeom prst="roundRect">
            <a:avLst>
              <a:gd name="adj" fmla="val 29099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771525" y="2344489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FF6C0E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⚠</a:t>
            </a:r>
            <a:endParaRPr lang="en-US" sz="1406" dirty="0"/>
          </a:p>
        </p:txBody>
      </p:sp>
      <p:sp>
        <p:nvSpPr>
          <p:cNvPr id="13" name="Text 11"/>
          <p:cNvSpPr/>
          <p:nvPr/>
        </p:nvSpPr>
        <p:spPr>
          <a:xfrm>
            <a:off x="1000125" y="2344489"/>
            <a:ext cx="3492356" cy="1053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77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Prototype-grade architecture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1000125" y="2477319"/>
            <a:ext cx="3233663" cy="1099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6"/>
              </a:lnSpc>
              <a:buNone/>
            </a:pPr>
            <a:r>
              <a:rPr lang="en-US" sz="619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Solutions built for demos, not production load, latency, or reliability requirements.</a:t>
            </a:r>
            <a:endParaRPr lang="en-US" sz="619" dirty="0"/>
          </a:p>
        </p:txBody>
      </p:sp>
      <p:sp>
        <p:nvSpPr>
          <p:cNvPr id="15" name="Text 13"/>
          <p:cNvSpPr/>
          <p:nvPr/>
        </p:nvSpPr>
        <p:spPr>
          <a:xfrm>
            <a:off x="682228" y="2740856"/>
            <a:ext cx="4051064" cy="392795"/>
          </a:xfrm>
          <a:prstGeom prst="roundRect">
            <a:avLst>
              <a:gd name="adj" fmla="val 29099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771525" y="2815865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FF6C0E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406" dirty="0"/>
          </a:p>
        </p:txBody>
      </p:sp>
      <p:sp>
        <p:nvSpPr>
          <p:cNvPr id="17" name="Text 15"/>
          <p:cNvSpPr/>
          <p:nvPr/>
        </p:nvSpPr>
        <p:spPr>
          <a:xfrm>
            <a:off x="1000125" y="2815865"/>
            <a:ext cx="3334555" cy="1053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77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No observability or evaluation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1000125" y="2948694"/>
            <a:ext cx="3087551" cy="1099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6"/>
              </a:lnSpc>
              <a:buNone/>
            </a:pPr>
            <a:r>
              <a:rPr lang="en-US" sz="619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No metrics for accuracy, latency, cost, or drift — teams fly blind in production.</a:t>
            </a:r>
            <a:endParaRPr lang="en-US" sz="619" dirty="0"/>
          </a:p>
        </p:txBody>
      </p:sp>
      <p:sp>
        <p:nvSpPr>
          <p:cNvPr id="19" name="Text 17"/>
          <p:cNvSpPr/>
          <p:nvPr/>
        </p:nvSpPr>
        <p:spPr>
          <a:xfrm>
            <a:off x="682228" y="3212232"/>
            <a:ext cx="4051064" cy="392795"/>
          </a:xfrm>
          <a:prstGeom prst="roundRect">
            <a:avLst>
              <a:gd name="adj" fmla="val 29099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771525" y="3287241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FF6C0E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⛨</a:t>
            </a:r>
            <a:endParaRPr lang="en-US" sz="1406" dirty="0"/>
          </a:p>
        </p:txBody>
      </p:sp>
      <p:sp>
        <p:nvSpPr>
          <p:cNvPr id="21" name="Text 19"/>
          <p:cNvSpPr/>
          <p:nvPr/>
        </p:nvSpPr>
        <p:spPr>
          <a:xfrm>
            <a:off x="1000125" y="3287241"/>
            <a:ext cx="2905441" cy="10539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77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Security as afterthought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1000125" y="3420070"/>
            <a:ext cx="2767087" cy="1099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6"/>
              </a:lnSpc>
              <a:buNone/>
            </a:pPr>
            <a:r>
              <a:rPr lang="en-US" sz="619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No guardrails, no audit trails, no compliance — bolted on after launch.</a:t>
            </a:r>
            <a:endParaRPr lang="en-US" sz="619" dirty="0"/>
          </a:p>
        </p:txBody>
      </p:sp>
      <p:sp>
        <p:nvSpPr>
          <p:cNvPr id="23" name="Text 21"/>
          <p:cNvSpPr/>
          <p:nvPr/>
        </p:nvSpPr>
        <p:spPr>
          <a:xfrm>
            <a:off x="682228" y="3683608"/>
            <a:ext cx="4051064" cy="392795"/>
          </a:xfrm>
          <a:prstGeom prst="roundRect">
            <a:avLst>
              <a:gd name="adj" fmla="val 29099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771525" y="3758617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FF6C0E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↘</a:t>
            </a:r>
            <a:endParaRPr lang="en-US" sz="1406" dirty="0"/>
          </a:p>
        </p:txBody>
      </p:sp>
      <p:sp>
        <p:nvSpPr>
          <p:cNvPr id="25" name="Text 23"/>
          <p:cNvSpPr/>
          <p:nvPr/>
        </p:nvSpPr>
        <p:spPr>
          <a:xfrm>
            <a:off x="1000125" y="3758617"/>
            <a:ext cx="2768549" cy="10539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77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No operational maturity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1000125" y="3891446"/>
            <a:ext cx="2636713" cy="1099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6"/>
              </a:lnSpc>
              <a:buNone/>
            </a:pPr>
            <a:r>
              <a:rPr lang="en-US" sz="619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No CI/CD for models, no rollback, no A/B testing, no drift detection.</a:t>
            </a:r>
            <a:endParaRPr lang="en-US" sz="619" dirty="0"/>
          </a:p>
        </p:txBody>
      </p:sp>
      <p:sp>
        <p:nvSpPr>
          <p:cNvPr id="27" name="Text 25"/>
          <p:cNvSpPr/>
          <p:nvPr/>
        </p:nvSpPr>
        <p:spPr>
          <a:xfrm>
            <a:off x="5072621" y="1862286"/>
            <a:ext cx="3557029" cy="2353419"/>
          </a:xfrm>
          <a:prstGeom prst="roundRect">
            <a:avLst>
              <a:gd name="adj" fmla="val 4857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Shape 26"/>
          <p:cNvSpPr/>
          <p:nvPr/>
        </p:nvSpPr>
        <p:spPr>
          <a:xfrm>
            <a:off x="5072621" y="1865858"/>
            <a:ext cx="3557029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626078" y="1862286"/>
            <a:ext cx="0" cy="2353419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072621" y="4212134"/>
            <a:ext cx="3557029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083336" y="1862286"/>
            <a:ext cx="0" cy="2353419"/>
          </a:xfrm>
          <a:prstGeom prst="line">
            <a:avLst/>
          </a:prstGeom>
          <a:noFill/>
          <a:ln w="21431">
            <a:solidFill>
              <a:srgbClr val="004C9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265502" y="2031950"/>
            <a:ext cx="304267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24" kern="0" dirty="0">
                <a:solidFill>
                  <a:srgbClr val="D43F0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 APPROACH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8322469" y="2026593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⚒</a:t>
            </a:r>
            <a:endParaRPr lang="en-US" sz="1266" dirty="0"/>
          </a:p>
        </p:txBody>
      </p:sp>
      <p:sp>
        <p:nvSpPr>
          <p:cNvPr id="34" name="Text 32"/>
          <p:cNvSpPr/>
          <p:nvPr/>
        </p:nvSpPr>
        <p:spPr>
          <a:xfrm>
            <a:off x="5265502" y="2255193"/>
            <a:ext cx="3185554" cy="7144"/>
          </a:xfrm>
          <a:prstGeom prst="rect">
            <a:avLst/>
          </a:prstGeom>
          <a:solidFill>
            <a:srgbClr val="E2E8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5265502" y="2362349"/>
            <a:ext cx="3185554" cy="7324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243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We treat digital twin engineering &amp; simulation as an engineering discipline, not a science experiment. Every engagement starts with production requirements — latency, throughput, reliability, cost, compliance — and engineers backward from those constraints.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5265502" y="3152626"/>
            <a:ext cx="57150" cy="57150"/>
          </a:xfrm>
          <a:prstGeom prst="ellipse">
            <a:avLst/>
          </a:prstGeom>
          <a:solidFill>
            <a:srgbClr val="004C9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5379802" y="3122265"/>
            <a:ext cx="3071254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25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Production SLAs first · tools second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5265502" y="3327648"/>
            <a:ext cx="57150" cy="57150"/>
          </a:xfrm>
          <a:prstGeom prst="ellipse">
            <a:avLst/>
          </a:prstGeom>
          <a:solidFill>
            <a:srgbClr val="004C9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5379802" y="3297287"/>
            <a:ext cx="3071254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25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Observability &amp; security built into CI/CD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5265502" y="3502670"/>
            <a:ext cx="57150" cy="57150"/>
          </a:xfrm>
          <a:prstGeom prst="ellipse">
            <a:avLst/>
          </a:prstGeom>
          <a:solidFill>
            <a:srgbClr val="004C9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5379802" y="3472309"/>
            <a:ext cx="3071254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25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Real platforms — Omniverse, ADT, TwinMaker, iTwin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5265502" y="3915668"/>
            <a:ext cx="1997236" cy="128588"/>
          </a:xfrm>
          <a:prstGeom prst="roundRect">
            <a:avLst>
              <a:gd name="adj" fmla="val 29630"/>
            </a:avLst>
          </a:prstGeom>
          <a:solidFill>
            <a:srgbClr val="004C97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41"/>
          <p:cNvSpPr/>
          <p:nvPr/>
        </p:nvSpPr>
        <p:spPr>
          <a:xfrm>
            <a:off x="5265502" y="3915668"/>
            <a:ext cx="1997236" cy="135731"/>
          </a:xfrm>
          <a:prstGeom prst="rect">
            <a:avLst/>
          </a:prstGeom>
          <a:noFill/>
          <a:ln/>
        </p:spPr>
        <p:txBody>
          <a:bodyPr wrap="square" lIns="57150" tIns="21431" rIns="57150" bIns="21431" rtlCol="0" anchor="t"/>
          <a:lstStyle/>
          <a:p>
            <a:pPr algn="l" indent="0" marL="0">
              <a:lnSpc>
                <a:spcPts val="675"/>
              </a:lnSpc>
              <a:buNone/>
            </a:pPr>
            <a:r>
              <a:rPr lang="en-US" sz="600" spc="34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PRODUCTION-FIRST · ENGINEERING-GRADE</a:t>
            </a:r>
            <a:endParaRPr lang="en-US" sz="600" dirty="0"/>
          </a:p>
        </p:txBody>
      </p:sp>
      <p:sp>
        <p:nvSpPr>
          <p:cNvPr id="44" name="Shape 42"/>
          <p:cNvSpPr/>
          <p:nvPr/>
        </p:nvSpPr>
        <p:spPr>
          <a:xfrm>
            <a:off x="514350" y="4647009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14350" y="4754166"/>
            <a:ext cx="4002063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4530700" y="4750594"/>
            <a:ext cx="3602013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 / 12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8124125" y="4750594"/>
            <a:ext cx="528401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45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CHALLENGE</a:t>
            </a:r>
            <a:endParaRPr lang="en-US" sz="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4350" y="460772"/>
            <a:ext cx="6934684" cy="118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7463321" y="457200"/>
            <a:ext cx="1397772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79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CAPABILITIES · 03 / 12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14350" y="735806"/>
            <a:ext cx="8629650" cy="1618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24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CAPABILITIES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14350" y="925116"/>
            <a:ext cx="8486775" cy="3016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99"/>
              </a:lnSpc>
              <a:buNone/>
            </a:pPr>
            <a:r>
              <a:rPr lang="en-US" sz="1913" b="1" spc="-29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Four capability areas. One engineering system.</a:t>
            </a:r>
            <a:endParaRPr lang="en-US" sz="1913" dirty="0"/>
          </a:p>
        </p:txBody>
      </p:sp>
      <p:sp>
        <p:nvSpPr>
          <p:cNvPr id="6" name="Text 4"/>
          <p:cNvSpPr/>
          <p:nvPr/>
        </p:nvSpPr>
        <p:spPr>
          <a:xfrm>
            <a:off x="514350" y="1261542"/>
            <a:ext cx="7000875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Each capability area is a deep technical domain — not a generic service line.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14350" y="1611585"/>
            <a:ext cx="3993356" cy="114300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514350" y="1615157"/>
            <a:ext cx="3993356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04134" y="1611585"/>
            <a:ext cx="0" cy="114300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14350" y="2751013"/>
            <a:ext cx="3993356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25066" y="1611585"/>
            <a:ext cx="0" cy="1143000"/>
          </a:xfrm>
          <a:prstGeom prst="line">
            <a:avLst/>
          </a:prstGeom>
          <a:noFill/>
          <a:ln w="21431">
            <a:solidFill>
              <a:srgbClr val="004C9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92944" y="1761604"/>
            <a:ext cx="2000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969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969" dirty="0"/>
          </a:p>
        </p:txBody>
      </p:sp>
      <p:sp>
        <p:nvSpPr>
          <p:cNvPr id="13" name="Text 11"/>
          <p:cNvSpPr/>
          <p:nvPr/>
        </p:nvSpPr>
        <p:spPr>
          <a:xfrm>
            <a:off x="4186482" y="1786607"/>
            <a:ext cx="18134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788" spc="47" kern="0" dirty="0">
                <a:solidFill>
                  <a:srgbClr val="FF6C0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788" dirty="0"/>
          </a:p>
        </p:txBody>
      </p:sp>
      <p:sp>
        <p:nvSpPr>
          <p:cNvPr id="14" name="Text 12"/>
          <p:cNvSpPr/>
          <p:nvPr/>
        </p:nvSpPr>
        <p:spPr>
          <a:xfrm>
            <a:off x="692944" y="2033067"/>
            <a:ext cx="3650456" cy="203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85"/>
              </a:lnSpc>
              <a:buNone/>
            </a:pPr>
            <a:r>
              <a:rPr lang="en-US" sz="1238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Twin Platform &amp; Runtime</a:t>
            </a:r>
            <a:endParaRPr lang="en-US" sz="1238" dirty="0"/>
          </a:p>
        </p:txBody>
      </p:sp>
      <p:sp>
        <p:nvSpPr>
          <p:cNvPr id="15" name="Text 13"/>
          <p:cNvSpPr/>
          <p:nvPr/>
        </p:nvSpPr>
        <p:spPr>
          <a:xfrm>
            <a:off x="692944" y="2293032"/>
            <a:ext cx="36504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675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Deep technical engineering in twin platform &amp; runtime with real platforms and tools.</a:t>
            </a:r>
            <a:endParaRPr lang="en-US" sz="675" dirty="0"/>
          </a:p>
        </p:txBody>
      </p:sp>
      <p:sp>
        <p:nvSpPr>
          <p:cNvPr id="16" name="Text 14"/>
          <p:cNvSpPr/>
          <p:nvPr/>
        </p:nvSpPr>
        <p:spPr>
          <a:xfrm>
            <a:off x="4636294" y="1611585"/>
            <a:ext cx="3993356" cy="114300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4636294" y="1615157"/>
            <a:ext cx="3993356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626078" y="1611585"/>
            <a:ext cx="0" cy="114300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636294" y="2751013"/>
            <a:ext cx="3993356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647009" y="1611585"/>
            <a:ext cx="0" cy="1143000"/>
          </a:xfrm>
          <a:prstGeom prst="line">
            <a:avLst/>
          </a:prstGeom>
          <a:noFill/>
          <a:ln w="21431">
            <a:solidFill>
              <a:srgbClr val="004C9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14888" y="1761604"/>
            <a:ext cx="2000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969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◉</a:t>
            </a:r>
            <a:endParaRPr lang="en-US" sz="1969" dirty="0"/>
          </a:p>
        </p:txBody>
      </p:sp>
      <p:sp>
        <p:nvSpPr>
          <p:cNvPr id="22" name="Text 20"/>
          <p:cNvSpPr/>
          <p:nvPr/>
        </p:nvSpPr>
        <p:spPr>
          <a:xfrm>
            <a:off x="8308425" y="1786607"/>
            <a:ext cx="18134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788" spc="47" kern="0" dirty="0">
                <a:solidFill>
                  <a:srgbClr val="FF6C0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788" dirty="0"/>
          </a:p>
        </p:txBody>
      </p:sp>
      <p:sp>
        <p:nvSpPr>
          <p:cNvPr id="23" name="Text 21"/>
          <p:cNvSpPr/>
          <p:nvPr/>
        </p:nvSpPr>
        <p:spPr>
          <a:xfrm>
            <a:off x="4814888" y="2033067"/>
            <a:ext cx="3760184" cy="203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85"/>
              </a:lnSpc>
              <a:buNone/>
            </a:pPr>
            <a:r>
              <a:rPr lang="en-US" sz="1238" b="1" dirty="0">
                <a:solidFill>
                  <a:srgbClr val="0F172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3D Visualization &amp; Rendering</a:t>
            </a:r>
            <a:endParaRPr lang="en-US" sz="1238" dirty="0"/>
          </a:p>
        </p:txBody>
      </p:sp>
      <p:sp>
        <p:nvSpPr>
          <p:cNvPr id="24" name="Text 22"/>
          <p:cNvSpPr/>
          <p:nvPr/>
        </p:nvSpPr>
        <p:spPr>
          <a:xfrm>
            <a:off x="4814888" y="2293032"/>
            <a:ext cx="3650456" cy="3115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Deep technical engineering in 3D visualization &amp; rendering with real platforms and tools.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514350" y="2883173"/>
            <a:ext cx="3993356" cy="114300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Shape 24"/>
          <p:cNvSpPr/>
          <p:nvPr/>
        </p:nvSpPr>
        <p:spPr>
          <a:xfrm>
            <a:off x="514350" y="2886745"/>
            <a:ext cx="3993356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504134" y="2883173"/>
            <a:ext cx="0" cy="114300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14350" y="4022601"/>
            <a:ext cx="3993356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25066" y="2883173"/>
            <a:ext cx="0" cy="1143000"/>
          </a:xfrm>
          <a:prstGeom prst="line">
            <a:avLst/>
          </a:prstGeom>
          <a:noFill/>
          <a:ln w="21431">
            <a:solidFill>
              <a:srgbClr val="004C9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92944" y="3033192"/>
            <a:ext cx="2000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969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⚗</a:t>
            </a:r>
            <a:endParaRPr lang="en-US" sz="1969" dirty="0"/>
          </a:p>
        </p:txBody>
      </p:sp>
      <p:sp>
        <p:nvSpPr>
          <p:cNvPr id="31" name="Text 29"/>
          <p:cNvSpPr/>
          <p:nvPr/>
        </p:nvSpPr>
        <p:spPr>
          <a:xfrm>
            <a:off x="4186482" y="3058195"/>
            <a:ext cx="18134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788" spc="47" kern="0" dirty="0">
                <a:solidFill>
                  <a:srgbClr val="FF6C0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788" dirty="0"/>
          </a:p>
        </p:txBody>
      </p:sp>
      <p:sp>
        <p:nvSpPr>
          <p:cNvPr id="32" name="Text 30"/>
          <p:cNvSpPr/>
          <p:nvPr/>
        </p:nvSpPr>
        <p:spPr>
          <a:xfrm>
            <a:off x="692944" y="3304654"/>
            <a:ext cx="3760184" cy="203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85"/>
              </a:lnSpc>
              <a:buNone/>
            </a:pPr>
            <a:r>
              <a:rPr lang="en-US" sz="1238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Physics &amp; Simulation Solvers</a:t>
            </a:r>
            <a:endParaRPr lang="en-US" sz="1238" dirty="0"/>
          </a:p>
        </p:txBody>
      </p:sp>
      <p:sp>
        <p:nvSpPr>
          <p:cNvPr id="33" name="Text 31"/>
          <p:cNvSpPr/>
          <p:nvPr/>
        </p:nvSpPr>
        <p:spPr>
          <a:xfrm>
            <a:off x="692944" y="3564620"/>
            <a:ext cx="3650456" cy="3115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Deep technical engineering in physics &amp; simulation solvers with real platforms and tools.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4636294" y="2883173"/>
            <a:ext cx="3993356" cy="114300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Shape 33"/>
          <p:cNvSpPr/>
          <p:nvPr/>
        </p:nvSpPr>
        <p:spPr>
          <a:xfrm>
            <a:off x="4636294" y="2886745"/>
            <a:ext cx="3993356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626078" y="2883173"/>
            <a:ext cx="0" cy="114300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636294" y="4022601"/>
            <a:ext cx="3993356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647009" y="2883173"/>
            <a:ext cx="0" cy="1143000"/>
          </a:xfrm>
          <a:prstGeom prst="line">
            <a:avLst/>
          </a:prstGeom>
          <a:noFill/>
          <a:ln w="21431">
            <a:solidFill>
              <a:srgbClr val="004C9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814888" y="3033192"/>
            <a:ext cx="2000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969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969" dirty="0"/>
          </a:p>
        </p:txBody>
      </p:sp>
      <p:sp>
        <p:nvSpPr>
          <p:cNvPr id="40" name="Text 38"/>
          <p:cNvSpPr/>
          <p:nvPr/>
        </p:nvSpPr>
        <p:spPr>
          <a:xfrm>
            <a:off x="8308425" y="3058195"/>
            <a:ext cx="18134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788" spc="47" kern="0" dirty="0">
                <a:solidFill>
                  <a:srgbClr val="FF6C0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</a:t>
            </a:r>
            <a:endParaRPr lang="en-US" sz="788" dirty="0"/>
          </a:p>
        </p:txBody>
      </p:sp>
      <p:sp>
        <p:nvSpPr>
          <p:cNvPr id="41" name="Text 39"/>
          <p:cNvSpPr/>
          <p:nvPr/>
        </p:nvSpPr>
        <p:spPr>
          <a:xfrm>
            <a:off x="4814888" y="3304654"/>
            <a:ext cx="3760184" cy="203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85"/>
              </a:lnSpc>
              <a:buNone/>
            </a:pPr>
            <a:r>
              <a:rPr lang="en-US" sz="1238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Live Data &amp; IoT Integration</a:t>
            </a:r>
            <a:endParaRPr lang="en-US" sz="1238" dirty="0"/>
          </a:p>
        </p:txBody>
      </p:sp>
      <p:sp>
        <p:nvSpPr>
          <p:cNvPr id="42" name="Text 40"/>
          <p:cNvSpPr/>
          <p:nvPr/>
        </p:nvSpPr>
        <p:spPr>
          <a:xfrm>
            <a:off x="4814888" y="3564620"/>
            <a:ext cx="3650456" cy="3115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Deep technical engineering in live data &amp; IoT integration with real platforms and tools.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514350" y="4647009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14350" y="4754166"/>
            <a:ext cx="3972930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4501567" y="4750594"/>
            <a:ext cx="3572880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 / 12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8011370" y="4750594"/>
            <a:ext cx="695645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45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CAPABILITIES</a:t>
            </a:r>
            <a:endParaRPr lang="en-US" sz="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4350" y="460772"/>
            <a:ext cx="6881775" cy="118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7410413" y="457200"/>
            <a:ext cx="146118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79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CAPABILITY 01 · 04 / 12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14350" y="735806"/>
            <a:ext cx="8629650" cy="1618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24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CAPABILITY 01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14350" y="925116"/>
            <a:ext cx="8521065" cy="3016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99"/>
              </a:lnSpc>
              <a:buNone/>
            </a:pPr>
            <a:r>
              <a:rPr lang="en-US" sz="1913" b="1" spc="-29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Twin Platform &amp; Runtime.</a:t>
            </a:r>
            <a:endParaRPr lang="en-US" sz="1913" dirty="0"/>
          </a:p>
        </p:txBody>
      </p:sp>
      <p:sp>
        <p:nvSpPr>
          <p:cNvPr id="6" name="Text 4"/>
          <p:cNvSpPr/>
          <p:nvPr/>
        </p:nvSpPr>
        <p:spPr>
          <a:xfrm>
            <a:off x="514350" y="1261542"/>
            <a:ext cx="81153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Deep technical engineering with real platforms, tools, and frameworks.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14350" y="1583010"/>
            <a:ext cx="4388941" cy="2925031"/>
          </a:xfrm>
          <a:prstGeom prst="roundRect">
            <a:avLst>
              <a:gd name="adj" fmla="val 3908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514350" y="1586582"/>
            <a:ext cx="4388941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899720" y="1583010"/>
            <a:ext cx="0" cy="2925031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14350" y="4504469"/>
            <a:ext cx="4388941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25066" y="1583010"/>
            <a:ext cx="0" cy="2925031"/>
          </a:xfrm>
          <a:prstGeom prst="line">
            <a:avLst/>
          </a:prstGeom>
          <a:noFill/>
          <a:ln w="21431">
            <a:solidFill>
              <a:srgbClr val="004C9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21519" y="1759818"/>
            <a:ext cx="383172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24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ENGINEERING APPROACH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567535" y="1747317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406" dirty="0"/>
          </a:p>
        </p:txBody>
      </p:sp>
      <p:sp>
        <p:nvSpPr>
          <p:cNvPr id="14" name="Text 12"/>
          <p:cNvSpPr/>
          <p:nvPr/>
        </p:nvSpPr>
        <p:spPr>
          <a:xfrm>
            <a:off x="721519" y="1990204"/>
            <a:ext cx="3988891" cy="7144"/>
          </a:xfrm>
          <a:prstGeom prst="rect">
            <a:avLst/>
          </a:prstGeom>
          <a:solidFill>
            <a:srgbClr val="E2E8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721519" y="2097360"/>
            <a:ext cx="3988891" cy="7459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3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Our twin platform &amp; runtime capability goes beyond surface-level integration. We engineer at the protocol, configuration, and architecture level — working with real platforms and tools, not abstract concepts. Every sub-service below carries specific tool names, configuration patterns, and engineering decisions.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721519" y="2880494"/>
            <a:ext cx="10001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84" dirty="0">
                <a:solidFill>
                  <a:srgbClr val="FF6C0E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▶</a:t>
            </a:r>
            <a:endParaRPr lang="en-US" sz="984" dirty="0"/>
          </a:p>
        </p:txBody>
      </p:sp>
      <p:sp>
        <p:nvSpPr>
          <p:cNvPr id="17" name="Text 15"/>
          <p:cNvSpPr/>
          <p:nvPr/>
        </p:nvSpPr>
        <p:spPr>
          <a:xfrm>
            <a:off x="892969" y="2871564"/>
            <a:ext cx="3817441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Protocol-level integration — USD, OPC UA, MQTT, gRPC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721519" y="3055516"/>
            <a:ext cx="10001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84" dirty="0">
                <a:solidFill>
                  <a:srgbClr val="FF6C0E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▶</a:t>
            </a:r>
            <a:endParaRPr lang="en-US" sz="984" dirty="0"/>
          </a:p>
        </p:txBody>
      </p:sp>
      <p:sp>
        <p:nvSpPr>
          <p:cNvPr id="19" name="Text 17"/>
          <p:cNvSpPr/>
          <p:nvPr/>
        </p:nvSpPr>
        <p:spPr>
          <a:xfrm>
            <a:off x="892969" y="3046586"/>
            <a:ext cx="3817441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Configuration-as-code — Nucleus, ADT models, TwinMaker workspaces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721519" y="3230538"/>
            <a:ext cx="10001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84" dirty="0">
                <a:solidFill>
                  <a:srgbClr val="FF6C0E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▶</a:t>
            </a:r>
            <a:endParaRPr lang="en-US" sz="984" dirty="0"/>
          </a:p>
        </p:txBody>
      </p:sp>
      <p:sp>
        <p:nvSpPr>
          <p:cNvPr id="21" name="Text 19"/>
          <p:cNvSpPr/>
          <p:nvPr/>
        </p:nvSpPr>
        <p:spPr>
          <a:xfrm>
            <a:off x="892969" y="3221608"/>
            <a:ext cx="3817441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619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Architecture-level decisions — sync vs async, graph vs scene, edge vs cloud</a:t>
            </a:r>
            <a:endParaRPr lang="en-US" sz="619" dirty="0"/>
          </a:p>
        </p:txBody>
      </p:sp>
      <p:sp>
        <p:nvSpPr>
          <p:cNvPr id="22" name="Text 20"/>
          <p:cNvSpPr/>
          <p:nvPr/>
        </p:nvSpPr>
        <p:spPr>
          <a:xfrm>
            <a:off x="698659" y="4207432"/>
            <a:ext cx="978872" cy="144018"/>
          </a:xfrm>
          <a:prstGeom prst="roundRect">
            <a:avLst>
              <a:gd name="adj" fmla="val 26455"/>
            </a:avLst>
          </a:prstGeom>
          <a:solidFill>
            <a:srgbClr val="004C97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721519" y="4215147"/>
            <a:ext cx="933152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675"/>
              </a:lnSpc>
              <a:buNone/>
            </a:pPr>
            <a:r>
              <a:rPr lang="en-US" sz="800" spc="34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CAPABILITY 1 OF 4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4008202" y="4225863"/>
            <a:ext cx="702208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56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5 SUB-SERVICES</a:t>
            </a:r>
            <a:endParaRPr lang="en-US" sz="600" dirty="0"/>
          </a:p>
        </p:txBody>
      </p:sp>
      <p:sp>
        <p:nvSpPr>
          <p:cNvPr id="25" name="Text 23"/>
          <p:cNvSpPr/>
          <p:nvPr/>
        </p:nvSpPr>
        <p:spPr>
          <a:xfrm>
            <a:off x="5078313" y="1586582"/>
            <a:ext cx="3547765" cy="2917887"/>
          </a:xfrm>
          <a:prstGeom prst="roundRect">
            <a:avLst>
              <a:gd name="adj" fmla="val 3917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5224760" y="1718742"/>
            <a:ext cx="2889424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24" kern="0" dirty="0">
                <a:solidFill>
                  <a:srgbClr val="4C81B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SUB-SERVICES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128471" y="1724099"/>
            <a:ext cx="35116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56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 — 05</a:t>
            </a:r>
            <a:endParaRPr lang="en-US" sz="600" dirty="0"/>
          </a:p>
        </p:txBody>
      </p:sp>
      <p:sp>
        <p:nvSpPr>
          <p:cNvPr id="28" name="Text 26"/>
          <p:cNvSpPr/>
          <p:nvPr/>
        </p:nvSpPr>
        <p:spPr>
          <a:xfrm>
            <a:off x="5224760" y="1893763"/>
            <a:ext cx="3254871" cy="7144"/>
          </a:xfrm>
          <a:prstGeom prst="rect">
            <a:avLst/>
          </a:prstGeom>
          <a:solidFill>
            <a:srgbClr val="E2E8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Shape 27"/>
          <p:cNvSpPr/>
          <p:nvPr/>
        </p:nvSpPr>
        <p:spPr>
          <a:xfrm>
            <a:off x="5224760" y="2393045"/>
            <a:ext cx="3254871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267623" y="2015207"/>
            <a:ext cx="20574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5467648" y="2015207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◉</a:t>
            </a:r>
            <a:endParaRPr lang="en-US" sz="1266" dirty="0"/>
          </a:p>
        </p:txBody>
      </p:sp>
      <p:sp>
        <p:nvSpPr>
          <p:cNvPr id="32" name="Text 30"/>
          <p:cNvSpPr/>
          <p:nvPr/>
        </p:nvSpPr>
        <p:spPr>
          <a:xfrm>
            <a:off x="5667673" y="2015207"/>
            <a:ext cx="287882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NVIDIA Omniverse Enterprise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5667673" y="2132298"/>
            <a:ext cx="276909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NVIDIA Omniverse Nucleus + Kit SDK — USD (Universal Scene Description), MDL materials, OpenUSD-based collaboration.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5224760" y="2888754"/>
            <a:ext cx="3254871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267623" y="2510917"/>
            <a:ext cx="20574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5467648" y="2510917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◉</a:t>
            </a:r>
            <a:endParaRPr lang="en-US" sz="1266" dirty="0"/>
          </a:p>
        </p:txBody>
      </p:sp>
      <p:sp>
        <p:nvSpPr>
          <p:cNvPr id="37" name="Text 35"/>
          <p:cNvSpPr/>
          <p:nvPr/>
        </p:nvSpPr>
        <p:spPr>
          <a:xfrm>
            <a:off x="5667673" y="2510917"/>
            <a:ext cx="2769096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Azure Digital Twins Graph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5667673" y="2628007"/>
            <a:ext cx="276909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Azure Digital Twins (ADT) — twin graph (models / instances / relationships), routes to Event Grid / Time Series Insights.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5224760" y="3384463"/>
            <a:ext cx="3254871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267623" y="3006626"/>
            <a:ext cx="20574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5467648" y="3006626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◉</a:t>
            </a:r>
            <a:endParaRPr lang="en-US" sz="1266" dirty="0"/>
          </a:p>
        </p:txBody>
      </p:sp>
      <p:sp>
        <p:nvSpPr>
          <p:cNvPr id="42" name="Text 40"/>
          <p:cNvSpPr/>
          <p:nvPr/>
        </p:nvSpPr>
        <p:spPr>
          <a:xfrm>
            <a:off x="5667673" y="3006626"/>
            <a:ext cx="2769096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AWS IoT TwinMaker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5667673" y="3123716"/>
            <a:ext cx="276909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AWS IoT TwinMaker — workspace / scene / entity model, connectors to SiteWise / Kinesis Video / Timestream.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5224760" y="3880172"/>
            <a:ext cx="3254871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267623" y="3502335"/>
            <a:ext cx="20574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5467648" y="3502335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◉</a:t>
            </a:r>
            <a:endParaRPr lang="en-US" sz="1266" dirty="0"/>
          </a:p>
        </p:txBody>
      </p:sp>
      <p:sp>
        <p:nvSpPr>
          <p:cNvPr id="47" name="Text 45"/>
          <p:cNvSpPr/>
          <p:nvPr/>
        </p:nvSpPr>
        <p:spPr>
          <a:xfrm>
            <a:off x="5667673" y="3502335"/>
            <a:ext cx="287882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Siemens Xcelerator Platform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5667673" y="3619426"/>
            <a:ext cx="276909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Siemens Xcelerator — MindSphere / Insights Hub, Plant Simulation, Simcenter, Tecnomatix, NX.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5267623" y="3998044"/>
            <a:ext cx="20574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05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5467648" y="3998044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◉</a:t>
            </a:r>
            <a:endParaRPr lang="en-US" sz="1266" dirty="0"/>
          </a:p>
        </p:txBody>
      </p:sp>
      <p:sp>
        <p:nvSpPr>
          <p:cNvPr id="51" name="Text 49"/>
          <p:cNvSpPr/>
          <p:nvPr/>
        </p:nvSpPr>
        <p:spPr>
          <a:xfrm>
            <a:off x="5667673" y="3998044"/>
            <a:ext cx="2811959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Bentley iTwin Platform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5667673" y="4115135"/>
            <a:ext cx="2769096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Bentley iTwin — iModel.js SDK, SQLite-based local cache, changeset merge (no full re-sync).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514350" y="4647009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14350" y="4754166"/>
            <a:ext cx="3667869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4196507" y="4750594"/>
            <a:ext cx="3267819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 / 12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7478613" y="4750594"/>
            <a:ext cx="1151037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45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TWIN PLATFORM &amp; RUNTIME</a:t>
            </a:r>
            <a:endParaRPr lang="en-US" sz="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4350" y="460772"/>
            <a:ext cx="6881775" cy="118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7410413" y="457200"/>
            <a:ext cx="146118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79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CAPABILITY 02 · 05 / 12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14350" y="735806"/>
            <a:ext cx="8629650" cy="1618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24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CAPABILITY 02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14350" y="925116"/>
            <a:ext cx="8629650" cy="3016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99"/>
              </a:lnSpc>
              <a:buNone/>
            </a:pPr>
            <a:r>
              <a:rPr lang="en-US" sz="1913" b="1" spc="-29" kern="0" dirty="0">
                <a:solidFill>
                  <a:srgbClr val="0F172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3D Visualization &amp; Rendering.</a:t>
            </a:r>
            <a:endParaRPr lang="en-US" sz="1913" dirty="0"/>
          </a:p>
        </p:txBody>
      </p:sp>
      <p:sp>
        <p:nvSpPr>
          <p:cNvPr id="6" name="Text 4"/>
          <p:cNvSpPr/>
          <p:nvPr/>
        </p:nvSpPr>
        <p:spPr>
          <a:xfrm>
            <a:off x="514350" y="1261542"/>
            <a:ext cx="81153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Deep technical engineering with real platforms, tools, and frameworks.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14350" y="1583010"/>
            <a:ext cx="4388941" cy="2925031"/>
          </a:xfrm>
          <a:prstGeom prst="roundRect">
            <a:avLst>
              <a:gd name="adj" fmla="val 3908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514350" y="1586582"/>
            <a:ext cx="4388941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899720" y="1583010"/>
            <a:ext cx="0" cy="2925031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14350" y="4504469"/>
            <a:ext cx="4388941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25066" y="1583010"/>
            <a:ext cx="0" cy="2925031"/>
          </a:xfrm>
          <a:prstGeom prst="line">
            <a:avLst/>
          </a:prstGeom>
          <a:noFill/>
          <a:ln w="21431">
            <a:solidFill>
              <a:srgbClr val="004C9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21519" y="1759818"/>
            <a:ext cx="383172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24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ENGINEERING APPROACH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567535" y="1747317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◉</a:t>
            </a:r>
            <a:endParaRPr lang="en-US" sz="1406" dirty="0"/>
          </a:p>
        </p:txBody>
      </p:sp>
      <p:sp>
        <p:nvSpPr>
          <p:cNvPr id="14" name="Text 12"/>
          <p:cNvSpPr/>
          <p:nvPr/>
        </p:nvSpPr>
        <p:spPr>
          <a:xfrm>
            <a:off x="721519" y="1990204"/>
            <a:ext cx="3988891" cy="7144"/>
          </a:xfrm>
          <a:prstGeom prst="rect">
            <a:avLst/>
          </a:prstGeom>
          <a:solidFill>
            <a:srgbClr val="E2E8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721519" y="2097360"/>
            <a:ext cx="3988891" cy="7459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3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Our 3D visualization &amp; rendering capability goes beyond surface-level integration. We engineer at the protocol, configuration, and architecture level — working with real platforms and tools, not abstract concepts. Every sub-service below carries specific tool names, configuration patterns, and engineering decisions.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721519" y="2880494"/>
            <a:ext cx="10001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84" dirty="0">
                <a:solidFill>
                  <a:srgbClr val="FF6C0E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▶</a:t>
            </a:r>
            <a:endParaRPr lang="en-US" sz="984" dirty="0"/>
          </a:p>
        </p:txBody>
      </p:sp>
      <p:sp>
        <p:nvSpPr>
          <p:cNvPr id="17" name="Text 15"/>
          <p:cNvSpPr/>
          <p:nvPr/>
        </p:nvSpPr>
        <p:spPr>
          <a:xfrm>
            <a:off x="892969" y="2871564"/>
            <a:ext cx="3817441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Native SDK engineering — Unity Cloud, UE5 plugins, iModel.js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721519" y="3055516"/>
            <a:ext cx="10001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84" dirty="0">
                <a:solidFill>
                  <a:srgbClr val="FF6C0E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▶</a:t>
            </a:r>
            <a:endParaRPr lang="en-US" sz="984" dirty="0"/>
          </a:p>
        </p:txBody>
      </p:sp>
      <p:sp>
        <p:nvSpPr>
          <p:cNvPr id="19" name="Text 17"/>
          <p:cNvSpPr/>
          <p:nvPr/>
        </p:nvSpPr>
        <p:spPr>
          <a:xfrm>
            <a:off x="892969" y="3046586"/>
            <a:ext cx="3817441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Shader &amp; material pipelines — PBR, MDL, WebGPU, Node Material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721519" y="3230538"/>
            <a:ext cx="10001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84" dirty="0">
                <a:solidFill>
                  <a:srgbClr val="FF6C0E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▶</a:t>
            </a:r>
            <a:endParaRPr lang="en-US" sz="984" dirty="0"/>
          </a:p>
        </p:txBody>
      </p:sp>
      <p:sp>
        <p:nvSpPr>
          <p:cNvPr id="21" name="Text 19"/>
          <p:cNvSpPr/>
          <p:nvPr/>
        </p:nvSpPr>
        <p:spPr>
          <a:xfrm>
            <a:off x="892969" y="3221608"/>
            <a:ext cx="3817441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Scale decisions — Nanite / Lumen vs browser WebGL vs cloud streaming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698659" y="4207432"/>
            <a:ext cx="978872" cy="144018"/>
          </a:xfrm>
          <a:prstGeom prst="roundRect">
            <a:avLst>
              <a:gd name="adj" fmla="val 26455"/>
            </a:avLst>
          </a:prstGeom>
          <a:solidFill>
            <a:srgbClr val="004C97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721519" y="4215147"/>
            <a:ext cx="933152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675"/>
              </a:lnSpc>
              <a:buNone/>
            </a:pPr>
            <a:r>
              <a:rPr lang="en-US" sz="800" spc="34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CAPABILITY 2 OF 4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4008202" y="4225863"/>
            <a:ext cx="702208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56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5 SUB-SERVICES</a:t>
            </a:r>
            <a:endParaRPr lang="en-US" sz="600" dirty="0"/>
          </a:p>
        </p:txBody>
      </p:sp>
      <p:sp>
        <p:nvSpPr>
          <p:cNvPr id="25" name="Text 23"/>
          <p:cNvSpPr/>
          <p:nvPr/>
        </p:nvSpPr>
        <p:spPr>
          <a:xfrm>
            <a:off x="5078313" y="1586582"/>
            <a:ext cx="3547765" cy="2917887"/>
          </a:xfrm>
          <a:prstGeom prst="roundRect">
            <a:avLst>
              <a:gd name="adj" fmla="val 3917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5224760" y="1718742"/>
            <a:ext cx="2889424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24" kern="0" dirty="0">
                <a:solidFill>
                  <a:srgbClr val="4C81B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SUB-SERVICES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128471" y="1724099"/>
            <a:ext cx="35116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56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 — 05</a:t>
            </a:r>
            <a:endParaRPr lang="en-US" sz="600" dirty="0"/>
          </a:p>
        </p:txBody>
      </p:sp>
      <p:sp>
        <p:nvSpPr>
          <p:cNvPr id="28" name="Text 26"/>
          <p:cNvSpPr/>
          <p:nvPr/>
        </p:nvSpPr>
        <p:spPr>
          <a:xfrm>
            <a:off x="5224760" y="1893763"/>
            <a:ext cx="3254871" cy="7144"/>
          </a:xfrm>
          <a:prstGeom prst="rect">
            <a:avLst/>
          </a:prstGeom>
          <a:solidFill>
            <a:srgbClr val="E2E8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Shape 27"/>
          <p:cNvSpPr/>
          <p:nvPr/>
        </p:nvSpPr>
        <p:spPr>
          <a:xfrm>
            <a:off x="5224760" y="2393045"/>
            <a:ext cx="3254871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267623" y="2015207"/>
            <a:ext cx="20574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5467648" y="2015207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◉</a:t>
            </a:r>
            <a:endParaRPr lang="en-US" sz="1266" dirty="0"/>
          </a:p>
        </p:txBody>
      </p:sp>
      <p:sp>
        <p:nvSpPr>
          <p:cNvPr id="32" name="Text 30"/>
          <p:cNvSpPr/>
          <p:nvPr/>
        </p:nvSpPr>
        <p:spPr>
          <a:xfrm>
            <a:off x="5667673" y="2015207"/>
            <a:ext cx="2769096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Unity Industrial Twin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5667673" y="2132298"/>
            <a:ext cx="276909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Unity Industrial — Unity Cloud, Pixyz (CAD prep), Unity Simulation for digital twin visualization at scale.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5224760" y="2888754"/>
            <a:ext cx="3254871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267623" y="2510917"/>
            <a:ext cx="20574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5467648" y="2510917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◉</a:t>
            </a:r>
            <a:endParaRPr lang="en-US" sz="1266" dirty="0"/>
          </a:p>
        </p:txBody>
      </p:sp>
      <p:sp>
        <p:nvSpPr>
          <p:cNvPr id="37" name="Text 35"/>
          <p:cNvSpPr/>
          <p:nvPr/>
        </p:nvSpPr>
        <p:spPr>
          <a:xfrm>
            <a:off x="5667673" y="2510917"/>
            <a:ext cx="287882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Unreal Engine Twin Synthesis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5667673" y="2628007"/>
            <a:ext cx="276909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Epic Games Unreal Engine — Niagara VFX, MetaHuman, Nanite / Lumen, custom Digital Twin via UE5 plugins.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5224760" y="3384463"/>
            <a:ext cx="3254871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267623" y="3006626"/>
            <a:ext cx="20574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5467648" y="3006626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◉</a:t>
            </a:r>
            <a:endParaRPr lang="en-US" sz="1266" dirty="0"/>
          </a:p>
        </p:txBody>
      </p:sp>
      <p:sp>
        <p:nvSpPr>
          <p:cNvPr id="42" name="Text 40"/>
          <p:cNvSpPr/>
          <p:nvPr/>
        </p:nvSpPr>
        <p:spPr>
          <a:xfrm>
            <a:off x="5667673" y="3006626"/>
            <a:ext cx="2769096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Cesium 3D Geospatial Twin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5667673" y="3123716"/>
            <a:ext cx="276909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Cesium (CesiumJS / Cesium ion) — 3D Tiles, OGC API, geospatial digital twin for smart cities / utilities.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5224760" y="3880172"/>
            <a:ext cx="3254871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267623" y="3502335"/>
            <a:ext cx="20574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5467648" y="3502335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◉</a:t>
            </a:r>
            <a:endParaRPr lang="en-US" sz="1266" dirty="0"/>
          </a:p>
        </p:txBody>
      </p:sp>
      <p:sp>
        <p:nvSpPr>
          <p:cNvPr id="47" name="Text 45"/>
          <p:cNvSpPr/>
          <p:nvPr/>
        </p:nvSpPr>
        <p:spPr>
          <a:xfrm>
            <a:off x="5667673" y="3502335"/>
            <a:ext cx="2769096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Three.js WebGL Viewer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5667673" y="3619426"/>
            <a:ext cx="276909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Three.js (JavaScript) — glTF rendering, custom shader materials, lightweight browser-based twin viewer.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5267623" y="3998044"/>
            <a:ext cx="20574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05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5467648" y="3998044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◉</a:t>
            </a:r>
            <a:endParaRPr lang="en-US" sz="1266" dirty="0"/>
          </a:p>
        </p:txBody>
      </p:sp>
      <p:sp>
        <p:nvSpPr>
          <p:cNvPr id="51" name="Text 49"/>
          <p:cNvSpPr/>
          <p:nvPr/>
        </p:nvSpPr>
        <p:spPr>
          <a:xfrm>
            <a:off x="5667673" y="3998044"/>
            <a:ext cx="2921687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Babylon.js Web-Based Twin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5667673" y="4115135"/>
            <a:ext cx="2769096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Babylon.js (Microsoft) — PBR materials, WebGPU support, Node Material Editor for visual shaders.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514350" y="4647009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14350" y="4754166"/>
            <a:ext cx="3565289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4093927" y="4750594"/>
            <a:ext cx="3165239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05 / 12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7273454" y="4750594"/>
            <a:ext cx="1437568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4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3D VISUALIZATION &amp; RENDERING</a:t>
            </a:r>
            <a:endParaRPr lang="en-US" sz="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4350" y="460772"/>
            <a:ext cx="6881775" cy="118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7410413" y="457200"/>
            <a:ext cx="146118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79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CAPABILITY 03 · 06 / 12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14350" y="735806"/>
            <a:ext cx="8629650" cy="1618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24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CAPABILITY 03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14350" y="925116"/>
            <a:ext cx="8629650" cy="3016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99"/>
              </a:lnSpc>
              <a:buNone/>
            </a:pPr>
            <a:r>
              <a:rPr lang="en-US" sz="1913" b="1" spc="-29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Physics &amp; Simulation Solvers.</a:t>
            </a:r>
            <a:endParaRPr lang="en-US" sz="1913" dirty="0"/>
          </a:p>
        </p:txBody>
      </p:sp>
      <p:sp>
        <p:nvSpPr>
          <p:cNvPr id="6" name="Text 4"/>
          <p:cNvSpPr/>
          <p:nvPr/>
        </p:nvSpPr>
        <p:spPr>
          <a:xfrm>
            <a:off x="514350" y="1261542"/>
            <a:ext cx="81153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Deep technical engineering with real platforms, tools, and frameworks.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14350" y="1583010"/>
            <a:ext cx="4388941" cy="2925031"/>
          </a:xfrm>
          <a:prstGeom prst="roundRect">
            <a:avLst>
              <a:gd name="adj" fmla="val 3908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514350" y="1586582"/>
            <a:ext cx="4388941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899720" y="1583010"/>
            <a:ext cx="0" cy="2925031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14350" y="4504469"/>
            <a:ext cx="4388941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25066" y="1583010"/>
            <a:ext cx="0" cy="2925031"/>
          </a:xfrm>
          <a:prstGeom prst="line">
            <a:avLst/>
          </a:prstGeom>
          <a:noFill/>
          <a:ln w="21431">
            <a:solidFill>
              <a:srgbClr val="004C9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21519" y="1759818"/>
            <a:ext cx="383172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24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ENGINEERING APPROACH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567535" y="1747317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⚗</a:t>
            </a:r>
            <a:endParaRPr lang="en-US" sz="1406" dirty="0"/>
          </a:p>
        </p:txBody>
      </p:sp>
      <p:sp>
        <p:nvSpPr>
          <p:cNvPr id="14" name="Text 12"/>
          <p:cNvSpPr/>
          <p:nvPr/>
        </p:nvSpPr>
        <p:spPr>
          <a:xfrm>
            <a:off x="721519" y="1990204"/>
            <a:ext cx="3988891" cy="7144"/>
          </a:xfrm>
          <a:prstGeom prst="rect">
            <a:avLst/>
          </a:prstGeom>
          <a:solidFill>
            <a:srgbClr val="E2E8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721519" y="2097360"/>
            <a:ext cx="3988891" cy="7459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3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Our physics &amp; simulation solvers capability goes beyond surface-level integration. We engineer at the protocol, configuration, and architecture level — working with real platforms and tools, not abstract concepts. Every sub-service below carries specific tool names, configuration patterns, and engineering decisions.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721519" y="2880494"/>
            <a:ext cx="10001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84" dirty="0">
                <a:solidFill>
                  <a:srgbClr val="FF6C0E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▶</a:t>
            </a:r>
            <a:endParaRPr lang="en-US" sz="984" dirty="0"/>
          </a:p>
        </p:txBody>
      </p:sp>
      <p:sp>
        <p:nvSpPr>
          <p:cNvPr id="17" name="Text 15"/>
          <p:cNvSpPr/>
          <p:nvPr/>
        </p:nvSpPr>
        <p:spPr>
          <a:xfrm>
            <a:off x="892969" y="2871564"/>
            <a:ext cx="3817441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Solver selection — ROM vs full CFD, FEA vs Modelica co-sim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721519" y="3055516"/>
            <a:ext cx="10001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84" dirty="0">
                <a:solidFill>
                  <a:srgbClr val="FF6C0E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▶</a:t>
            </a:r>
            <a:endParaRPr lang="en-US" sz="984" dirty="0"/>
          </a:p>
        </p:txBody>
      </p:sp>
      <p:sp>
        <p:nvSpPr>
          <p:cNvPr id="19" name="Text 17"/>
          <p:cNvSpPr/>
          <p:nvPr/>
        </p:nvSpPr>
        <p:spPr>
          <a:xfrm>
            <a:off x="892969" y="3046586"/>
            <a:ext cx="3817441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FMU / FMI 2.0 coupling — Twin Builder, Simcenter, COMSOL exports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721519" y="3230538"/>
            <a:ext cx="10001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84" dirty="0">
                <a:solidFill>
                  <a:srgbClr val="FF6C0E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▶</a:t>
            </a:r>
            <a:endParaRPr lang="en-US" sz="984" dirty="0"/>
          </a:p>
        </p:txBody>
      </p:sp>
      <p:sp>
        <p:nvSpPr>
          <p:cNvPr id="21" name="Text 19"/>
          <p:cNvSpPr/>
          <p:nvPr/>
        </p:nvSpPr>
        <p:spPr>
          <a:xfrm>
            <a:off x="892969" y="3221608"/>
            <a:ext cx="3817441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619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Validation engineering — mesh convergence, code-to-code, IEC 61400 loads</a:t>
            </a:r>
            <a:endParaRPr lang="en-US" sz="619" dirty="0"/>
          </a:p>
        </p:txBody>
      </p:sp>
      <p:sp>
        <p:nvSpPr>
          <p:cNvPr id="22" name="Text 20"/>
          <p:cNvSpPr/>
          <p:nvPr/>
        </p:nvSpPr>
        <p:spPr>
          <a:xfrm>
            <a:off x="698659" y="4207432"/>
            <a:ext cx="978872" cy="144018"/>
          </a:xfrm>
          <a:prstGeom prst="roundRect">
            <a:avLst>
              <a:gd name="adj" fmla="val 26455"/>
            </a:avLst>
          </a:prstGeom>
          <a:solidFill>
            <a:srgbClr val="004C97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721519" y="4215147"/>
            <a:ext cx="933152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675"/>
              </a:lnSpc>
              <a:buNone/>
            </a:pPr>
            <a:r>
              <a:rPr lang="en-US" sz="800" spc="34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CAPABILITY 3 OF 4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4008202" y="4225863"/>
            <a:ext cx="702208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56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5 SUB-SERVICES</a:t>
            </a:r>
            <a:endParaRPr lang="en-US" sz="600" dirty="0"/>
          </a:p>
        </p:txBody>
      </p:sp>
      <p:sp>
        <p:nvSpPr>
          <p:cNvPr id="25" name="Text 23"/>
          <p:cNvSpPr/>
          <p:nvPr/>
        </p:nvSpPr>
        <p:spPr>
          <a:xfrm>
            <a:off x="5078313" y="1586582"/>
            <a:ext cx="3547765" cy="2917887"/>
          </a:xfrm>
          <a:prstGeom prst="roundRect">
            <a:avLst>
              <a:gd name="adj" fmla="val 3917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5224760" y="1718742"/>
            <a:ext cx="2889424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24" kern="0" dirty="0">
                <a:solidFill>
                  <a:srgbClr val="4C81B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SUB-SERVICES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128471" y="1724099"/>
            <a:ext cx="35116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56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 — 05</a:t>
            </a:r>
            <a:endParaRPr lang="en-US" sz="600" dirty="0"/>
          </a:p>
        </p:txBody>
      </p:sp>
      <p:sp>
        <p:nvSpPr>
          <p:cNvPr id="28" name="Text 26"/>
          <p:cNvSpPr/>
          <p:nvPr/>
        </p:nvSpPr>
        <p:spPr>
          <a:xfrm>
            <a:off x="5224760" y="1893763"/>
            <a:ext cx="3254871" cy="7144"/>
          </a:xfrm>
          <a:prstGeom prst="rect">
            <a:avLst/>
          </a:prstGeom>
          <a:solidFill>
            <a:srgbClr val="E2E8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Shape 27"/>
          <p:cNvSpPr/>
          <p:nvPr/>
        </p:nvSpPr>
        <p:spPr>
          <a:xfrm>
            <a:off x="5224760" y="2393045"/>
            <a:ext cx="3254871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267623" y="2015207"/>
            <a:ext cx="20574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5467648" y="2015207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◉</a:t>
            </a:r>
            <a:endParaRPr lang="en-US" sz="1266" dirty="0"/>
          </a:p>
        </p:txBody>
      </p:sp>
      <p:sp>
        <p:nvSpPr>
          <p:cNvPr id="32" name="Text 30"/>
          <p:cNvSpPr/>
          <p:nvPr/>
        </p:nvSpPr>
        <p:spPr>
          <a:xfrm>
            <a:off x="5667673" y="2015207"/>
            <a:ext cx="2769096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Ansys Twin Builder ROMs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5667673" y="2132298"/>
            <a:ext cx="276909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Ansys Twin Builder — Reduced Order Models (ROM), multi-physics co-simulation (Modelica / FMU).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5224760" y="2888754"/>
            <a:ext cx="3254871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267623" y="2510917"/>
            <a:ext cx="20574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5467648" y="2510917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◉</a:t>
            </a:r>
            <a:endParaRPr lang="en-US" sz="1266" dirty="0"/>
          </a:p>
        </p:txBody>
      </p:sp>
      <p:sp>
        <p:nvSpPr>
          <p:cNvPr id="37" name="Text 35"/>
          <p:cNvSpPr/>
          <p:nvPr/>
        </p:nvSpPr>
        <p:spPr>
          <a:xfrm>
            <a:off x="5667673" y="2510917"/>
            <a:ext cx="287882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Siemens Simcenter STAR-CCM+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5667673" y="2628007"/>
            <a:ext cx="276909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Siemens Simcenter STAR-CCM+ — CFD (Computational Fluid Dynamics), FEA, multi-physics simulation.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5224760" y="3384463"/>
            <a:ext cx="3254871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267623" y="3006626"/>
            <a:ext cx="20574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5467648" y="3006626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◉</a:t>
            </a:r>
            <a:endParaRPr lang="en-US" sz="1266" dirty="0"/>
          </a:p>
        </p:txBody>
      </p:sp>
      <p:sp>
        <p:nvSpPr>
          <p:cNvPr id="42" name="Text 40"/>
          <p:cNvSpPr/>
          <p:nvPr/>
        </p:nvSpPr>
        <p:spPr>
          <a:xfrm>
            <a:off x="5667673" y="3006626"/>
            <a:ext cx="2769096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Dassault 3DEXPERIENCE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5667673" y="3123716"/>
            <a:ext cx="276909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Dassault 3DEXPERIENCE — SIMULIA (Abaqus / CST), CATIA, ENOVIA, DELMIA for digital manufacturing.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5224760" y="3880172"/>
            <a:ext cx="3254871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267623" y="3502335"/>
            <a:ext cx="20574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5467648" y="3502335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◉</a:t>
            </a:r>
            <a:endParaRPr lang="en-US" sz="1266" dirty="0"/>
          </a:p>
        </p:txBody>
      </p:sp>
      <p:sp>
        <p:nvSpPr>
          <p:cNvPr id="47" name="Text 45"/>
          <p:cNvSpPr/>
          <p:nvPr/>
        </p:nvSpPr>
        <p:spPr>
          <a:xfrm>
            <a:off x="5667673" y="3502335"/>
            <a:ext cx="2769096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COMSOL Multiphysics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5667673" y="3619426"/>
            <a:ext cx="276909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COMSOL — finite element analysis, physics modules (heat / EM / structural / fluid / chemical).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5267623" y="3998044"/>
            <a:ext cx="20574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05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5467648" y="3998044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◉</a:t>
            </a:r>
            <a:endParaRPr lang="en-US" sz="1266" dirty="0"/>
          </a:p>
        </p:txBody>
      </p:sp>
      <p:sp>
        <p:nvSpPr>
          <p:cNvPr id="51" name="Text 49"/>
          <p:cNvSpPr/>
          <p:nvPr/>
        </p:nvSpPr>
        <p:spPr>
          <a:xfrm>
            <a:off x="5667673" y="3998044"/>
            <a:ext cx="2921687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Bentley OpenTower Designer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5667673" y="4115135"/>
            <a:ext cx="2769096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Bentley OpenTower / OpenBuildings — tower / structural simulation, wind load analysis per IEC 61400.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514350" y="4647009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14350" y="4754166"/>
            <a:ext cx="3569419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4098057" y="4750594"/>
            <a:ext cx="3169369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06 / 12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7281714" y="4750594"/>
            <a:ext cx="1428813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45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PHYSICS &amp; SIMULATION SOLVERS</a:t>
            </a:r>
            <a:endParaRPr lang="en-US" sz="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4350" y="460772"/>
            <a:ext cx="6881775" cy="118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7410413" y="457200"/>
            <a:ext cx="146118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79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CAPABILITY 04 · 07 / 12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14350" y="735806"/>
            <a:ext cx="8629650" cy="1618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24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CAPABILITY 04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14350" y="925116"/>
            <a:ext cx="8629650" cy="3016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99"/>
              </a:lnSpc>
              <a:buNone/>
            </a:pPr>
            <a:r>
              <a:rPr lang="en-US" sz="1913" b="1" spc="-29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Live Data &amp; IoT Integration.</a:t>
            </a:r>
            <a:endParaRPr lang="en-US" sz="1913" dirty="0"/>
          </a:p>
        </p:txBody>
      </p:sp>
      <p:sp>
        <p:nvSpPr>
          <p:cNvPr id="6" name="Text 4"/>
          <p:cNvSpPr/>
          <p:nvPr/>
        </p:nvSpPr>
        <p:spPr>
          <a:xfrm>
            <a:off x="514350" y="1261542"/>
            <a:ext cx="81153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Deep technical engineering with real platforms, tools, and frameworks.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14350" y="1583010"/>
            <a:ext cx="4388941" cy="2925031"/>
          </a:xfrm>
          <a:prstGeom prst="roundRect">
            <a:avLst>
              <a:gd name="adj" fmla="val 3908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514350" y="1586582"/>
            <a:ext cx="4388941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899720" y="1583010"/>
            <a:ext cx="0" cy="2925031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14350" y="4504469"/>
            <a:ext cx="4388941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25066" y="1583010"/>
            <a:ext cx="0" cy="2925031"/>
          </a:xfrm>
          <a:prstGeom prst="line">
            <a:avLst/>
          </a:prstGeom>
          <a:noFill/>
          <a:ln w="21431">
            <a:solidFill>
              <a:srgbClr val="004C9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21519" y="1759818"/>
            <a:ext cx="383172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24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ENGINEERING APPROACH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567535" y="1747317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406" dirty="0"/>
          </a:p>
        </p:txBody>
      </p:sp>
      <p:sp>
        <p:nvSpPr>
          <p:cNvPr id="14" name="Text 12"/>
          <p:cNvSpPr/>
          <p:nvPr/>
        </p:nvSpPr>
        <p:spPr>
          <a:xfrm>
            <a:off x="721519" y="1990204"/>
            <a:ext cx="3988891" cy="7144"/>
          </a:xfrm>
          <a:prstGeom prst="rect">
            <a:avLst/>
          </a:prstGeom>
          <a:solidFill>
            <a:srgbClr val="E2E8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721519" y="2097360"/>
            <a:ext cx="3988891" cy="7459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3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Our live data &amp; IoT integration capability goes beyond surface-level integration. We engineer at the protocol, configuration, and architecture level — working with real platforms and tools, not abstract concepts. Every sub-service below carries specific tool names, configuration patterns, and engineering decisions.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721519" y="2880494"/>
            <a:ext cx="10001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84" dirty="0">
                <a:solidFill>
                  <a:srgbClr val="FF6C0E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▶</a:t>
            </a:r>
            <a:endParaRPr lang="en-US" sz="984" dirty="0"/>
          </a:p>
        </p:txBody>
      </p:sp>
      <p:sp>
        <p:nvSpPr>
          <p:cNvPr id="17" name="Text 15"/>
          <p:cNvSpPr/>
          <p:nvPr/>
        </p:nvSpPr>
        <p:spPr>
          <a:xfrm>
            <a:off x="892969" y="2871564"/>
            <a:ext cx="3817441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Edge protocol engineering — OPC UA, Modbus, MQTT, EtherNet/IP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721519" y="3055516"/>
            <a:ext cx="10001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84" dirty="0">
                <a:solidFill>
                  <a:srgbClr val="FF6C0E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▶</a:t>
            </a:r>
            <a:endParaRPr lang="en-US" sz="984" dirty="0"/>
          </a:p>
        </p:txBody>
      </p:sp>
      <p:sp>
        <p:nvSpPr>
          <p:cNvPr id="19" name="Text 17"/>
          <p:cNvSpPr/>
          <p:nvPr/>
        </p:nvSpPr>
        <p:spPr>
          <a:xfrm>
            <a:off x="892969" y="3046586"/>
            <a:ext cx="3817441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619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Asset model design — ADT twins, SiteWise asset models, Insights Hub aspects</a:t>
            </a:r>
            <a:endParaRPr lang="en-US" sz="619" dirty="0"/>
          </a:p>
        </p:txBody>
      </p:sp>
      <p:sp>
        <p:nvSpPr>
          <p:cNvPr id="20" name="Text 18"/>
          <p:cNvSpPr/>
          <p:nvPr/>
        </p:nvSpPr>
        <p:spPr>
          <a:xfrm>
            <a:off x="721519" y="3230538"/>
            <a:ext cx="10001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84" dirty="0">
                <a:solidFill>
                  <a:srgbClr val="FF6C0E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▶</a:t>
            </a:r>
            <a:endParaRPr lang="en-US" sz="984" dirty="0"/>
          </a:p>
        </p:txBody>
      </p:sp>
      <p:sp>
        <p:nvSpPr>
          <p:cNvPr id="21" name="Text 19"/>
          <p:cNvSpPr/>
          <p:nvPr/>
        </p:nvSpPr>
        <p:spPr>
          <a:xfrm>
            <a:off x="892969" y="3221608"/>
            <a:ext cx="3817441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619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Time-series architecture — TSI Gen2, Timestream, Synchro 4D, Iceberg</a:t>
            </a:r>
            <a:endParaRPr lang="en-US" sz="619" dirty="0"/>
          </a:p>
        </p:txBody>
      </p:sp>
      <p:sp>
        <p:nvSpPr>
          <p:cNvPr id="22" name="Text 20"/>
          <p:cNvSpPr/>
          <p:nvPr/>
        </p:nvSpPr>
        <p:spPr>
          <a:xfrm>
            <a:off x="698659" y="4207432"/>
            <a:ext cx="978872" cy="144018"/>
          </a:xfrm>
          <a:prstGeom prst="roundRect">
            <a:avLst>
              <a:gd name="adj" fmla="val 26455"/>
            </a:avLst>
          </a:prstGeom>
          <a:solidFill>
            <a:srgbClr val="004C97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721519" y="4215147"/>
            <a:ext cx="933152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675"/>
              </a:lnSpc>
              <a:buNone/>
            </a:pPr>
            <a:r>
              <a:rPr lang="en-US" sz="800" spc="34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CAPABILITY 4 OF 4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4008202" y="4225863"/>
            <a:ext cx="702208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56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5 SUB-SERVICES</a:t>
            </a:r>
            <a:endParaRPr lang="en-US" sz="600" dirty="0"/>
          </a:p>
        </p:txBody>
      </p:sp>
      <p:sp>
        <p:nvSpPr>
          <p:cNvPr id="25" name="Text 23"/>
          <p:cNvSpPr/>
          <p:nvPr/>
        </p:nvSpPr>
        <p:spPr>
          <a:xfrm>
            <a:off x="5078313" y="1586582"/>
            <a:ext cx="3547765" cy="2917887"/>
          </a:xfrm>
          <a:prstGeom prst="roundRect">
            <a:avLst>
              <a:gd name="adj" fmla="val 3917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5224760" y="1718742"/>
            <a:ext cx="2889424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24" kern="0" dirty="0">
                <a:solidFill>
                  <a:srgbClr val="4C81B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SUB-SERVICES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128471" y="1724099"/>
            <a:ext cx="35116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56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 — 05</a:t>
            </a:r>
            <a:endParaRPr lang="en-US" sz="600" dirty="0"/>
          </a:p>
        </p:txBody>
      </p:sp>
      <p:sp>
        <p:nvSpPr>
          <p:cNvPr id="28" name="Text 26"/>
          <p:cNvSpPr/>
          <p:nvPr/>
        </p:nvSpPr>
        <p:spPr>
          <a:xfrm>
            <a:off x="5224760" y="1893763"/>
            <a:ext cx="3254871" cy="7144"/>
          </a:xfrm>
          <a:prstGeom prst="rect">
            <a:avLst/>
          </a:prstGeom>
          <a:solidFill>
            <a:srgbClr val="E2E8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Shape 27"/>
          <p:cNvSpPr/>
          <p:nvPr/>
        </p:nvSpPr>
        <p:spPr>
          <a:xfrm>
            <a:off x="5224760" y="2393045"/>
            <a:ext cx="3254871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267623" y="2015207"/>
            <a:ext cx="20574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5467648" y="2015207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◉</a:t>
            </a:r>
            <a:endParaRPr lang="en-US" sz="1266" dirty="0"/>
          </a:p>
        </p:txBody>
      </p:sp>
      <p:sp>
        <p:nvSpPr>
          <p:cNvPr id="32" name="Text 30"/>
          <p:cNvSpPr/>
          <p:nvPr/>
        </p:nvSpPr>
        <p:spPr>
          <a:xfrm>
            <a:off x="5667673" y="2015207"/>
            <a:ext cx="287882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Omniverse Connectors &amp; Live Sync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5667673" y="2132298"/>
            <a:ext cx="276909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Omniverse Connectors (Maya / Blender / Revit / Rhino) — Live Sync, Omniverse Farm for distributed render.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5224760" y="2888754"/>
            <a:ext cx="3254871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267623" y="2510917"/>
            <a:ext cx="20574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5467648" y="2510917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◉</a:t>
            </a:r>
            <a:endParaRPr lang="en-US" sz="1266" dirty="0"/>
          </a:p>
        </p:txBody>
      </p:sp>
      <p:sp>
        <p:nvSpPr>
          <p:cNvPr id="37" name="Text 35"/>
          <p:cNvSpPr/>
          <p:nvPr/>
        </p:nvSpPr>
        <p:spPr>
          <a:xfrm>
            <a:off x="5667673" y="2510917"/>
            <a:ext cx="287882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Azure ADT Routes &amp; Time Series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5667673" y="2628007"/>
            <a:ext cx="276909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Azure Digital Twins → Event Grid → Time Series Insights (TSI) Gen2 — historical + live time-series storage.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5224760" y="3384463"/>
            <a:ext cx="3254871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267623" y="3006626"/>
            <a:ext cx="20574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5467648" y="3006626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◉</a:t>
            </a:r>
            <a:endParaRPr lang="en-US" sz="1266" dirty="0"/>
          </a:p>
        </p:txBody>
      </p:sp>
      <p:sp>
        <p:nvSpPr>
          <p:cNvPr id="42" name="Text 40"/>
          <p:cNvSpPr/>
          <p:nvPr/>
        </p:nvSpPr>
        <p:spPr>
          <a:xfrm>
            <a:off x="5667673" y="3006626"/>
            <a:ext cx="287882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AWS SiteWise Asset Modeling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5667673" y="3123716"/>
            <a:ext cx="276909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AWS IoT SiteWise — asset models, properties, hierarchy, OPC UA / Modbus ingestion via SiteWise Edge.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5224760" y="3880172"/>
            <a:ext cx="3254871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267623" y="3502335"/>
            <a:ext cx="20574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5467648" y="3502335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◉</a:t>
            </a:r>
            <a:endParaRPr lang="en-US" sz="1266" dirty="0"/>
          </a:p>
        </p:txBody>
      </p:sp>
      <p:sp>
        <p:nvSpPr>
          <p:cNvPr id="47" name="Text 45"/>
          <p:cNvSpPr/>
          <p:nvPr/>
        </p:nvSpPr>
        <p:spPr>
          <a:xfrm>
            <a:off x="5667673" y="3502335"/>
            <a:ext cx="287882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Siemens Insights Hub (MindSphere)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5667673" y="3619426"/>
            <a:ext cx="276909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Siemens Insights Hub (MindSphere) — VCore Edge, Kyma (k8s-based extension), asset model + aspect types.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5267623" y="3998044"/>
            <a:ext cx="20574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05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5467648" y="3998044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◉</a:t>
            </a:r>
            <a:endParaRPr lang="en-US" sz="1266" dirty="0"/>
          </a:p>
        </p:txBody>
      </p:sp>
      <p:sp>
        <p:nvSpPr>
          <p:cNvPr id="51" name="Text 49"/>
          <p:cNvSpPr/>
          <p:nvPr/>
        </p:nvSpPr>
        <p:spPr>
          <a:xfrm>
            <a:off x="5667673" y="3998044"/>
            <a:ext cx="2921687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Bentley Synchro 4D Construction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5667673" y="4115135"/>
            <a:ext cx="2769096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Bentley Synchro 4D — schedule + 3D model integration (4D simulation), ProgressReporter.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514350" y="4647009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14350" y="4754166"/>
            <a:ext cx="3621546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4150184" y="4750594"/>
            <a:ext cx="3221385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07 / 12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7385856" y="4750594"/>
            <a:ext cx="1318421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45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LIVE DATA &amp; IOT INTEGRATION</a:t>
            </a:r>
            <a:endParaRPr lang="en-US" sz="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4350" y="460772"/>
            <a:ext cx="6934684" cy="118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7463321" y="457200"/>
            <a:ext cx="1397772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79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APPLICATIONS · 08 / 12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14350" y="735806"/>
            <a:ext cx="8629650" cy="1618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24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TECHNICAL APPLICATIONS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14350" y="925116"/>
            <a:ext cx="8629650" cy="3016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99"/>
              </a:lnSpc>
              <a:buNone/>
            </a:pPr>
            <a:r>
              <a:rPr lang="en-US" sz="1913" b="1" spc="-29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Where this creates engineering value.</a:t>
            </a:r>
            <a:endParaRPr lang="en-US" sz="1913" dirty="0"/>
          </a:p>
        </p:txBody>
      </p:sp>
      <p:sp>
        <p:nvSpPr>
          <p:cNvPr id="6" name="Text 4"/>
          <p:cNvSpPr/>
          <p:nvPr/>
        </p:nvSpPr>
        <p:spPr>
          <a:xfrm>
            <a:off x="514350" y="1261542"/>
            <a:ext cx="771525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Four specific engineering scenarios where digital twin engineering &amp; simulation delivers measurable production impact.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14350" y="1611585"/>
            <a:ext cx="3993356" cy="1214438"/>
          </a:xfrm>
          <a:prstGeom prst="roundRect">
            <a:avLst>
              <a:gd name="adj" fmla="val 9412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514350" y="1615157"/>
            <a:ext cx="3993356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04134" y="1611585"/>
            <a:ext cx="0" cy="1214438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14350" y="2822451"/>
            <a:ext cx="3993356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25066" y="1611585"/>
            <a:ext cx="0" cy="1214438"/>
          </a:xfrm>
          <a:prstGeom prst="line">
            <a:avLst/>
          </a:prstGeom>
          <a:noFill/>
          <a:ln w="21431">
            <a:solidFill>
              <a:srgbClr val="004C9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92944" y="1761604"/>
            <a:ext cx="2000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969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➤</a:t>
            </a:r>
            <a:endParaRPr lang="en-US" sz="1969" dirty="0"/>
          </a:p>
        </p:txBody>
      </p:sp>
      <p:sp>
        <p:nvSpPr>
          <p:cNvPr id="13" name="Text 11"/>
          <p:cNvSpPr/>
          <p:nvPr/>
        </p:nvSpPr>
        <p:spPr>
          <a:xfrm>
            <a:off x="4277097" y="1786607"/>
            <a:ext cx="9144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spc="47" kern="0" dirty="0">
                <a:solidFill>
                  <a:srgbClr val="FF6C0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692944" y="2033067"/>
            <a:ext cx="3650456" cy="203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85"/>
              </a:lnSpc>
              <a:buNone/>
            </a:pPr>
            <a:r>
              <a:rPr lang="en-US" sz="1238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Production Deployment</a:t>
            </a:r>
            <a:endParaRPr lang="en-US" sz="1238" dirty="0"/>
          </a:p>
        </p:txBody>
      </p:sp>
      <p:sp>
        <p:nvSpPr>
          <p:cNvPr id="15" name="Text 13"/>
          <p:cNvSpPr/>
          <p:nvPr/>
        </p:nvSpPr>
        <p:spPr>
          <a:xfrm>
            <a:off x="692944" y="2293032"/>
            <a:ext cx="36504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From prototype to production-grade deployment with real reliability, latency, and cost SLAs.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4636294" y="1611585"/>
            <a:ext cx="3993356" cy="1214438"/>
          </a:xfrm>
          <a:prstGeom prst="roundRect">
            <a:avLst>
              <a:gd name="adj" fmla="val 9412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4636294" y="1615157"/>
            <a:ext cx="3993356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626078" y="1611585"/>
            <a:ext cx="0" cy="1214438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636294" y="2822451"/>
            <a:ext cx="3993356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647009" y="1611585"/>
            <a:ext cx="0" cy="1214438"/>
          </a:xfrm>
          <a:prstGeom prst="line">
            <a:avLst/>
          </a:prstGeom>
          <a:noFill/>
          <a:ln w="21431">
            <a:solidFill>
              <a:srgbClr val="004C9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14888" y="1761604"/>
            <a:ext cx="2000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969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⌇</a:t>
            </a:r>
            <a:endParaRPr lang="en-US" sz="1969" dirty="0"/>
          </a:p>
        </p:txBody>
      </p:sp>
      <p:sp>
        <p:nvSpPr>
          <p:cNvPr id="22" name="Text 20"/>
          <p:cNvSpPr/>
          <p:nvPr/>
        </p:nvSpPr>
        <p:spPr>
          <a:xfrm>
            <a:off x="8308425" y="1786607"/>
            <a:ext cx="18134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788" spc="47" kern="0" dirty="0">
                <a:solidFill>
                  <a:srgbClr val="FF6C0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II</a:t>
            </a:r>
            <a:endParaRPr lang="en-US" sz="788" dirty="0"/>
          </a:p>
        </p:txBody>
      </p:sp>
      <p:sp>
        <p:nvSpPr>
          <p:cNvPr id="23" name="Text 21"/>
          <p:cNvSpPr/>
          <p:nvPr/>
        </p:nvSpPr>
        <p:spPr>
          <a:xfrm>
            <a:off x="4814888" y="2033067"/>
            <a:ext cx="3760184" cy="203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85"/>
              </a:lnSpc>
              <a:buNone/>
            </a:pPr>
            <a:r>
              <a:rPr lang="en-US" sz="1238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Observability &amp; Operations</a:t>
            </a:r>
            <a:endParaRPr lang="en-US" sz="1238" dirty="0"/>
          </a:p>
        </p:txBody>
      </p:sp>
      <p:sp>
        <p:nvSpPr>
          <p:cNvPr id="24" name="Text 22"/>
          <p:cNvSpPr/>
          <p:nvPr/>
        </p:nvSpPr>
        <p:spPr>
          <a:xfrm>
            <a:off x="4814888" y="2293032"/>
            <a:ext cx="36504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Continuous monitoring, evaluation, drift detection, and operational runbooks for production systems.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514350" y="2954610"/>
            <a:ext cx="3993356" cy="1214438"/>
          </a:xfrm>
          <a:prstGeom prst="roundRect">
            <a:avLst>
              <a:gd name="adj" fmla="val 9412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Shape 24"/>
          <p:cNvSpPr/>
          <p:nvPr/>
        </p:nvSpPr>
        <p:spPr>
          <a:xfrm>
            <a:off x="514350" y="2958182"/>
            <a:ext cx="3993356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504134" y="2954610"/>
            <a:ext cx="0" cy="1214438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14350" y="4165476"/>
            <a:ext cx="3993356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25066" y="2954610"/>
            <a:ext cx="0" cy="1214438"/>
          </a:xfrm>
          <a:prstGeom prst="line">
            <a:avLst/>
          </a:prstGeom>
          <a:noFill/>
          <a:ln w="21431">
            <a:solidFill>
              <a:srgbClr val="004C9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92944" y="3104629"/>
            <a:ext cx="2000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969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⛨</a:t>
            </a:r>
            <a:endParaRPr lang="en-US" sz="1969" dirty="0"/>
          </a:p>
        </p:txBody>
      </p:sp>
      <p:sp>
        <p:nvSpPr>
          <p:cNvPr id="31" name="Text 29"/>
          <p:cNvSpPr/>
          <p:nvPr/>
        </p:nvSpPr>
        <p:spPr>
          <a:xfrm>
            <a:off x="4116801" y="3129632"/>
            <a:ext cx="254512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788" spc="47" kern="0" dirty="0">
                <a:solidFill>
                  <a:srgbClr val="FF6C0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III</a:t>
            </a:r>
            <a:endParaRPr lang="en-US" sz="788" dirty="0"/>
          </a:p>
        </p:txBody>
      </p:sp>
      <p:sp>
        <p:nvSpPr>
          <p:cNvPr id="32" name="Text 30"/>
          <p:cNvSpPr/>
          <p:nvPr/>
        </p:nvSpPr>
        <p:spPr>
          <a:xfrm>
            <a:off x="692944" y="3376092"/>
            <a:ext cx="3650456" cy="203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85"/>
              </a:lnSpc>
              <a:buNone/>
            </a:pPr>
            <a:r>
              <a:rPr lang="en-US" sz="1238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Security &amp; Compliance</a:t>
            </a:r>
            <a:endParaRPr lang="en-US" sz="1238" dirty="0"/>
          </a:p>
        </p:txBody>
      </p:sp>
      <p:sp>
        <p:nvSpPr>
          <p:cNvPr id="33" name="Text 31"/>
          <p:cNvSpPr/>
          <p:nvPr/>
        </p:nvSpPr>
        <p:spPr>
          <a:xfrm>
            <a:off x="692944" y="3636057"/>
            <a:ext cx="36504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Security engineering, compliance automation, and audit-ready evidence collection built into the pipeline.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4636294" y="2954610"/>
            <a:ext cx="3993356" cy="1214438"/>
          </a:xfrm>
          <a:prstGeom prst="roundRect">
            <a:avLst>
              <a:gd name="adj" fmla="val 9412"/>
            </a:avLst>
          </a:prstGeom>
          <a:solidFill>
            <a:srgbClr val="FF6C0E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Shape 33"/>
          <p:cNvSpPr/>
          <p:nvPr/>
        </p:nvSpPr>
        <p:spPr>
          <a:xfrm>
            <a:off x="4636294" y="2958182"/>
            <a:ext cx="3993356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626078" y="2954610"/>
            <a:ext cx="0" cy="1214438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636294" y="4165476"/>
            <a:ext cx="3993356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647009" y="2954610"/>
            <a:ext cx="0" cy="1214438"/>
          </a:xfrm>
          <a:prstGeom prst="line">
            <a:avLst/>
          </a:prstGeom>
          <a:noFill/>
          <a:ln w="21431">
            <a:solidFill>
              <a:srgbClr val="FF6C0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814888" y="3104629"/>
            <a:ext cx="2000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969" dirty="0">
                <a:solidFill>
                  <a:srgbClr val="FF6C0E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↗</a:t>
            </a:r>
            <a:endParaRPr lang="en-US" sz="1969" dirty="0"/>
          </a:p>
        </p:txBody>
      </p:sp>
      <p:sp>
        <p:nvSpPr>
          <p:cNvPr id="40" name="Text 38"/>
          <p:cNvSpPr/>
          <p:nvPr/>
        </p:nvSpPr>
        <p:spPr>
          <a:xfrm>
            <a:off x="8308425" y="3129632"/>
            <a:ext cx="18134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788" spc="47" kern="0" dirty="0">
                <a:solidFill>
                  <a:srgbClr val="004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IV</a:t>
            </a:r>
            <a:endParaRPr lang="en-US" sz="788" dirty="0"/>
          </a:p>
        </p:txBody>
      </p:sp>
      <p:sp>
        <p:nvSpPr>
          <p:cNvPr id="41" name="Text 39"/>
          <p:cNvSpPr/>
          <p:nvPr/>
        </p:nvSpPr>
        <p:spPr>
          <a:xfrm>
            <a:off x="4814888" y="3376092"/>
            <a:ext cx="3650456" cy="203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85"/>
              </a:lnSpc>
              <a:buNone/>
            </a:pPr>
            <a:r>
              <a:rPr lang="en-US" sz="1238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Scale &amp; Optimization</a:t>
            </a:r>
            <a:endParaRPr lang="en-US" sz="1238" dirty="0"/>
          </a:p>
        </p:txBody>
      </p:sp>
      <p:sp>
        <p:nvSpPr>
          <p:cNvPr id="42" name="Text 40"/>
          <p:cNvSpPr/>
          <p:nvPr/>
        </p:nvSpPr>
        <p:spPr>
          <a:xfrm>
            <a:off x="4814888" y="3636057"/>
            <a:ext cx="36504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Scaling from single-tenant to multi-tenant, optimizing cost, latency, and resource utilization.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514350" y="4647009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14350" y="4754166"/>
            <a:ext cx="3954735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4483373" y="4750594"/>
            <a:ext cx="3554574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08 / 12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7993120" y="4750594"/>
            <a:ext cx="695645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45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APPLICATIONS</a:t>
            </a:r>
            <a:endParaRPr lang="en-US" sz="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4350" y="460772"/>
            <a:ext cx="6934684" cy="118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7463321" y="457200"/>
            <a:ext cx="1397772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79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ARCHITECTURE · 09 / 12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14350" y="692944"/>
            <a:ext cx="8629650" cy="14759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24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REFERENCE ARCHITECTURE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14350" y="867966"/>
            <a:ext cx="8629650" cy="4954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575" b="1" spc="-24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 production reference architecture for digital twin engineering &amp; simulation.</a:t>
            </a:r>
            <a:endParaRPr lang="en-US" sz="1575" dirty="0"/>
          </a:p>
        </p:txBody>
      </p:sp>
      <p:sp>
        <p:nvSpPr>
          <p:cNvPr id="6" name="Text 4"/>
          <p:cNvSpPr/>
          <p:nvPr/>
        </p:nvSpPr>
        <p:spPr>
          <a:xfrm>
            <a:off x="514350" y="1390799"/>
            <a:ext cx="771525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Five layers with real platform and tool names — not generic architecture diagrams.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17922" y="1662261"/>
            <a:ext cx="8108156" cy="550069"/>
          </a:xfrm>
          <a:prstGeom prst="roundRect">
            <a:avLst>
              <a:gd name="adj" fmla="val 13853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521494" y="1665833"/>
            <a:ext cx="928688" cy="542925"/>
          </a:xfrm>
          <a:prstGeom prst="rect">
            <a:avLst/>
          </a:prstGeom>
          <a:solidFill>
            <a:srgbClr val="004C97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1446609" y="1665833"/>
            <a:ext cx="0" cy="542925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21494" y="1665833"/>
            <a:ext cx="928688" cy="542925"/>
          </a:xfrm>
          <a:prstGeom prst="rect">
            <a:avLst/>
          </a:prstGeom>
          <a:noFill/>
          <a:ln/>
        </p:spPr>
        <p:txBody>
          <a:bodyPr wrap="none" lIns="85725" tIns="71438" rIns="85725" bIns="71438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37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TWIN</a:t>
            </a:r>
            <a:endParaRPr lang="en-US" sz="800" dirty="0"/>
          </a:p>
          <a:p>
            <a:pPr algn="l" indent="0" marL="0">
              <a:lnSpc>
                <a:spcPts val="928"/>
              </a:lnSpc>
              <a:buNone/>
            </a:pPr>
            <a:r>
              <a:rPr lang="en-US" sz="800" b="1" spc="37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PLATFORM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1564481" y="1837283"/>
            <a:ext cx="801663" cy="200025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1564481" y="1847999"/>
            <a:ext cx="801663" cy="1785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NVIDIA Omniverse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2451869" y="1837283"/>
            <a:ext cx="815950" cy="200025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2451869" y="1847999"/>
            <a:ext cx="815950" cy="1785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Azure Digital Twins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3353544" y="1837283"/>
            <a:ext cx="830573" cy="200025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3353544" y="1847999"/>
            <a:ext cx="830573" cy="1785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AWS IoT TwinMaker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269842" y="1837283"/>
            <a:ext cx="613135" cy="200025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4155805" y="1847999"/>
            <a:ext cx="841207" cy="1785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Bentley iTwin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517922" y="2290911"/>
            <a:ext cx="8108156" cy="550069"/>
          </a:xfrm>
          <a:prstGeom prst="roundRect">
            <a:avLst>
              <a:gd name="adj" fmla="val 13853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521494" y="2294483"/>
            <a:ext cx="928688" cy="542925"/>
          </a:xfrm>
          <a:prstGeom prst="rect">
            <a:avLst/>
          </a:prstGeom>
          <a:solidFill>
            <a:srgbClr val="004C97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Shape 19"/>
          <p:cNvSpPr/>
          <p:nvPr/>
        </p:nvSpPr>
        <p:spPr>
          <a:xfrm>
            <a:off x="1446609" y="2294483"/>
            <a:ext cx="0" cy="542925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21494" y="2294483"/>
            <a:ext cx="928688" cy="542925"/>
          </a:xfrm>
          <a:prstGeom prst="rect">
            <a:avLst/>
          </a:prstGeom>
          <a:noFill/>
          <a:ln/>
        </p:spPr>
        <p:txBody>
          <a:bodyPr wrap="none" lIns="85725" tIns="71438" rIns="85725" bIns="71438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37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VISUAL</a:t>
            </a:r>
            <a:endParaRPr lang="en-US" sz="800" dirty="0"/>
          </a:p>
          <a:p>
            <a:pPr algn="l" indent="0" marL="0">
              <a:lnSpc>
                <a:spcPts val="928"/>
              </a:lnSpc>
              <a:buNone/>
            </a:pPr>
            <a:r>
              <a:rPr lang="en-US" sz="800" b="1" spc="37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IZATION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1564481" y="2465933"/>
            <a:ext cx="688367" cy="200025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1564481" y="2476649"/>
            <a:ext cx="688367" cy="1785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Unity Industrial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2338574" y="2465933"/>
            <a:ext cx="711584" cy="200025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2338574" y="2476649"/>
            <a:ext cx="711584" cy="1785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Unreal Engine 5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3135883" y="2465933"/>
            <a:ext cx="408645" cy="200025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3129406" y="2476649"/>
            <a:ext cx="421599" cy="1785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Cesium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3630253" y="2465933"/>
            <a:ext cx="511894" cy="200025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3554913" y="2476649"/>
            <a:ext cx="662574" cy="1785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Babylon.js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517922" y="2919561"/>
            <a:ext cx="8108156" cy="550069"/>
          </a:xfrm>
          <a:prstGeom prst="roundRect">
            <a:avLst>
              <a:gd name="adj" fmla="val 13853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521494" y="2923133"/>
            <a:ext cx="928688" cy="542925"/>
          </a:xfrm>
          <a:prstGeom prst="rect">
            <a:avLst/>
          </a:prstGeom>
          <a:solidFill>
            <a:srgbClr val="004C97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Shape 31"/>
          <p:cNvSpPr/>
          <p:nvPr/>
        </p:nvSpPr>
        <p:spPr>
          <a:xfrm>
            <a:off x="1446609" y="2923133"/>
            <a:ext cx="0" cy="542925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21494" y="2923133"/>
            <a:ext cx="928688" cy="542925"/>
          </a:xfrm>
          <a:prstGeom prst="rect">
            <a:avLst/>
          </a:prstGeom>
          <a:noFill/>
          <a:ln/>
        </p:spPr>
        <p:txBody>
          <a:bodyPr wrap="none" lIns="85725" tIns="71438" rIns="85725" bIns="71438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37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SIMULATION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1564481" y="3094583"/>
            <a:ext cx="807244" cy="200025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1564481" y="3105299"/>
            <a:ext cx="807244" cy="1785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Ansys Twin Builder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2457450" y="3094583"/>
            <a:ext cx="956370" cy="200025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2457450" y="3105299"/>
            <a:ext cx="956370" cy="1785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Simcenter STAR-CCM+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3499545" y="3094583"/>
            <a:ext cx="1022784" cy="200025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3499545" y="3105299"/>
            <a:ext cx="1022784" cy="1785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Dassault 3DEXPERIENCE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4608054" y="3094583"/>
            <a:ext cx="915851" cy="200025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40"/>
          <p:cNvSpPr/>
          <p:nvPr/>
        </p:nvSpPr>
        <p:spPr>
          <a:xfrm>
            <a:off x="4608054" y="3105299"/>
            <a:ext cx="915851" cy="1785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COMSOL Multiphysics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517922" y="3548211"/>
            <a:ext cx="8108156" cy="550069"/>
          </a:xfrm>
          <a:prstGeom prst="roundRect">
            <a:avLst>
              <a:gd name="adj" fmla="val 13853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Text 42"/>
          <p:cNvSpPr/>
          <p:nvPr/>
        </p:nvSpPr>
        <p:spPr>
          <a:xfrm>
            <a:off x="521494" y="3551783"/>
            <a:ext cx="928688" cy="542925"/>
          </a:xfrm>
          <a:prstGeom prst="rect">
            <a:avLst/>
          </a:prstGeom>
          <a:solidFill>
            <a:srgbClr val="004C97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" name="Shape 43"/>
          <p:cNvSpPr/>
          <p:nvPr/>
        </p:nvSpPr>
        <p:spPr>
          <a:xfrm>
            <a:off x="1446609" y="3551783"/>
            <a:ext cx="0" cy="542925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21494" y="3551783"/>
            <a:ext cx="928688" cy="542925"/>
          </a:xfrm>
          <a:prstGeom prst="rect">
            <a:avLst/>
          </a:prstGeom>
          <a:noFill/>
          <a:ln/>
        </p:spPr>
        <p:txBody>
          <a:bodyPr wrap="none" lIns="85725" tIns="71438" rIns="85725" bIns="71438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37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IOT INGEST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1564481" y="3723233"/>
            <a:ext cx="764939" cy="200025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8" name="Text 46"/>
          <p:cNvSpPr/>
          <p:nvPr/>
        </p:nvSpPr>
        <p:spPr>
          <a:xfrm>
            <a:off x="1564481" y="3733949"/>
            <a:ext cx="764939" cy="1785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AWS IoT SiteWise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2415146" y="3723233"/>
            <a:ext cx="917079" cy="200025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0" name="Text 48"/>
          <p:cNvSpPr/>
          <p:nvPr/>
        </p:nvSpPr>
        <p:spPr>
          <a:xfrm>
            <a:off x="2415146" y="3733949"/>
            <a:ext cx="917079" cy="1785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Siemens Insights Hub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3421521" y="3737521"/>
            <a:ext cx="1081050" cy="17145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2" name="Text 50"/>
          <p:cNvSpPr/>
          <p:nvPr/>
        </p:nvSpPr>
        <p:spPr>
          <a:xfrm>
            <a:off x="3417950" y="3733949"/>
            <a:ext cx="1131057" cy="274320"/>
          </a:xfrm>
          <a:prstGeom prst="rect">
            <a:avLst/>
          </a:prstGeom>
          <a:noFill/>
          <a:ln/>
        </p:spPr>
        <p:txBody>
          <a:bodyPr wrap="square" lIns="64294" tIns="28575" rIns="64294" bIns="28575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Azure Time Series Insights</a:t>
            </a:r>
            <a:endParaRPr lang="en-US" sz="600" dirty="0"/>
          </a:p>
        </p:txBody>
      </p:sp>
      <p:sp>
        <p:nvSpPr>
          <p:cNvPr id="53" name="Text 51"/>
          <p:cNvSpPr/>
          <p:nvPr/>
        </p:nvSpPr>
        <p:spPr>
          <a:xfrm>
            <a:off x="4591869" y="3723233"/>
            <a:ext cx="959048" cy="200025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4" name="Text 52"/>
          <p:cNvSpPr/>
          <p:nvPr/>
        </p:nvSpPr>
        <p:spPr>
          <a:xfrm>
            <a:off x="4591869" y="3733949"/>
            <a:ext cx="959048" cy="1785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Omniverse Connectors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517922" y="4176861"/>
            <a:ext cx="8108156" cy="550069"/>
          </a:xfrm>
          <a:prstGeom prst="roundRect">
            <a:avLst>
              <a:gd name="adj" fmla="val 13853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6" name="Text 54"/>
          <p:cNvSpPr/>
          <p:nvPr/>
        </p:nvSpPr>
        <p:spPr>
          <a:xfrm>
            <a:off x="521494" y="4180433"/>
            <a:ext cx="928688" cy="542925"/>
          </a:xfrm>
          <a:prstGeom prst="rect">
            <a:avLst/>
          </a:prstGeom>
          <a:solidFill>
            <a:srgbClr val="004C97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7" name="Shape 55"/>
          <p:cNvSpPr/>
          <p:nvPr/>
        </p:nvSpPr>
        <p:spPr>
          <a:xfrm>
            <a:off x="1446609" y="4180433"/>
            <a:ext cx="0" cy="542925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21494" y="4180433"/>
            <a:ext cx="928688" cy="542925"/>
          </a:xfrm>
          <a:prstGeom prst="rect">
            <a:avLst/>
          </a:prstGeom>
          <a:noFill/>
          <a:ln/>
        </p:spPr>
        <p:txBody>
          <a:bodyPr wrap="none" lIns="85725" tIns="71438" rIns="85725" bIns="71438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37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DATA /</a:t>
            </a:r>
            <a:endParaRPr lang="en-US" sz="800" dirty="0"/>
          </a:p>
          <a:p>
            <a:pPr algn="l" indent="0" marL="0">
              <a:lnSpc>
                <a:spcPts val="928"/>
              </a:lnSpc>
              <a:buNone/>
            </a:pPr>
            <a:r>
              <a:rPr lang="en-US" sz="800" b="1" spc="37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STORAGE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1564481" y="4351883"/>
            <a:ext cx="859706" cy="200025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0" name="Text 58"/>
          <p:cNvSpPr/>
          <p:nvPr/>
        </p:nvSpPr>
        <p:spPr>
          <a:xfrm>
            <a:off x="1564481" y="4362599"/>
            <a:ext cx="859706" cy="1785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Azure Data Explorer</a:t>
            </a:r>
            <a:endParaRPr lang="en-US" sz="800" dirty="0"/>
          </a:p>
        </p:txBody>
      </p:sp>
      <p:sp>
        <p:nvSpPr>
          <p:cNvPr id="61" name="Text 59"/>
          <p:cNvSpPr/>
          <p:nvPr/>
        </p:nvSpPr>
        <p:spPr>
          <a:xfrm>
            <a:off x="2509912" y="4351883"/>
            <a:ext cx="751768" cy="200025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2" name="Text 60"/>
          <p:cNvSpPr/>
          <p:nvPr/>
        </p:nvSpPr>
        <p:spPr>
          <a:xfrm>
            <a:off x="2509912" y="4362599"/>
            <a:ext cx="751768" cy="1785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AWS Timestream</a:t>
            </a:r>
            <a:endParaRPr lang="en-US" sz="800" dirty="0"/>
          </a:p>
        </p:txBody>
      </p:sp>
      <p:sp>
        <p:nvSpPr>
          <p:cNvPr id="63" name="Text 61"/>
          <p:cNvSpPr/>
          <p:nvPr/>
        </p:nvSpPr>
        <p:spPr>
          <a:xfrm>
            <a:off x="3347405" y="4351883"/>
            <a:ext cx="445815" cy="200025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4" name="Text 62"/>
          <p:cNvSpPr/>
          <p:nvPr/>
        </p:nvSpPr>
        <p:spPr>
          <a:xfrm>
            <a:off x="3285182" y="4362599"/>
            <a:ext cx="570260" cy="1785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InfluxDB</a:t>
            </a:r>
            <a:endParaRPr lang="en-US" sz="800" dirty="0"/>
          </a:p>
        </p:txBody>
      </p:sp>
      <p:sp>
        <p:nvSpPr>
          <p:cNvPr id="65" name="Text 63"/>
          <p:cNvSpPr/>
          <p:nvPr/>
        </p:nvSpPr>
        <p:spPr>
          <a:xfrm>
            <a:off x="3878945" y="4351883"/>
            <a:ext cx="699195" cy="200025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6" name="Text 64"/>
          <p:cNvSpPr/>
          <p:nvPr/>
        </p:nvSpPr>
        <p:spPr>
          <a:xfrm>
            <a:off x="3878945" y="4362599"/>
            <a:ext cx="699195" cy="1785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Apache Iceberg</a:t>
            </a:r>
            <a:endParaRPr lang="en-US" sz="800" dirty="0"/>
          </a:p>
        </p:txBody>
      </p:sp>
      <p:sp>
        <p:nvSpPr>
          <p:cNvPr id="67" name="Shape 65"/>
          <p:cNvSpPr/>
          <p:nvPr/>
        </p:nvSpPr>
        <p:spPr>
          <a:xfrm>
            <a:off x="514350" y="4647009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514350" y="4754166"/>
            <a:ext cx="3934644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69" name="Text 67"/>
          <p:cNvSpPr/>
          <p:nvPr/>
        </p:nvSpPr>
        <p:spPr>
          <a:xfrm>
            <a:off x="4463281" y="4750594"/>
            <a:ext cx="3534482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09 / 12</a:t>
            </a:r>
            <a:endParaRPr lang="en-US" sz="800" dirty="0"/>
          </a:p>
        </p:txBody>
      </p:sp>
      <p:sp>
        <p:nvSpPr>
          <p:cNvPr id="70" name="Text 68"/>
          <p:cNvSpPr/>
          <p:nvPr/>
        </p:nvSpPr>
        <p:spPr>
          <a:xfrm>
            <a:off x="7973028" y="4750594"/>
            <a:ext cx="695645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45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ARCHITECTURE</a:t>
            </a:r>
            <a:endParaRPr lang="en-US" sz="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4350" y="460772"/>
            <a:ext cx="7199784" cy="118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7728421" y="457200"/>
            <a:ext cx="1144955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79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ROADMAP · 10 / 12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14350" y="692944"/>
            <a:ext cx="8629650" cy="14759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24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IMPLEMENTATION ROADMAP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14350" y="867966"/>
            <a:ext cx="8486775" cy="255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575" b="1" spc="-24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 phased engineering roadmap from assessment to production.</a:t>
            </a:r>
            <a:endParaRPr lang="en-US" sz="1575" dirty="0"/>
          </a:p>
        </p:txBody>
      </p:sp>
      <p:sp>
        <p:nvSpPr>
          <p:cNvPr id="6" name="Text 4"/>
          <p:cNvSpPr/>
          <p:nvPr/>
        </p:nvSpPr>
        <p:spPr>
          <a:xfrm>
            <a:off x="514350" y="1150813"/>
            <a:ext cx="771525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Each phase carries concrete engineering deliverables, technical milestones, and exit criteria.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17922" y="1450851"/>
            <a:ext cx="1946672" cy="2621756"/>
          </a:xfrm>
          <a:prstGeom prst="roundRect">
            <a:avLst>
              <a:gd name="adj" fmla="val 4893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21506" y="1568723"/>
            <a:ext cx="1739503" cy="14759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62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STAGE 01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621506" y="1743745"/>
            <a:ext cx="1739503" cy="138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44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Technical Assessment</a:t>
            </a:r>
            <a:endParaRPr lang="en-US" sz="844" dirty="0"/>
          </a:p>
        </p:txBody>
      </p:sp>
      <p:sp>
        <p:nvSpPr>
          <p:cNvPr id="10" name="Text 8"/>
          <p:cNvSpPr/>
          <p:nvPr/>
        </p:nvSpPr>
        <p:spPr>
          <a:xfrm>
            <a:off x="621506" y="1929482"/>
            <a:ext cx="173950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 WEEKS · FIXED FEE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621506" y="2093788"/>
            <a:ext cx="1739503" cy="7144"/>
          </a:xfrm>
          <a:prstGeom prst="rect">
            <a:avLst/>
          </a:prstGeom>
          <a:solidFill>
            <a:srgbClr val="CBD5E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621506" y="2158082"/>
            <a:ext cx="1843873" cy="1261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b="1" spc="61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ENGINEERING DELIVERABLES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621506" y="2311673"/>
            <a:ext cx="1739503" cy="645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866"/>
              </a:lnSpc>
              <a:spcAft>
                <a:spcPts val="338"/>
              </a:spcAft>
              <a:buSzPct val="100000"/>
              <a:buChar char="•"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Architecture audit</a:t>
            </a:r>
            <a:endParaRPr lang="en-US" sz="800" dirty="0"/>
          </a:p>
          <a:p>
            <a:pPr algn="l" marL="342900" indent="-342900">
              <a:lnSpc>
                <a:spcPts val="866"/>
              </a:lnSpc>
              <a:spcAft>
                <a:spcPts val="338"/>
              </a:spcAft>
              <a:buSzPct val="100000"/>
              <a:buChar char="•"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Tool landscape assessment</a:t>
            </a:r>
            <a:endParaRPr lang="en-US" sz="800" dirty="0"/>
          </a:p>
          <a:p>
            <a:pPr algn="l" marL="342900" indent="-342900">
              <a:lnSpc>
                <a:spcPts val="866"/>
              </a:lnSpc>
              <a:spcAft>
                <a:spcPts val="338"/>
              </a:spcAft>
              <a:buSzPct val="100000"/>
              <a:buChar char="•"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Gap analysis</a:t>
            </a:r>
            <a:endParaRPr lang="en-US" sz="800" dirty="0"/>
          </a:p>
          <a:p>
            <a:pPr algn="l" marL="342900" indent="-342900">
              <a:lnSpc>
                <a:spcPts val="866"/>
              </a:lnSpc>
              <a:spcAft>
                <a:spcPts val="338"/>
              </a:spcAft>
              <a:buSzPct val="100000"/>
              <a:buChar char="•"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Engineering roadmap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621506" y="3765426"/>
            <a:ext cx="1739503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1506" y="3761854"/>
            <a:ext cx="1739503" cy="192881"/>
          </a:xfrm>
          <a:prstGeom prst="rect">
            <a:avLst/>
          </a:prstGeom>
          <a:noFill/>
          <a:ln/>
        </p:spPr>
        <p:txBody>
          <a:bodyPr wrap="none" lIns="0" tIns="5715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$25K–$75K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2571750" y="1450851"/>
            <a:ext cx="1946672" cy="2621756"/>
          </a:xfrm>
          <a:prstGeom prst="roundRect">
            <a:avLst>
              <a:gd name="adj" fmla="val 4893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2675334" y="1568723"/>
            <a:ext cx="1739503" cy="14759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62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STAGE 02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2675334" y="1743745"/>
            <a:ext cx="1739503" cy="138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44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Foundation Engineering</a:t>
            </a:r>
            <a:endParaRPr lang="en-US" sz="844" dirty="0"/>
          </a:p>
        </p:txBody>
      </p:sp>
      <p:sp>
        <p:nvSpPr>
          <p:cNvPr id="19" name="Text 17"/>
          <p:cNvSpPr/>
          <p:nvPr/>
        </p:nvSpPr>
        <p:spPr>
          <a:xfrm>
            <a:off x="2675334" y="1929482"/>
            <a:ext cx="173950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3–6 WEEKS · FIXED FEE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2675334" y="2093788"/>
            <a:ext cx="1739503" cy="7144"/>
          </a:xfrm>
          <a:prstGeom prst="rect">
            <a:avLst/>
          </a:prstGeom>
          <a:solidFill>
            <a:srgbClr val="CBD5E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2675334" y="2158082"/>
            <a:ext cx="1843873" cy="1261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b="1" spc="61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ENGINEERING DELIVERABLES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2675334" y="2311673"/>
            <a:ext cx="1739503" cy="645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866"/>
              </a:lnSpc>
              <a:spcAft>
                <a:spcPts val="338"/>
              </a:spcAft>
              <a:buSzPct val="100000"/>
              <a:buChar char="•"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Core platform setup</a:t>
            </a:r>
            <a:endParaRPr lang="en-US" sz="800" dirty="0"/>
          </a:p>
          <a:p>
            <a:pPr algn="l" marL="342900" indent="-342900">
              <a:lnSpc>
                <a:spcPts val="866"/>
              </a:lnSpc>
              <a:spcAft>
                <a:spcPts val="338"/>
              </a:spcAft>
              <a:buSzPct val="100000"/>
              <a:buChar char="•"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CI/CD pipeline</a:t>
            </a:r>
            <a:endParaRPr lang="en-US" sz="800" dirty="0"/>
          </a:p>
          <a:p>
            <a:pPr algn="l" marL="342900" indent="-342900">
              <a:lnSpc>
                <a:spcPts val="866"/>
              </a:lnSpc>
              <a:spcAft>
                <a:spcPts val="338"/>
              </a:spcAft>
              <a:buSzPct val="100000"/>
              <a:buChar char="•"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Observability stack</a:t>
            </a:r>
            <a:endParaRPr lang="en-US" sz="800" dirty="0"/>
          </a:p>
          <a:p>
            <a:pPr algn="l" marL="342900" indent="-342900">
              <a:lnSpc>
                <a:spcPts val="866"/>
              </a:lnSpc>
              <a:spcAft>
                <a:spcPts val="338"/>
              </a:spcAft>
              <a:buSzPct val="100000"/>
              <a:buChar char="•"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Security baseline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2675334" y="3765426"/>
            <a:ext cx="1739503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675334" y="3761854"/>
            <a:ext cx="1739503" cy="192881"/>
          </a:xfrm>
          <a:prstGeom prst="rect">
            <a:avLst/>
          </a:prstGeom>
          <a:noFill/>
          <a:ln/>
        </p:spPr>
        <p:txBody>
          <a:bodyPr wrap="none" lIns="0" tIns="5715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$50K–$150K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4625578" y="1450851"/>
            <a:ext cx="1946672" cy="2621756"/>
          </a:xfrm>
          <a:prstGeom prst="roundRect">
            <a:avLst>
              <a:gd name="adj" fmla="val 4893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4729163" y="1568723"/>
            <a:ext cx="1739503" cy="14759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62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STAGE 03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4729163" y="1743745"/>
            <a:ext cx="1739503" cy="138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44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Production Build</a:t>
            </a:r>
            <a:endParaRPr lang="en-US" sz="844" dirty="0"/>
          </a:p>
        </p:txBody>
      </p:sp>
      <p:sp>
        <p:nvSpPr>
          <p:cNvPr id="28" name="Text 26"/>
          <p:cNvSpPr/>
          <p:nvPr/>
        </p:nvSpPr>
        <p:spPr>
          <a:xfrm>
            <a:off x="4729163" y="1929482"/>
            <a:ext cx="173950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8–24 WEEKS · T&amp;M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4729163" y="2093788"/>
            <a:ext cx="1739503" cy="7144"/>
          </a:xfrm>
          <a:prstGeom prst="rect">
            <a:avLst/>
          </a:prstGeom>
          <a:solidFill>
            <a:srgbClr val="CBD5E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4729163" y="2158082"/>
            <a:ext cx="1843873" cy="1261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b="1" spc="61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ENGINEERING DELIVERABLES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4729163" y="2311673"/>
            <a:ext cx="1739503" cy="645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866"/>
              </a:lnSpc>
              <a:spcAft>
                <a:spcPts val="338"/>
              </a:spcAft>
              <a:buSzPct val="100000"/>
              <a:buChar char="•"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Production system</a:t>
            </a:r>
            <a:endParaRPr lang="en-US" sz="800" dirty="0"/>
          </a:p>
          <a:p>
            <a:pPr algn="l" marL="342900" indent="-342900">
              <a:lnSpc>
                <a:spcPts val="866"/>
              </a:lnSpc>
              <a:spcAft>
                <a:spcPts val="338"/>
              </a:spcAft>
              <a:buSzPct val="100000"/>
              <a:buChar char="•"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Performance validation</a:t>
            </a:r>
            <a:endParaRPr lang="en-US" sz="800" dirty="0"/>
          </a:p>
          <a:p>
            <a:pPr algn="l" marL="342900" indent="-342900">
              <a:lnSpc>
                <a:spcPts val="866"/>
              </a:lnSpc>
              <a:spcAft>
                <a:spcPts val="338"/>
              </a:spcAft>
              <a:buSzPct val="100000"/>
              <a:buChar char="•"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Security hardening</a:t>
            </a:r>
            <a:endParaRPr lang="en-US" sz="800" dirty="0"/>
          </a:p>
          <a:p>
            <a:pPr algn="l" marL="342900" indent="-342900">
              <a:lnSpc>
                <a:spcPts val="866"/>
              </a:lnSpc>
              <a:spcAft>
                <a:spcPts val="338"/>
              </a:spcAft>
              <a:buSzPct val="100000"/>
              <a:buChar char="•"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Documentation + handover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4729163" y="3765426"/>
            <a:ext cx="1739503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29163" y="3761854"/>
            <a:ext cx="1739503" cy="192881"/>
          </a:xfrm>
          <a:prstGeom prst="rect">
            <a:avLst/>
          </a:prstGeom>
          <a:noFill/>
          <a:ln/>
        </p:spPr>
        <p:txBody>
          <a:bodyPr wrap="none" lIns="0" tIns="5715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$300K–$1M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6679406" y="1450851"/>
            <a:ext cx="1946672" cy="2621756"/>
          </a:xfrm>
          <a:prstGeom prst="roundRect">
            <a:avLst>
              <a:gd name="adj" fmla="val 4893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6782991" y="1568723"/>
            <a:ext cx="1739503" cy="14759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62" kern="0" dirty="0">
                <a:solidFill>
                  <a:srgbClr val="D43F0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STAGE 04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6782991" y="1743745"/>
            <a:ext cx="1739503" cy="138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44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Managed Engineering</a:t>
            </a:r>
            <a:endParaRPr lang="en-US" sz="844" dirty="0"/>
          </a:p>
        </p:txBody>
      </p:sp>
      <p:sp>
        <p:nvSpPr>
          <p:cNvPr id="37" name="Text 35"/>
          <p:cNvSpPr/>
          <p:nvPr/>
        </p:nvSpPr>
        <p:spPr>
          <a:xfrm>
            <a:off x="6782991" y="1929482"/>
            <a:ext cx="173950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ONGOING · RETAINER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6782991" y="2093788"/>
            <a:ext cx="1739503" cy="7144"/>
          </a:xfrm>
          <a:prstGeom prst="rect">
            <a:avLst/>
          </a:prstGeom>
          <a:solidFill>
            <a:srgbClr val="CBD5E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6782991" y="2158082"/>
            <a:ext cx="1843873" cy="1261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b="1" spc="61" kern="0" dirty="0">
                <a:solidFill>
                  <a:srgbClr val="D43F0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ENGINEERING DELIVERABLES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6782991" y="2311673"/>
            <a:ext cx="1739503" cy="645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866"/>
              </a:lnSpc>
              <a:spcAft>
                <a:spcPts val="338"/>
              </a:spcAft>
              <a:buSzPct val="100000"/>
              <a:buChar char="•"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Production operations</a:t>
            </a:r>
            <a:endParaRPr lang="en-US" sz="800" dirty="0"/>
          </a:p>
          <a:p>
            <a:pPr algn="l" marL="342900" indent="-342900">
              <a:lnSpc>
                <a:spcPts val="866"/>
              </a:lnSpc>
              <a:spcAft>
                <a:spcPts val="338"/>
              </a:spcAft>
              <a:buSzPct val="100000"/>
              <a:buChar char="•"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Continuous optimization</a:t>
            </a:r>
            <a:endParaRPr lang="en-US" sz="800" dirty="0"/>
          </a:p>
          <a:p>
            <a:pPr algn="l" marL="342900" indent="-342900">
              <a:lnSpc>
                <a:spcPts val="866"/>
              </a:lnSpc>
              <a:spcAft>
                <a:spcPts val="338"/>
              </a:spcAft>
              <a:buSzPct val="100000"/>
              <a:buChar char="•"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Quarterly architecture reviews</a:t>
            </a:r>
            <a:endParaRPr lang="en-US" sz="800" dirty="0"/>
          </a:p>
          <a:p>
            <a:pPr algn="l" marL="342900" indent="-342900">
              <a:lnSpc>
                <a:spcPts val="866"/>
              </a:lnSpc>
              <a:spcAft>
                <a:spcPts val="338"/>
              </a:spcAft>
              <a:buSzPct val="100000"/>
              <a:buChar char="•"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SLA-backed engineering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6782991" y="3765426"/>
            <a:ext cx="1739503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782991" y="3761854"/>
            <a:ext cx="1739503" cy="192881"/>
          </a:xfrm>
          <a:prstGeom prst="rect">
            <a:avLst/>
          </a:prstGeom>
          <a:noFill/>
          <a:ln/>
        </p:spPr>
        <p:txBody>
          <a:bodyPr wrap="none" lIns="0" tIns="5715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D43F0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$50K–$500K / mo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514350" y="4647009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14350" y="4754166"/>
            <a:ext cx="4042358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4570995" y="4750594"/>
            <a:ext cx="3642196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10 / 12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8220112" y="4750594"/>
            <a:ext cx="416905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45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ROADMAP</a:t>
            </a:r>
            <a:endParaRPr lang="en-US" sz="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4350" y="460772"/>
            <a:ext cx="6828755" cy="118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7357393" y="457200"/>
            <a:ext cx="1524721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79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BEST PRACTICES · 11 / 12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14350" y="735806"/>
            <a:ext cx="8629650" cy="1618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24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ENGINEERING BEST PRACTICES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14350" y="925116"/>
            <a:ext cx="8486775" cy="3016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99"/>
              </a:lnSpc>
              <a:buNone/>
            </a:pPr>
            <a:r>
              <a:rPr lang="en-US" sz="1913" b="1" spc="-29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Principles that separate production from prototype.</a:t>
            </a:r>
            <a:endParaRPr lang="en-US" sz="1913" dirty="0"/>
          </a:p>
        </p:txBody>
      </p:sp>
      <p:sp>
        <p:nvSpPr>
          <p:cNvPr id="6" name="Text 4"/>
          <p:cNvSpPr/>
          <p:nvPr/>
        </p:nvSpPr>
        <p:spPr>
          <a:xfrm>
            <a:off x="514350" y="1261542"/>
            <a:ext cx="771525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Not theoretical — these are the engineering disciplines we enforce on every engagement.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14350" y="1597298"/>
            <a:ext cx="3993356" cy="1228725"/>
          </a:xfrm>
          <a:prstGeom prst="roundRect">
            <a:avLst>
              <a:gd name="adj" fmla="val 6202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514350" y="1600870"/>
            <a:ext cx="3993356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04134" y="1597298"/>
            <a:ext cx="0" cy="1228725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14350" y="2822451"/>
            <a:ext cx="3993356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28638" y="1597298"/>
            <a:ext cx="0" cy="1228725"/>
          </a:xfrm>
          <a:prstGeom prst="line">
            <a:avLst/>
          </a:prstGeom>
          <a:noFill/>
          <a:ln w="28575">
            <a:solidFill>
              <a:srgbClr val="004C9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00088" y="1733029"/>
            <a:ext cx="348615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spc="79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200525" y="1736601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⚑</a:t>
            </a:r>
            <a:endParaRPr lang="en-US" sz="1406" dirty="0"/>
          </a:p>
        </p:txBody>
      </p:sp>
      <p:sp>
        <p:nvSpPr>
          <p:cNvPr id="14" name="Text 12"/>
          <p:cNvSpPr/>
          <p:nvPr/>
        </p:nvSpPr>
        <p:spPr>
          <a:xfrm>
            <a:off x="700088" y="1940198"/>
            <a:ext cx="3753041" cy="1543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900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Production requirements first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700088" y="2140223"/>
            <a:ext cx="3643313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Start with latency, throughput, reliability, cost, and compliance SLAs. Engineer backward from constraints, not forward from tools.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4636294" y="1597298"/>
            <a:ext cx="3993356" cy="1228725"/>
          </a:xfrm>
          <a:prstGeom prst="roundRect">
            <a:avLst>
              <a:gd name="adj" fmla="val 6202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4636294" y="1600870"/>
            <a:ext cx="3993356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626078" y="1597298"/>
            <a:ext cx="0" cy="1228725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636294" y="2822451"/>
            <a:ext cx="3993356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650581" y="1597298"/>
            <a:ext cx="0" cy="1228725"/>
          </a:xfrm>
          <a:prstGeom prst="line">
            <a:avLst/>
          </a:prstGeom>
          <a:noFill/>
          <a:ln w="28575">
            <a:solidFill>
              <a:srgbClr val="004C9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22031" y="1733029"/>
            <a:ext cx="348615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spc="79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8322469" y="1736601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⌇</a:t>
            </a:r>
            <a:endParaRPr lang="en-US" sz="1406" dirty="0"/>
          </a:p>
        </p:txBody>
      </p:sp>
      <p:sp>
        <p:nvSpPr>
          <p:cNvPr id="23" name="Text 21"/>
          <p:cNvSpPr/>
          <p:nvPr/>
        </p:nvSpPr>
        <p:spPr>
          <a:xfrm>
            <a:off x="4822031" y="1940198"/>
            <a:ext cx="3753040" cy="1543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900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Observability is not optional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822031" y="2140223"/>
            <a:ext cx="3643313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Every system ships with distributed tracing, metrics, and logging from day one. If you can't measure it, you can't operate it.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514350" y="2954610"/>
            <a:ext cx="3993356" cy="1228725"/>
          </a:xfrm>
          <a:prstGeom prst="roundRect">
            <a:avLst>
              <a:gd name="adj" fmla="val 6202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Shape 24"/>
          <p:cNvSpPr/>
          <p:nvPr/>
        </p:nvSpPr>
        <p:spPr>
          <a:xfrm>
            <a:off x="514350" y="2958182"/>
            <a:ext cx="3993356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504134" y="2954610"/>
            <a:ext cx="0" cy="1228725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14350" y="4179763"/>
            <a:ext cx="3993356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28638" y="2954610"/>
            <a:ext cx="0" cy="1228725"/>
          </a:xfrm>
          <a:prstGeom prst="line">
            <a:avLst/>
          </a:prstGeom>
          <a:noFill/>
          <a:ln w="28575">
            <a:solidFill>
              <a:srgbClr val="004C9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00088" y="3090342"/>
            <a:ext cx="348615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spc="79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4200525" y="3093913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⛨</a:t>
            </a:r>
            <a:endParaRPr lang="en-US" sz="1406" dirty="0"/>
          </a:p>
        </p:txBody>
      </p:sp>
      <p:sp>
        <p:nvSpPr>
          <p:cNvPr id="32" name="Text 30"/>
          <p:cNvSpPr/>
          <p:nvPr/>
        </p:nvSpPr>
        <p:spPr>
          <a:xfrm>
            <a:off x="700088" y="3297510"/>
            <a:ext cx="3643313" cy="154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900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Security in the pipeline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700088" y="3497535"/>
            <a:ext cx="3643313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Security scanning, SBOM, and compliance checks embedded in CI/CD — not a separate audit after launch.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4636294" y="2954610"/>
            <a:ext cx="3993356" cy="1228725"/>
          </a:xfrm>
          <a:prstGeom prst="roundRect">
            <a:avLst>
              <a:gd name="adj" fmla="val 6202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Shape 33"/>
          <p:cNvSpPr/>
          <p:nvPr/>
        </p:nvSpPr>
        <p:spPr>
          <a:xfrm>
            <a:off x="4636294" y="2958182"/>
            <a:ext cx="3993356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626078" y="2954610"/>
            <a:ext cx="0" cy="1228725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636294" y="4179763"/>
            <a:ext cx="3993356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650581" y="2954610"/>
            <a:ext cx="0" cy="1228725"/>
          </a:xfrm>
          <a:prstGeom prst="line">
            <a:avLst/>
          </a:prstGeom>
          <a:noFill/>
          <a:ln w="28575">
            <a:solidFill>
              <a:srgbClr val="FF6C0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822031" y="3090342"/>
            <a:ext cx="348615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spc="79" kern="0" dirty="0">
                <a:solidFill>
                  <a:srgbClr val="D43F0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8322469" y="3093913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FF6C0E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←</a:t>
            </a:r>
            <a:endParaRPr lang="en-US" sz="1406" dirty="0"/>
          </a:p>
        </p:txBody>
      </p:sp>
      <p:sp>
        <p:nvSpPr>
          <p:cNvPr id="41" name="Text 39"/>
          <p:cNvSpPr/>
          <p:nvPr/>
        </p:nvSpPr>
        <p:spPr>
          <a:xfrm>
            <a:off x="4822031" y="3297510"/>
            <a:ext cx="3643313" cy="154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900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Engineer for rollback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4822031" y="3497535"/>
            <a:ext cx="3643313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Every deployment must be reversible. Feature flags, blue-green, canary — not big-bang deployments.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514350" y="4647009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14350" y="4754166"/>
            <a:ext cx="3904283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4432920" y="4750594"/>
            <a:ext cx="3504121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11 / 12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7951329" y="4750594"/>
            <a:ext cx="678321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45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BEST PRACTICES</a:t>
            </a:r>
            <a:endParaRPr lang="en-US" sz="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2863" cy="5143500"/>
          </a:xfrm>
          <a:prstGeom prst="rect">
            <a:avLst/>
          </a:prstGeom>
        </p:spPr>
      </p:pic>
      <p:pic>
        <p:nvPicPr>
          <p:cNvPr id="3" name="Image 1" descr="/tmp/h2p-fit-1790857226519-6wr9x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950" y="685800"/>
            <a:ext cx="1857375" cy="302158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7516341" y="828675"/>
            <a:ext cx="141438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79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KEFI TECH · 12 / 12</a:t>
            </a:r>
            <a:endParaRPr lang="en-US" sz="800" dirty="0"/>
          </a:p>
        </p:txBody>
      </p:sp>
      <p:sp>
        <p:nvSpPr>
          <p:cNvPr id="5" name="Text 1"/>
          <p:cNvSpPr/>
          <p:nvPr/>
        </p:nvSpPr>
        <p:spPr>
          <a:xfrm>
            <a:off x="742950" y="1714500"/>
            <a:ext cx="4475316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24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GET IN TOUCH</a:t>
            </a:r>
            <a:endParaRPr lang="en-US" sz="800" dirty="0"/>
          </a:p>
        </p:txBody>
      </p:sp>
      <p:sp>
        <p:nvSpPr>
          <p:cNvPr id="6" name="Text 2"/>
          <p:cNvSpPr/>
          <p:nvPr/>
        </p:nvSpPr>
        <p:spPr>
          <a:xfrm>
            <a:off x="742950" y="1989534"/>
            <a:ext cx="3541966" cy="4354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3307"/>
              </a:lnSpc>
              <a:buNone/>
            </a:pPr>
            <a:r>
              <a:rPr lang="en-US" sz="3150" b="1" spc="-79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Let us engineer</a:t>
            </a:r>
            <a:endParaRPr lang="en-US" sz="3150" dirty="0"/>
          </a:p>
        </p:txBody>
      </p:sp>
      <p:sp>
        <p:nvSpPr>
          <p:cNvPr id="7" name="Text 3"/>
          <p:cNvSpPr/>
          <p:nvPr/>
        </p:nvSpPr>
        <p:spPr>
          <a:xfrm>
            <a:off x="742950" y="2452427"/>
            <a:ext cx="4088441" cy="453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07"/>
              </a:lnSpc>
              <a:buNone/>
            </a:pPr>
            <a:r>
              <a:rPr lang="en-US" sz="3150" b="1" i="1" spc="-79" kern="0" dirty="0">
                <a:solidFill>
                  <a:srgbClr val="FF6C0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what is next.</a:t>
            </a:r>
            <a:endParaRPr lang="en-US" sz="3150" dirty="0"/>
          </a:p>
        </p:txBody>
      </p:sp>
      <p:sp>
        <p:nvSpPr>
          <p:cNvPr id="8" name="Text 4"/>
          <p:cNvSpPr/>
          <p:nvPr/>
        </p:nvSpPr>
        <p:spPr>
          <a:xfrm>
            <a:off x="742950" y="3072482"/>
            <a:ext cx="342900" cy="21431"/>
          </a:xfrm>
          <a:prstGeom prst="roundRect">
            <a:avLst>
              <a:gd name="adj" fmla="val 88890"/>
            </a:avLst>
          </a:prstGeom>
          <a:solidFill>
            <a:srgbClr val="FF6C0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5"/>
          <p:cNvSpPr/>
          <p:nvPr/>
        </p:nvSpPr>
        <p:spPr>
          <a:xfrm>
            <a:off x="742950" y="3251076"/>
            <a:ext cx="3373301" cy="4195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3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info@kefitech.com · www.kefitech.com</a:t>
            </a:r>
            <a:endParaRPr lang="en-US" sz="900" dirty="0"/>
          </a:p>
          <a:p>
            <a:pPr algn="l" indent="0" marL="0">
              <a:lnSpc>
                <a:spcPts val="153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Bengaluru, India · Hyderabad, India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6400800" y="1714500"/>
            <a:ext cx="7144" cy="2000250"/>
          </a:xfrm>
          <a:prstGeom prst="rect">
            <a:avLst/>
          </a:prstGeom>
          <a:solidFill>
            <a:srgbClr val="CBD5E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7"/>
          <p:cNvSpPr/>
          <p:nvPr/>
        </p:nvSpPr>
        <p:spPr>
          <a:xfrm>
            <a:off x="6363044" y="1757363"/>
            <a:ext cx="79800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181"/>
              </a:lnSpc>
              <a:buNone/>
            </a:pPr>
            <a:r>
              <a:rPr lang="en-US" sz="800" spc="47" kern="0" dirty="0">
                <a:solidFill>
                  <a:srgbClr val="004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Discover.</a:t>
            </a:r>
            <a:endParaRPr lang="en-US" sz="800" dirty="0"/>
          </a:p>
        </p:txBody>
      </p:sp>
      <p:sp>
        <p:nvSpPr>
          <p:cNvPr id="12" name="Text 8"/>
          <p:cNvSpPr/>
          <p:nvPr/>
        </p:nvSpPr>
        <p:spPr>
          <a:xfrm>
            <a:off x="6363044" y="2135981"/>
            <a:ext cx="79800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181"/>
              </a:lnSpc>
              <a:buNone/>
            </a:pPr>
            <a:r>
              <a:rPr lang="en-US" sz="800" spc="47" kern="0" dirty="0">
                <a:solidFill>
                  <a:srgbClr val="004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Engineer.</a:t>
            </a:r>
            <a:endParaRPr lang="en-US" sz="800" dirty="0"/>
          </a:p>
        </p:txBody>
      </p:sp>
      <p:sp>
        <p:nvSpPr>
          <p:cNvPr id="13" name="Text 9"/>
          <p:cNvSpPr/>
          <p:nvPr/>
        </p:nvSpPr>
        <p:spPr>
          <a:xfrm>
            <a:off x="6363044" y="2514600"/>
            <a:ext cx="79800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181"/>
              </a:lnSpc>
              <a:buNone/>
            </a:pPr>
            <a:r>
              <a:rPr lang="en-US" sz="800" b="1" spc="47" kern="0" dirty="0">
                <a:solidFill>
                  <a:srgbClr val="FF6C0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Scale.</a:t>
            </a:r>
            <a:endParaRPr lang="en-US" sz="800" dirty="0"/>
          </a:p>
        </p:txBody>
      </p:sp>
      <p:sp>
        <p:nvSpPr>
          <p:cNvPr id="14" name="Shape 10"/>
          <p:cNvSpPr/>
          <p:nvPr/>
        </p:nvSpPr>
        <p:spPr>
          <a:xfrm>
            <a:off x="514350" y="4647009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514350" y="4754166"/>
            <a:ext cx="3335908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16" name="Text 12"/>
          <p:cNvSpPr/>
          <p:nvPr/>
        </p:nvSpPr>
        <p:spPr>
          <a:xfrm>
            <a:off x="3864546" y="4750594"/>
            <a:ext cx="2935746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12 / 12</a:t>
            </a:r>
            <a:endParaRPr lang="en-US" sz="800" dirty="0"/>
          </a:p>
        </p:txBody>
      </p:sp>
      <p:sp>
        <p:nvSpPr>
          <p:cNvPr id="17" name="Text 13"/>
          <p:cNvSpPr/>
          <p:nvPr/>
        </p:nvSpPr>
        <p:spPr>
          <a:xfrm>
            <a:off x="6814579" y="4750594"/>
            <a:ext cx="1923975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45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INFO@KEFITECH.COM · WWW.KEFITECH.COM</a:t>
            </a:r>
            <a:endParaRPr lang="en-US" sz="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2026-10-01T12:20:26Z</dcterms:created>
  <dcterms:modified xsi:type="dcterms:W3CDTF">2026-10-01T12:20:26Z</dcterms:modified>
</cp:coreProperties>
</file>