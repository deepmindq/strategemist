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236033-gdc1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65458" y="600075"/>
            <a:ext cx="34498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600" spc="79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EDGE COMPUTING &amp; IOT EDGE INTELLIGENCE · 2026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742950" y="1771650"/>
            <a:ext cx="72869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DEEP TECH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2032397"/>
            <a:ext cx="5429250" cy="749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5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Computing &amp; IoT Edge Intelligence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742950" y="2809503"/>
            <a:ext cx="586359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90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production.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42950" y="3909640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4059659"/>
            <a:ext cx="4783455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spc="-6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 where data lives — milliseconds matter.</a:t>
            </a:r>
            <a:endParaRPr lang="en-US" sz="1238" dirty="0"/>
          </a:p>
        </p:txBody>
      </p:sp>
      <p:sp>
        <p:nvSpPr>
          <p:cNvPr id="10" name="Text 6"/>
          <p:cNvSpPr/>
          <p:nvPr/>
        </p:nvSpPr>
        <p:spPr>
          <a:xfrm>
            <a:off x="6400800" y="1571625"/>
            <a:ext cx="7144" cy="2714625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572250" y="1871663"/>
            <a:ext cx="1943100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800" spc="1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r" indent="0" marL="0">
              <a:lnSpc>
                <a:spcPts val="945"/>
              </a:lnSpc>
              <a:buNone/>
            </a:pPr>
            <a:r>
              <a:rPr lang="en-US" sz="800" spc="14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Runtime &amp; Container Orchestration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475095" y="2411685"/>
            <a:ext cx="204025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800" spc="1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r" indent="0" marL="0">
              <a:lnSpc>
                <a:spcPts val="945"/>
              </a:lnSpc>
              <a:buNone/>
            </a:pPr>
            <a:r>
              <a:rPr lang="en-US" sz="800" spc="14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AI &amp; Inference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572250" y="2831716"/>
            <a:ext cx="1943100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800" spc="1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r" indent="0" marL="0">
              <a:lnSpc>
                <a:spcPts val="945"/>
              </a:lnSpc>
              <a:buNone/>
            </a:pPr>
            <a:r>
              <a:rPr lang="en-US" sz="800" spc="14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Discovery &amp; Resource Management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4350" y="4754166"/>
            <a:ext cx="58662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394884" y="4750594"/>
            <a:ext cx="234449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EDGE COMPUTING &amp; IOT EDGE INTELLIGENCE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069299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597936" y="457200"/>
            <a:ext cx="12962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· APPROACH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692944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CHALLENGE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82253"/>
            <a:ext cx="8629650" cy="635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3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most edge computing &amp; iot edge intelligence programs fail.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514350" y="1545059"/>
            <a:ext cx="585787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 between prototype and production is where engineering discipline matters most.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517922" y="1880815"/>
            <a:ext cx="4456249" cy="2801913"/>
          </a:xfrm>
          <a:prstGeom prst="roundRect">
            <a:avLst>
              <a:gd name="adj" fmla="val 407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2027262"/>
            <a:ext cx="4134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FAILURE POINTS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2220144"/>
            <a:ext cx="4134780" cy="399938"/>
          </a:xfrm>
          <a:prstGeom prst="roundRect">
            <a:avLst>
              <a:gd name="adj" fmla="val 142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78656" y="2223715"/>
            <a:ext cx="413478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9865" y="2220144"/>
            <a:ext cx="0" cy="3999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8656" y="2616510"/>
            <a:ext cx="413478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9372" y="2220144"/>
            <a:ext cx="0" cy="399938"/>
          </a:xfrm>
          <a:prstGeom prst="line">
            <a:avLst/>
          </a:prstGeom>
          <a:noFill/>
          <a:ln w="21431">
            <a:solidFill>
              <a:srgbClr val="FF6C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5813" y="230586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1014413" y="2298725"/>
            <a:ext cx="3815883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Prototype-grade architecture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14413" y="2431554"/>
            <a:ext cx="370615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 built for demos, not production load, latency, or reliability requirements.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678656" y="2677232"/>
            <a:ext cx="4134780" cy="399938"/>
          </a:xfrm>
          <a:prstGeom prst="roundRect">
            <a:avLst>
              <a:gd name="adj" fmla="val 142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78656" y="2680804"/>
            <a:ext cx="413478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9865" y="2677232"/>
            <a:ext cx="0" cy="3999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656" y="3073598"/>
            <a:ext cx="413478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9372" y="2677232"/>
            <a:ext cx="0" cy="399938"/>
          </a:xfrm>
          <a:prstGeom prst="line">
            <a:avLst/>
          </a:prstGeom>
          <a:noFill/>
          <a:ln w="21431">
            <a:solidFill>
              <a:srgbClr val="FF6C0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5813" y="276295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1014413" y="2755813"/>
            <a:ext cx="3815883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observability or evaluation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14413" y="2888642"/>
            <a:ext cx="370615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metrics for accuracy, latency, cost, or drift — teams fly blind in production.</a:t>
            </a:r>
            <a:endParaRPr lang="en-US" sz="619" dirty="0"/>
          </a:p>
        </p:txBody>
      </p:sp>
      <p:sp>
        <p:nvSpPr>
          <p:cNvPr id="25" name="Text 23"/>
          <p:cNvSpPr/>
          <p:nvPr/>
        </p:nvSpPr>
        <p:spPr>
          <a:xfrm>
            <a:off x="678656" y="3134320"/>
            <a:ext cx="4134780" cy="399938"/>
          </a:xfrm>
          <a:prstGeom prst="roundRect">
            <a:avLst>
              <a:gd name="adj" fmla="val 142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78656" y="3137892"/>
            <a:ext cx="413478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9865" y="3134320"/>
            <a:ext cx="0" cy="3999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8656" y="3530687"/>
            <a:ext cx="413478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9372" y="3134320"/>
            <a:ext cx="0" cy="399938"/>
          </a:xfrm>
          <a:prstGeom prst="line">
            <a:avLst/>
          </a:prstGeom>
          <a:noFill/>
          <a:ln w="21431">
            <a:solidFill>
              <a:srgbClr val="FF6C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5813" y="322004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31" name="Text 29"/>
          <p:cNvSpPr/>
          <p:nvPr/>
        </p:nvSpPr>
        <p:spPr>
          <a:xfrm>
            <a:off x="1014413" y="3212902"/>
            <a:ext cx="3706155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 afterthought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14413" y="3345731"/>
            <a:ext cx="370615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guardrails, no audit trails, no compliance — bolted on after launch.</a:t>
            </a:r>
            <a:endParaRPr lang="en-US" sz="619" dirty="0"/>
          </a:p>
        </p:txBody>
      </p:sp>
      <p:sp>
        <p:nvSpPr>
          <p:cNvPr id="33" name="Text 31"/>
          <p:cNvSpPr/>
          <p:nvPr/>
        </p:nvSpPr>
        <p:spPr>
          <a:xfrm>
            <a:off x="678656" y="3591409"/>
            <a:ext cx="4134780" cy="399938"/>
          </a:xfrm>
          <a:prstGeom prst="roundRect">
            <a:avLst>
              <a:gd name="adj" fmla="val 142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78656" y="3594981"/>
            <a:ext cx="413478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9865" y="3591409"/>
            <a:ext cx="0" cy="3999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8656" y="3987775"/>
            <a:ext cx="413478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9372" y="3591409"/>
            <a:ext cx="0" cy="399938"/>
          </a:xfrm>
          <a:prstGeom prst="line">
            <a:avLst/>
          </a:prstGeom>
          <a:noFill/>
          <a:ln w="21431">
            <a:solidFill>
              <a:srgbClr val="FF6C0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5813" y="367713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39" name="Text 37"/>
          <p:cNvSpPr/>
          <p:nvPr/>
        </p:nvSpPr>
        <p:spPr>
          <a:xfrm>
            <a:off x="1014413" y="3669990"/>
            <a:ext cx="3706155" cy="105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operational maturity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14413" y="3802819"/>
            <a:ext cx="370615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CI/CD for models, no rollback, no A/B testing, no drift detection.</a:t>
            </a:r>
            <a:endParaRPr lang="en-US" sz="619" dirty="0"/>
          </a:p>
        </p:txBody>
      </p:sp>
      <p:sp>
        <p:nvSpPr>
          <p:cNvPr id="41" name="Text 39"/>
          <p:cNvSpPr/>
          <p:nvPr/>
        </p:nvSpPr>
        <p:spPr>
          <a:xfrm>
            <a:off x="5149193" y="1877244"/>
            <a:ext cx="3651796" cy="2809056"/>
          </a:xfrm>
          <a:prstGeom prst="roundRect">
            <a:avLst>
              <a:gd name="adj" fmla="val 406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149193" y="1880815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97417" y="1877244"/>
            <a:ext cx="0" cy="2809056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49193" y="4682728"/>
            <a:ext cx="365179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59908" y="1877244"/>
            <a:ext cx="0" cy="2809056"/>
          </a:xfrm>
          <a:prstGeom prst="line">
            <a:avLst/>
          </a:prstGeom>
          <a:noFill/>
          <a:ln w="21431">
            <a:solidFill>
              <a:srgbClr val="004C9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27786" y="2027262"/>
            <a:ext cx="33088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APPROACH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27786" y="2234431"/>
            <a:ext cx="3308896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treat edge computing &amp; iot edge intelligence as an engineering discipline, not a science experiment. Every engagement starts with production requirements — latency, throughput, reliability, cost, compliance — and engineers backward from those constraints.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327786" y="4400550"/>
            <a:ext cx="199723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327786" y="4400550"/>
            <a:ext cx="199723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 · ENGINEERING-GRADE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4350" y="4754166"/>
            <a:ext cx="402695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55592" y="4750594"/>
            <a:ext cx="35771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124125" y="4750594"/>
            <a:ext cx="528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863023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91660" y="457200"/>
            <a:ext cx="14662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MAP · 4 AREAS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692944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82253"/>
            <a:ext cx="86296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3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capability areas. One engineering system.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514350" y="1249375"/>
            <a:ext cx="585787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capability area is a deep technical domain — not a generic service line.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517922" y="1570844"/>
            <a:ext cx="3993356" cy="1495165"/>
          </a:xfrm>
          <a:prstGeom prst="roundRect">
            <a:avLst>
              <a:gd name="adj" fmla="val 764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7494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9" name="Text 7"/>
          <p:cNvSpPr/>
          <p:nvPr/>
        </p:nvSpPr>
        <p:spPr>
          <a:xfrm>
            <a:off x="4092811" y="1731578"/>
            <a:ext cx="28496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50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692944" y="2038759"/>
            <a:ext cx="3753041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Runtime &amp; Container Orchestration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692944" y="2298725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edge runtime &amp; container orchestration with real platforms and tools.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32722" y="1570844"/>
            <a:ext cx="3993356" cy="1495165"/>
          </a:xfrm>
          <a:prstGeom prst="roundRect">
            <a:avLst>
              <a:gd name="adj" fmla="val 7645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7744" y="17494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969" dirty="0"/>
          </a:p>
        </p:txBody>
      </p:sp>
      <p:sp>
        <p:nvSpPr>
          <p:cNvPr id="14" name="Text 12"/>
          <p:cNvSpPr/>
          <p:nvPr/>
        </p:nvSpPr>
        <p:spPr>
          <a:xfrm>
            <a:off x="8207611" y="1731578"/>
            <a:ext cx="28496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50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4807744" y="2038759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AI &amp; Inference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4807744" y="2298725"/>
            <a:ext cx="36433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edge ai &amp; inference with real platforms and tools.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17922" y="3187452"/>
            <a:ext cx="3993356" cy="1495276"/>
          </a:xfrm>
          <a:prstGeom prst="roundRect">
            <a:avLst>
              <a:gd name="adj" fmla="val 764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2944" y="336604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4092811" y="3348186"/>
            <a:ext cx="28496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50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692944" y="3655368"/>
            <a:ext cx="3643313" cy="407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Device Discovery &amp; Resource Management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692944" y="4103861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device discovery &amp; resource management with real platforms and tools.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32722" y="3187452"/>
            <a:ext cx="3993356" cy="1495276"/>
          </a:xfrm>
          <a:prstGeom prst="roundRect">
            <a:avLst>
              <a:gd name="adj" fmla="val 764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07744" y="336604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24" name="Text 22"/>
          <p:cNvSpPr/>
          <p:nvPr/>
        </p:nvSpPr>
        <p:spPr>
          <a:xfrm>
            <a:off x="8207611" y="3348186"/>
            <a:ext cx="28496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50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238" dirty="0"/>
          </a:p>
        </p:txBody>
      </p:sp>
      <p:sp>
        <p:nvSpPr>
          <p:cNvPr id="25" name="Text 23"/>
          <p:cNvSpPr/>
          <p:nvPr/>
        </p:nvSpPr>
        <p:spPr>
          <a:xfrm>
            <a:off x="4807744" y="3655368"/>
            <a:ext cx="3753040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Connectivity &amp; Protocols</a:t>
            </a:r>
            <a:endParaRPr lang="en-US" sz="1238" dirty="0"/>
          </a:p>
        </p:txBody>
      </p:sp>
      <p:sp>
        <p:nvSpPr>
          <p:cNvPr id="26" name="Text 24"/>
          <p:cNvSpPr/>
          <p:nvPr/>
        </p:nvSpPr>
        <p:spPr>
          <a:xfrm>
            <a:off x="4807744" y="3915333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edge connectivity &amp; protocols with real platforms and tools.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120868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49505" y="457200"/>
            <a:ext cx="12314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OF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78656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53678"/>
            <a:ext cx="86296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3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Runtime &amp; Container Orchestration.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514350" y="1206512"/>
            <a:ext cx="585787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517922" y="1513694"/>
            <a:ext cx="4456249" cy="3169034"/>
          </a:xfrm>
          <a:prstGeom prst="roundRect">
            <a:avLst>
              <a:gd name="adj" fmla="val 360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674428"/>
            <a:ext cx="41062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1881597"/>
            <a:ext cx="410620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edge runtime &amp; container orchestration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92944" y="4261247"/>
            <a:ext cx="410620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084" y="437854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2944" y="4386263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24190" y="1513694"/>
            <a:ext cx="3644652" cy="3169034"/>
          </a:xfrm>
          <a:prstGeom prst="roundRect">
            <a:avLst>
              <a:gd name="adj" fmla="val 360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56349" y="1645853"/>
            <a:ext cx="338033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59921" y="1828019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4930" y="188874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27811" y="18887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5720693" y="1881597"/>
            <a:ext cx="29471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K3s Lightweight Kubernetes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20693" y="1998687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Rancher K3s — single binary, embedded SQLite / etcd, Kine storage backend, ARM64 + x86 support.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59921" y="2302297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34930" y="2363019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27811" y="23630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5720693" y="2355875"/>
            <a:ext cx="28374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KubeEdge Cloud-Edge Sync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20693" y="2472965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KubeEdge (CNCF) — CloudHub + EdgeHub + EdgeController, MQTT edge sync, device CRDs via DeviceTwin / Mapper.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59921" y="2776575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34930" y="283729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27811" y="28372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720693" y="2830153"/>
            <a:ext cx="28374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IoT Edge Runtime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20693" y="2947243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IoT Edge — modules via Docker, edgeHub / edgeAgent, twin sync via IoT Hub, Offline + Store-and-Forward.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59921" y="3250853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334930" y="331157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27811" y="33115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720693" y="3304431"/>
            <a:ext cx="29471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AWS Greengrass v2 Components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20693" y="3421521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Greengrass v2 — component recipes, Lambda functions at edge, stream manager, IPC via IPC socket.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59921" y="3725131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334930" y="3785853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27811" y="37858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5720693" y="3778709"/>
            <a:ext cx="29471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Eclipse ioFog Edge Orchestration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20693" y="3895799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Eclipse ioFog — Edge Agent + Connector, microservices on edge, port-based routing via Controller.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4350" y="4754166"/>
            <a:ext cx="331257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841217" y="4750594"/>
            <a:ext cx="286263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18139" y="4750594"/>
            <a:ext cx="202123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RUNTIME &amp; CONTAINER ORCHESTRATION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120868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49505" y="457200"/>
            <a:ext cx="12314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OF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78656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53678"/>
            <a:ext cx="8521065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3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AI &amp; Inference.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514350" y="1206512"/>
            <a:ext cx="585787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517922" y="1513694"/>
            <a:ext cx="4456249" cy="3169034"/>
          </a:xfrm>
          <a:prstGeom prst="roundRect">
            <a:avLst>
              <a:gd name="adj" fmla="val 360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674428"/>
            <a:ext cx="41062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1881597"/>
            <a:ext cx="410620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edge ai &amp; inference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92944" y="4261247"/>
            <a:ext cx="410620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084" y="437854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2944" y="4386263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24190" y="1513694"/>
            <a:ext cx="3644652" cy="3169034"/>
          </a:xfrm>
          <a:prstGeom prst="roundRect">
            <a:avLst>
              <a:gd name="adj" fmla="val 360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56349" y="1645853"/>
            <a:ext cx="338033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59921" y="1828019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4930" y="188874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27811" y="18887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5720693" y="1881597"/>
            <a:ext cx="28374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 Jetson Edge AI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20693" y="1998687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Jetson Orin / AGX / Nano — TensorRT, DeepStream SDK, Isaac ROS, CUDA cores for autonomous inference.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59921" y="2302297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34930" y="2363019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27811" y="23630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5720693" y="2355875"/>
            <a:ext cx="29471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Inference via ONNX Runtime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20693" y="2472965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ONNX Runtime — quantized models (dynamic / Q-DQ), execution provider (CUDA, TensorRT, OpenVINO).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59921" y="2776575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34930" y="283729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27811" y="28372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720693" y="2830153"/>
            <a:ext cx="28374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TFLite Mobile Inference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20693" y="2947243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TensorFlow Lite — model conversion via TFLite Converter, GPU delegate, NNAPI (Android), CoreML (iOS).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59921" y="3250853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334930" y="331157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27811" y="33115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720693" y="3304431"/>
            <a:ext cx="28374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OpenVINO Intel Edge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20693" y="3421521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OpenVINO — model optimizer (TF / PyTorch → IR), inference engine, GPU/VPU/CPU plugins.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59921" y="3725131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334930" y="3785853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27811" y="37858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5720693" y="3778709"/>
            <a:ext cx="29471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WasmEdge Serverless Inference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20693" y="3895799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WasmEdge — WebAssembly container for AI inference, SSVM / wasi-nn plugin, cold-start &lt; 1ms.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4350" y="4754166"/>
            <a:ext cx="38147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343400" y="4750594"/>
            <a:ext cx="33649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722617" y="4750594"/>
            <a:ext cx="90703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AI &amp; INFERENCE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120868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49505" y="457200"/>
            <a:ext cx="12314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OF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78656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53678"/>
            <a:ext cx="86296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3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Device Discovery &amp; Resource Management.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514350" y="1206512"/>
            <a:ext cx="585787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517922" y="1513694"/>
            <a:ext cx="4456249" cy="3169034"/>
          </a:xfrm>
          <a:prstGeom prst="roundRect">
            <a:avLst>
              <a:gd name="adj" fmla="val 360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674428"/>
            <a:ext cx="41062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1881597"/>
            <a:ext cx="410620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device discovery &amp; resource management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92944" y="4261247"/>
            <a:ext cx="410620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084" y="437854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2944" y="4386263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24190" y="1513694"/>
            <a:ext cx="3644652" cy="3169034"/>
          </a:xfrm>
          <a:prstGeom prst="roundRect">
            <a:avLst>
              <a:gd name="adj" fmla="val 360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56349" y="1645853"/>
            <a:ext cx="338033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59921" y="1828019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4930" y="188874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27811" y="18887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5720693" y="1881597"/>
            <a:ext cx="28374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Akri Device Discovery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20693" y="1998687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Akri (CNCF) — k8s CRDs to discover IP cameras (ONVIF), OPC UA devices, automatically expose as services.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59921" y="2302297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34930" y="2363019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27811" y="23630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5720693" y="2355875"/>
            <a:ext cx="29471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Eclipse Ditto Digital Twins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20693" y="2472965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Eclipse Ditto — digital twin of devices, JSON-based policies, search via MongoDB / Elasticsearch.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59921" y="2776575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34930" y="283729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27811" y="28372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720693" y="2830153"/>
            <a:ext cx="29471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Microsoft Module Management (MMS)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20693" y="2947243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IoT Edge module management via Azure CLI / IoT Hub REST, deployment manifests, layered deployment.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59921" y="3250853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334930" y="331157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27811" y="33115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720693" y="3304431"/>
            <a:ext cx="28374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Device Management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20693" y="3421521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Core — fleet indexing, jobs OTA, device shadows (classic / named), thing groups / thing types.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59921" y="3725131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334930" y="3785853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27811" y="37858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5720693" y="3778709"/>
            <a:ext cx="29471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EdgeX Foundry IoT Framework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20693" y="3895799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EdgeX Foundry (LF Edge) — device services (Modbus, MQTT, REST), core data / metadata, app services pipelines.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4350" y="4754166"/>
            <a:ext cx="329661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825255" y="4750594"/>
            <a:ext cx="284667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686215" y="4750594"/>
            <a:ext cx="205316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DEVICE DISCOVERY &amp; RESOURCE MANAGEMENT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120868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649505" y="457200"/>
            <a:ext cx="12314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OF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78656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53678"/>
            <a:ext cx="86296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3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Connectivity &amp; Protocols.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514350" y="1206512"/>
            <a:ext cx="585787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517922" y="1513694"/>
            <a:ext cx="4456249" cy="3169034"/>
          </a:xfrm>
          <a:prstGeom prst="roundRect">
            <a:avLst>
              <a:gd name="adj" fmla="val 360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674428"/>
            <a:ext cx="41062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1881597"/>
            <a:ext cx="410620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edge connectivity &amp; protocols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92944" y="4261247"/>
            <a:ext cx="410620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084" y="4378547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2944" y="4386263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24190" y="1513694"/>
            <a:ext cx="3644652" cy="3169034"/>
          </a:xfrm>
          <a:prstGeom prst="roundRect">
            <a:avLst>
              <a:gd name="adj" fmla="val 360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56349" y="1645853"/>
            <a:ext cx="338033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59921" y="1828019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4930" y="188874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27811" y="18887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5720693" y="1881597"/>
            <a:ext cx="29471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OPC UA Industrial Protocol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20693" y="1998687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OPC UA (IEC 62541) — Pub/Sub model, TSN (Time-Sensitive Networking), Unified Architecture .NET / Python (asyncua).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59921" y="2302297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34930" y="2363019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27811" y="23630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1"/>
          <p:cNvSpPr/>
          <p:nvPr/>
        </p:nvSpPr>
        <p:spPr>
          <a:xfrm>
            <a:off x="5720693" y="2355875"/>
            <a:ext cx="28374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MQTT Sparkplug 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20693" y="2472965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Eclipse Mosquitto / HiveMQ — Sparkplug B (industrial MQTT), topic namespace, birth/death certificates, stateful payload.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59921" y="2776575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34930" y="283729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27811" y="28372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720693" y="2830153"/>
            <a:ext cx="29471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Apache PLC4X Industrial Connectivity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20693" y="2947243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PLC4X — Siemens S7, Modbus, Beckhoff ADS, Allen-Bradley EtherNet/IP drivers.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259921" y="3250853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334930" y="331157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27811" y="33115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720693" y="3304431"/>
            <a:ext cx="28374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LoRaWAN Long-Range IoT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20693" y="3421521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LoRaWAN (LoRa Alliance) — Class A/B/C end devices, ChirpStack / TTN (The Things Network) network server.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59921" y="3725131"/>
            <a:ext cx="3373189" cy="424272"/>
          </a:xfrm>
          <a:prstGeom prst="roundRect">
            <a:avLst>
              <a:gd name="adj" fmla="val 1347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334930" y="3785853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27811" y="37858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8" name="Text 36"/>
          <p:cNvSpPr/>
          <p:nvPr/>
        </p:nvSpPr>
        <p:spPr>
          <a:xfrm>
            <a:off x="5720693" y="3778709"/>
            <a:ext cx="28374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Core for LoRaWAN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20693" y="3895799"/>
            <a:ext cx="2837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Core for LoRaWAN — LoRaWAN network server, FUOTA firmware updates, integrated with Greengrass.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4350" y="4754166"/>
            <a:ext cx="353816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66803" y="4750594"/>
            <a:ext cx="308833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69423" y="4750594"/>
            <a:ext cx="154784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CONNECTIVITY &amp; PROTOCOLS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759885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288523" y="457200"/>
            <a:ext cx="1460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APPLICATIONS · 4 SCENARIOS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692944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APPLICATIONS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82253"/>
            <a:ext cx="86296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3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creates engineering value.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514350" y="1249375"/>
            <a:ext cx="6286500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specific engineering scenarios where edge computing &amp; iot edge intelligence delivers measurable production impact.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517922" y="1731578"/>
            <a:ext cx="3993356" cy="1414797"/>
          </a:xfrm>
          <a:prstGeom prst="roundRect">
            <a:avLst>
              <a:gd name="adj" fmla="val 807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91017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9" name="Text 7"/>
          <p:cNvSpPr/>
          <p:nvPr/>
        </p:nvSpPr>
        <p:spPr>
          <a:xfrm>
            <a:off x="4200754" y="1892312"/>
            <a:ext cx="16998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50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692944" y="2199494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692944" y="2459459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production-grade deployment with real reliability, latency, and cost SLAs.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32722" y="1731578"/>
            <a:ext cx="3993356" cy="1414797"/>
          </a:xfrm>
          <a:prstGeom prst="roundRect">
            <a:avLst>
              <a:gd name="adj" fmla="val 807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07744" y="191017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4" name="Text 12"/>
          <p:cNvSpPr/>
          <p:nvPr/>
        </p:nvSpPr>
        <p:spPr>
          <a:xfrm>
            <a:off x="8207611" y="1892312"/>
            <a:ext cx="28496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50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4807744" y="2199494"/>
            <a:ext cx="3753040" cy="203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Operations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4807744" y="2459459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monitoring, evaluation, drift detection, and operational runbooks for production systems.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7922" y="3267819"/>
            <a:ext cx="3993356" cy="1414909"/>
          </a:xfrm>
          <a:prstGeom prst="roundRect">
            <a:avLst>
              <a:gd name="adj" fmla="val 80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2944" y="344641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3984869" y="3428554"/>
            <a:ext cx="39994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50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692944" y="3735735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Compliance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692944" y="3995700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engineering, compliance automation, and audit-ready evidence collection built into the pipeline.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32722" y="3267819"/>
            <a:ext cx="3993356" cy="1414909"/>
          </a:xfrm>
          <a:prstGeom prst="roundRect">
            <a:avLst>
              <a:gd name="adj" fmla="val 807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07744" y="344641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4" name="Text 22"/>
          <p:cNvSpPr/>
          <p:nvPr/>
        </p:nvSpPr>
        <p:spPr>
          <a:xfrm>
            <a:off x="8207611" y="3428554"/>
            <a:ext cx="28496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50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1238" dirty="0"/>
          </a:p>
        </p:txBody>
      </p:sp>
      <p:sp>
        <p:nvSpPr>
          <p:cNvPr id="25" name="Text 23"/>
          <p:cNvSpPr/>
          <p:nvPr/>
        </p:nvSpPr>
        <p:spPr>
          <a:xfrm>
            <a:off x="4807744" y="3735735"/>
            <a:ext cx="3643313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&amp; Optimization</a:t>
            </a:r>
            <a:endParaRPr lang="en-US" sz="1238" dirty="0"/>
          </a:p>
        </p:txBody>
      </p:sp>
      <p:sp>
        <p:nvSpPr>
          <p:cNvPr id="26" name="Text 24"/>
          <p:cNvSpPr/>
          <p:nvPr/>
        </p:nvSpPr>
        <p:spPr>
          <a:xfrm>
            <a:off x="4807744" y="3995700"/>
            <a:ext cx="36433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 from single-tenant to multi-tenant, optimizing cost, latency, and resource utilization.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398791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927428" y="457200"/>
            <a:ext cx="18734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REFERENCE ARCHITECTURE · 5 LAYERS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664369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25103"/>
            <a:ext cx="7700963" cy="52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production reference architecture for edge computing &amp; iot edge intelligence.</a:t>
            </a:r>
            <a:endParaRPr lang="en-US" sz="1688" dirty="0"/>
          </a:p>
        </p:txBody>
      </p:sp>
      <p:sp>
        <p:nvSpPr>
          <p:cNvPr id="6" name="Text 4"/>
          <p:cNvSpPr/>
          <p:nvPr/>
        </p:nvSpPr>
        <p:spPr>
          <a:xfrm>
            <a:off x="514350" y="1382316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platform and tool names — not generic architecture diagrams.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678781"/>
            <a:ext cx="8108156" cy="492919"/>
          </a:xfrm>
          <a:prstGeom prst="roundRect">
            <a:avLst>
              <a:gd name="adj" fmla="val 1545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1494" y="1682353"/>
            <a:ext cx="1000125" cy="48577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518047" y="1682353"/>
            <a:ext cx="0" cy="4857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494" y="1682353"/>
            <a:ext cx="1000125" cy="48577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1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RUNTIME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35919" y="1798139"/>
            <a:ext cx="362880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35919" y="1810941"/>
            <a:ext cx="3628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K3s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84524" y="1798139"/>
            <a:ext cx="670620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84524" y="1810941"/>
            <a:ext cx="6706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KubeEdge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40868" y="1798139"/>
            <a:ext cx="911833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840868" y="1810941"/>
            <a:ext cx="9118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IoT Edge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38426" y="1798139"/>
            <a:ext cx="1133289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38426" y="1810941"/>
            <a:ext cx="11332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AWS Greengrass v2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7922" y="2250281"/>
            <a:ext cx="8108156" cy="492919"/>
          </a:xfrm>
          <a:prstGeom prst="roundRect">
            <a:avLst>
              <a:gd name="adj" fmla="val 1545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21494" y="2253853"/>
            <a:ext cx="1000125" cy="48577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518047" y="2253853"/>
            <a:ext cx="0" cy="4857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494" y="2253853"/>
            <a:ext cx="1000125" cy="48577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2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AI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635919" y="2369639"/>
            <a:ext cx="857027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613856" y="2382441"/>
            <a:ext cx="9011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 Jetson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78671" y="2369639"/>
            <a:ext cx="904019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578671" y="2382441"/>
            <a:ext cx="9040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ONNX Runtime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68415" y="2369639"/>
            <a:ext cx="943198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568415" y="2382441"/>
            <a:ext cx="9431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TensorFlow Lite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97338" y="2369639"/>
            <a:ext cx="682005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597338" y="2382441"/>
            <a:ext cx="6820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OpenVINO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7922" y="2821781"/>
            <a:ext cx="8108156" cy="492919"/>
          </a:xfrm>
          <a:prstGeom prst="roundRect">
            <a:avLst>
              <a:gd name="adj" fmla="val 1545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1494" y="2825353"/>
            <a:ext cx="1000125" cy="48577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518047" y="2825353"/>
            <a:ext cx="0" cy="4857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494" y="2825353"/>
            <a:ext cx="1000125" cy="48577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3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DEVICE MGMT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35919" y="2941139"/>
            <a:ext cx="380851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635919" y="2953941"/>
            <a:ext cx="3808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Akri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102495" y="2941139"/>
            <a:ext cx="795747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079765" y="2953941"/>
            <a:ext cx="841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Eclipse Ditto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983967" y="2941139"/>
            <a:ext cx="835707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983967" y="2953941"/>
            <a:ext cx="835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Core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05399" y="2941139"/>
            <a:ext cx="916744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905399" y="2953941"/>
            <a:ext cx="9167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EdgeX Foundry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7922" y="3393281"/>
            <a:ext cx="8108156" cy="492919"/>
          </a:xfrm>
          <a:prstGeom prst="roundRect">
            <a:avLst>
              <a:gd name="adj" fmla="val 1545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1494" y="3396853"/>
            <a:ext cx="1000125" cy="48577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1518047" y="3396853"/>
            <a:ext cx="0" cy="4857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494" y="3396853"/>
            <a:ext cx="1000125" cy="48577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4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PROTOCOL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635919" y="3512639"/>
            <a:ext cx="547613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635919" y="3525441"/>
            <a:ext cx="5476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OPC UA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269257" y="3512639"/>
            <a:ext cx="1081274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269257" y="3525441"/>
            <a:ext cx="10812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MQTT Sparkplug B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436255" y="3512639"/>
            <a:ext cx="877230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436255" y="3525441"/>
            <a:ext cx="8772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Apache PLC4X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399211" y="3512639"/>
            <a:ext cx="651979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399211" y="3525441"/>
            <a:ext cx="65197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LoRaWAN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17922" y="3964781"/>
            <a:ext cx="8108156" cy="492919"/>
          </a:xfrm>
          <a:prstGeom prst="roundRect">
            <a:avLst>
              <a:gd name="adj" fmla="val 1545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21494" y="3968353"/>
            <a:ext cx="1000125" cy="48577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1518047" y="3968353"/>
            <a:ext cx="0" cy="48577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494" y="3968353"/>
            <a:ext cx="1000125" cy="48577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5</a:t>
            </a:r>
            <a:endParaRPr lang="en-US" sz="800" dirty="0"/>
          </a:p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&amp; SYNC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635919" y="4084139"/>
            <a:ext cx="817959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624295" y="4096941"/>
            <a:ext cx="841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Eclipse ioFog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539603" y="4084139"/>
            <a:ext cx="1196020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2539603" y="4096941"/>
            <a:ext cx="11960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Device Update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821348" y="4084139"/>
            <a:ext cx="816732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821348" y="4096941"/>
            <a:ext cx="8167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Jobs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723805" y="4084139"/>
            <a:ext cx="780343" cy="254203"/>
          </a:xfrm>
          <a:prstGeom prst="roundRect">
            <a:avLst>
              <a:gd name="adj" fmla="val 1498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723805" y="4096941"/>
            <a:ext cx="78034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Eclipse Kura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7172437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701074" y="457200"/>
            <a:ext cx="11666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ROADMAP · 4 STAGES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64369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25103"/>
            <a:ext cx="7700963" cy="563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phased engineering roadmap from assessment to production.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416472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carries concrete engineering deliverables, technical milestones, and exit criteria.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712937"/>
            <a:ext cx="1935956" cy="296979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5794" y="1845097"/>
            <a:ext cx="170021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35794" y="2034406"/>
            <a:ext cx="1700213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Assessment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635794" y="2251509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5794" y="2472965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5794" y="2594409"/>
            <a:ext cx="1802225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35794" y="2762287"/>
            <a:ext cx="1700213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audit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landscape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analysis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roadmap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5794" y="4336256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794" y="4332684"/>
            <a:ext cx="1700213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5322" y="1712937"/>
            <a:ext cx="1935956" cy="296979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93194" y="1845097"/>
            <a:ext cx="170021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93194" y="2034406"/>
            <a:ext cx="1700213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Engineering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2693194" y="2251509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3–6 WEEKS · FIXED FEE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93194" y="2472965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93194" y="2594409"/>
            <a:ext cx="1802225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93194" y="2762287"/>
            <a:ext cx="1700213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platform setup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stack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baseline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93194" y="4336256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3194" y="4332684"/>
            <a:ext cx="1700213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32722" y="1712937"/>
            <a:ext cx="1935956" cy="296979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50594" y="1845097"/>
            <a:ext cx="170021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0594" y="2034406"/>
            <a:ext cx="1700213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Build</a:t>
            </a:r>
            <a:endParaRPr lang="en-US" sz="956" dirty="0"/>
          </a:p>
        </p:txBody>
      </p:sp>
      <p:sp>
        <p:nvSpPr>
          <p:cNvPr id="28" name="Text 26"/>
          <p:cNvSpPr/>
          <p:nvPr/>
        </p:nvSpPr>
        <p:spPr>
          <a:xfrm>
            <a:off x="4750594" y="2251509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0594" y="2472965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50594" y="2594409"/>
            <a:ext cx="1802225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0594" y="2762287"/>
            <a:ext cx="1700213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validation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hardening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+ handover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0594" y="4336256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0594" y="4332684"/>
            <a:ext cx="1700213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90122" y="1712937"/>
            <a:ext cx="1935956" cy="296979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07994" y="1845097"/>
            <a:ext cx="1700213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07994" y="2034406"/>
            <a:ext cx="1700212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Engineering</a:t>
            </a:r>
            <a:endParaRPr lang="en-US" sz="956" dirty="0"/>
          </a:p>
        </p:txBody>
      </p:sp>
      <p:sp>
        <p:nvSpPr>
          <p:cNvPr id="37" name="Text 35"/>
          <p:cNvSpPr/>
          <p:nvPr/>
        </p:nvSpPr>
        <p:spPr>
          <a:xfrm>
            <a:off x="6807994" y="2251509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07994" y="2472965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07994" y="2594409"/>
            <a:ext cx="1802225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07994" y="2762287"/>
            <a:ext cx="1700213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operations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architecture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engineering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807994" y="4336256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7994" y="4332684"/>
            <a:ext cx="1700212" cy="21788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5" kern="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4350" y="4754166"/>
            <a:ext cx="406724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95887" y="4750594"/>
            <a:ext cx="36173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20112" y="4750594"/>
            <a:ext cx="4169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0772"/>
            <a:ext cx="6605067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133704" y="457200"/>
            <a:ext cx="163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BEST PRACTICES · 4 PRINCIPLES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14350" y="692944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BEST PRACTICES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867966"/>
            <a:ext cx="7700963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that separate production from prototype.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14350" y="1199369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theoretical — these are the engineering disciplines we enforce on every engagement.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506550"/>
            <a:ext cx="3993356" cy="1525525"/>
          </a:xfrm>
          <a:prstGeom prst="roundRect">
            <a:avLst>
              <a:gd name="adj" fmla="val 49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4350" y="1510122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4134" y="1506550"/>
            <a:ext cx="0" cy="15255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4350" y="3028504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8638" y="1506550"/>
            <a:ext cx="0" cy="1525525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4375" y="1670856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14375" y="1881597"/>
            <a:ext cx="3724466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spc="-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requirements first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714375" y="2113769"/>
            <a:ext cx="3614738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latency, throughput, reliability, cost, and compliance SLAs. Engineer backward from constraints, not forward from tools.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36294" y="1506550"/>
            <a:ext cx="3993356" cy="1525525"/>
          </a:xfrm>
          <a:prstGeom prst="roundRect">
            <a:avLst>
              <a:gd name="adj" fmla="val 49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36294" y="1510122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26078" y="1506550"/>
            <a:ext cx="0" cy="15255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36294" y="3028504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50581" y="1506550"/>
            <a:ext cx="0" cy="1525525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36319" y="1670856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36319" y="1881597"/>
            <a:ext cx="372446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spc="-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is not optional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4836319" y="2113769"/>
            <a:ext cx="3614738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system ships with distributed tracing, metrics, and logging from day one. If you can't measure it, you can't operate it.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4350" y="3160663"/>
            <a:ext cx="3993356" cy="1525637"/>
          </a:xfrm>
          <a:prstGeom prst="roundRect">
            <a:avLst>
              <a:gd name="adj" fmla="val 49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14350" y="3164235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4134" y="3160663"/>
            <a:ext cx="0" cy="1525637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4350" y="4682728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638" y="3160663"/>
            <a:ext cx="0" cy="1525637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4375" y="3324969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4375" y="3535710"/>
            <a:ext cx="36147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spc="-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in the pipeline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714375" y="3767882"/>
            <a:ext cx="3614738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scanning, SBOM, and compliance checks embedded in CI/CD — not a separate audit after launch.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36294" y="3160663"/>
            <a:ext cx="3993356" cy="1525637"/>
          </a:xfrm>
          <a:prstGeom prst="roundRect">
            <a:avLst>
              <a:gd name="adj" fmla="val 499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36294" y="3164235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26078" y="3160663"/>
            <a:ext cx="0" cy="1525637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36294" y="4682728"/>
            <a:ext cx="3993356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50581" y="3160663"/>
            <a:ext cx="0" cy="1525637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36319" y="3324969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D43F0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36319" y="3535710"/>
            <a:ext cx="361473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spc="-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for rollback</a:t>
            </a:r>
            <a:endParaRPr lang="en-US" sz="1013" dirty="0"/>
          </a:p>
        </p:txBody>
      </p:sp>
      <p:sp>
        <p:nvSpPr>
          <p:cNvPr id="38" name="Text 36"/>
          <p:cNvSpPr/>
          <p:nvPr/>
        </p:nvSpPr>
        <p:spPr>
          <a:xfrm>
            <a:off x="4836319" y="3767882"/>
            <a:ext cx="3614738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deployment must be reversible. Feature flags, blue-green, canary — not big-bang deployments.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4350" y="4754166"/>
            <a:ext cx="392917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457812" y="4750594"/>
            <a:ext cx="34792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51329" y="4750594"/>
            <a:ext cx="6783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PRACTICES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243526-f9ddm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857375"/>
            <a:ext cx="45677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2118122"/>
            <a:ext cx="3573494" cy="4211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566727"/>
            <a:ext cx="3988699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3186782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365376"/>
            <a:ext cx="3403327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spc="-4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spc="-4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400800" y="1428750"/>
            <a:ext cx="7144" cy="2857500"/>
          </a:xfrm>
          <a:prstGeom prst="rect">
            <a:avLst/>
          </a:prstGeom>
          <a:solidFill>
            <a:srgbClr val="94A3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752786" y="2000250"/>
            <a:ext cx="7625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752786" y="2493169"/>
            <a:ext cx="7625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006974" y="2986088"/>
            <a:ext cx="5083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2026-10-01T12:20:43Z</dcterms:created>
  <dcterms:modified xsi:type="dcterms:W3CDTF">2026-10-01T12:20:43Z</dcterms:modified>
</cp:coreProperties>
</file>