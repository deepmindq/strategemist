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358318-3u8nt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142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017" y="642938"/>
            <a:ext cx="28136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MAINFRAME-TO-CLOUD MODERNIZATION · 2026</a:t>
            </a:r>
            <a:endParaRPr lang="en-US" sz="619" dirty="0"/>
          </a:p>
        </p:txBody>
      </p:sp>
      <p:sp>
        <p:nvSpPr>
          <p:cNvPr id="5" name="Text 1"/>
          <p:cNvSpPr/>
          <p:nvPr/>
        </p:nvSpPr>
        <p:spPr>
          <a:xfrm>
            <a:off x="742950" y="1771650"/>
            <a:ext cx="69754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DEEP TECH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2046684"/>
            <a:ext cx="5783580" cy="742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4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Mainframe-to-Cloud Modernization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742950" y="2816423"/>
            <a:ext cx="5783580" cy="392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4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production.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742950" y="3379887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529905"/>
            <a:ext cx="5678424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COBOL to cloud-native — without disruption.</a:t>
            </a:r>
            <a:endParaRPr lang="en-US" sz="1238" dirty="0"/>
          </a:p>
        </p:txBody>
      </p:sp>
      <p:sp>
        <p:nvSpPr>
          <p:cNvPr id="10" name="Shape 6"/>
          <p:cNvSpPr/>
          <p:nvPr/>
        </p:nvSpPr>
        <p:spPr>
          <a:xfrm>
            <a:off x="6690122" y="1914525"/>
            <a:ext cx="0" cy="1521507"/>
          </a:xfrm>
          <a:prstGeom prst="line">
            <a:avLst/>
          </a:prstGeom>
          <a:noFill/>
          <a:ln w="7144">
            <a:solidFill>
              <a:srgbClr val="CBD5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93719" y="1914525"/>
            <a:ext cx="1507331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893719" y="2078831"/>
            <a:ext cx="150733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&amp; Language Modernization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893719" y="2533129"/>
            <a:ext cx="1507331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893719" y="2697435"/>
            <a:ext cx="159777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Monitor &amp; CICS Migration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93719" y="3151733"/>
            <a:ext cx="1507331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93719" y="3316039"/>
            <a:ext cx="150733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Database Migration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4350" y="4754166"/>
            <a:ext cx="608401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612657" y="4750594"/>
            <a:ext cx="21267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MAINFRAME-TO-CLOUD MODERNIZATION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5720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57238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CHALLENGE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946547"/>
            <a:ext cx="7858125" cy="582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most mainframe-to-cloud modernization programs fail.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571625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 between prototype and production is where engineering discipline matters most.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896666"/>
            <a:ext cx="3993356" cy="2286446"/>
          </a:xfrm>
          <a:prstGeom prst="roundRect">
            <a:avLst>
              <a:gd name="adj" fmla="val 499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2043113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FAILURE POINTS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2228" y="2264569"/>
            <a:ext cx="3664744" cy="383195"/>
          </a:xfrm>
          <a:prstGeom prst="roundRect">
            <a:avLst>
              <a:gd name="adj" fmla="val 2982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71525" y="233957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992981" y="2332434"/>
            <a:ext cx="3374422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Prototype-grade architecture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92981" y="2469952"/>
            <a:ext cx="3264694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 built for demos, not production load, latency, or reliability requirements.</a:t>
            </a:r>
            <a:endParaRPr lang="en-US" sz="619" dirty="0"/>
          </a:p>
        </p:txBody>
      </p:sp>
      <p:sp>
        <p:nvSpPr>
          <p:cNvPr id="13" name="Text 10"/>
          <p:cNvSpPr/>
          <p:nvPr/>
        </p:nvSpPr>
        <p:spPr>
          <a:xfrm>
            <a:off x="682228" y="2726345"/>
            <a:ext cx="3664744" cy="383195"/>
          </a:xfrm>
          <a:prstGeom prst="roundRect">
            <a:avLst>
              <a:gd name="adj" fmla="val 2982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71525" y="280135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992981" y="2794211"/>
            <a:ext cx="3374422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observability or evaluation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92981" y="2931728"/>
            <a:ext cx="3264694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metrics for accuracy, latency, cost, or drift — teams fly blind in production.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682228" y="3188122"/>
            <a:ext cx="3664744" cy="383195"/>
          </a:xfrm>
          <a:prstGeom prst="roundRect">
            <a:avLst>
              <a:gd name="adj" fmla="val 2982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71525" y="326313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992981" y="3255987"/>
            <a:ext cx="3264694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 afterthought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92981" y="3393504"/>
            <a:ext cx="3264694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guardrails, no audit trails, no compliance — bolted on after launch.</a:t>
            </a:r>
            <a:endParaRPr lang="en-US" sz="619" dirty="0"/>
          </a:p>
        </p:txBody>
      </p:sp>
      <p:sp>
        <p:nvSpPr>
          <p:cNvPr id="21" name="Text 18"/>
          <p:cNvSpPr/>
          <p:nvPr/>
        </p:nvSpPr>
        <p:spPr>
          <a:xfrm>
            <a:off x="682228" y="3649898"/>
            <a:ext cx="3664744" cy="383195"/>
          </a:xfrm>
          <a:prstGeom prst="roundRect">
            <a:avLst>
              <a:gd name="adj" fmla="val 2982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71525" y="372490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992981" y="3717764"/>
            <a:ext cx="3264694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operational maturity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992981" y="3855281"/>
            <a:ext cx="3264694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CI/CD for models, no rollback, no A/B testing, no drift detection.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4689872" y="1896666"/>
            <a:ext cx="3936206" cy="2286446"/>
          </a:xfrm>
          <a:prstGeom prst="roundRect">
            <a:avLst>
              <a:gd name="adj" fmla="val 499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50606" y="2043113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APPROACH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50606" y="2260997"/>
            <a:ext cx="361473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treat mainframe-to-cloud modernization as an engineering discipline, not a science experiment. Every engagement starts with production requirements — latency, throughput, reliability, cost, compliance — and engineers backward from those constraints.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50606" y="3900934"/>
            <a:ext cx="199723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850606" y="3900934"/>
            <a:ext cx="199723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 · ENGINEERING-GRADE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4350" y="4754166"/>
            <a:ext cx="402695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555592" y="4750594"/>
            <a:ext cx="35771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124125" y="4750594"/>
            <a:ext cx="528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5720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57238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946547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capability areas. One engineering system.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30194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capability area is a deep technical domain — not a generic service line.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26989"/>
            <a:ext cx="3993356" cy="1078706"/>
          </a:xfrm>
          <a:prstGeom prst="roundRect">
            <a:avLst>
              <a:gd name="adj" fmla="val 1059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75914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189607" y="1784152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88" dirty="0"/>
          </a:p>
        </p:txBody>
      </p:sp>
      <p:sp>
        <p:nvSpPr>
          <p:cNvPr id="10" name="Text 7"/>
          <p:cNvSpPr/>
          <p:nvPr/>
        </p:nvSpPr>
        <p:spPr>
          <a:xfrm>
            <a:off x="678656" y="2016323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 &amp; Language Modernization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78656" y="2247714"/>
            <a:ext cx="3671888" cy="325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code &amp; language modernization with real platforms and tools.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626989"/>
            <a:ext cx="3993356" cy="1078706"/>
          </a:xfrm>
          <a:prstGeom prst="roundRect">
            <a:avLst>
              <a:gd name="adj" fmla="val 1059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93456" y="175914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304407" y="1784152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4793456" y="2016323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Transaction Monitor &amp; CICS Migration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793456" y="2247714"/>
            <a:ext cx="3671888" cy="325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transaction monitor &amp; cics migration with real platforms and tools.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7922" y="2827139"/>
            <a:ext cx="3993356" cy="1078706"/>
          </a:xfrm>
          <a:prstGeom prst="roundRect">
            <a:avLst>
              <a:gd name="adj" fmla="val 1059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8656" y="295929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189607" y="2984302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678656" y="3216473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&amp; Database Migration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678656" y="3447864"/>
            <a:ext cx="3671888" cy="325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data &amp; database migration with real platforms and tools.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2722" y="2827139"/>
            <a:ext cx="3993356" cy="1078706"/>
          </a:xfrm>
          <a:prstGeom prst="roundRect">
            <a:avLst>
              <a:gd name="adj" fmla="val 1059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93456" y="295929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304407" y="2984302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4793456" y="3216473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Batch &amp; Job Scheduling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793456" y="3447864"/>
            <a:ext cx="3671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batch &amp; job scheduling with real platforms and tools.</a:t>
            </a:r>
            <a:endParaRPr lang="en-US" sz="675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5720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28663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917972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 &amp; Language Modernization.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273373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84127"/>
            <a:ext cx="3993356" cy="2875359"/>
          </a:xfrm>
          <a:prstGeom prst="roundRect">
            <a:avLst>
              <a:gd name="adj" fmla="val 397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744861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962745"/>
            <a:ext cx="36433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code &amp; language modernization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4155305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4163020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89872" y="1584127"/>
            <a:ext cx="3936206" cy="2875359"/>
          </a:xfrm>
          <a:prstGeom prst="roundRect">
            <a:avLst>
              <a:gd name="adj" fmla="val 397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22031" y="1716286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25603" y="1923455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77082" y="1977033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52417" y="19770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245298" y="1977033"/>
            <a:ext cx="3286911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Mainframe Modernization Blu Age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245298" y="2098477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Mainframe Modernization (M2) + Blu Age — automated COBOL → Java / Spring Boot, RPG → Java, PL/I → Java.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25603" y="2416373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77082" y="2469952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52417" y="246995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245298" y="2469952"/>
            <a:ext cx="317718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 Focus Visual COBOL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245298" y="2591395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 Focus Visual COBOL — COBOL on JVM / .NET, modern IDE (Eclipse / VS Code), managed code generation.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25603" y="2909292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77082" y="2962870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52417" y="29628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245298" y="2962870"/>
            <a:ext cx="317718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TmaxSoft OpenFrame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245298" y="3084314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TmaxSoft OpenFrame — re-hosting COBOL / PL/I / ASM on Linux / Unix / x86, base + OLAM (Online Transaction Manager).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25603" y="3402211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877082" y="3455789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052417" y="345578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245298" y="3455789"/>
            <a:ext cx="3286911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Heirloom Computing Elastic COBOL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245298" y="3577233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Heirloom Computing — COBOL → Java bytecode, deploy on Java EE / Spring Boot, no source rewrite.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25603" y="3895130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77082" y="3948708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052417" y="394870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245298" y="3948708"/>
            <a:ext cx="317718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COBOL-IT Compiler Suite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245298" y="4070152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COBOL-IT — open-source COBOL compiler, GnuCOBOL-derived, portable to Linux / Windows / Docker.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5161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44814" y="4750594"/>
            <a:ext cx="30663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25444" y="4750594"/>
            <a:ext cx="159445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 &amp; LANGUAGE MODERNIZATION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5720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28663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917972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Transaction Monitor &amp; CICS Migration.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273373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84127"/>
            <a:ext cx="3993356" cy="2875359"/>
          </a:xfrm>
          <a:prstGeom prst="roundRect">
            <a:avLst>
              <a:gd name="adj" fmla="val 397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744861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962745"/>
            <a:ext cx="36433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transaction monitor &amp; cics migration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4155305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4163020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89872" y="1584127"/>
            <a:ext cx="3936206" cy="2875359"/>
          </a:xfrm>
          <a:prstGeom prst="roundRect">
            <a:avLst>
              <a:gd name="adj" fmla="val 397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22031" y="1716286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25603" y="1923455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77082" y="1977033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52417" y="19770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245298" y="1977033"/>
            <a:ext cx="317718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AWS M2 Micro Focus Runtime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245298" y="2098477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Mainframe Modernization (M2) — Micro Focus runtime on AWS, CICS-like batch + OLTP, no code rewrite.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25603" y="2416373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77082" y="2469952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52417" y="246995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245298" y="2469952"/>
            <a:ext cx="3286911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CICS Transaction Server on Cloud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245298" y="2591395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CICS TS on Cloud (AWS / Azure) — managed CICS, CICS Transaction Gateway, Liberty for Java integration.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25603" y="2909292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77082" y="2962870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52417" y="29628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245298" y="2962870"/>
            <a:ext cx="317718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TmaxSoft OpenFrame Tmax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245298" y="3084314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TmaxSoft OpenFrame Tmax — CICS / IMS-TM rehosting, base transaction monitor, BASE+Java integration.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25603" y="3402211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877082" y="3455789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052417" y="345578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245298" y="3455789"/>
            <a:ext cx="3286911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 Focus Enterprise Server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245298" y="3577233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 Focus Enterprise Server — CICS / IMS / batch rehosting, ES for Linux / Windows, JCL emulation.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25603" y="3895130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77082" y="3948708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052417" y="394870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245298" y="3948708"/>
            <a:ext cx="317718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Rocket Enterprise Server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245298" y="4070152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Rocket Enterprise Server — CICS / IMS rehost, JCL / Natural / ADABAS, multi-platform runtime.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38122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909864" y="4750594"/>
            <a:ext cx="293139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855544" y="4750594"/>
            <a:ext cx="188055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TRANSACTION MONITOR &amp; CICS MIGRATION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5720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28663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917972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&amp; Database Migration.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273373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84127"/>
            <a:ext cx="3993356" cy="2875359"/>
          </a:xfrm>
          <a:prstGeom prst="roundRect">
            <a:avLst>
              <a:gd name="adj" fmla="val 397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744861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962745"/>
            <a:ext cx="36433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&amp; database migration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4155305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4163020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89872" y="1584127"/>
            <a:ext cx="3936206" cy="2875359"/>
          </a:xfrm>
          <a:prstGeom prst="roundRect">
            <a:avLst>
              <a:gd name="adj" fmla="val 397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22031" y="1716286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25603" y="1923455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77082" y="1977033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52417" y="19770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245298" y="1977033"/>
            <a:ext cx="3286911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DMS + SCT Schema Conversion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245298" y="2098477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Database Migration Service (DMS) + Schema Conversion Tool (SCT) — DB2 / Oracle / IMS → PostgreSQL / Aurora.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25603" y="2416373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77082" y="2469952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52417" y="246995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245298" y="2469952"/>
            <a:ext cx="3286911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Data Management Console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245298" y="2591395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DM Console for Db2 — performance tuning, Db2 for z/OS → Db2 on Cloud / Db2 LUW.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25603" y="2909292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77082" y="2962870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52417" y="29628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245298" y="2962870"/>
            <a:ext cx="317718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Precisely Data Migration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245298" y="3084314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Precisely (Syncsort) — mainframe EBCDIC → ASCII, file format conversion, integration with BigQuery / Snowflake.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25603" y="3402211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877082" y="3455789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052417" y="345578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245298" y="3455789"/>
            <a:ext cx="3286911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IMS DB → Relational Migration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245298" y="3577233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Rocket Enterprise + AWS SCT — IMS hierarchical database → relational (Aurora / PostgreSQL), DL/I call conversion.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25603" y="3895130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77082" y="3948708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052417" y="394870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245298" y="3948708"/>
            <a:ext cx="317718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VSAM → DynamoDB / Aurora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245298" y="4070152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Mainframe Modernization service — VSAM dataset conversion to DynamoDB / Aurora PostgreSQL with key mapping.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65547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84117" y="4750594"/>
            <a:ext cx="320553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403939" y="4750594"/>
            <a:ext cx="122571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&amp; DATABASE MIGRATION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5720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28663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917972"/>
            <a:ext cx="8521065" cy="291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Batch &amp; Job Scheduling.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273373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84127"/>
            <a:ext cx="3993356" cy="2775347"/>
          </a:xfrm>
          <a:prstGeom prst="roundRect">
            <a:avLst>
              <a:gd name="adj" fmla="val 411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744861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962745"/>
            <a:ext cx="36433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batch &amp; job scheduling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4055293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4063008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89872" y="1584127"/>
            <a:ext cx="3936206" cy="2775347"/>
          </a:xfrm>
          <a:prstGeom prst="roundRect">
            <a:avLst>
              <a:gd name="adj" fmla="val 411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22031" y="1716286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25603" y="1923455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77082" y="1977033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52417" y="19770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245298" y="1977033"/>
            <a:ext cx="317718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AWS M2 Batch via JCL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245298" y="2098477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Mainframe Modernization service batch — JCL emulation, batch job runner, integration with AWS Batch.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25603" y="2416373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77082" y="2469952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52417" y="246995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245298" y="2469952"/>
            <a:ext cx="3286911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BMC Control-M Workload Automation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245298" y="2591395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BMC Control-M — mainframe JCL + distributed batch, file transfer, SLA management, Ansible integration.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25603" y="2909292"/>
            <a:ext cx="3664744" cy="328613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77082" y="2962870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52417" y="29628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245298" y="2962870"/>
            <a:ext cx="3286911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Stonebranch Universal Automation Center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245298" y="3084314"/>
            <a:ext cx="317718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Stonebranch UAC — mainframe + distributed workload, REST API, Universal Tasks.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4825603" y="3302198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877082" y="3355777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052417" y="335577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245298" y="3355777"/>
            <a:ext cx="317718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Workload Scheduler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245298" y="3477220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Workload Scheduler (TWS) — mainframe batch (z/OS) + distributed, dynamic agent, SOAP / REST APIs.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25603" y="3795117"/>
            <a:ext cx="36647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77082" y="3848695"/>
            <a:ext cx="184221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052417" y="384869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245298" y="3848695"/>
            <a:ext cx="3286911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Airflow JCL Operator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245298" y="3970139"/>
            <a:ext cx="317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 Airflow Operator via mainframe API (z/OSMF), mainframe job scheduling from Airflow DAG.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72714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255777" y="4750594"/>
            <a:ext cx="327719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547260" y="4750594"/>
            <a:ext cx="108239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BATCH &amp; JOB SCHEDULING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5720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57238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APPLICATIONS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946547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creates engineering value.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301948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specific engineering scenarios where mainframe-to-cloud modernization delivers measurable production impact.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26989"/>
            <a:ext cx="3993356" cy="1078706"/>
          </a:xfrm>
          <a:prstGeom prst="roundRect">
            <a:avLst>
              <a:gd name="adj" fmla="val 1059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75914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280222" y="1784152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8656" y="2016323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78656" y="2247714"/>
            <a:ext cx="3671888" cy="325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production-grade deployment with real reliability, latency, and cost SLAs.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626989"/>
            <a:ext cx="3993356" cy="1078706"/>
          </a:xfrm>
          <a:prstGeom prst="roundRect">
            <a:avLst>
              <a:gd name="adj" fmla="val 1059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93456" y="175914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304407" y="1784152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4793456" y="2016323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Operations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793456" y="2247714"/>
            <a:ext cx="3671888" cy="325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monitoring, evaluation, drift detection, and operational runbooks for production systems.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7922" y="2827139"/>
            <a:ext cx="3993356" cy="1078706"/>
          </a:xfrm>
          <a:prstGeom prst="roundRect">
            <a:avLst>
              <a:gd name="adj" fmla="val 1059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8656" y="295929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117918" y="2984302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678656" y="3216473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Compliance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678656" y="3447864"/>
            <a:ext cx="3671888" cy="325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engineering, compliance automation, and audit-ready evidence collection built into the pipeline.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2722" y="2827139"/>
            <a:ext cx="3993356" cy="1078706"/>
          </a:xfrm>
          <a:prstGeom prst="roundRect">
            <a:avLst>
              <a:gd name="adj" fmla="val 1059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93456" y="295929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304407" y="2984302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4793456" y="3216473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&amp; Optimization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793456" y="3447864"/>
            <a:ext cx="3671888" cy="325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 from single-tenant to multi-tenant, optimizing cost, latency, and resource utilization.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5720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14375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89397"/>
            <a:ext cx="8629650" cy="51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production reference architecture for mainframe-to-cloud modernization.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440805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platform and tool names — not generic architecture diagrams.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712268"/>
            <a:ext cx="8108156" cy="385763"/>
          </a:xfrm>
          <a:prstGeom prst="roundRect">
            <a:avLst>
              <a:gd name="adj" fmla="val 197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1494" y="1715839"/>
            <a:ext cx="928688" cy="378619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446609" y="1715839"/>
            <a:ext cx="0" cy="3786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494" y="1715839"/>
            <a:ext cx="928688" cy="378619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 MODERNIZATION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64481" y="1805136"/>
            <a:ext cx="60163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503442" y="1815852"/>
            <a:ext cx="72371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Blu Age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251844" y="1805136"/>
            <a:ext cx="107044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51844" y="1815852"/>
            <a:ext cx="107044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 Focus Visual COBOL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408015" y="1805136"/>
            <a:ext cx="99510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408015" y="1815852"/>
            <a:ext cx="995102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Heirloom Elastic COBOL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488842" y="1805136"/>
            <a:ext cx="48209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424976" y="1815852"/>
            <a:ext cx="60982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COBOL-IT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7922" y="2176611"/>
            <a:ext cx="8108156" cy="385763"/>
          </a:xfrm>
          <a:prstGeom prst="roundRect">
            <a:avLst>
              <a:gd name="adj" fmla="val 197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1494" y="2180183"/>
            <a:ext cx="928688" cy="378619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446609" y="2180183"/>
            <a:ext cx="0" cy="3786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494" y="2180183"/>
            <a:ext cx="928688" cy="378619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TRANSACTION MONITOR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564481" y="2269480"/>
            <a:ext cx="87533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564481" y="2280196"/>
            <a:ext cx="87533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AWS M2 Micro Focus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525539" y="2269480"/>
            <a:ext cx="57518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427294" y="2280196"/>
            <a:ext cx="77167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CICS TS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186447" y="2269480"/>
            <a:ext cx="91920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186447" y="2280196"/>
            <a:ext cx="91920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TmaxSoft OpenFrame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191372" y="2269480"/>
            <a:ext cx="103026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191372" y="2280196"/>
            <a:ext cx="103026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Rocket Enterprise Server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7922" y="2640955"/>
            <a:ext cx="8108156" cy="385763"/>
          </a:xfrm>
          <a:prstGeom prst="roundRect">
            <a:avLst>
              <a:gd name="adj" fmla="val 197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1494" y="2644527"/>
            <a:ext cx="928688" cy="378619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446609" y="2644527"/>
            <a:ext cx="0" cy="3786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1494" y="2644527"/>
            <a:ext cx="928688" cy="378619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MIGRATION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564481" y="2733824"/>
            <a:ext cx="73268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501226" y="2744539"/>
            <a:ext cx="85919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DMS + SCT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382887" y="2733824"/>
            <a:ext cx="100146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382887" y="2744539"/>
            <a:ext cx="100146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Data Mgmt Console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470077" y="2733824"/>
            <a:ext cx="79206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470077" y="2744539"/>
            <a:ext cx="79206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Precisely Syncsort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347865" y="2733824"/>
            <a:ext cx="77331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347865" y="2744539"/>
            <a:ext cx="773311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Rocket Enterprise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17922" y="3105299"/>
            <a:ext cx="8108156" cy="385763"/>
          </a:xfrm>
          <a:prstGeom prst="roundRect">
            <a:avLst>
              <a:gd name="adj" fmla="val 197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21494" y="3108871"/>
            <a:ext cx="928688" cy="378619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446609" y="3108871"/>
            <a:ext cx="0" cy="3786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1494" y="3108871"/>
            <a:ext cx="928688" cy="378619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BATCH SCHEDULER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564481" y="3198168"/>
            <a:ext cx="66169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496302" y="3208883"/>
            <a:ext cx="79804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AWS M2 Batch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311896" y="3198168"/>
            <a:ext cx="67184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2213429" y="3208883"/>
            <a:ext cx="86878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BMC Control-M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069468" y="3198168"/>
            <a:ext cx="77007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069468" y="3208883"/>
            <a:ext cx="77007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Stonebranch UAC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3925267" y="3198168"/>
            <a:ext cx="101128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3925267" y="3208883"/>
            <a:ext cx="101128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Workload Scheduler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17922" y="3569643"/>
            <a:ext cx="8108156" cy="300038"/>
          </a:xfrm>
          <a:prstGeom prst="roundRect">
            <a:avLst>
              <a:gd name="adj" fmla="val 2539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21494" y="3560413"/>
            <a:ext cx="928688" cy="318497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446609" y="3573214"/>
            <a:ext cx="0" cy="292894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21494" y="3573214"/>
            <a:ext cx="928688" cy="292894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564481" y="3619649"/>
            <a:ext cx="77855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564481" y="3630364"/>
            <a:ext cx="77855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z/OS Connect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428763" y="3619649"/>
            <a:ext cx="86640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428763" y="3630364"/>
            <a:ext cx="86640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Transfer Family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380891" y="3619649"/>
            <a:ext cx="41523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368116" y="3630364"/>
            <a:ext cx="44078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MQ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3881847" y="3619649"/>
            <a:ext cx="70767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3881847" y="3630364"/>
            <a:ext cx="70767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Rocket Terminal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5720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14375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89397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phased engineering roadmap from assessment to production.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20082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carries concrete engineering deliverables, technical milestones, and exit criteria.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486570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506" y="1604442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506" y="1779463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Assessment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621506" y="196520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506" y="2172370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1506" y="2293813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21506" y="2504554"/>
            <a:ext cx="1728788" cy="1269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audit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landscape assessment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analysis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roadmap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1506" y="3743995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506" y="3740423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75322" y="1486570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78906" y="1604442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678906" y="1779463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Engineering</a:t>
            </a:r>
            <a:endParaRPr lang="en-US" sz="844" dirty="0"/>
          </a:p>
        </p:txBody>
      </p:sp>
      <p:sp>
        <p:nvSpPr>
          <p:cNvPr id="19" name="Text 16"/>
          <p:cNvSpPr/>
          <p:nvPr/>
        </p:nvSpPr>
        <p:spPr>
          <a:xfrm>
            <a:off x="2678906" y="196520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3-6 WEEKS · FIXED FEE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678906" y="2172370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678906" y="2293813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78906" y="2504554"/>
            <a:ext cx="1728788" cy="1269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platform setup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stack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baseline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678906" y="3743995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78906" y="3740423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32722" y="1486570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36306" y="1604442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36306" y="1779463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Build</a:t>
            </a:r>
            <a:endParaRPr lang="en-US" sz="844" dirty="0"/>
          </a:p>
        </p:txBody>
      </p:sp>
      <p:sp>
        <p:nvSpPr>
          <p:cNvPr id="28" name="Text 25"/>
          <p:cNvSpPr/>
          <p:nvPr/>
        </p:nvSpPr>
        <p:spPr>
          <a:xfrm>
            <a:off x="4736306" y="196520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36306" y="2172370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36306" y="2293813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36306" y="2504554"/>
            <a:ext cx="1728788" cy="1269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validation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hardening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+ handover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36306" y="3743995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36306" y="3740423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690122" y="1486570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793706" y="1604442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793706" y="1779463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Engineering</a:t>
            </a:r>
            <a:endParaRPr lang="en-US" sz="844" dirty="0"/>
          </a:p>
        </p:txBody>
      </p:sp>
      <p:sp>
        <p:nvSpPr>
          <p:cNvPr id="37" name="Text 34"/>
          <p:cNvSpPr/>
          <p:nvPr/>
        </p:nvSpPr>
        <p:spPr>
          <a:xfrm>
            <a:off x="6793706" y="196520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793706" y="2172370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793706" y="2293813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793706" y="2504554"/>
            <a:ext cx="1728788" cy="1269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operations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architecture reviews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engineering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793706" y="3743995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93706" y="3740423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406724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595887" y="4750594"/>
            <a:ext cx="36173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220112" y="4750594"/>
            <a:ext cx="4169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57200"/>
            <a:ext cx="811530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757238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BEST PRACTICES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946547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that separate production from prototype.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301948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theoretical — these are the engineering disciplines we enforce on every engagement.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623417"/>
            <a:ext cx="3986213" cy="1085850"/>
          </a:xfrm>
          <a:prstGeom prst="roundRect">
            <a:avLst>
              <a:gd name="adj" fmla="val 701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162698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6991" y="1623417"/>
            <a:ext cx="0" cy="10858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" y="2705695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8638" y="1623417"/>
            <a:ext cx="0" cy="108585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0088" y="1759148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0088" y="1966317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requirements first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0088" y="2166342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latency, throughput, reliability, cost, and compliance SLAs. Engineer backward from constraints, not forward from tools.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43438" y="1623417"/>
            <a:ext cx="3986213" cy="1085850"/>
          </a:xfrm>
          <a:prstGeom prst="roundRect">
            <a:avLst>
              <a:gd name="adj" fmla="val 701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43438" y="162698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26078" y="1623417"/>
            <a:ext cx="0" cy="10858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3438" y="2705695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57725" y="1623417"/>
            <a:ext cx="0" cy="108585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9175" y="1759148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29175" y="1966317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is not optional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29175" y="2166342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system ships with distributed tracing, metrics, and logging from day one. If you can't measure it, you can't operate it.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4350" y="2852142"/>
            <a:ext cx="3986213" cy="1085850"/>
          </a:xfrm>
          <a:prstGeom prst="roundRect">
            <a:avLst>
              <a:gd name="adj" fmla="val 701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285571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96991" y="2852142"/>
            <a:ext cx="0" cy="10858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4350" y="3934420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8638" y="2852142"/>
            <a:ext cx="0" cy="108585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0088" y="2987873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00088" y="3195042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in the pipeline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00088" y="3395067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scanning, SBOM, and compliance checks embedded in CI/CD — not a separate audit after launch.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43438" y="2852142"/>
            <a:ext cx="3986213" cy="1085850"/>
          </a:xfrm>
          <a:prstGeom prst="roundRect">
            <a:avLst>
              <a:gd name="adj" fmla="val 701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643438" y="285571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26078" y="2852142"/>
            <a:ext cx="0" cy="10858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43438" y="3934420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57725" y="2852142"/>
            <a:ext cx="0" cy="1085850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29175" y="2987873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29175" y="3195042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for rollback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29175" y="3395067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deployment must be reversible. Feature flags, blue-green, canary — not big-bang deployments.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92917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57812" y="4750594"/>
            <a:ext cx="34792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51329" y="4750594"/>
            <a:ext cx="6783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PRACTICES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365414-kgpm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142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017" y="871538"/>
            <a:ext cx="28136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MAINFRAME-TO-CLOUD MODERNIZATION · 2026</a:t>
            </a:r>
            <a:endParaRPr lang="en-US" sz="619" dirty="0"/>
          </a:p>
        </p:txBody>
      </p:sp>
      <p:sp>
        <p:nvSpPr>
          <p:cNvPr id="5" name="Text 1"/>
          <p:cNvSpPr/>
          <p:nvPr/>
        </p:nvSpPr>
        <p:spPr>
          <a:xfrm>
            <a:off x="742950" y="1800225"/>
            <a:ext cx="62172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2075259"/>
            <a:ext cx="4920615" cy="4354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538152"/>
            <a:ext cx="5492344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8" name="Text 4"/>
          <p:cNvSpPr/>
          <p:nvPr/>
        </p:nvSpPr>
        <p:spPr>
          <a:xfrm>
            <a:off x="742950" y="3186782"/>
            <a:ext cx="5061204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42950" y="3403885"/>
            <a:ext cx="5061204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404372" y="1943100"/>
            <a:ext cx="0" cy="1028700"/>
          </a:xfrm>
          <a:prstGeom prst="line">
            <a:avLst/>
          </a:prstGeom>
          <a:noFill/>
          <a:ln w="7144">
            <a:solidFill>
              <a:srgbClr val="CBD5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529093" y="1943100"/>
            <a:ext cx="87195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529093" y="2371725"/>
            <a:ext cx="87195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819794" y="2800350"/>
            <a:ext cx="5812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2026-10-01T12:22:45Z</dcterms:created>
  <dcterms:modified xsi:type="dcterms:W3CDTF">2026-10-01T12:22:45Z</dcterms:modified>
</cp:coreProperties>
</file>