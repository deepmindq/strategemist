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202842-o7n37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06107" y="600075"/>
            <a:ext cx="39630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DATA MESH &amp; DISTRIBUTED DATA ARCHITECTURE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68238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DEEP TECH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39528"/>
            <a:ext cx="4581711" cy="824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spc="-6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Mesh &amp; Distributed Data Architecture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742950" y="2687836"/>
            <a:ext cx="5554980" cy="392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spc="-67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engineered for production.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742950" y="3222724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401318"/>
            <a:ext cx="4286250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as a product — federated, owned, trustworthy.</a:t>
            </a:r>
            <a:endParaRPr lang="en-US" sz="1238" dirty="0"/>
          </a:p>
        </p:txBody>
      </p:sp>
      <p:sp>
        <p:nvSpPr>
          <p:cNvPr id="10" name="Text 6"/>
          <p:cNvSpPr/>
          <p:nvPr/>
        </p:nvSpPr>
        <p:spPr>
          <a:xfrm>
            <a:off x="6422231" y="1714500"/>
            <a:ext cx="7144" cy="242887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600825" y="1743075"/>
            <a:ext cx="254317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600825" y="1889522"/>
            <a:ext cx="211102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Catalog &amp; Discovery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600825" y="2234208"/>
            <a:ext cx="254317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600825" y="2380655"/>
            <a:ext cx="200596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Transformation &amp; Modeling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600825" y="2725341"/>
            <a:ext cx="254317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600825" y="2871788"/>
            <a:ext cx="211102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Orchestration &amp; Pipeline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4350" y="4754166"/>
            <a:ext cx="57171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245758" y="4750594"/>
            <a:ext cx="249362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DATA MESH &amp; DISTRIBUTED DATA 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71437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CHALLENGE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03684"/>
            <a:ext cx="7858125" cy="546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most data mesh &amp; distributed data architecture programs fail.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480765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gap between prototype and production is where engineering discipline matters most.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834381"/>
            <a:ext cx="399335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0081" y="1966540"/>
            <a:ext cx="3729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COMMON FAILURE POINTS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3653" y="2177281"/>
            <a:ext cx="3721894" cy="396701"/>
          </a:xfrm>
          <a:prstGeom prst="roundRect">
            <a:avLst>
              <a:gd name="adj" fmla="val 192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2950" y="225943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10" name="Text 8"/>
          <p:cNvSpPr/>
          <p:nvPr/>
        </p:nvSpPr>
        <p:spPr>
          <a:xfrm>
            <a:off x="971550" y="2252290"/>
            <a:ext cx="3424428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Prototype-grade architecture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71550" y="2385120"/>
            <a:ext cx="323366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Solutions built for demos, not production load, latency, or reliability requirements.</a:t>
            </a:r>
            <a:endParaRPr lang="en-US" sz="619" dirty="0"/>
          </a:p>
        </p:txBody>
      </p:sp>
      <p:sp>
        <p:nvSpPr>
          <p:cNvPr id="12" name="Text 10"/>
          <p:cNvSpPr/>
          <p:nvPr/>
        </p:nvSpPr>
        <p:spPr>
          <a:xfrm>
            <a:off x="653653" y="2638276"/>
            <a:ext cx="3721894" cy="396701"/>
          </a:xfrm>
          <a:prstGeom prst="roundRect">
            <a:avLst>
              <a:gd name="adj" fmla="val 192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2950" y="272042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971550" y="2713286"/>
            <a:ext cx="3334555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observability or evaluation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71550" y="2846115"/>
            <a:ext cx="3087551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metrics for accuracy, latency, cost, or drift — teams fly blind in production.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653653" y="3099271"/>
            <a:ext cx="3721894" cy="396701"/>
          </a:xfrm>
          <a:prstGeom prst="roundRect">
            <a:avLst>
              <a:gd name="adj" fmla="val 192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2950" y="318142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971550" y="3174281"/>
            <a:ext cx="2905441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as afterthought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71550" y="3307110"/>
            <a:ext cx="2767087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guardrails, no audit trails, no compliance — bolted on after launch.</a:t>
            </a:r>
            <a:endParaRPr lang="en-US" sz="619" dirty="0"/>
          </a:p>
        </p:txBody>
      </p:sp>
      <p:sp>
        <p:nvSpPr>
          <p:cNvPr id="20" name="Text 18"/>
          <p:cNvSpPr/>
          <p:nvPr/>
        </p:nvSpPr>
        <p:spPr>
          <a:xfrm>
            <a:off x="653653" y="3560266"/>
            <a:ext cx="3721894" cy="396701"/>
          </a:xfrm>
          <a:prstGeom prst="roundRect">
            <a:avLst>
              <a:gd name="adj" fmla="val 1920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2950" y="364242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406" dirty="0"/>
          </a:p>
        </p:txBody>
      </p:sp>
      <p:sp>
        <p:nvSpPr>
          <p:cNvPr id="22" name="Text 20"/>
          <p:cNvSpPr/>
          <p:nvPr/>
        </p:nvSpPr>
        <p:spPr>
          <a:xfrm>
            <a:off x="971550" y="3635276"/>
            <a:ext cx="2768549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operational maturity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71550" y="3768105"/>
            <a:ext cx="263671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CI/CD for models, no rollback, no A/B testing, no drift detection.</a:t>
            </a:r>
            <a:endParaRPr lang="en-US" sz="619" dirty="0"/>
          </a:p>
        </p:txBody>
      </p:sp>
      <p:sp>
        <p:nvSpPr>
          <p:cNvPr id="24" name="Text 22"/>
          <p:cNvSpPr/>
          <p:nvPr/>
        </p:nvSpPr>
        <p:spPr>
          <a:xfrm>
            <a:off x="4747022" y="1834381"/>
            <a:ext cx="313610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93469" y="1966540"/>
            <a:ext cx="2843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APPROACH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93469" y="2173709"/>
            <a:ext cx="284321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treat data mesh &amp; distributed data architecture as an engineering discipline, not a science experiment. Every engagement starts with production requirements — latency, throughput, reliability, cost, compliance — and engineers backward from those constraints.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93469" y="4131097"/>
            <a:ext cx="199723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93469" y="4131097"/>
            <a:ext cx="199723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 · ENGINEERING-GRADE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4350" y="4754166"/>
            <a:ext cx="402695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55592" y="4750594"/>
            <a:ext cx="357712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124125" y="4750594"/>
            <a:ext cx="52840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CHALLENGE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71437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03684"/>
            <a:ext cx="86296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capability areas. One engineering system.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44798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capability area is a deep technical domain — not a generic service line.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98414"/>
            <a:ext cx="3993356" cy="1064419"/>
          </a:xfrm>
          <a:prstGeom prst="roundRect">
            <a:avLst>
              <a:gd name="adj" fmla="val 894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4369" y="173057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8" name="Text 6"/>
          <p:cNvSpPr/>
          <p:nvPr/>
        </p:nvSpPr>
        <p:spPr>
          <a:xfrm>
            <a:off x="4187816" y="1744861"/>
            <a:ext cx="20724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4369" y="2206414"/>
            <a:ext cx="3700463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Catalog &amp; Discovery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64369" y="2406439"/>
            <a:ext cx="3700463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data catalog &amp; discovery with real platforms and tools.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632722" y="1598414"/>
            <a:ext cx="3993356" cy="1064419"/>
          </a:xfrm>
          <a:prstGeom prst="roundRect">
            <a:avLst>
              <a:gd name="adj" fmla="val 894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79169" y="173057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8302616" y="1744861"/>
            <a:ext cx="20724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79169" y="2082180"/>
            <a:ext cx="3810190" cy="172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Transformation &amp; Modeling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779169" y="2282205"/>
            <a:ext cx="3700463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data transformation &amp; modeling with real platforms and tools.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7922" y="2784277"/>
            <a:ext cx="3993356" cy="1064419"/>
          </a:xfrm>
          <a:prstGeom prst="roundRect">
            <a:avLst>
              <a:gd name="adj" fmla="val 894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4369" y="291643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969" dirty="0"/>
          </a:p>
        </p:txBody>
      </p:sp>
      <p:sp>
        <p:nvSpPr>
          <p:cNvPr id="18" name="Text 16"/>
          <p:cNvSpPr/>
          <p:nvPr/>
        </p:nvSpPr>
        <p:spPr>
          <a:xfrm>
            <a:off x="4187816" y="2930723"/>
            <a:ext cx="20724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4369" y="3392277"/>
            <a:ext cx="3700463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Orchestration &amp; Pipeline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64369" y="3592302"/>
            <a:ext cx="3700463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orchestration &amp; pipeline with real platforms and tools.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632722" y="2784277"/>
            <a:ext cx="3993356" cy="1064419"/>
          </a:xfrm>
          <a:prstGeom prst="roundRect">
            <a:avLst>
              <a:gd name="adj" fmla="val 894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79169" y="291643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23" name="Text 21"/>
          <p:cNvSpPr/>
          <p:nvPr/>
        </p:nvSpPr>
        <p:spPr>
          <a:xfrm>
            <a:off x="8302616" y="2930723"/>
            <a:ext cx="20724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79169" y="3268042"/>
            <a:ext cx="3810190" cy="172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Distributed Query &amp; Lakehouse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4779169" y="3468067"/>
            <a:ext cx="3700463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distributed query &amp; lakehouse with real platforms and tools.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71437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03684"/>
            <a:ext cx="8521065" cy="291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Catalog &amp; Discovery.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44798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69839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4369" y="1701998"/>
            <a:ext cx="37004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4369" y="1909167"/>
            <a:ext cx="3700463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catalog &amp; discovery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1509" y="4144589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4369" y="415230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47022" y="1569839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64894" y="1687711"/>
            <a:ext cx="2900363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68466" y="1869877"/>
            <a:ext cx="289321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36331" y="193774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29213" y="19305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322094" y="1923455"/>
            <a:ext cx="24814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DataHub Metadata Platform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22094" y="2040545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Acryl Data / LinkedIn DataHub — Kafka-based metadata ingestion, GraphQL API, lineage visualization, impact analysis.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68466" y="2344155"/>
            <a:ext cx="289321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36331" y="241202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29213" y="24048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322094" y="2397733"/>
            <a:ext cx="23717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Amundsen Data Discovery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22094" y="2514823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Amundsen (Lyft) — Neo4j / Atlas metadata store, Elasticsearch search, Typewriter ingestion from Hive / Snowflake.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68466" y="2818433"/>
            <a:ext cx="289321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36331" y="288629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29213" y="28791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322094" y="2872011"/>
            <a:ext cx="24814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OpenMetadata Unified Catalog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22094" y="2989101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OpenMetadata (Collate) — metadata schema, lineage, profiling, glossary, sample data, ui-as-code governance.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68466" y="3292711"/>
            <a:ext cx="289321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36331" y="336057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29213" y="33534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322094" y="3346289"/>
            <a:ext cx="23717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Alation Data Catalog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22094" y="3463379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Alation — behavioral SQL analysis, crowd-sourced curation, OAuth-based access governance.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68466" y="3766989"/>
            <a:ext cx="289321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36331" y="383485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29213" y="382771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322094" y="3820567"/>
            <a:ext cx="24814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Collibra Data Intelligence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22094" y="3937657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Collibra — data stewardship workflow, business glossary, regulatory lineage, reference data management.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67679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205436" y="4750594"/>
            <a:ext cx="322685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46578" y="4750594"/>
            <a:ext cx="118307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CATALOG &amp; DISCOVERY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71437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03684"/>
            <a:ext cx="86296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Transformation &amp; Modeling.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44798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69839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4369" y="1701998"/>
            <a:ext cx="37004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4369" y="1909167"/>
            <a:ext cx="370046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transformation &amp; modeling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1509" y="4144589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4369" y="415230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47022" y="1569839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64894" y="1687711"/>
            <a:ext cx="2900363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68466" y="1869877"/>
            <a:ext cx="2893219" cy="524284"/>
          </a:xfrm>
          <a:prstGeom prst="roundRect">
            <a:avLst>
              <a:gd name="adj" fmla="val 1090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36331" y="193774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29213" y="19305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322094" y="1923455"/>
            <a:ext cx="23717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dbt Core &amp; Cloud Models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22094" y="2040545"/>
            <a:ext cx="23717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dbt Core / dbt Cloud — models (materialized table / view / incremental), tests (unique / not_null / accepted_values), dbt Mesh.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68466" y="2444167"/>
            <a:ext cx="289321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36331" y="2512033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29213" y="250488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322094" y="2497745"/>
            <a:ext cx="23717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SQLMesh Data Engineering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22094" y="2614836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Tobiko SQLMesh — macro-based SQL, virtual data environments, forward-only incremental, breaking-change CI checks.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68466" y="2918445"/>
            <a:ext cx="289321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36331" y="298631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29213" y="297916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322094" y="2972023"/>
            <a:ext cx="24814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dbt Testing &amp; Expectations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22094" y="3089114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dbt tests + dbt-expectations (Calogica) macros — Great Expectations-style assertions, fresh_column / volume_by_date.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68466" y="3392723"/>
            <a:ext cx="289321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36331" y="3460589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29213" y="345344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322094" y="3446301"/>
            <a:ext cx="24814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dbt Semantic Layer Metrics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22094" y="3563392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dbt Semantic Layer (MetricFlow) — consistent metric definitions, dimension / measure / metric entities, dbt Cloud integration.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68466" y="3867001"/>
            <a:ext cx="289321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36331" y="393486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29213" y="392772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322094" y="3920579"/>
            <a:ext cx="23717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Cube Semantic Layer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22094" y="4037670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Cube.dev — semantic layer with REST/GraphQL/SQL APIs, pre-aggregations, multi-warehouse federated metrics.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50267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31307" y="4750594"/>
            <a:ext cx="305272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098320" y="4750594"/>
            <a:ext cx="162321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TRANSFORMATION &amp; MODELING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71437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03684"/>
            <a:ext cx="86296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Orchestration &amp; Pipeline.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44798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69839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4369" y="1701998"/>
            <a:ext cx="37004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4369" y="1909167"/>
            <a:ext cx="3700463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orchestration &amp; pipeline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1509" y="4144589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4369" y="415230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47022" y="1569839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64894" y="1687711"/>
            <a:ext cx="2900363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68466" y="1869877"/>
            <a:ext cx="289321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36331" y="193774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29213" y="19305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322094" y="1923455"/>
            <a:ext cx="24814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Dagster Asset-Oriented Pipelines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22094" y="2040545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Dagster — Software-defined Assets, IO Managers, partitioned assets, sensors / schedules, dbt integration.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68466" y="2344155"/>
            <a:ext cx="289321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36331" y="241202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29213" y="24048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322094" y="2397733"/>
            <a:ext cx="23717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Prefect Flows &amp; Tasks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22094" y="2514823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Prefect v2/v3 — Flow / Task model, deployments, work pools (process / k8s / serverless), Prefect Cloud UI.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68466" y="2818433"/>
            <a:ext cx="289321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36331" y="288629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29213" y="28791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322094" y="2872011"/>
            <a:ext cx="23717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Airflow DAGs &amp; TaskFlow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22094" y="2989101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Airflow — DAGs, TaskFlow API (data-aware), XCom, Deferrable operators / Triggers, Astronomer Astro.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68466" y="3292711"/>
            <a:ext cx="289321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36331" y="336057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29213" y="33534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322094" y="3346289"/>
            <a:ext cx="23717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Mage.ai Data Pipelines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22094" y="3463379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Mage.ai — block-based pipelines (data loader / transformer / exporter), streaming + batch, dbt-block integration.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68466" y="3766989"/>
            <a:ext cx="289321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36331" y="383485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29213" y="382771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322094" y="3820567"/>
            <a:ext cx="23717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Kedro Pipeline Framework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22094" y="3937657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Kedro (QuantumBlack) — modular data pipelines, Layer / Node pattern, Kedro Catalog, Kedro Viz.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69097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219612" y="4750594"/>
            <a:ext cx="324114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75041" y="4750594"/>
            <a:ext cx="115460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ORCHESTRATION &amp; PIPELINE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71437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03684"/>
            <a:ext cx="86296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Distributed Query &amp; Lakehouse.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44798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69839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4369" y="1701998"/>
            <a:ext cx="37004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4369" y="1909167"/>
            <a:ext cx="370046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distributed query &amp; lakehouse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1509" y="4144589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4369" y="415230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47022" y="1569839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64894" y="1687711"/>
            <a:ext cx="2900363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68466" y="1869877"/>
            <a:ext cx="289321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36331" y="193774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29213" y="19305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322094" y="1923455"/>
            <a:ext cx="23717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Dremio Data Lakehouse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22094" y="2040545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Dremio — Reflections (materialized views), Arrow Flight SQL, Nessie / Iceberg catalog, bi-directional acceleration.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68466" y="2344155"/>
            <a:ext cx="289321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36331" y="241202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29213" y="24048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322094" y="2397733"/>
            <a:ext cx="24814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Starburst Enterprise Trino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22094" y="2514823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Starburst Enterprise — Trino federation, query federation across Oracle / Snowflake / Teradata / HDFS, Warp Speed acceleration.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68466" y="2818433"/>
            <a:ext cx="289321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36331" y="288629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29213" y="28791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322094" y="2872011"/>
            <a:ext cx="24814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Trino Open Source Federation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22094" y="2989101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Trino — Hive / Iceberg / Delta Lake connectors, Delta Sharing, cross-catalog joins.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68466" y="3292711"/>
            <a:ext cx="289321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36331" y="336057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29213" y="33534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322094" y="3346289"/>
            <a:ext cx="24814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Iceberg Table Format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22094" y="3463379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Iceberg — snapshot isolation, schema evolution, partition evolution, time-travel via Nessie / REST catalog.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68466" y="3766989"/>
            <a:ext cx="289321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36331" y="383485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29213" y="382771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322094" y="3820567"/>
            <a:ext cx="248145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Lakekeeper / Nessie Catalog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22094" y="3937657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Lakekeeper / Project Nessie — Git-like branching / tagging for Iceberg tables, atomic commits, multi-region catalogs.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54441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73054" y="4750594"/>
            <a:ext cx="309447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181813" y="4750594"/>
            <a:ext cx="153470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DISTRIBUTED QUERY &amp; LAKEHOUSE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71437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APPLICATIONS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03684"/>
            <a:ext cx="86296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this creates engineering value.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44798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specific engineering scenarios where data mesh &amp; distributed data architecture delivers measurable production impact.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98414"/>
            <a:ext cx="3993356" cy="1064419"/>
          </a:xfrm>
          <a:prstGeom prst="roundRect">
            <a:avLst>
              <a:gd name="adj" fmla="val 894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4369" y="173057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969" dirty="0"/>
          </a:p>
        </p:txBody>
      </p:sp>
      <p:sp>
        <p:nvSpPr>
          <p:cNvPr id="8" name="Text 6"/>
          <p:cNvSpPr/>
          <p:nvPr/>
        </p:nvSpPr>
        <p:spPr>
          <a:xfrm>
            <a:off x="4275291" y="1744861"/>
            <a:ext cx="12362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4369" y="2082180"/>
            <a:ext cx="3700463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Deployment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64369" y="2282205"/>
            <a:ext cx="3700463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prototype to production-grade deployment with real reliability, latency, and cost SLAs.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32722" y="1598414"/>
            <a:ext cx="3993356" cy="1064419"/>
          </a:xfrm>
          <a:prstGeom prst="roundRect">
            <a:avLst>
              <a:gd name="adj" fmla="val 894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79169" y="173057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8302616" y="1744861"/>
            <a:ext cx="20724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79169" y="2082180"/>
            <a:ext cx="3810190" cy="172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&amp; Operations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779169" y="2282205"/>
            <a:ext cx="3700463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monitoring, evaluation, drift detection, and operational runbooks for production systems.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7922" y="2784277"/>
            <a:ext cx="3993356" cy="1064419"/>
          </a:xfrm>
          <a:prstGeom prst="roundRect">
            <a:avLst>
              <a:gd name="adj" fmla="val 894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4369" y="291643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8" name="Text 16"/>
          <p:cNvSpPr/>
          <p:nvPr/>
        </p:nvSpPr>
        <p:spPr>
          <a:xfrm>
            <a:off x="4109282" y="2930723"/>
            <a:ext cx="29087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4369" y="3268042"/>
            <a:ext cx="3700463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&amp; Compliance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64369" y="3468067"/>
            <a:ext cx="3700463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engineering, compliance automation, and audit-ready evidence collection built into the pipeline.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32722" y="2784277"/>
            <a:ext cx="3993356" cy="1064419"/>
          </a:xfrm>
          <a:prstGeom prst="roundRect">
            <a:avLst>
              <a:gd name="adj" fmla="val 894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79169" y="291643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23" name="Text 21"/>
          <p:cNvSpPr/>
          <p:nvPr/>
        </p:nvSpPr>
        <p:spPr>
          <a:xfrm>
            <a:off x="8302616" y="2930723"/>
            <a:ext cx="20724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79169" y="3268042"/>
            <a:ext cx="3700462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 &amp; Optimization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4779169" y="3468067"/>
            <a:ext cx="3700463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Scaling from single-tenant to multi-tenant, optimizing cost, latency, and resource utilization.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71437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03684"/>
            <a:ext cx="7700963" cy="50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9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production reference architecture for data mesh &amp; distributed data architecture.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14350" y="1447056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platform and tool names — not generic architecture diagrams.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757809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1494" y="1761381"/>
            <a:ext cx="928688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446609" y="1761381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494" y="1761381"/>
            <a:ext cx="928688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CATALOG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78769" y="1903956"/>
            <a:ext cx="532209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78769" y="1916757"/>
            <a:ext cx="53220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DataHub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196703" y="1903956"/>
            <a:ext cx="604651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96703" y="1916757"/>
            <a:ext cx="60465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Amundsen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887080" y="1903956"/>
            <a:ext cx="767730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887080" y="1916757"/>
            <a:ext cx="76773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OpenMetadata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40534" y="1903956"/>
            <a:ext cx="484547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40534" y="1916757"/>
            <a:ext cx="48454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Collibra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7922" y="2372171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1494" y="2375743"/>
            <a:ext cx="928688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446609" y="2375743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494" y="2375743"/>
            <a:ext cx="928688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TRANSFORMATION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78769" y="2518318"/>
            <a:ext cx="523168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78769" y="2531120"/>
            <a:ext cx="52316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dbt Core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187662" y="2518318"/>
            <a:ext cx="548171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187662" y="2531120"/>
            <a:ext cx="54817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SQLMesh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821558" y="2518318"/>
            <a:ext cx="849995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821558" y="2531120"/>
            <a:ext cx="84999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dbt-expectations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57278" y="2518318"/>
            <a:ext cx="558440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757278" y="2531120"/>
            <a:ext cx="5584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Cube.dev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7922" y="2986534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1494" y="2990106"/>
            <a:ext cx="928688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1446609" y="2990106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494" y="2990106"/>
            <a:ext cx="928688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578769" y="3132681"/>
            <a:ext cx="496714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578769" y="3145482"/>
            <a:ext cx="49671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Dagster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161208" y="3132681"/>
            <a:ext cx="460772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161208" y="3145482"/>
            <a:ext cx="46077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Prefect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707704" y="3132681"/>
            <a:ext cx="773646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707704" y="3145482"/>
            <a:ext cx="77364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Airflow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567075" y="3132681"/>
            <a:ext cx="494928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567075" y="3145482"/>
            <a:ext cx="49492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Mage.ai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7922" y="3600896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21494" y="3604468"/>
            <a:ext cx="928688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1446609" y="3604468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494" y="3604468"/>
            <a:ext cx="928688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LAKEHOUSE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578769" y="3747043"/>
            <a:ext cx="471711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578769" y="3759845"/>
            <a:ext cx="47171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Dremio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136204" y="3747043"/>
            <a:ext cx="550738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136204" y="3759845"/>
            <a:ext cx="55073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Starburst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772668" y="3747043"/>
            <a:ext cx="374266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2772668" y="3759845"/>
            <a:ext cx="37426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Trino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232658" y="3747043"/>
            <a:ext cx="797644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232658" y="3759845"/>
            <a:ext cx="79764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Iceberg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7922" y="4215259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21494" y="4218831"/>
            <a:ext cx="928688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1446609" y="4218831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1494" y="4218831"/>
            <a:ext cx="928688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TABLE / CATALOG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578769" y="4361406"/>
            <a:ext cx="638696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578769" y="4374207"/>
            <a:ext cx="63869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Lakekeeper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303190" y="4361406"/>
            <a:ext cx="738820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2303190" y="4374207"/>
            <a:ext cx="73882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Project Nessie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127735" y="4361406"/>
            <a:ext cx="603424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3127735" y="4374207"/>
            <a:ext cx="60342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Delta Lake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816883" y="4361406"/>
            <a:ext cx="684572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3816883" y="4374207"/>
            <a:ext cx="68457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Hudi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71437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IMPLEMENTATION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03684"/>
            <a:ext cx="7700963" cy="50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9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phased engineering roadmap from assessment to production.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14350" y="1447056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phase carries concrete engineering deliverables, technical milestones, and exit criteria.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786384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506" y="1904256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506" y="2079278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Assessment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621506" y="2265015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1506" y="2472184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1506" y="2565053"/>
            <a:ext cx="1832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506" y="2761506"/>
            <a:ext cx="17287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audit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landscape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Gap analysis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roadmap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506" y="4043809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506" y="4040237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75322" y="1786384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78906" y="1904256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78906" y="2079278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 Engineering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2678906" y="2265015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3–6 WEEKS · FIXED FEE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78906" y="2472184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78906" y="2565053"/>
            <a:ext cx="1832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78906" y="2761506"/>
            <a:ext cx="17287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platform setup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pipeline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stack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baseline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78906" y="4043809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8906" y="4040237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32722" y="1786384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36306" y="1904256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36306" y="2079278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Build</a:t>
            </a:r>
            <a:endParaRPr lang="en-US" sz="844" dirty="0"/>
          </a:p>
        </p:txBody>
      </p:sp>
      <p:sp>
        <p:nvSpPr>
          <p:cNvPr id="27" name="Text 25"/>
          <p:cNvSpPr/>
          <p:nvPr/>
        </p:nvSpPr>
        <p:spPr>
          <a:xfrm>
            <a:off x="4736306" y="2265015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8–24 WEEKS · T&amp;M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36306" y="2472184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36306" y="2565053"/>
            <a:ext cx="1832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36306" y="2761506"/>
            <a:ext cx="17287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validation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hardening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 + handover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36306" y="4043809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306" y="4040237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90122" y="1786384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93706" y="1904256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93706" y="2079278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Engineering</a:t>
            </a:r>
            <a:endParaRPr lang="en-US" sz="844" dirty="0"/>
          </a:p>
        </p:txBody>
      </p:sp>
      <p:sp>
        <p:nvSpPr>
          <p:cNvPr id="36" name="Text 34"/>
          <p:cNvSpPr/>
          <p:nvPr/>
        </p:nvSpPr>
        <p:spPr>
          <a:xfrm>
            <a:off x="6793706" y="2265015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93706" y="2472184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793706" y="2565053"/>
            <a:ext cx="1832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93706" y="2761506"/>
            <a:ext cx="17287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operations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architecture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engineering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793706" y="4043809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93706" y="4040237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4350" y="4754166"/>
            <a:ext cx="406724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95887" y="4750594"/>
            <a:ext cx="36173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20112" y="4750594"/>
            <a:ext cx="4169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714375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BEST PRACTICES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03684"/>
            <a:ext cx="86296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Principles that separate production from prototype.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44798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theoretical — these are the engineering disciplines we enforce on every engagement.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594842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4350" y="159841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6991" y="1594842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" y="2662833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8638" y="1594842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0088" y="1730573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0088" y="1937742"/>
            <a:ext cx="3745897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requirements first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0088" y="2137767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with latency, throughput, reliability, cost, and compliance SLAs. Engineer backward from constraints, not forward from tools.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43438" y="1594842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43438" y="159841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26078" y="1594842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3438" y="2662833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57725" y="1594842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9175" y="1730573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29175" y="1937742"/>
            <a:ext cx="3745897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is not optional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29175" y="2137767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system ships with distributed tracing, metrics, and logging from day one. If you can’t measure it, you can’t operate it.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4350" y="2809280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14350" y="281285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6991" y="2809280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4350" y="3877270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8638" y="2809280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0088" y="2945011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0088" y="3152180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in the pipeline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0088" y="3352205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scanning, SBOM, and compliance checks embedded in CI/CD — not a separate audit after launch.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43438" y="2809280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43438" y="281285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26078" y="2809280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43438" y="3877270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57725" y="2809280"/>
            <a:ext cx="0" cy="1071563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9175" y="2945011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29175" y="3152180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 for rollback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29175" y="3352205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deployment must be reversible. Feature flags, blue-green, canary — not big-bang deployments.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92917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57812" y="4750594"/>
            <a:ext cx="347922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951329" y="4750594"/>
            <a:ext cx="6783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PRACTICES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209673-2nsba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714500"/>
            <a:ext cx="44753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925241"/>
            <a:ext cx="3541966" cy="501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39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2370720"/>
            <a:ext cx="3953509" cy="457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39"/>
              </a:lnSpc>
              <a:buNone/>
            </a:pPr>
            <a:r>
              <a:rPr lang="en-US" sz="3150" b="1" spc="-79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2966219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2950" y="3159100"/>
            <a:ext cx="3643165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42950" y="3384798"/>
            <a:ext cx="3643165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393656" y="1900238"/>
            <a:ext cx="1857375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90"/>
              </a:lnSpc>
              <a:buNone/>
            </a:pPr>
            <a:r>
              <a:rPr lang="en-US" sz="1575" spc="3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1575" dirty="0"/>
          </a:p>
        </p:txBody>
      </p:sp>
      <p:sp>
        <p:nvSpPr>
          <p:cNvPr id="11" name="Text 7"/>
          <p:cNvSpPr/>
          <p:nvPr/>
        </p:nvSpPr>
        <p:spPr>
          <a:xfrm>
            <a:off x="6393656" y="2397398"/>
            <a:ext cx="1857375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90"/>
              </a:lnSpc>
              <a:buNone/>
            </a:pPr>
            <a:r>
              <a:rPr lang="en-US" sz="1575" spc="3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1575" dirty="0"/>
          </a:p>
        </p:txBody>
      </p:sp>
      <p:sp>
        <p:nvSpPr>
          <p:cNvPr id="12" name="Text 8"/>
          <p:cNvSpPr/>
          <p:nvPr/>
        </p:nvSpPr>
        <p:spPr>
          <a:xfrm>
            <a:off x="6393656" y="2894558"/>
            <a:ext cx="1857375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90"/>
              </a:lnSpc>
              <a:buNone/>
            </a:pPr>
            <a:r>
              <a:rPr lang="en-US" sz="1575" spc="32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1575" dirty="0"/>
          </a:p>
        </p:txBody>
      </p:sp>
      <p:sp>
        <p:nvSpPr>
          <p:cNvPr id="13" name="Text 9"/>
          <p:cNvSpPr/>
          <p:nvPr/>
        </p:nvSpPr>
        <p:spPr>
          <a:xfrm>
            <a:off x="8451056" y="1857375"/>
            <a:ext cx="7144" cy="22860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2026-10-01T12:20:09Z</dcterms:created>
  <dcterms:modified xsi:type="dcterms:W3CDTF">2026-10-01T12:20:09Z</dcterms:modified>
</cp:coreProperties>
</file>