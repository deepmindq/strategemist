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23381-7ver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80298" y="600075"/>
            <a:ext cx="33637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HYPERAUTOMATION &amp; PROCESS MINING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6400800" y="1428750"/>
            <a:ext cx="7144" cy="2857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42950" y="1714500"/>
            <a:ext cx="72869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42950" y="1960959"/>
            <a:ext cx="5863590" cy="69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Hyperautomation &amp; Process Mining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742950" y="2680915"/>
            <a:ext cx="586359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742950" y="321234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42950" y="3376650"/>
            <a:ext cx="4857750" cy="229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238" spc="-6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Discover, automate, orchestrate — at enterprise scale.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6715125" y="1857375"/>
            <a:ext cx="189202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715125" y="2018109"/>
            <a:ext cx="118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Mining</a:t>
            </a:r>
            <a:endParaRPr lang="en-US" sz="800" dirty="0"/>
          </a:p>
          <a:p>
            <a:pPr algn="l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&amp; Discovery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715125" y="2493169"/>
            <a:ext cx="189202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715125" y="2653903"/>
            <a:ext cx="118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RPA &amp; Task</a:t>
            </a:r>
            <a:endParaRPr lang="en-US" sz="800" dirty="0"/>
          </a:p>
          <a:p>
            <a:pPr algn="l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715125" y="3128963"/>
            <a:ext cx="189202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715125" y="3289697"/>
            <a:ext cx="118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Intelligent Document</a:t>
            </a:r>
            <a:endParaRPr lang="en-US" sz="800" dirty="0"/>
          </a:p>
          <a:p>
            <a:pPr algn="l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 (IDP)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610433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632972" y="4750594"/>
            <a:ext cx="210640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HYPERAUTOMATION &amp; PROCESS MINING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7229475" cy="58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hyperautomation &amp; process mining programs fail.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471613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96653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928813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941" y="2139553"/>
            <a:ext cx="3693319" cy="397483"/>
          </a:xfrm>
          <a:prstGeom prst="roundRect">
            <a:avLst>
              <a:gd name="adj" fmla="val 1917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7238" y="22217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971550" y="2214563"/>
            <a:ext cx="3410141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71550" y="2352080"/>
            <a:ext cx="323366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667941" y="2608473"/>
            <a:ext cx="3693319" cy="397483"/>
          </a:xfrm>
          <a:prstGeom prst="roundRect">
            <a:avLst>
              <a:gd name="adj" fmla="val 1917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7238" y="269062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971550" y="2683483"/>
            <a:ext cx="3334555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1550" y="2821000"/>
            <a:ext cx="3087551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67941" y="3077394"/>
            <a:ext cx="3693319" cy="397483"/>
          </a:xfrm>
          <a:prstGeom prst="roundRect">
            <a:avLst>
              <a:gd name="adj" fmla="val 1917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7238" y="315954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971550" y="3152403"/>
            <a:ext cx="2905441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71550" y="3289920"/>
            <a:ext cx="2767087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667941" y="3546314"/>
            <a:ext cx="3693319" cy="397483"/>
          </a:xfrm>
          <a:prstGeom prst="roundRect">
            <a:avLst>
              <a:gd name="adj" fmla="val 1917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7238" y="362846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971550" y="3621323"/>
            <a:ext cx="2768549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71550" y="3758840"/>
            <a:ext cx="263671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4689872" y="1796653"/>
            <a:ext cx="313610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36319" y="1928813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36319" y="2135981"/>
            <a:ext cx="28432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hyperautomation &amp; process mining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36319" y="4093369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36319" y="4093369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8764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41264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7019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186819" y="173235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9" name="Text 7"/>
          <p:cNvSpPr/>
          <p:nvPr/>
        </p:nvSpPr>
        <p:spPr>
          <a:xfrm>
            <a:off x="692944" y="1973461"/>
            <a:ext cx="37530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Mining &amp; Discovery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92944" y="2233426"/>
            <a:ext cx="36433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process mining &amp; discovery with real platforms and tools.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541264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7744" y="17019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01619" y="173235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4807744" y="1973461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RPA &amp; Task Automation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807744" y="2233426"/>
            <a:ext cx="364331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rpa &amp; task automation with real platforms and tools.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17922" y="2727127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2944" y="288786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86819" y="291822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692944" y="3159323"/>
            <a:ext cx="37530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Intelligent Document Processing (IDP)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92944" y="3419289"/>
            <a:ext cx="36433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intelligent document processing (idp) with real platforms and tools.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2727127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7744" y="288786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01619" y="291822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4807744" y="3159323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Orchestration &amp; BPM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807744" y="3419289"/>
            <a:ext cx="36433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workflow orchestration &amp; bpm with real platforms and tools.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Mining &amp; Discovery.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8084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91593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638040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845208"/>
            <a:ext cx="367188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process mining &amp; discovery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5796" y="4052056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059771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89872" y="1491593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6319" y="1623752"/>
            <a:ext cx="284321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93469" y="186664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22069" y="18594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5322094" y="1852352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Celonis Execution Management System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22094" y="197379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Celonis EMS — process mining via Event Collection, PQL (Process Query Language), Execution Apps.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36319" y="2227399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3469" y="229526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2069" y="22881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322094" y="2280977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Signavio Process Intelligence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22094" y="2402421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Signavio — process mining + customer journey, action engine, scenario simulation.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36319" y="2656024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3469" y="272389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2069" y="27167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322094" y="2709602"/>
            <a:ext cx="230028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Apromore Process Mining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22094" y="283104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Apromore — process discovery, conformance checking, variant analysis, predictive process monitoring.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36319" y="3084649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3469" y="315251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2069" y="31453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322094" y="3138227"/>
            <a:ext cx="230028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UiPath Process Mining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22094" y="3259671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UiPath Process Mining — XES event logs, automation candidate discovery, ROI simulation.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36319" y="3513274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3469" y="358114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22069" y="35739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322094" y="3566852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ABBYY Timeline Process Mining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22094" y="368829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ABBYY Timeline — task mining (desktop event capture), process mining, root-cause analysis.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4350" y="4754166"/>
            <a:ext cx="362723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55877" y="4750594"/>
            <a:ext cx="317740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47570" y="4750594"/>
            <a:ext cx="13590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MINING &amp; DISCOVERY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52106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RPA &amp; Task Automation.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8084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91593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638040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845208"/>
            <a:ext cx="367188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rpa &amp; task automation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5796" y="4052056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059771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89872" y="1491593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6319" y="1623752"/>
            <a:ext cx="284321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93469" y="186664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22069" y="18594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5322094" y="1852352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UiPath Studio &amp; Orchestrator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22094" y="197379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UiPath Studio (workflow designer) — attended / unattended robots, Orchestrator queue management, REFramework.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36319" y="2227399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3469" y="229526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2069" y="22881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322094" y="2280977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 Anywhere Bot Agent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22094" y="2402421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 Anywhere 360 — bot agent (cloud-native), Bot Insight analytics, IQ Bot (intelligent doc processing).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36319" y="2656024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3469" y="272389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2069" y="27167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322094" y="2709602"/>
            <a:ext cx="230028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Power Automate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22094" y="283104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Automate Desktop / Cloud — attended RPA, AI Builder (form processing / sentiment), Process Mining add-on.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36319" y="3084649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3469" y="315251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2069" y="31453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322094" y="3138227"/>
            <a:ext cx="230028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Blue Prism Enterprise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22094" y="3259671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Blue Prism — Digital Workers, Decipher IDP, Interact UI, ABBYY OCR integration.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36319" y="3513274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3469" y="358114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22069" y="35739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322094" y="3566852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Workato Recipe Automation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22094" y="368829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Workato — Recipe-based automation, Workato One-Platform, app-aware orchestration via Workbot.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4350" y="4754166"/>
            <a:ext cx="37481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76762" y="4750594"/>
            <a:ext cx="329818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230" y="4750594"/>
            <a:ext cx="104042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RPA &amp; TASK AUTOMATION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Intelligent Document Processing (IDP).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8084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91593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638040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845208"/>
            <a:ext cx="367188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intelligent document processing (idp)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5796" y="4052056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059771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89872" y="1491593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6319" y="1623752"/>
            <a:ext cx="284321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93469" y="186664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22069" y="18594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5322094" y="1852352"/>
            <a:ext cx="230028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ABBYY Vantage IDP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22094" y="197379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ABBYY Vantage — Skills (pre-trained models for invoices / POs / KYC), LLM-augmented document skills, FineReader Engine.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36319" y="2227399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3469" y="229526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2069" y="22881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322094" y="2280977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Datacap Document Capture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22094" y="2402421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Datacap — task-based capture, fingerprint matching, FastDoc / DotEdit verification UI, custom panel TX.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36319" y="2656024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3469" y="272389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2069" y="27167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322094" y="2709602"/>
            <a:ext cx="230028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Textract IDP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22094" y="283104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Textract — OCR, forms (key-value), tables, signature detection, AnalyzeID for driver's licenses / passports.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36319" y="3084649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3469" y="315251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2069" y="31453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322094" y="3138227"/>
            <a:ext cx="230028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Document AI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22094" y="3259671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Cloud Document AI — specialized processors (Invoice / W9 / 1040 / contract parser), Human-in-the-Loop (HITL) review.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36319" y="3513274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3469" y="358114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22069" y="35739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322094" y="3566852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Hyperscience IDP Platform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22094" y="368829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Hyperscience — ML-based transcription, human-in-the-loop via Station UI, Structured Changes platform.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4350" y="4754166"/>
            <a:ext cx="33693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98032" y="4750594"/>
            <a:ext cx="29195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31881" y="4750594"/>
            <a:ext cx="190563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INTELLIGENT DOCUMENT PROCESSING (IDP)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Orchestration &amp; BPM.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8084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91593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638040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845208"/>
            <a:ext cx="367188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workflow orchestration &amp; bpm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5796" y="4052056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059771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89872" y="1491593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6319" y="1623752"/>
            <a:ext cx="284321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93469" y="186664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22069" y="18594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5322094" y="1852352"/>
            <a:ext cx="230028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Camunda BPM Platform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22094" y="197379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Camunda 8 (Zeebe) — process orchestration, BPMN 2.0, DMN decision tables, Optimize analytics, Operate / Tasklist UIs.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36319" y="2227399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3469" y="229526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2069" y="22881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322094" y="2280977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Airflow Workflow DAGs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22094" y="2402421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Airflow — DAGs, TaskFlow API, Operators (Bash, Python, SQL), CeleryExecutor / KubernetesExecutor.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36319" y="2656024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3469" y="272389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2069" y="27167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322094" y="2709602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BAW Business Automation Workflow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22094" y="283104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Business Automation Workflow (BAW) — BPMN process, Case Manager, Workflow Center.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36319" y="3084649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3469" y="315251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2069" y="31453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322094" y="3138227"/>
            <a:ext cx="230028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Pega Infinity Platform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22094" y="3259671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Pegasystems Pega Infinity — Case management, decisioning (Pega Customer Decision Hub), low-code Dev Studio.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36319" y="3513274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3469" y="358114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22069" y="35739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322094" y="3566852"/>
            <a:ext cx="24100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Appian Process Automation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22094" y="3688296"/>
            <a:ext cx="23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Appian — BPMN modeling, SAIL UI framework, Tempo interface, Records (data model).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4350" y="4754166"/>
            <a:ext cx="353303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61668" y="4750594"/>
            <a:ext cx="308308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59042" y="4750594"/>
            <a:ext cx="155884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ORCHESTRATION &amp; BPM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87648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hyperautomation &amp; process mining delivers measurable production impact.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41264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7019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70958" y="173235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973461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92944" y="2233426"/>
            <a:ext cx="36433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541264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7744" y="17019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01619" y="173235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4807744" y="1973461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807744" y="2233426"/>
            <a:ext cx="36433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2727127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2944" y="288786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20254" y="2918222"/>
            <a:ext cx="2363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692944" y="3159323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92944" y="3419289"/>
            <a:ext cx="36433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2727127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7744" y="288786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01619" y="291822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4807744" y="3159323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807744" y="3419289"/>
            <a:ext cx="36433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7858125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hyperautomation &amp; process mining.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39794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08696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712268"/>
            <a:ext cx="121443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732359" y="1712268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494" y="1712268"/>
            <a:ext cx="121443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MINING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64519" y="1863772"/>
            <a:ext cx="70723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47884" y="1876574"/>
            <a:ext cx="7405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Celonis EMS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71763" y="1863772"/>
            <a:ext cx="745852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43267" y="1876574"/>
            <a:ext cx="8028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Signavio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17627" y="1863772"/>
            <a:ext cx="60666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17627" y="1876574"/>
            <a:ext cx="6066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Apromore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24300" y="1863772"/>
            <a:ext cx="1125029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24300" y="1876574"/>
            <a:ext cx="112502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UiPath Process Mining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922" y="2351633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355205"/>
            <a:ext cx="121443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732359" y="2355205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494" y="2355205"/>
            <a:ext cx="121443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RPA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64519" y="2506710"/>
            <a:ext cx="46066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864519" y="2519511"/>
            <a:ext cx="4606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UiPath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25192" y="2506710"/>
            <a:ext cx="113931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25192" y="2519511"/>
            <a:ext cx="11393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 Anywhere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64521" y="2506710"/>
            <a:ext cx="89363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64521" y="2519511"/>
            <a:ext cx="8936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Automate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58171" y="2506710"/>
            <a:ext cx="64014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51154" y="2519511"/>
            <a:ext cx="6541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Blue Prism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7922" y="2994571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1494" y="2998143"/>
            <a:ext cx="121443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732359" y="2998143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494" y="2998143"/>
            <a:ext cx="121443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64519" y="3149647"/>
            <a:ext cx="84151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840693" y="3162449"/>
            <a:ext cx="8891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ABBYY Vantage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806043" y="3149647"/>
            <a:ext cx="72989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00737" y="3162449"/>
            <a:ext cx="7405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Datacap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35946" y="3149647"/>
            <a:ext cx="748085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608566" y="3162449"/>
            <a:ext cx="8028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Textract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84043" y="3149647"/>
            <a:ext cx="107067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484043" y="3162449"/>
            <a:ext cx="10706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Document AI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7922" y="3637508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1494" y="3641080"/>
            <a:ext cx="121443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732359" y="3641080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494" y="3641080"/>
            <a:ext cx="121443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BPM / ORCHESTRATION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864519" y="3792585"/>
            <a:ext cx="67910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864519" y="3805386"/>
            <a:ext cx="6791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Camunda 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43634" y="3792585"/>
            <a:ext cx="827112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643634" y="3805386"/>
            <a:ext cx="8271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Airflow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570759" y="3792585"/>
            <a:ext cx="56859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570759" y="3805386"/>
            <a:ext cx="5685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BAW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239369" y="3792585"/>
            <a:ext cx="71750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177516" y="3805386"/>
            <a:ext cx="84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Pega Infinity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7922" y="4280446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1494" y="4284018"/>
            <a:ext cx="121443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732359" y="4284018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494" y="4284018"/>
            <a:ext cx="121443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864519" y="4435522"/>
            <a:ext cx="53991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864519" y="4448324"/>
            <a:ext cx="53991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Workato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504442" y="4435522"/>
            <a:ext cx="483989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504442" y="4448324"/>
            <a:ext cx="4839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Appian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088444" y="4435522"/>
            <a:ext cx="765944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073591" y="4448324"/>
            <a:ext cx="795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Hyperscience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954400" y="4435522"/>
            <a:ext cx="611684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3954400" y="4448324"/>
            <a:ext cx="6116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Pega CDH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17079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9583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627994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5794" y="1817303"/>
            <a:ext cx="170021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5794" y="2025811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2247267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2397286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5794" y="262231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5794" y="2785504"/>
            <a:ext cx="1700213" cy="135758"/>
          </a:xfrm>
          <a:prstGeom prst="rect">
            <a:avLst/>
          </a:prstGeom>
          <a:noFill/>
          <a:ln/>
        </p:spPr>
        <p:txBody>
          <a:bodyPr wrap="squar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5794" y="294869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5794" y="3111884"/>
            <a:ext cx="1700213" cy="148070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5794" y="3578237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794" y="3653247"/>
            <a:ext cx="1700213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5794" y="3778262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75322" y="149583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93194" y="1627994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3194" y="1817303"/>
            <a:ext cx="170021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3194" y="2025811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93194" y="2247267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93194" y="2397286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93194" y="262231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93194" y="278550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93194" y="294869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93194" y="3111884"/>
            <a:ext cx="1700213" cy="148070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3194" y="3578237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3194" y="3653247"/>
            <a:ext cx="1700213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93194" y="3778262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32722" y="149583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0594" y="1627994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0594" y="1817303"/>
            <a:ext cx="170021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0594" y="2025811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0594" y="2247267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50594" y="2397286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0594" y="262231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0594" y="278550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0594" y="294869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0594" y="3111884"/>
            <a:ext cx="1700213" cy="148070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0594" y="3578237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0594" y="3653247"/>
            <a:ext cx="1700213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50594" y="3778262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90122" y="149583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807994" y="1627994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07994" y="1817303"/>
            <a:ext cx="1700212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07994" y="2025811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07994" y="2247267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807994" y="2397286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07994" y="262231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07994" y="2785504"/>
            <a:ext cx="1700213" cy="135758"/>
          </a:xfrm>
          <a:prstGeom prst="rect">
            <a:avLst/>
          </a:prstGeom>
          <a:noFill/>
          <a:ln/>
        </p:spPr>
        <p:txBody>
          <a:bodyPr wrap="non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07994" y="2948694"/>
            <a:ext cx="1700213" cy="135758"/>
          </a:xfrm>
          <a:prstGeom prst="rect">
            <a:avLst/>
          </a:prstGeom>
          <a:noFill/>
          <a:ln/>
        </p:spPr>
        <p:txBody>
          <a:bodyPr wrap="square" lIns="85725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619" dirty="0"/>
          </a:p>
        </p:txBody>
      </p:sp>
      <p:sp>
        <p:nvSpPr>
          <p:cNvPr id="54" name="Text 52"/>
          <p:cNvSpPr/>
          <p:nvPr/>
        </p:nvSpPr>
        <p:spPr>
          <a:xfrm>
            <a:off x="6807994" y="3111884"/>
            <a:ext cx="1700213" cy="148070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807994" y="3578237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07994" y="3653247"/>
            <a:ext cx="1700213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07994" y="3778262"/>
            <a:ext cx="17002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500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17079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520837"/>
            <a:ext cx="3986213" cy="1178719"/>
          </a:xfrm>
          <a:prstGeom prst="roundRect">
            <a:avLst>
              <a:gd name="adj" fmla="val 64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5244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520837"/>
            <a:ext cx="0" cy="11787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6959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520837"/>
            <a:ext cx="0" cy="1178719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88" y="165656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1853022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088" y="2053047"/>
            <a:ext cx="3636169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3438" y="1520837"/>
            <a:ext cx="3986213" cy="1178719"/>
          </a:xfrm>
          <a:prstGeom prst="roundRect">
            <a:avLst>
              <a:gd name="adj" fmla="val 64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5244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520837"/>
            <a:ext cx="0" cy="11787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6959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520837"/>
            <a:ext cx="0" cy="1178719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9175" y="165656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9175" y="1853022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9175" y="2053047"/>
            <a:ext cx="3636169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842431"/>
            <a:ext cx="3986213" cy="1178719"/>
          </a:xfrm>
          <a:prstGeom prst="roundRect">
            <a:avLst>
              <a:gd name="adj" fmla="val 64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284600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2842431"/>
            <a:ext cx="0" cy="11787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40175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2842431"/>
            <a:ext cx="0" cy="1178719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088" y="2978162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088" y="3174616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088" y="3374641"/>
            <a:ext cx="3636169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3438" y="2842431"/>
            <a:ext cx="3986213" cy="1178719"/>
          </a:xfrm>
          <a:prstGeom prst="roundRect">
            <a:avLst>
              <a:gd name="adj" fmla="val 64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284600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2842431"/>
            <a:ext cx="0" cy="11787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40175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2842431"/>
            <a:ext cx="0" cy="1178719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9175" y="2978162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9175" y="3174616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9175" y="3374641"/>
            <a:ext cx="3636169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30624-yc4a5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0" y="1428750"/>
            <a:ext cx="7144" cy="27146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72869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5700713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380990"/>
            <a:ext cx="6363081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742950" y="3029620"/>
            <a:ext cx="586359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243932"/>
            <a:ext cx="586359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83140" y="2000250"/>
            <a:ext cx="1026814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013" spc="6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6283140" y="2425973"/>
            <a:ext cx="1026814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013" spc="6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6625362" y="2851696"/>
            <a:ext cx="68459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013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2026-10-01T12:22:10Z</dcterms:created>
  <dcterms:modified xsi:type="dcterms:W3CDTF">2026-10-01T12:22:10Z</dcterms:modified>
</cp:coreProperties>
</file>