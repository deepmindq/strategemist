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57306511-6vtu3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457200"/>
            <a:ext cx="1857375" cy="3021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16017" y="571500"/>
            <a:ext cx="30387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62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KEFI TECH · FINOPS &amp; CLOUD COST OPTIMIZATION · 2026</a:t>
            </a:r>
            <a:endParaRPr lang="en-US" sz="619" dirty="0"/>
          </a:p>
        </p:txBody>
      </p:sp>
      <p:sp>
        <p:nvSpPr>
          <p:cNvPr id="5" name="Text 1"/>
          <p:cNvSpPr/>
          <p:nvPr/>
        </p:nvSpPr>
        <p:spPr>
          <a:xfrm>
            <a:off x="742950" y="1685925"/>
            <a:ext cx="720291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 · DEEP TECH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742950" y="1903809"/>
            <a:ext cx="5972175" cy="741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16"/>
              </a:lnSpc>
              <a:buNone/>
            </a:pPr>
            <a:r>
              <a:rPr lang="en-US" sz="2700" b="1" spc="-54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FinOps &amp; Cloud Cost Optimization</a:t>
            </a:r>
            <a:endParaRPr lang="en-US" sz="2700" dirty="0"/>
          </a:p>
        </p:txBody>
      </p:sp>
      <p:sp>
        <p:nvSpPr>
          <p:cNvPr id="7" name="Text 3"/>
          <p:cNvSpPr/>
          <p:nvPr/>
        </p:nvSpPr>
        <p:spPr>
          <a:xfrm>
            <a:off x="742950" y="2672879"/>
            <a:ext cx="5972175" cy="399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16"/>
              </a:lnSpc>
              <a:buNone/>
            </a:pPr>
            <a:r>
              <a:rPr lang="en-US" sz="2700" b="1" spc="-54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engineered for production.</a:t>
            </a:r>
            <a:endParaRPr lang="en-US" sz="2700" dirty="0"/>
          </a:p>
        </p:txBody>
      </p:sp>
      <p:sp>
        <p:nvSpPr>
          <p:cNvPr id="8" name="Text 4"/>
          <p:cNvSpPr/>
          <p:nvPr/>
        </p:nvSpPr>
        <p:spPr>
          <a:xfrm>
            <a:off x="742950" y="3214576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742950" y="3364595"/>
            <a:ext cx="5863590" cy="237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dollar traced, every workload sized.</a:t>
            </a:r>
            <a:endParaRPr lang="en-US" sz="1238" dirty="0"/>
          </a:p>
        </p:txBody>
      </p:sp>
      <p:sp>
        <p:nvSpPr>
          <p:cNvPr id="10" name="Text 6"/>
          <p:cNvSpPr/>
          <p:nvPr/>
        </p:nvSpPr>
        <p:spPr>
          <a:xfrm>
            <a:off x="6400800" y="1685925"/>
            <a:ext cx="7144" cy="1857375"/>
          </a:xfrm>
          <a:prstGeom prst="rect">
            <a:avLst/>
          </a:prstGeom>
          <a:solidFill>
            <a:srgbClr val="94A3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6083082" y="1685925"/>
            <a:ext cx="2546568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6910716" y="1835944"/>
            <a:ext cx="1718934" cy="142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51"/>
              </a:lnSpc>
              <a:buNone/>
            </a:pPr>
            <a:r>
              <a:rPr lang="en-US" sz="800" spc="7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 Visibility &amp; Allocation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6265069" y="2170919"/>
            <a:ext cx="2364581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7033558" y="2320937"/>
            <a:ext cx="1596092" cy="142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51"/>
              </a:lnSpc>
              <a:buNone/>
            </a:pPr>
            <a:r>
              <a:rPr lang="en-US" sz="800" spc="7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Kubernetes Cost Allocation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901577" y="2655912"/>
            <a:ext cx="1728073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7363836" y="2805931"/>
            <a:ext cx="1265814" cy="142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51"/>
              </a:lnSpc>
              <a:buNone/>
            </a:pPr>
            <a:r>
              <a:rPr lang="en-US" sz="800" spc="7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IaC Cost Estimation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14350" y="4754166"/>
            <a:ext cx="617566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6704298" y="4750594"/>
            <a:ext cx="203508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/ 12 · FINOPS &amp; CLOUD COST OPTIMIZATION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862965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85800"/>
            <a:ext cx="8629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TECHNICAL CHALLENGE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60822"/>
            <a:ext cx="7229475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1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Where most finops &amp; cloud cost optimization programs fail.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514350" y="1432322"/>
            <a:ext cx="6286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gap between prototype and production is where engineering discipline matters most.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718072"/>
            <a:ext cx="4361929" cy="2821781"/>
          </a:xfrm>
          <a:prstGeom prst="roundRect">
            <a:avLst>
              <a:gd name="adj" fmla="val 405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4369" y="1850231"/>
            <a:ext cx="406903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COMMON FAILURE POINTS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7941" y="2057400"/>
            <a:ext cx="4061892" cy="392795"/>
          </a:xfrm>
          <a:prstGeom prst="roundRect">
            <a:avLst>
              <a:gd name="adj" fmla="val 2909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57238" y="213240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406" dirty="0"/>
          </a:p>
        </p:txBody>
      </p:sp>
      <p:sp>
        <p:nvSpPr>
          <p:cNvPr id="10" name="Text 8"/>
          <p:cNvSpPr/>
          <p:nvPr/>
        </p:nvSpPr>
        <p:spPr>
          <a:xfrm>
            <a:off x="985838" y="2132409"/>
            <a:ext cx="3764426" cy="10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Prototype-grade architecture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85838" y="2265238"/>
            <a:ext cx="3654698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Solutions built for demos, not production load, latency, or reliability requirements.</a:t>
            </a:r>
            <a:endParaRPr lang="en-US" sz="619" dirty="0"/>
          </a:p>
        </p:txBody>
      </p:sp>
      <p:sp>
        <p:nvSpPr>
          <p:cNvPr id="12" name="Text 10"/>
          <p:cNvSpPr/>
          <p:nvPr/>
        </p:nvSpPr>
        <p:spPr>
          <a:xfrm>
            <a:off x="667941" y="2514488"/>
            <a:ext cx="4061892" cy="392795"/>
          </a:xfrm>
          <a:prstGeom prst="roundRect">
            <a:avLst>
              <a:gd name="adj" fmla="val 2909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57238" y="258949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14" name="Text 12"/>
          <p:cNvSpPr/>
          <p:nvPr/>
        </p:nvSpPr>
        <p:spPr>
          <a:xfrm>
            <a:off x="985838" y="2589498"/>
            <a:ext cx="3764426" cy="10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observability or evaluation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85838" y="2722327"/>
            <a:ext cx="3654698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metrics for accuracy, latency, cost, or drift — teams fly blind in production.</a:t>
            </a:r>
            <a:endParaRPr lang="en-US" sz="619" dirty="0"/>
          </a:p>
        </p:txBody>
      </p:sp>
      <p:sp>
        <p:nvSpPr>
          <p:cNvPr id="16" name="Text 14"/>
          <p:cNvSpPr/>
          <p:nvPr/>
        </p:nvSpPr>
        <p:spPr>
          <a:xfrm>
            <a:off x="667941" y="2971577"/>
            <a:ext cx="4061892" cy="392795"/>
          </a:xfrm>
          <a:prstGeom prst="roundRect">
            <a:avLst>
              <a:gd name="adj" fmla="val 2909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57238" y="304658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18" name="Text 16"/>
          <p:cNvSpPr/>
          <p:nvPr/>
        </p:nvSpPr>
        <p:spPr>
          <a:xfrm>
            <a:off x="985838" y="3046586"/>
            <a:ext cx="3654698" cy="1053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as afterthought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85838" y="3179415"/>
            <a:ext cx="3654698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guardrails, no audit trails, no compliance — bolted on after launch.</a:t>
            </a:r>
            <a:endParaRPr lang="en-US" sz="619" dirty="0"/>
          </a:p>
        </p:txBody>
      </p:sp>
      <p:sp>
        <p:nvSpPr>
          <p:cNvPr id="20" name="Text 18"/>
          <p:cNvSpPr/>
          <p:nvPr/>
        </p:nvSpPr>
        <p:spPr>
          <a:xfrm>
            <a:off x="667941" y="3428665"/>
            <a:ext cx="4061892" cy="392795"/>
          </a:xfrm>
          <a:prstGeom prst="roundRect">
            <a:avLst>
              <a:gd name="adj" fmla="val 2909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57238" y="350367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↘</a:t>
            </a:r>
            <a:endParaRPr lang="en-US" sz="1406" dirty="0"/>
          </a:p>
        </p:txBody>
      </p:sp>
      <p:sp>
        <p:nvSpPr>
          <p:cNvPr id="22" name="Text 20"/>
          <p:cNvSpPr/>
          <p:nvPr/>
        </p:nvSpPr>
        <p:spPr>
          <a:xfrm>
            <a:off x="985838" y="3503675"/>
            <a:ext cx="3654698" cy="1053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operational maturity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85838" y="3636504"/>
            <a:ext cx="3654698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CI/CD for models, no rollback, no A/B testing, no drift detection.</a:t>
            </a:r>
            <a:endParaRPr lang="en-US" sz="619" dirty="0"/>
          </a:p>
        </p:txBody>
      </p:sp>
      <p:sp>
        <p:nvSpPr>
          <p:cNvPr id="24" name="Text 22"/>
          <p:cNvSpPr/>
          <p:nvPr/>
        </p:nvSpPr>
        <p:spPr>
          <a:xfrm>
            <a:off x="5058445" y="1718072"/>
            <a:ext cx="3567522" cy="2821781"/>
          </a:xfrm>
          <a:prstGeom prst="roundRect">
            <a:avLst>
              <a:gd name="adj" fmla="val 405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219179" y="1864519"/>
            <a:ext cx="324605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D43F0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 APPROACH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219179" y="2110978"/>
            <a:ext cx="3246053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 treat finops &amp; cloud cost optimization as an engineering discipline, not a science experiment. Every engagement starts with production requirements — latency, throughput, reliability, cost, compliance — and engineers backward from those constraints.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219179" y="4257675"/>
            <a:ext cx="1997236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219179" y="4257675"/>
            <a:ext cx="1997236" cy="135731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PRODUCTION-FIRST · ENGINEERING-GRADE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4350" y="4754166"/>
            <a:ext cx="402695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55592" y="4750594"/>
            <a:ext cx="357712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124125" y="4750594"/>
            <a:ext cx="52840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CHALLENGE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862965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85800"/>
            <a:ext cx="8629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60822"/>
            <a:ext cx="8629650" cy="277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1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capability areas. One engineering system.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514350" y="1175147"/>
            <a:ext cx="6286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capability area is a deep technical domain — not a generic service line.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460897"/>
            <a:ext cx="3993356" cy="1478756"/>
          </a:xfrm>
          <a:prstGeom prst="roundRect">
            <a:avLst>
              <a:gd name="adj" fmla="val 772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4369" y="159305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969" dirty="0"/>
          </a:p>
        </p:txBody>
      </p:sp>
      <p:sp>
        <p:nvSpPr>
          <p:cNvPr id="8" name="Text 6"/>
          <p:cNvSpPr/>
          <p:nvPr/>
        </p:nvSpPr>
        <p:spPr>
          <a:xfrm>
            <a:off x="4203894" y="1618059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7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788" dirty="0"/>
          </a:p>
        </p:txBody>
      </p:sp>
      <p:sp>
        <p:nvSpPr>
          <p:cNvPr id="9" name="Text 7"/>
          <p:cNvSpPr/>
          <p:nvPr/>
        </p:nvSpPr>
        <p:spPr>
          <a:xfrm>
            <a:off x="664369" y="1864519"/>
            <a:ext cx="3810191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Cost Visibility &amp; Allocation</a:t>
            </a:r>
            <a:endParaRPr lang="en-US" sz="1238" dirty="0"/>
          </a:p>
        </p:txBody>
      </p:sp>
      <p:sp>
        <p:nvSpPr>
          <p:cNvPr id="10" name="Text 8"/>
          <p:cNvSpPr/>
          <p:nvPr/>
        </p:nvSpPr>
        <p:spPr>
          <a:xfrm>
            <a:off x="664369" y="2110197"/>
            <a:ext cx="37004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in cost visibility &amp; allocation with real platforms and tools.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4632722" y="1460897"/>
            <a:ext cx="3993356" cy="1478756"/>
          </a:xfrm>
          <a:prstGeom prst="roundRect">
            <a:avLst>
              <a:gd name="adj" fmla="val 772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79169" y="159305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969" dirty="0"/>
          </a:p>
        </p:txBody>
      </p:sp>
      <p:sp>
        <p:nvSpPr>
          <p:cNvPr id="13" name="Text 11"/>
          <p:cNvSpPr/>
          <p:nvPr/>
        </p:nvSpPr>
        <p:spPr>
          <a:xfrm>
            <a:off x="8318694" y="1618059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7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788" dirty="0"/>
          </a:p>
        </p:txBody>
      </p:sp>
      <p:sp>
        <p:nvSpPr>
          <p:cNvPr id="14" name="Text 12"/>
          <p:cNvSpPr/>
          <p:nvPr/>
        </p:nvSpPr>
        <p:spPr>
          <a:xfrm>
            <a:off x="4779169" y="1864519"/>
            <a:ext cx="3810190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Kubernetes Cost Allocation</a:t>
            </a:r>
            <a:endParaRPr lang="en-US" sz="1238" dirty="0"/>
          </a:p>
        </p:txBody>
      </p:sp>
      <p:sp>
        <p:nvSpPr>
          <p:cNvPr id="15" name="Text 13"/>
          <p:cNvSpPr/>
          <p:nvPr/>
        </p:nvSpPr>
        <p:spPr>
          <a:xfrm>
            <a:off x="4779169" y="2110197"/>
            <a:ext cx="370046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in kubernetes cost allocation with real platforms and tools.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7922" y="3061097"/>
            <a:ext cx="3993356" cy="1478756"/>
          </a:xfrm>
          <a:prstGeom prst="roundRect">
            <a:avLst>
              <a:gd name="adj" fmla="val 772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64369" y="319325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969" dirty="0"/>
          </a:p>
        </p:txBody>
      </p:sp>
      <p:sp>
        <p:nvSpPr>
          <p:cNvPr id="18" name="Text 16"/>
          <p:cNvSpPr/>
          <p:nvPr/>
        </p:nvSpPr>
        <p:spPr>
          <a:xfrm>
            <a:off x="4203894" y="3218259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7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788" dirty="0"/>
          </a:p>
        </p:txBody>
      </p:sp>
      <p:sp>
        <p:nvSpPr>
          <p:cNvPr id="19" name="Text 17"/>
          <p:cNvSpPr/>
          <p:nvPr/>
        </p:nvSpPr>
        <p:spPr>
          <a:xfrm>
            <a:off x="664369" y="3464719"/>
            <a:ext cx="3700463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IaC Cost Estimation</a:t>
            </a:r>
            <a:endParaRPr lang="en-US" sz="1238" dirty="0"/>
          </a:p>
        </p:txBody>
      </p:sp>
      <p:sp>
        <p:nvSpPr>
          <p:cNvPr id="20" name="Text 18"/>
          <p:cNvSpPr/>
          <p:nvPr/>
        </p:nvSpPr>
        <p:spPr>
          <a:xfrm>
            <a:off x="664369" y="3710397"/>
            <a:ext cx="37004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in iac cost estimation with real platforms and tools.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4632722" y="3061097"/>
            <a:ext cx="3993356" cy="1478756"/>
          </a:xfrm>
          <a:prstGeom prst="roundRect">
            <a:avLst>
              <a:gd name="adj" fmla="val 772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79169" y="319325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969" dirty="0"/>
          </a:p>
        </p:txBody>
      </p:sp>
      <p:sp>
        <p:nvSpPr>
          <p:cNvPr id="23" name="Text 21"/>
          <p:cNvSpPr/>
          <p:nvPr/>
        </p:nvSpPr>
        <p:spPr>
          <a:xfrm>
            <a:off x="8318694" y="3218259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7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788" dirty="0"/>
          </a:p>
        </p:txBody>
      </p:sp>
      <p:sp>
        <p:nvSpPr>
          <p:cNvPr id="24" name="Text 22"/>
          <p:cNvSpPr/>
          <p:nvPr/>
        </p:nvSpPr>
        <p:spPr>
          <a:xfrm>
            <a:off x="4779169" y="3464719"/>
            <a:ext cx="3700463" cy="406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Optimization &amp; Commitment Management</a:t>
            </a:r>
            <a:endParaRPr lang="en-US" sz="1238" dirty="0"/>
          </a:p>
        </p:txBody>
      </p:sp>
      <p:sp>
        <p:nvSpPr>
          <p:cNvPr id="25" name="Text 23"/>
          <p:cNvSpPr/>
          <p:nvPr/>
        </p:nvSpPr>
        <p:spPr>
          <a:xfrm>
            <a:off x="4779169" y="3898925"/>
            <a:ext cx="370046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in optimization &amp; commitment management with real platforms and tools.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4350" y="4754166"/>
            <a:ext cx="399782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26459" y="4750594"/>
            <a:ext cx="354798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01137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862965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85800"/>
            <a:ext cx="8629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60822"/>
            <a:ext cx="8629650" cy="289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Cost Visibility &amp; Allocation.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14350" y="1177937"/>
            <a:ext cx="6286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with real platforms, tools, and frameworks.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449400"/>
            <a:ext cx="4361929" cy="3090453"/>
          </a:xfrm>
          <a:prstGeom prst="roundRect">
            <a:avLst>
              <a:gd name="adj" fmla="val 369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8656" y="1595847"/>
            <a:ext cx="4040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APPROACH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8656" y="1813731"/>
            <a:ext cx="4040460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cost visibility &amp; allocation capability goes beyond surface-level integration. We engineer at the protocol, configuration, and architecture level — working with real platforms and tools, not abstract concepts. Every sub-service below carries specific tool names, configuration patterns, and engineering decisions.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55796" y="4249960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8656" y="4257675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1 OF 4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58445" y="1449400"/>
            <a:ext cx="3567522" cy="3090453"/>
          </a:xfrm>
          <a:prstGeom prst="roundRect">
            <a:avLst>
              <a:gd name="adj" fmla="val 369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190604" y="1567272"/>
            <a:ext cx="3303203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176" y="1745866"/>
            <a:ext cx="3296059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269185" y="1799444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54923" y="179944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◫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5640660" y="1799444"/>
            <a:ext cx="277456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Cost Explorer &amp; CUR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640660" y="1916534"/>
            <a:ext cx="27745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Cost Explorer + Cost and Usage Report (CUR) — Tag-based allocation, Savings Plan utilization, hourly granularity via Athena.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194176" y="2234431"/>
            <a:ext cx="3296059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269185" y="2288009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454923" y="228800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◫</a:t>
            </a:r>
            <a:endParaRPr lang="en-US" sz="1266" dirty="0"/>
          </a:p>
        </p:txBody>
      </p:sp>
      <p:sp>
        <p:nvSpPr>
          <p:cNvPr id="21" name="Text 19"/>
          <p:cNvSpPr/>
          <p:nvPr/>
        </p:nvSpPr>
        <p:spPr>
          <a:xfrm>
            <a:off x="5640660" y="2288009"/>
            <a:ext cx="288429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Azure Cost Management + Billing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640660" y="2405100"/>
            <a:ext cx="27745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Azure Cost Management — Cost analysis, budgets, exports to Blob, tags + Azure Policy enforcement.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194176" y="2722997"/>
            <a:ext cx="3296059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269185" y="2776575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54923" y="277657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◫</a:t>
            </a:r>
            <a:endParaRPr lang="en-US" sz="1266" dirty="0"/>
          </a:p>
        </p:txBody>
      </p:sp>
      <p:sp>
        <p:nvSpPr>
          <p:cNvPr id="26" name="Text 24"/>
          <p:cNvSpPr/>
          <p:nvPr/>
        </p:nvSpPr>
        <p:spPr>
          <a:xfrm>
            <a:off x="5640660" y="2776575"/>
            <a:ext cx="277456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GCP Billing Reports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640660" y="2893665"/>
            <a:ext cx="27745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Google Cloud Billing — cost breakdown by label, BigQuery export, committed use discount (CUD) recommendations.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194176" y="3211562"/>
            <a:ext cx="3296059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269185" y="3265140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454923" y="326514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◫</a:t>
            </a:r>
            <a:endParaRPr lang="en-US" sz="1266" dirty="0"/>
          </a:p>
        </p:txBody>
      </p:sp>
      <p:sp>
        <p:nvSpPr>
          <p:cNvPr id="31" name="Text 29"/>
          <p:cNvSpPr/>
          <p:nvPr/>
        </p:nvSpPr>
        <p:spPr>
          <a:xfrm>
            <a:off x="5640660" y="3265140"/>
            <a:ext cx="277456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CloudHealth Multi-Cloud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640660" y="3382231"/>
            <a:ext cx="27745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VMware Tanzu CloudHealth — multi-cloud cost allocation, showback / chargeback, reserved instance optimization.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194176" y="3700128"/>
            <a:ext cx="3296059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269185" y="3753706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454923" y="375370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◫</a:t>
            </a:r>
            <a:endParaRPr lang="en-US" sz="1266" dirty="0"/>
          </a:p>
        </p:txBody>
      </p:sp>
      <p:sp>
        <p:nvSpPr>
          <p:cNvPr id="36" name="Text 34"/>
          <p:cNvSpPr/>
          <p:nvPr/>
        </p:nvSpPr>
        <p:spPr>
          <a:xfrm>
            <a:off x="5640660" y="3753706"/>
            <a:ext cx="277456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Apptio Cloudability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640660" y="3870796"/>
            <a:ext cx="27745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Apptio Cloudability — TBM (Technology Business Management), cost allocation via shared tagging, IT financial planning.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4350" y="4754166"/>
            <a:ext cx="362668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155318" y="4750594"/>
            <a:ext cx="3176736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346342" y="4750594"/>
            <a:ext cx="1360306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COST VISIBILITY &amp; ALLOCATION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862965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85800"/>
            <a:ext cx="8629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60822"/>
            <a:ext cx="8629650" cy="289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Kubernetes Cost Allocation.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14350" y="1177937"/>
            <a:ext cx="6286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with real platforms, tools, and frameworks.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449400"/>
            <a:ext cx="4361929" cy="3090453"/>
          </a:xfrm>
          <a:prstGeom prst="roundRect">
            <a:avLst>
              <a:gd name="adj" fmla="val 369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8656" y="1595847"/>
            <a:ext cx="4040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APPROACH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8656" y="1813731"/>
            <a:ext cx="4040460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kubernetes cost allocation capability goes beyond surface-level integration. We engineer at the protocol, configuration, and architecture level — working with real platforms and tools, not abstract concepts. Every sub-service below carries specific tool names, configuration patterns, and engineering decisions.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55796" y="4249960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8656" y="4257675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2 OF 4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58445" y="1449400"/>
            <a:ext cx="3567522" cy="3090453"/>
          </a:xfrm>
          <a:prstGeom prst="roundRect">
            <a:avLst>
              <a:gd name="adj" fmla="val 369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190604" y="1567272"/>
            <a:ext cx="3303203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176" y="1745866"/>
            <a:ext cx="3296059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269185" y="1799444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54923" y="179944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◫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5640660" y="1799444"/>
            <a:ext cx="277456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Kubecost Cost Allocation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640660" y="1916534"/>
            <a:ext cx="27745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Kubecost (OpenCost) — namespace / label / workload allocation, idle vs allocated cost, efficiency via utilization.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194176" y="2234431"/>
            <a:ext cx="3296059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269185" y="2288009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454923" y="228800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◫</a:t>
            </a:r>
            <a:endParaRPr lang="en-US" sz="1266" dirty="0"/>
          </a:p>
        </p:txBody>
      </p:sp>
      <p:sp>
        <p:nvSpPr>
          <p:cNvPr id="21" name="Text 19"/>
          <p:cNvSpPr/>
          <p:nvPr/>
        </p:nvSpPr>
        <p:spPr>
          <a:xfrm>
            <a:off x="5640660" y="2288009"/>
            <a:ext cx="277456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OpenCost Specification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640660" y="2405100"/>
            <a:ext cx="27745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OpenCost CNCF Sandbox spec — kubecost-cost-model, Prometheus metrics, idle / allocated cost calculation.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194176" y="2722997"/>
            <a:ext cx="3296059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269185" y="2776575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54923" y="277657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◫</a:t>
            </a:r>
            <a:endParaRPr lang="en-US" sz="1266" dirty="0"/>
          </a:p>
        </p:txBody>
      </p:sp>
      <p:sp>
        <p:nvSpPr>
          <p:cNvPr id="26" name="Text 24"/>
          <p:cNvSpPr/>
          <p:nvPr/>
        </p:nvSpPr>
        <p:spPr>
          <a:xfrm>
            <a:off x="5640660" y="2776575"/>
            <a:ext cx="288429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Loft vCluster Cost Isolation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640660" y="2893665"/>
            <a:ext cx="27745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Loft vCluster — virtual cluster per team, isolated cost allocation via vcluster + Kubecost integration.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194176" y="3211562"/>
            <a:ext cx="3296059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269185" y="3265140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454923" y="326514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◫</a:t>
            </a:r>
            <a:endParaRPr lang="en-US" sz="1266" dirty="0"/>
          </a:p>
        </p:txBody>
      </p:sp>
      <p:sp>
        <p:nvSpPr>
          <p:cNvPr id="31" name="Text 29"/>
          <p:cNvSpPr/>
          <p:nvPr/>
        </p:nvSpPr>
        <p:spPr>
          <a:xfrm>
            <a:off x="5640660" y="3265140"/>
            <a:ext cx="277456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Vantage Cloud Native Cost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640660" y="3382231"/>
            <a:ext cx="27745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Vantage — Kubecost + Cloud cost aggregator, saved views, anomaly detection alerts.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194176" y="3700128"/>
            <a:ext cx="3296059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269185" y="3753706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454923" y="375370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◫</a:t>
            </a:r>
            <a:endParaRPr lang="en-US" sz="1266" dirty="0"/>
          </a:p>
        </p:txBody>
      </p:sp>
      <p:sp>
        <p:nvSpPr>
          <p:cNvPr id="36" name="Text 34"/>
          <p:cNvSpPr/>
          <p:nvPr/>
        </p:nvSpPr>
        <p:spPr>
          <a:xfrm>
            <a:off x="5640660" y="3753706"/>
            <a:ext cx="288429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PerfectScale Right-Sizing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640660" y="3870796"/>
            <a:ext cx="27745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PerfectScale — k8s workload right-sizing, HPA / VPA recommendations, replica idle reduction.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4350" y="4754166"/>
            <a:ext cx="361205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140696" y="4750594"/>
            <a:ext cx="3162114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317098" y="4750594"/>
            <a:ext cx="1391306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KUBERNETES COST ALLOCATION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862965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85800"/>
            <a:ext cx="8629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60822"/>
            <a:ext cx="8521065" cy="2896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IaC Cost Estimation.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14350" y="1177937"/>
            <a:ext cx="6286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with real platforms, tools, and frameworks.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449400"/>
            <a:ext cx="4361929" cy="3090453"/>
          </a:xfrm>
          <a:prstGeom prst="roundRect">
            <a:avLst>
              <a:gd name="adj" fmla="val 369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8656" y="1595847"/>
            <a:ext cx="4040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APPROACH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8656" y="1813731"/>
            <a:ext cx="4040460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iac cost estimation capability goes beyond surface-level integration. We engineer at the protocol, configuration, and architecture level — working with real platforms and tools, not abstract concepts. Every sub-service below carries specific tool names, configuration patterns, and engineering decisions.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55796" y="4249960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8656" y="4257675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3 OF 4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58445" y="1449400"/>
            <a:ext cx="3567522" cy="3090453"/>
          </a:xfrm>
          <a:prstGeom prst="roundRect">
            <a:avLst>
              <a:gd name="adj" fmla="val 369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190604" y="1567272"/>
            <a:ext cx="3303203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176" y="1745866"/>
            <a:ext cx="3296059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269185" y="1799444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54923" y="179944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◫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5640660" y="1799444"/>
            <a:ext cx="277456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Infracost Pre-Merge Cost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640660" y="1916534"/>
            <a:ext cx="27745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Infracost — Terraform / Terragrunt cost estimation in PRs, usage-based resources (S3 / Lambda), GitLab / GitHub integration.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194176" y="2234431"/>
            <a:ext cx="3296059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269185" y="2288009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454923" y="228800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◫</a:t>
            </a:r>
            <a:endParaRPr lang="en-US" sz="1266" dirty="0"/>
          </a:p>
        </p:txBody>
      </p:sp>
      <p:sp>
        <p:nvSpPr>
          <p:cNvPr id="21" name="Text 19"/>
          <p:cNvSpPr/>
          <p:nvPr/>
        </p:nvSpPr>
        <p:spPr>
          <a:xfrm>
            <a:off x="5640660" y="2288009"/>
            <a:ext cx="288429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Terraform Cloud Cost Estimation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640660" y="2405100"/>
            <a:ext cx="27745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HashiCorp Terraform Cloud — terraform plan output cost estimates, monthly / hourly delta per resource.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194176" y="2722997"/>
            <a:ext cx="3296059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269185" y="2776575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54923" y="277657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◫</a:t>
            </a:r>
            <a:endParaRPr lang="en-US" sz="1266" dirty="0"/>
          </a:p>
        </p:txBody>
      </p:sp>
      <p:sp>
        <p:nvSpPr>
          <p:cNvPr id="26" name="Text 24"/>
          <p:cNvSpPr/>
          <p:nvPr/>
        </p:nvSpPr>
        <p:spPr>
          <a:xfrm>
            <a:off x="5640660" y="2776575"/>
            <a:ext cx="288429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CloudCraft Architecture Estimates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640660" y="2893665"/>
            <a:ext cx="27745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CloudCraft — visual cloud architecture, AWS / Azure / GCP cost estimation, Smart Model for live infra sync.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194176" y="3211562"/>
            <a:ext cx="3296059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269185" y="3265140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454923" y="326514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◫</a:t>
            </a:r>
            <a:endParaRPr lang="en-US" sz="1266" dirty="0"/>
          </a:p>
        </p:txBody>
      </p:sp>
      <p:sp>
        <p:nvSpPr>
          <p:cNvPr id="31" name="Text 29"/>
          <p:cNvSpPr/>
          <p:nvPr/>
        </p:nvSpPr>
        <p:spPr>
          <a:xfrm>
            <a:off x="5640660" y="3265140"/>
            <a:ext cx="277456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InfraWarden Estimator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640660" y="3382231"/>
            <a:ext cx="27745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Open-source TF cost tool — resource tagging, savings plan / RI potential, multi-region comparison.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194176" y="3700128"/>
            <a:ext cx="3296059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269185" y="3753706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454923" y="375370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◫</a:t>
            </a:r>
            <a:endParaRPr lang="en-US" sz="1266" dirty="0"/>
          </a:p>
        </p:txBody>
      </p:sp>
      <p:sp>
        <p:nvSpPr>
          <p:cNvPr id="36" name="Text 34"/>
          <p:cNvSpPr/>
          <p:nvPr/>
        </p:nvSpPr>
        <p:spPr>
          <a:xfrm>
            <a:off x="5640660" y="3753706"/>
            <a:ext cx="277456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Pricing Calculator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640660" y="3870796"/>
            <a:ext cx="27745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Pricing Calculator — service-by-service estimates, Savings Plan / RI scenarios, on-demand vs reserved.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4350" y="4754166"/>
            <a:ext cx="381721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345856" y="4750594"/>
            <a:ext cx="3367274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727417" y="4750594"/>
            <a:ext cx="90223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IAC COST ESTIMATION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862965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85800"/>
            <a:ext cx="8629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60822"/>
            <a:ext cx="8629650" cy="289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Optimization &amp; Commitment Management.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14350" y="1177937"/>
            <a:ext cx="6286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with real platforms, tools, and frameworks.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449400"/>
            <a:ext cx="4361929" cy="3090453"/>
          </a:xfrm>
          <a:prstGeom prst="roundRect">
            <a:avLst>
              <a:gd name="adj" fmla="val 369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8656" y="1595847"/>
            <a:ext cx="4040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APPROACH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8656" y="1813731"/>
            <a:ext cx="4040460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optimization &amp; commitment management capability goes beyond surface-level integration. We engineer at the protocol, configuration, and architecture level — working with real platforms and tools, not abstract concepts. Every sub-service below carries specific tool names, configuration patterns, and engineering decisions.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55796" y="4249960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8656" y="4257675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4 OF 4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58445" y="1449400"/>
            <a:ext cx="3567522" cy="3090453"/>
          </a:xfrm>
          <a:prstGeom prst="roundRect">
            <a:avLst>
              <a:gd name="adj" fmla="val 369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190604" y="1567272"/>
            <a:ext cx="3303203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176" y="1745866"/>
            <a:ext cx="3296059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269185" y="1799444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54923" y="179944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◫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5640660" y="1799444"/>
            <a:ext cx="288429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Savings Plan &amp; RI Optimization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640660" y="1916534"/>
            <a:ext cx="27745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Cost Optimization Hub — RI / SP coverage, breakeven analysis, Compute Optimizer recommendations.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194176" y="2234431"/>
            <a:ext cx="3296059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269185" y="2288009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454923" y="228800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◫</a:t>
            </a:r>
            <a:endParaRPr lang="en-US" sz="1266" dirty="0"/>
          </a:p>
        </p:txBody>
      </p:sp>
      <p:sp>
        <p:nvSpPr>
          <p:cNvPr id="21" name="Text 19"/>
          <p:cNvSpPr/>
          <p:nvPr/>
        </p:nvSpPr>
        <p:spPr>
          <a:xfrm>
            <a:off x="5640660" y="2288009"/>
            <a:ext cx="288429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Spot Instance Orchestration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640660" y="2405100"/>
            <a:ext cx="27745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Spot.io Cloud / Spot Ocean — K8s-aware Spot instance orchestration, automated fallback to on-demand, SLA-aware.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194176" y="2722997"/>
            <a:ext cx="3296059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269185" y="2776575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54923" y="277657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◫</a:t>
            </a:r>
            <a:endParaRPr lang="en-US" sz="1266" dirty="0"/>
          </a:p>
        </p:txBody>
      </p:sp>
      <p:sp>
        <p:nvSpPr>
          <p:cNvPr id="26" name="Text 24"/>
          <p:cNvSpPr/>
          <p:nvPr/>
        </p:nvSpPr>
        <p:spPr>
          <a:xfrm>
            <a:off x="5640660" y="2776575"/>
            <a:ext cx="288429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ProsperOps Autonomous RIs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640660" y="2893665"/>
            <a:ext cx="27745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ProsperOps — algorithmic RI / SP management, dynamic coverage, autonomous coupon selection.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194176" y="3211562"/>
            <a:ext cx="3296059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269185" y="3265140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454923" y="326514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◫</a:t>
            </a:r>
            <a:endParaRPr lang="en-US" sz="1266" dirty="0"/>
          </a:p>
        </p:txBody>
      </p:sp>
      <p:sp>
        <p:nvSpPr>
          <p:cNvPr id="31" name="Text 29"/>
          <p:cNvSpPr/>
          <p:nvPr/>
        </p:nvSpPr>
        <p:spPr>
          <a:xfrm>
            <a:off x="5640660" y="3265140"/>
            <a:ext cx="288429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Cast.ai Container Cost Optimization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640660" y="3382231"/>
            <a:ext cx="27745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Cast.ai — k8s cluster right-sizing, multi-cloud spot / commitment blending, automated bin-packing.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194176" y="3700128"/>
            <a:ext cx="3296059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269185" y="3753706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454923" y="375370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◫</a:t>
            </a:r>
            <a:endParaRPr lang="en-US" sz="1266" dirty="0"/>
          </a:p>
        </p:txBody>
      </p:sp>
      <p:sp>
        <p:nvSpPr>
          <p:cNvPr id="36" name="Text 34"/>
          <p:cNvSpPr/>
          <p:nvPr/>
        </p:nvSpPr>
        <p:spPr>
          <a:xfrm>
            <a:off x="5640660" y="3753706"/>
            <a:ext cx="288429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Vantage Savings Plan Recommendations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640660" y="3870796"/>
            <a:ext cx="27745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Vantage — SP / RI coverage analyzer, anomaly detection, scheduled report exports.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4350" y="4754166"/>
            <a:ext cx="333992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868564" y="4750594"/>
            <a:ext cx="2889982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772833" y="4750594"/>
            <a:ext cx="196654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OPTIMIZATION &amp; COMMITMENT MANAGEMENT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862965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85800"/>
            <a:ext cx="8629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TECHNICAL APPLICATIONS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60822"/>
            <a:ext cx="8629650" cy="277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1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Where this creates engineering value.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514350" y="1175147"/>
            <a:ext cx="65722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specific engineering scenarios where finops &amp; cloud cost optimization delivers measurable production impact.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460897"/>
            <a:ext cx="3993356" cy="1478756"/>
          </a:xfrm>
          <a:prstGeom prst="roundRect">
            <a:avLst>
              <a:gd name="adj" fmla="val 772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4369" y="159305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1969" dirty="0"/>
          </a:p>
        </p:txBody>
      </p:sp>
      <p:sp>
        <p:nvSpPr>
          <p:cNvPr id="8" name="Text 6"/>
          <p:cNvSpPr/>
          <p:nvPr/>
        </p:nvSpPr>
        <p:spPr>
          <a:xfrm>
            <a:off x="4294510" y="1618059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64369" y="1864519"/>
            <a:ext cx="3700463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Deployment</a:t>
            </a:r>
            <a:endParaRPr lang="en-US" sz="1238" dirty="0"/>
          </a:p>
        </p:txBody>
      </p:sp>
      <p:sp>
        <p:nvSpPr>
          <p:cNvPr id="10" name="Text 8"/>
          <p:cNvSpPr/>
          <p:nvPr/>
        </p:nvSpPr>
        <p:spPr>
          <a:xfrm>
            <a:off x="664369" y="2110197"/>
            <a:ext cx="370046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prototype to production-grade deployment with real reliability, latency, and cost SLAs.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632722" y="1460897"/>
            <a:ext cx="3993356" cy="1478756"/>
          </a:xfrm>
          <a:prstGeom prst="roundRect">
            <a:avLst>
              <a:gd name="adj" fmla="val 772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79169" y="159305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969" dirty="0"/>
          </a:p>
        </p:txBody>
      </p:sp>
      <p:sp>
        <p:nvSpPr>
          <p:cNvPr id="13" name="Text 11"/>
          <p:cNvSpPr/>
          <p:nvPr/>
        </p:nvSpPr>
        <p:spPr>
          <a:xfrm>
            <a:off x="8318694" y="1618059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79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</a:t>
            </a:r>
            <a:endParaRPr lang="en-US" sz="788" dirty="0"/>
          </a:p>
        </p:txBody>
      </p:sp>
      <p:sp>
        <p:nvSpPr>
          <p:cNvPr id="14" name="Text 12"/>
          <p:cNvSpPr/>
          <p:nvPr/>
        </p:nvSpPr>
        <p:spPr>
          <a:xfrm>
            <a:off x="4779169" y="1864519"/>
            <a:ext cx="3810190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Observability &amp; Operations</a:t>
            </a:r>
            <a:endParaRPr lang="en-US" sz="1238" dirty="0"/>
          </a:p>
        </p:txBody>
      </p:sp>
      <p:sp>
        <p:nvSpPr>
          <p:cNvPr id="15" name="Text 13"/>
          <p:cNvSpPr/>
          <p:nvPr/>
        </p:nvSpPr>
        <p:spPr>
          <a:xfrm>
            <a:off x="4779169" y="2110197"/>
            <a:ext cx="370046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monitoring, evaluation, drift detection, and operational runbooks for production systems.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7922" y="3061097"/>
            <a:ext cx="3993356" cy="1478756"/>
          </a:xfrm>
          <a:prstGeom prst="roundRect">
            <a:avLst>
              <a:gd name="adj" fmla="val 772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64369" y="319325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969" dirty="0"/>
          </a:p>
        </p:txBody>
      </p:sp>
      <p:sp>
        <p:nvSpPr>
          <p:cNvPr id="18" name="Text 16"/>
          <p:cNvSpPr/>
          <p:nvPr/>
        </p:nvSpPr>
        <p:spPr>
          <a:xfrm>
            <a:off x="4132205" y="3218259"/>
            <a:ext cx="2545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79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III</a:t>
            </a:r>
            <a:endParaRPr lang="en-US" sz="788" dirty="0"/>
          </a:p>
        </p:txBody>
      </p:sp>
      <p:sp>
        <p:nvSpPr>
          <p:cNvPr id="19" name="Text 17"/>
          <p:cNvSpPr/>
          <p:nvPr/>
        </p:nvSpPr>
        <p:spPr>
          <a:xfrm>
            <a:off x="664369" y="3464719"/>
            <a:ext cx="3700463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&amp; Compliance</a:t>
            </a:r>
            <a:endParaRPr lang="en-US" sz="1238" dirty="0"/>
          </a:p>
        </p:txBody>
      </p:sp>
      <p:sp>
        <p:nvSpPr>
          <p:cNvPr id="20" name="Text 18"/>
          <p:cNvSpPr/>
          <p:nvPr/>
        </p:nvSpPr>
        <p:spPr>
          <a:xfrm>
            <a:off x="664369" y="3710397"/>
            <a:ext cx="370046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engineering, compliance automation, and audit-ready evidence collection built into the pipeline.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32722" y="3061097"/>
            <a:ext cx="3993356" cy="1478756"/>
          </a:xfrm>
          <a:prstGeom prst="roundRect">
            <a:avLst>
              <a:gd name="adj" fmla="val 772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79169" y="319325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969" dirty="0"/>
          </a:p>
        </p:txBody>
      </p:sp>
      <p:sp>
        <p:nvSpPr>
          <p:cNvPr id="23" name="Text 21"/>
          <p:cNvSpPr/>
          <p:nvPr/>
        </p:nvSpPr>
        <p:spPr>
          <a:xfrm>
            <a:off x="8318694" y="3218259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79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</a:t>
            </a:r>
            <a:endParaRPr lang="en-US" sz="788" dirty="0"/>
          </a:p>
        </p:txBody>
      </p:sp>
      <p:sp>
        <p:nvSpPr>
          <p:cNvPr id="24" name="Text 22"/>
          <p:cNvSpPr/>
          <p:nvPr/>
        </p:nvSpPr>
        <p:spPr>
          <a:xfrm>
            <a:off x="4779169" y="3464719"/>
            <a:ext cx="3700462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Scale &amp; Optimization</a:t>
            </a:r>
            <a:endParaRPr lang="en-US" sz="1238" dirty="0"/>
          </a:p>
        </p:txBody>
      </p:sp>
      <p:sp>
        <p:nvSpPr>
          <p:cNvPr id="25" name="Text 23"/>
          <p:cNvSpPr/>
          <p:nvPr/>
        </p:nvSpPr>
        <p:spPr>
          <a:xfrm>
            <a:off x="4779169" y="3710397"/>
            <a:ext cx="370046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Scaling from single-tenant to multi-tenant, optimizing cost, latency, and resource utilization.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4350" y="4754166"/>
            <a:ext cx="397962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08264" y="4750594"/>
            <a:ext cx="3529682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12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99312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APPLICATIONS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862965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85800"/>
            <a:ext cx="8629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REFERENCE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60822"/>
            <a:ext cx="8486775" cy="23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15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production reference architecture for finops &amp; cloud cost optimization.</a:t>
            </a:r>
            <a:endParaRPr lang="en-US" sz="1463" dirty="0"/>
          </a:p>
        </p:txBody>
      </p:sp>
      <p:sp>
        <p:nvSpPr>
          <p:cNvPr id="5" name="Text 3"/>
          <p:cNvSpPr/>
          <p:nvPr/>
        </p:nvSpPr>
        <p:spPr>
          <a:xfrm>
            <a:off x="514350" y="1126480"/>
            <a:ext cx="65722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layers with real platform and tool names — not generic architecture diagrams.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397943"/>
            <a:ext cx="8108156" cy="550069"/>
          </a:xfrm>
          <a:prstGeom prst="roundRect">
            <a:avLst>
              <a:gd name="adj" fmla="val 138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21494" y="1401514"/>
            <a:ext cx="928688" cy="54292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1446609" y="1401514"/>
            <a:ext cx="0" cy="5429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494" y="1401514"/>
            <a:ext cx="928688" cy="542925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COST VISIBILITY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564481" y="1572964"/>
            <a:ext cx="805569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564481" y="1583680"/>
            <a:ext cx="805569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Cost Explorer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455776" y="1572964"/>
            <a:ext cx="755117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455776" y="1583680"/>
            <a:ext cx="755117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Azure Cost Mgmt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296617" y="1572964"/>
            <a:ext cx="532991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192862" y="1583680"/>
            <a:ext cx="740501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GCP Billing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915333" y="1572964"/>
            <a:ext cx="581546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833458" y="1583680"/>
            <a:ext cx="745297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CloudHealth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17922" y="2026593"/>
            <a:ext cx="8108156" cy="550069"/>
          </a:xfrm>
          <a:prstGeom prst="roundRect">
            <a:avLst>
              <a:gd name="adj" fmla="val 138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21494" y="2030164"/>
            <a:ext cx="928688" cy="54292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1446609" y="2030164"/>
            <a:ext cx="0" cy="5429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494" y="2030164"/>
            <a:ext cx="928688" cy="542925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FINOPS PLATFORM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564481" y="2201614"/>
            <a:ext cx="819745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564481" y="2212330"/>
            <a:ext cx="819745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Apptio Cloudability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469952" y="2201614"/>
            <a:ext cx="469032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431326" y="2212330"/>
            <a:ext cx="54628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Kubecost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024708" y="2201614"/>
            <a:ext cx="436438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000957" y="2212330"/>
            <a:ext cx="483941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Vantage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546872" y="2201614"/>
            <a:ext cx="585341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435723" y="2212330"/>
            <a:ext cx="807639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PerfectScale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17922" y="2655243"/>
            <a:ext cx="8108156" cy="550069"/>
          </a:xfrm>
          <a:prstGeom prst="roundRect">
            <a:avLst>
              <a:gd name="adj" fmla="val 138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21494" y="2658814"/>
            <a:ext cx="928688" cy="54292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1446609" y="2658814"/>
            <a:ext cx="0" cy="5429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494" y="2658814"/>
            <a:ext cx="928688" cy="542925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IAC ESTIMATION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564481" y="2830264"/>
            <a:ext cx="455749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488043" y="2840980"/>
            <a:ext cx="608625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Infracost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105955" y="2830264"/>
            <a:ext cx="712924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2105955" y="2840980"/>
            <a:ext cx="71292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Terraform Cloud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904604" y="2830264"/>
            <a:ext cx="521940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2824097" y="2840980"/>
            <a:ext cx="682955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CloudCraft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512269" y="2830264"/>
            <a:ext cx="952798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3512269" y="2840980"/>
            <a:ext cx="952798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Pricing Calculator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17922" y="3283893"/>
            <a:ext cx="8108156" cy="550069"/>
          </a:xfrm>
          <a:prstGeom prst="roundRect">
            <a:avLst>
              <a:gd name="adj" fmla="val 138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21494" y="3287464"/>
            <a:ext cx="928688" cy="54292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1446609" y="3287464"/>
            <a:ext cx="0" cy="5429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1494" y="3287464"/>
            <a:ext cx="928688" cy="542925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OPTIMIZATION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564481" y="3458914"/>
            <a:ext cx="391567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1522490" y="3469630"/>
            <a:ext cx="475549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Spot.io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041773" y="3458914"/>
            <a:ext cx="550962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1975776" y="3469630"/>
            <a:ext cx="682955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ProsperOps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678460" y="3458914"/>
            <a:ext cx="388107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2634739" y="3469630"/>
            <a:ext cx="475549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Cast.ai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152291" y="3458914"/>
            <a:ext cx="1024682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3152291" y="3469630"/>
            <a:ext cx="1024682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Compute Optimizer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17922" y="3912543"/>
            <a:ext cx="8108156" cy="550069"/>
          </a:xfrm>
          <a:prstGeom prst="roundRect">
            <a:avLst>
              <a:gd name="adj" fmla="val 138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521494" y="3916114"/>
            <a:ext cx="928688" cy="54292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Shape 54"/>
          <p:cNvSpPr/>
          <p:nvPr/>
        </p:nvSpPr>
        <p:spPr>
          <a:xfrm>
            <a:off x="1446609" y="3916114"/>
            <a:ext cx="0" cy="5429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21494" y="3916114"/>
            <a:ext cx="928688" cy="542925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COMMITMENT MGMT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1564481" y="4087564"/>
            <a:ext cx="817625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1564481" y="4098280"/>
            <a:ext cx="817625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Savings Plans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2467831" y="4087564"/>
            <a:ext cx="1022896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2467831" y="4098280"/>
            <a:ext cx="1022896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Reserved Instances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3576451" y="4087564"/>
            <a:ext cx="830014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3576451" y="4098280"/>
            <a:ext cx="83001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Azure Reservations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4495763" y="4101852"/>
            <a:ext cx="1234418" cy="1714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4492191" y="4098280"/>
            <a:ext cx="4016015" cy="274320"/>
          </a:xfrm>
          <a:prstGeom prst="rect">
            <a:avLst/>
          </a:prstGeom>
          <a:noFill/>
          <a:ln/>
        </p:spPr>
        <p:txBody>
          <a:bodyPr wrap="square" lIns="64294" tIns="28575" rIns="64294" bIns="28575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GCP Committed Use Discounts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14350" y="4754166"/>
            <a:ext cx="395953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4488173" y="4750594"/>
            <a:ext cx="350959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7973028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862965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85800"/>
            <a:ext cx="8629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IMPLEMENTATION 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60822"/>
            <a:ext cx="8486775" cy="255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1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phased engineering roadmap from assessment to production.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514350" y="1143670"/>
            <a:ext cx="65722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phase carries concrete engineering deliverables, technical milestones, and exit criteria.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429420"/>
            <a:ext cx="1946672" cy="3110433"/>
          </a:xfrm>
          <a:prstGeom prst="roundRect">
            <a:avLst>
              <a:gd name="adj" fmla="val 489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21506" y="1533004"/>
            <a:ext cx="1739503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21506" y="1708026"/>
            <a:ext cx="1739503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Technical Assessment</a:t>
            </a:r>
            <a:endParaRPr lang="en-US" sz="844" dirty="0"/>
          </a:p>
        </p:txBody>
      </p:sp>
      <p:sp>
        <p:nvSpPr>
          <p:cNvPr id="9" name="Text 7"/>
          <p:cNvSpPr/>
          <p:nvPr/>
        </p:nvSpPr>
        <p:spPr>
          <a:xfrm>
            <a:off x="621506" y="1893763"/>
            <a:ext cx="17395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WEEKS · FIXED FEE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21506" y="2100932"/>
            <a:ext cx="173950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1506" y="2208088"/>
            <a:ext cx="18438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DELIVERABLES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21506" y="2415257"/>
            <a:ext cx="1739503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 audit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Tool landscape assessment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Gap analysis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roadmap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21506" y="4246959"/>
            <a:ext cx="173950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506" y="4243388"/>
            <a:ext cx="1739503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$25K–$75K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571750" y="1429420"/>
            <a:ext cx="1946672" cy="3110433"/>
          </a:xfrm>
          <a:prstGeom prst="roundRect">
            <a:avLst>
              <a:gd name="adj" fmla="val 489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675334" y="1533004"/>
            <a:ext cx="1739503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675334" y="1708026"/>
            <a:ext cx="1739503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Foundation Engineering</a:t>
            </a:r>
            <a:endParaRPr lang="en-US" sz="844" dirty="0"/>
          </a:p>
        </p:txBody>
      </p:sp>
      <p:sp>
        <p:nvSpPr>
          <p:cNvPr id="18" name="Text 16"/>
          <p:cNvSpPr/>
          <p:nvPr/>
        </p:nvSpPr>
        <p:spPr>
          <a:xfrm>
            <a:off x="2675334" y="1893763"/>
            <a:ext cx="17395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3-6 WEEKS · FIXED FEE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675334" y="2100932"/>
            <a:ext cx="173950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675334" y="2208088"/>
            <a:ext cx="18438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DELIVERABLES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675334" y="2415257"/>
            <a:ext cx="1739503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Core platform setup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CI/CD pipeline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Observability stack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baseline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675334" y="4246959"/>
            <a:ext cx="173950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75334" y="4243388"/>
            <a:ext cx="1739503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$50K–$150K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25578" y="1429420"/>
            <a:ext cx="1946672" cy="3110433"/>
          </a:xfrm>
          <a:prstGeom prst="roundRect">
            <a:avLst>
              <a:gd name="adj" fmla="val 489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29163" y="1533004"/>
            <a:ext cx="1739503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29163" y="1708026"/>
            <a:ext cx="1739503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Build</a:t>
            </a:r>
            <a:endParaRPr lang="en-US" sz="844" dirty="0"/>
          </a:p>
        </p:txBody>
      </p:sp>
      <p:sp>
        <p:nvSpPr>
          <p:cNvPr id="27" name="Text 25"/>
          <p:cNvSpPr/>
          <p:nvPr/>
        </p:nvSpPr>
        <p:spPr>
          <a:xfrm>
            <a:off x="4729163" y="1893763"/>
            <a:ext cx="17395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8-24 WEEKS · T&amp;M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29163" y="2100932"/>
            <a:ext cx="173950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29163" y="2208088"/>
            <a:ext cx="18438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DELIVERABLES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729163" y="2415257"/>
            <a:ext cx="1739503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system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 validation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hardening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Documentation + handover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29163" y="4246959"/>
            <a:ext cx="173950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29163" y="4243388"/>
            <a:ext cx="1739503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$300K–$1M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679406" y="1429420"/>
            <a:ext cx="1946672" cy="3110433"/>
          </a:xfrm>
          <a:prstGeom prst="roundRect">
            <a:avLst>
              <a:gd name="adj" fmla="val 489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782991" y="1533004"/>
            <a:ext cx="1739503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782991" y="1708026"/>
            <a:ext cx="1739503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Engineering</a:t>
            </a:r>
            <a:endParaRPr lang="en-US" sz="844" dirty="0"/>
          </a:p>
        </p:txBody>
      </p:sp>
      <p:sp>
        <p:nvSpPr>
          <p:cNvPr id="36" name="Text 34"/>
          <p:cNvSpPr/>
          <p:nvPr/>
        </p:nvSpPr>
        <p:spPr>
          <a:xfrm>
            <a:off x="6782991" y="1893763"/>
            <a:ext cx="17395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ONGOING · RETAINER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782991" y="2100932"/>
            <a:ext cx="173950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782991" y="2208088"/>
            <a:ext cx="18438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D43F0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DELIVERABLES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782991" y="2415257"/>
            <a:ext cx="1739503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operations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optimization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Quarterly architecture reviews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SLA-backed engineering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782991" y="4246959"/>
            <a:ext cx="173950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82991" y="4243388"/>
            <a:ext cx="1739503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$50K–$500K / mo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4350" y="4754166"/>
            <a:ext cx="406724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595887" y="4750594"/>
            <a:ext cx="361730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220112" y="4750594"/>
            <a:ext cx="41690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ROADMAP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862965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85800"/>
            <a:ext cx="8629650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BEST PRACTICES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60822"/>
            <a:ext cx="8629650" cy="277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1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Principles that separate production from prototype.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514350" y="1175147"/>
            <a:ext cx="65722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theoretical — these are the engineering disciplines we enforce on every engagement.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4350" y="1457325"/>
            <a:ext cx="3986213" cy="1471613"/>
          </a:xfrm>
          <a:prstGeom prst="roundRect">
            <a:avLst>
              <a:gd name="adj" fmla="val 517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14350" y="1460897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96991" y="1457325"/>
            <a:ext cx="0" cy="147161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4350" y="2925366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8638" y="1457325"/>
            <a:ext cx="0" cy="1471613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0088" y="1593056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00088" y="1800225"/>
            <a:ext cx="3745897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requirements first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00088" y="2000250"/>
            <a:ext cx="36361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Start with latency, throughput, reliability, cost, and compliance SLAs. Engineer backward from constraints, not forward from tools.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43438" y="1457325"/>
            <a:ext cx="3986213" cy="1471613"/>
          </a:xfrm>
          <a:prstGeom prst="roundRect">
            <a:avLst>
              <a:gd name="adj" fmla="val 517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643438" y="1460897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26078" y="1457325"/>
            <a:ext cx="0" cy="147161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43438" y="2925366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57725" y="1457325"/>
            <a:ext cx="0" cy="1471613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9175" y="1593056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829175" y="1800225"/>
            <a:ext cx="3745897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Observability is not optional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29175" y="2000250"/>
            <a:ext cx="36361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system ships with distributed tracing, metrics, and logging from day one. If you can't measure it, you can't operate it.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14350" y="3071813"/>
            <a:ext cx="3986213" cy="1471613"/>
          </a:xfrm>
          <a:prstGeom prst="roundRect">
            <a:avLst>
              <a:gd name="adj" fmla="val 517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14350" y="3075384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96991" y="3071813"/>
            <a:ext cx="0" cy="147161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4350" y="4539853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8638" y="3071813"/>
            <a:ext cx="0" cy="1471613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0088" y="3207544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00088" y="3414713"/>
            <a:ext cx="36361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in the pipeline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00088" y="3614738"/>
            <a:ext cx="36361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scanning, SBOM, and compliance checks embedded in CI/CD — not a separate audit after launch.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643438" y="3071813"/>
            <a:ext cx="3986213" cy="1471613"/>
          </a:xfrm>
          <a:prstGeom prst="roundRect">
            <a:avLst>
              <a:gd name="adj" fmla="val 517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643438" y="3075384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26078" y="3071813"/>
            <a:ext cx="0" cy="147161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43438" y="4539853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57725" y="3071813"/>
            <a:ext cx="0" cy="1471613"/>
          </a:xfrm>
          <a:prstGeom prst="line">
            <a:avLst/>
          </a:prstGeom>
          <a:noFill/>
          <a:ln w="28575">
            <a:solidFill>
              <a:srgbClr val="FF6C0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29175" y="3207544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829175" y="3414713"/>
            <a:ext cx="36361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 for rollback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29175" y="3614738"/>
            <a:ext cx="36361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deployment must be reversible. Feature flags, blue-green, canary — not big-bang deployments.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4350" y="4754166"/>
            <a:ext cx="392917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457812" y="4750594"/>
            <a:ext cx="3479229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951329" y="4750594"/>
            <a:ext cx="67832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BEST PRACTICES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57313146-sg68j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685800"/>
            <a:ext cx="1857375" cy="3021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42950" y="1714500"/>
            <a:ext cx="451515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GET IN TOUCH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742950" y="1932384"/>
            <a:ext cx="3573494" cy="4211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63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Let us engineer</a:t>
            </a:r>
            <a:endParaRPr lang="en-US" sz="3150" dirty="0"/>
          </a:p>
        </p:txBody>
      </p:sp>
      <p:sp>
        <p:nvSpPr>
          <p:cNvPr id="6" name="Text 2"/>
          <p:cNvSpPr/>
          <p:nvPr/>
        </p:nvSpPr>
        <p:spPr>
          <a:xfrm>
            <a:off x="742950" y="2380990"/>
            <a:ext cx="3988699" cy="45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63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next.</a:t>
            </a:r>
            <a:endParaRPr lang="en-US" sz="3150" dirty="0"/>
          </a:p>
        </p:txBody>
      </p:sp>
      <p:sp>
        <p:nvSpPr>
          <p:cNvPr id="7" name="Text 3"/>
          <p:cNvSpPr/>
          <p:nvPr/>
        </p:nvSpPr>
        <p:spPr>
          <a:xfrm>
            <a:off x="742950" y="2972470"/>
            <a:ext cx="3403327" cy="39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Bengaluru, India · Hyderabad, India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6400800" y="1714500"/>
            <a:ext cx="7144" cy="1857375"/>
          </a:xfrm>
          <a:prstGeom prst="rect">
            <a:avLst/>
          </a:prstGeom>
          <a:solidFill>
            <a:srgbClr val="94A3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7722965" y="1714500"/>
            <a:ext cx="906685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15"/>
              </a:lnSpc>
              <a:buNone/>
            </a:pPr>
            <a:r>
              <a:rPr lang="en-US" sz="1013" spc="10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Discover.</a:t>
            </a:r>
            <a:endParaRPr lang="en-US" sz="1013" dirty="0"/>
          </a:p>
        </p:txBody>
      </p:sp>
      <p:sp>
        <p:nvSpPr>
          <p:cNvPr id="10" name="Text 6"/>
          <p:cNvSpPr/>
          <p:nvPr/>
        </p:nvSpPr>
        <p:spPr>
          <a:xfrm>
            <a:off x="7722965" y="2083073"/>
            <a:ext cx="906685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15"/>
              </a:lnSpc>
              <a:buNone/>
            </a:pPr>
            <a:r>
              <a:rPr lang="en-US" sz="1013" spc="10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Engineer.</a:t>
            </a:r>
            <a:endParaRPr lang="en-US" sz="1013" dirty="0"/>
          </a:p>
        </p:txBody>
      </p:sp>
      <p:sp>
        <p:nvSpPr>
          <p:cNvPr id="11" name="Text 7"/>
          <p:cNvSpPr/>
          <p:nvPr/>
        </p:nvSpPr>
        <p:spPr>
          <a:xfrm>
            <a:off x="8025146" y="2451646"/>
            <a:ext cx="604504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15"/>
              </a:lnSpc>
              <a:buNone/>
            </a:pPr>
            <a:r>
              <a:rPr lang="en-US" sz="1013" spc="10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Scale.</a:t>
            </a:r>
            <a:endParaRPr lang="en-US" sz="1013" dirty="0"/>
          </a:p>
        </p:txBody>
      </p:sp>
      <p:sp>
        <p:nvSpPr>
          <p:cNvPr id="12" name="Shape 8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14350" y="4754166"/>
            <a:ext cx="336080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3889437" y="4750594"/>
            <a:ext cx="291085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12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14579" y="4750594"/>
            <a:ext cx="192397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2026-10-01T12:21:53Z</dcterms:created>
  <dcterms:modified xsi:type="dcterms:W3CDTF">2026-10-01T12:21:53Z</dcterms:modified>
</cp:coreProperties>
</file>