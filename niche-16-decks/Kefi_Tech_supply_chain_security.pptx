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80903" y="3371850"/>
            <a:ext cx="4663097" cy="177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0"/>
              </a:lnSpc>
              <a:buNone/>
            </a:pPr>
            <a:r>
              <a:rPr lang="en-US" sz="20250" b="1" spc="-1012" kern="0" dirty="0">
                <a:solidFill>
                  <a:srgbClr val="004C97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20250" dirty="0"/>
          </a:p>
        </p:txBody>
      </p:sp>
      <p:pic>
        <p:nvPicPr>
          <p:cNvPr id="4" name="Image 1" descr="/tmp/h2p-fit-1790857404815-f7u3c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666638" y="514350"/>
            <a:ext cx="39630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KEFI TECH · CLOUD-NATIVE SUPPLY CHAIN SECURITY &amp; SBOM · 2026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6400800" y="571500"/>
            <a:ext cx="7144" cy="371475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6766471" y="1714500"/>
            <a:ext cx="10755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SBOM GENERATION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MANAGEMENT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6766471" y="2107406"/>
            <a:ext cx="10755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SIGNING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VERIFICATION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6766471" y="2500313"/>
            <a:ext cx="10755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RUNTIME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742950" y="1714500"/>
            <a:ext cx="71597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8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DEEP TECH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742950" y="1975247"/>
            <a:ext cx="5657850" cy="7210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b="1" spc="-6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Supply Chain</a:t>
            </a:r>
            <a:endParaRPr lang="en-US" sz="2700" dirty="0"/>
          </a:p>
          <a:p>
            <a:pPr algn="l" indent="0" marL="0">
              <a:lnSpc>
                <a:spcPts val="2835"/>
              </a:lnSpc>
              <a:buNone/>
            </a:pPr>
            <a:r>
              <a:rPr lang="en-US" sz="2700" b="1" spc="-6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&amp; SBOM</a:t>
            </a:r>
            <a:endParaRPr lang="en-US" sz="2700" dirty="0"/>
          </a:p>
        </p:txBody>
      </p:sp>
      <p:sp>
        <p:nvSpPr>
          <p:cNvPr id="12" name="Text 8"/>
          <p:cNvSpPr/>
          <p:nvPr/>
        </p:nvSpPr>
        <p:spPr>
          <a:xfrm>
            <a:off x="742950" y="2723778"/>
            <a:ext cx="5657850" cy="388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b="1" i="1" spc="-67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engineered for production.</a:t>
            </a:r>
            <a:endParaRPr lang="en-US" sz="2700" dirty="0"/>
          </a:p>
        </p:txBody>
      </p:sp>
      <p:sp>
        <p:nvSpPr>
          <p:cNvPr id="13" name="Text 9"/>
          <p:cNvSpPr/>
          <p:nvPr/>
        </p:nvSpPr>
        <p:spPr>
          <a:xfrm>
            <a:off x="742950" y="3255206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742950" y="3419512"/>
            <a:ext cx="4429125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spc="-6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Trust nothing — verify every artifact, every layer.</a:t>
            </a:r>
            <a:endParaRPr lang="en-US" sz="1238" dirty="0"/>
          </a:p>
        </p:txBody>
      </p:sp>
      <p:sp>
        <p:nvSpPr>
          <p:cNvPr id="15" name="Shape 1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14350" y="4754166"/>
            <a:ext cx="574257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271208" y="4750594"/>
            <a:ext cx="246817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CLOUD-NATIVE SUPPLY CHAIN SECURITY &amp; SBOM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709892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38530" y="457200"/>
            <a:ext cx="581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78656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CHALLENGE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53678"/>
            <a:ext cx="7858125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most cloud-native supply chain security &amp; sbom programs fail.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514350" y="1453753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gap between prototype and production is where engineering discipline matters most.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750219"/>
            <a:ext cx="4361148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2944" y="1910953"/>
            <a:ext cx="342933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COMMON FAILURE POINTS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5644" y="1910953"/>
            <a:ext cx="60932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PATTERNS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696516" y="2107406"/>
            <a:ext cx="4003960" cy="397483"/>
          </a:xfrm>
          <a:prstGeom prst="roundRect">
            <a:avLst>
              <a:gd name="adj" fmla="val 1917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85813" y="218955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06" dirty="0"/>
          </a:p>
        </p:txBody>
      </p:sp>
      <p:sp>
        <p:nvSpPr>
          <p:cNvPr id="12" name="Text 10"/>
          <p:cNvSpPr/>
          <p:nvPr/>
        </p:nvSpPr>
        <p:spPr>
          <a:xfrm>
            <a:off x="1000125" y="2182416"/>
            <a:ext cx="3720782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Prototype-grade architecture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00125" y="2319933"/>
            <a:ext cx="3611054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Solutions built for demos, not production load, latency, or reliability requirements.</a:t>
            </a:r>
            <a:endParaRPr lang="en-US" sz="619" dirty="0"/>
          </a:p>
        </p:txBody>
      </p:sp>
      <p:sp>
        <p:nvSpPr>
          <p:cNvPr id="14" name="Text 12"/>
          <p:cNvSpPr/>
          <p:nvPr/>
        </p:nvSpPr>
        <p:spPr>
          <a:xfrm>
            <a:off x="696516" y="2569183"/>
            <a:ext cx="4003960" cy="397483"/>
          </a:xfrm>
          <a:prstGeom prst="roundRect">
            <a:avLst>
              <a:gd name="adj" fmla="val 1917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5813" y="265133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⊗</a:t>
            </a:r>
            <a:endParaRPr lang="en-US" sz="1406" dirty="0"/>
          </a:p>
        </p:txBody>
      </p:sp>
      <p:sp>
        <p:nvSpPr>
          <p:cNvPr id="16" name="Text 14"/>
          <p:cNvSpPr/>
          <p:nvPr/>
        </p:nvSpPr>
        <p:spPr>
          <a:xfrm>
            <a:off x="1000125" y="2644192"/>
            <a:ext cx="3720782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observability or evaluation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00125" y="2781709"/>
            <a:ext cx="3611054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metrics for accuracy, latency, cost, or drift — teams fly blind in production.</a:t>
            </a:r>
            <a:endParaRPr lang="en-US" sz="619" dirty="0"/>
          </a:p>
        </p:txBody>
      </p:sp>
      <p:sp>
        <p:nvSpPr>
          <p:cNvPr id="18" name="Text 16"/>
          <p:cNvSpPr/>
          <p:nvPr/>
        </p:nvSpPr>
        <p:spPr>
          <a:xfrm>
            <a:off x="696516" y="3030959"/>
            <a:ext cx="4003960" cy="397483"/>
          </a:xfrm>
          <a:prstGeom prst="roundRect">
            <a:avLst>
              <a:gd name="adj" fmla="val 1917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85813" y="311311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20" name="Text 18"/>
          <p:cNvSpPr/>
          <p:nvPr/>
        </p:nvSpPr>
        <p:spPr>
          <a:xfrm>
            <a:off x="1000125" y="3105969"/>
            <a:ext cx="3611054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as afterthought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00125" y="3243486"/>
            <a:ext cx="3611054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guardrails, no audit trails, no compliance — bolted on after launch.</a:t>
            </a:r>
            <a:endParaRPr lang="en-US" sz="619" dirty="0"/>
          </a:p>
        </p:txBody>
      </p:sp>
      <p:sp>
        <p:nvSpPr>
          <p:cNvPr id="22" name="Text 20"/>
          <p:cNvSpPr/>
          <p:nvPr/>
        </p:nvSpPr>
        <p:spPr>
          <a:xfrm>
            <a:off x="696516" y="3492736"/>
            <a:ext cx="4003960" cy="397483"/>
          </a:xfrm>
          <a:prstGeom prst="roundRect">
            <a:avLst>
              <a:gd name="adj" fmla="val 1917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85813" y="357488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406" dirty="0"/>
          </a:p>
        </p:txBody>
      </p:sp>
      <p:sp>
        <p:nvSpPr>
          <p:cNvPr id="24" name="Text 22"/>
          <p:cNvSpPr/>
          <p:nvPr/>
        </p:nvSpPr>
        <p:spPr>
          <a:xfrm>
            <a:off x="1000125" y="3567745"/>
            <a:ext cx="3611054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operational maturity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00125" y="3705262"/>
            <a:ext cx="3611054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CI/CD for models, no rollback, no A/B testing, no drift detection.</a:t>
            </a:r>
            <a:endParaRPr lang="en-US" sz="619" dirty="0"/>
          </a:p>
        </p:txBody>
      </p:sp>
      <p:sp>
        <p:nvSpPr>
          <p:cNvPr id="26" name="Text 24"/>
          <p:cNvSpPr/>
          <p:nvPr/>
        </p:nvSpPr>
        <p:spPr>
          <a:xfrm>
            <a:off x="5057663" y="1750219"/>
            <a:ext cx="3568415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232685" y="1910953"/>
            <a:ext cx="26881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APPROACH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923954" y="1910953"/>
            <a:ext cx="53829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ENG. GRADE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232685" y="2103834"/>
            <a:ext cx="3218371" cy="1851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 treat 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supply chain security &amp; sbom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as an engineering discipline, not a science experiment. Every engagement starts with production requirements — latency, throughput, reliability, cost, compliance — and engineers backward from those constraints.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232685" y="4018359"/>
            <a:ext cx="199723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32685" y="4018359"/>
            <a:ext cx="1997236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PRODUCTION-FIRST · ENGINEERING-GRADE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4350" y="4754166"/>
            <a:ext cx="402695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55592" y="4750594"/>
            <a:ext cx="357712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124125" y="4750594"/>
            <a:ext cx="52840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CHALLENGE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709892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38530" y="457200"/>
            <a:ext cx="581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07231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82253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capability areas. One engineering system.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242231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capability area is a deep technical domain — not a generic service line.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4350" y="1563700"/>
            <a:ext cx="4000500" cy="108585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14350" y="1574416"/>
            <a:ext cx="4000500" cy="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11278" y="1563700"/>
            <a:ext cx="0" cy="10858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4350" y="2645978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7922" y="1563700"/>
            <a:ext cx="0" cy="10858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8656" y="171371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969" dirty="0"/>
          </a:p>
        </p:txBody>
      </p:sp>
      <p:sp>
        <p:nvSpPr>
          <p:cNvPr id="13" name="Text 11"/>
          <p:cNvSpPr/>
          <p:nvPr/>
        </p:nvSpPr>
        <p:spPr>
          <a:xfrm>
            <a:off x="4201106" y="1744080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b="1" spc="73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31" dirty="0"/>
          </a:p>
        </p:txBody>
      </p:sp>
      <p:sp>
        <p:nvSpPr>
          <p:cNvPr id="14" name="Text 12"/>
          <p:cNvSpPr/>
          <p:nvPr/>
        </p:nvSpPr>
        <p:spPr>
          <a:xfrm>
            <a:off x="678656" y="1985181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SBOM Generation &amp; Management</a:t>
            </a:r>
            <a:endParaRPr lang="en-US" sz="1238" dirty="0"/>
          </a:p>
        </p:txBody>
      </p:sp>
      <p:sp>
        <p:nvSpPr>
          <p:cNvPr id="15" name="Text 13"/>
          <p:cNvSpPr/>
          <p:nvPr/>
        </p:nvSpPr>
        <p:spPr>
          <a:xfrm>
            <a:off x="678656" y="2245147"/>
            <a:ext cx="3671888" cy="25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sbom generation &amp; management with real platforms and tools.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29150" y="1563700"/>
            <a:ext cx="4000500" cy="108585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29150" y="1574416"/>
            <a:ext cx="4000500" cy="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26078" y="1563700"/>
            <a:ext cx="0" cy="10858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29150" y="2645978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32722" y="1563700"/>
            <a:ext cx="0" cy="10858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3456" y="171371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969" dirty="0"/>
          </a:p>
        </p:txBody>
      </p:sp>
      <p:sp>
        <p:nvSpPr>
          <p:cNvPr id="22" name="Text 20"/>
          <p:cNvSpPr/>
          <p:nvPr/>
        </p:nvSpPr>
        <p:spPr>
          <a:xfrm>
            <a:off x="8315906" y="1744080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b="1" spc="73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31" dirty="0"/>
          </a:p>
        </p:txBody>
      </p:sp>
      <p:sp>
        <p:nvSpPr>
          <p:cNvPr id="23" name="Text 21"/>
          <p:cNvSpPr/>
          <p:nvPr/>
        </p:nvSpPr>
        <p:spPr>
          <a:xfrm>
            <a:off x="4793456" y="1985181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 Signing &amp; Verification</a:t>
            </a:r>
            <a:endParaRPr lang="en-US" sz="1238" dirty="0"/>
          </a:p>
        </p:txBody>
      </p:sp>
      <p:sp>
        <p:nvSpPr>
          <p:cNvPr id="24" name="Text 22"/>
          <p:cNvSpPr/>
          <p:nvPr/>
        </p:nvSpPr>
        <p:spPr>
          <a:xfrm>
            <a:off x="4793456" y="2245147"/>
            <a:ext cx="3671888" cy="25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image signing &amp; verification with real platforms and tools.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4350" y="2763850"/>
            <a:ext cx="4000500" cy="108585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14350" y="2774566"/>
            <a:ext cx="4000500" cy="0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11278" y="2763850"/>
            <a:ext cx="0" cy="10858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4350" y="3846128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7922" y="2763850"/>
            <a:ext cx="0" cy="10858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8656" y="291386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31" name="Text 29"/>
          <p:cNvSpPr/>
          <p:nvPr/>
        </p:nvSpPr>
        <p:spPr>
          <a:xfrm>
            <a:off x="4201106" y="2944230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b="1" spc="73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31" dirty="0"/>
          </a:p>
        </p:txBody>
      </p:sp>
      <p:sp>
        <p:nvSpPr>
          <p:cNvPr id="32" name="Text 30"/>
          <p:cNvSpPr/>
          <p:nvPr/>
        </p:nvSpPr>
        <p:spPr>
          <a:xfrm>
            <a:off x="678656" y="3185331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Container Runtime Security</a:t>
            </a:r>
            <a:endParaRPr lang="en-US" sz="1238" dirty="0"/>
          </a:p>
        </p:txBody>
      </p:sp>
      <p:sp>
        <p:nvSpPr>
          <p:cNvPr id="33" name="Text 31"/>
          <p:cNvSpPr/>
          <p:nvPr/>
        </p:nvSpPr>
        <p:spPr>
          <a:xfrm>
            <a:off x="678656" y="3445297"/>
            <a:ext cx="3671888" cy="25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container runtime security with real platforms and tools.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29150" y="2763850"/>
            <a:ext cx="4000500" cy="108585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629150" y="2774566"/>
            <a:ext cx="4000500" cy="0"/>
          </a:xfrm>
          <a:prstGeom prst="line">
            <a:avLst/>
          </a:prstGeom>
          <a:noFill/>
          <a:ln w="21431">
            <a:solidFill>
              <a:srgbClr val="FF6C0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26078" y="2763850"/>
            <a:ext cx="0" cy="10858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29150" y="3846128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32722" y="2763850"/>
            <a:ext cx="0" cy="10858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93456" y="291386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40" name="Text 38"/>
          <p:cNvSpPr/>
          <p:nvPr/>
        </p:nvSpPr>
        <p:spPr>
          <a:xfrm>
            <a:off x="8315906" y="2944230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b="1" spc="73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31" dirty="0"/>
          </a:p>
        </p:txBody>
      </p:sp>
      <p:sp>
        <p:nvSpPr>
          <p:cNvPr id="41" name="Text 39"/>
          <p:cNvSpPr/>
          <p:nvPr/>
        </p:nvSpPr>
        <p:spPr>
          <a:xfrm>
            <a:off x="4793456" y="3185331"/>
            <a:ext cx="3781616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Policy &amp; Compliance</a:t>
            </a:r>
            <a:endParaRPr lang="en-US" sz="1238" dirty="0"/>
          </a:p>
        </p:txBody>
      </p:sp>
      <p:sp>
        <p:nvSpPr>
          <p:cNvPr id="42" name="Text 40"/>
          <p:cNvSpPr/>
          <p:nvPr/>
        </p:nvSpPr>
        <p:spPr>
          <a:xfrm>
            <a:off x="4793456" y="3445297"/>
            <a:ext cx="3671888" cy="25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supply chain policy &amp; compliance with real platforms and tools.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709892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38530" y="457200"/>
            <a:ext cx="581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78656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53678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SBOM Generation &amp; Management.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185081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481547"/>
            <a:ext cx="4377668" cy="2821781"/>
          </a:xfrm>
          <a:prstGeom prst="roundRect">
            <a:avLst>
              <a:gd name="adj" fmla="val 405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2944" y="1642281"/>
            <a:ext cx="27753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482578" y="1642281"/>
            <a:ext cx="12379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 · CONFIG · ARCH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692944" y="1835162"/>
            <a:ext cx="4027624" cy="2151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sbom generation &amp; management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92944" y="4006291"/>
            <a:ext cx="93315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2944" y="4014006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11821" y="4024722"/>
            <a:ext cx="300874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SUB-SERVICES →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45608" y="1481547"/>
            <a:ext cx="3580470" cy="2821781"/>
          </a:xfrm>
          <a:prstGeom prst="roundRect">
            <a:avLst>
              <a:gd name="adj" fmla="val 405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92055" y="1613706"/>
            <a:ext cx="29121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105917" y="1613706"/>
            <a:ext cx="3863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ITEMS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195627" y="1810159"/>
            <a:ext cx="3280432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70636" y="1863737"/>
            <a:ext cx="20574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56374" y="187088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5642111" y="1863737"/>
            <a:ext cx="2758939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Syft SBOM Generation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42111" y="1985181"/>
            <a:ext cx="2758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Anchore Syft</a:t>
            </a:r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SBOM generation (SPDX / CycloneDX), supports container images + filesystems + packages.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95627" y="2303078"/>
            <a:ext cx="3280432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70636" y="2356656"/>
            <a:ext cx="20574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56374" y="23638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5642111" y="2356656"/>
            <a:ext cx="2758939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Trivy Image &amp; Secrets Scan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42111" y="2478100"/>
            <a:ext cx="2758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Aqua Trivy</a:t>
            </a:r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image vulnerability scan (OS + library), IaC scan (Terraform / K8s / CloudFormation), secret detection.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95627" y="2795997"/>
            <a:ext cx="3280432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70636" y="2849575"/>
            <a:ext cx="20574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56374" y="28567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0" name="Text 28"/>
          <p:cNvSpPr/>
          <p:nvPr/>
        </p:nvSpPr>
        <p:spPr>
          <a:xfrm>
            <a:off x="5642111" y="2849575"/>
            <a:ext cx="2868667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Grype Vulnerability Scanner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42111" y="2971019"/>
            <a:ext cx="2758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Anchore Grype</a:t>
            </a:r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fast vulnerability matching against OSV / NVD / GHSA / Alpine / RHEL / Debian databases.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95627" y="3288916"/>
            <a:ext cx="3280432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270636" y="3342494"/>
            <a:ext cx="20574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56374" y="334963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5" name="Text 33"/>
          <p:cNvSpPr/>
          <p:nvPr/>
        </p:nvSpPr>
        <p:spPr>
          <a:xfrm>
            <a:off x="5642111" y="3342494"/>
            <a:ext cx="2868667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SPDX &amp; CycloneDX Standards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42111" y="3463937"/>
            <a:ext cx="2758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SPDX 2.3 / CycloneDX 1.5</a:t>
            </a:r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package relationships, VEX (Vulnerability Exploitability eXchange), NTIA minimum elements.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95627" y="3781834"/>
            <a:ext cx="3280432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270636" y="3835412"/>
            <a:ext cx="20574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56374" y="384255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40" name="Text 38"/>
          <p:cNvSpPr/>
          <p:nvPr/>
        </p:nvSpPr>
        <p:spPr>
          <a:xfrm>
            <a:off x="5642111" y="3835412"/>
            <a:ext cx="2758939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OWASP Dependency-Track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42111" y="3956856"/>
            <a:ext cx="2758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OWASP Dependency-Track</a:t>
            </a:r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SBOM ingestion (CycloneDX), vuln correlation, policy violations, multi-team projects.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4350" y="4754166"/>
            <a:ext cx="353113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059771" y="4750594"/>
            <a:ext cx="308130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155359" y="4750594"/>
            <a:ext cx="156274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SBOM GENERATION &amp; MANAGEMENT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709892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38530" y="457200"/>
            <a:ext cx="581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78656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53678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 Signing &amp; Verification.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185081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481547"/>
            <a:ext cx="4377668" cy="2821781"/>
          </a:xfrm>
          <a:prstGeom prst="roundRect">
            <a:avLst>
              <a:gd name="adj" fmla="val 405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2944" y="1642281"/>
            <a:ext cx="27753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482578" y="1642281"/>
            <a:ext cx="12379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 · CONFIG · ARCH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692944" y="1835162"/>
            <a:ext cx="4027624" cy="2151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 signing &amp; verification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92944" y="4006291"/>
            <a:ext cx="93315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2944" y="4014006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11821" y="4024722"/>
            <a:ext cx="300874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SUB-SERVICES →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45608" y="1481547"/>
            <a:ext cx="3580470" cy="2821781"/>
          </a:xfrm>
          <a:prstGeom prst="roundRect">
            <a:avLst>
              <a:gd name="adj" fmla="val 405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92055" y="1613706"/>
            <a:ext cx="29121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105917" y="1613706"/>
            <a:ext cx="3863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ITEMS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195627" y="1810159"/>
            <a:ext cx="3280432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70636" y="1863737"/>
            <a:ext cx="20574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56374" y="187088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5642111" y="1863737"/>
            <a:ext cx="2758939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Sigstore Cosign Signing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42111" y="1985181"/>
            <a:ext cx="2758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Sigstore Cosign</a:t>
            </a:r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keyless signing via Fulcio + Rekor transparency log, OIDC-bound signing identities.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95627" y="2303078"/>
            <a:ext cx="3280432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70636" y="2356656"/>
            <a:ext cx="20574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56374" y="23638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5642111" y="2356656"/>
            <a:ext cx="2868667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SLSA Provenance Verification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42111" y="2478100"/>
            <a:ext cx="2758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SLSA v0.2 / v1.0</a:t>
            </a:r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provenance predicate, in-toto attestations, build provenance via cosign verify-attestation.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95627" y="2795997"/>
            <a:ext cx="3280432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70636" y="2849575"/>
            <a:ext cx="20574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56374" y="28567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0" name="Text 28"/>
          <p:cNvSpPr/>
          <p:nvPr/>
        </p:nvSpPr>
        <p:spPr>
          <a:xfrm>
            <a:off x="5642111" y="2849575"/>
            <a:ext cx="2868667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Notation / Notary v2 Signing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42111" y="2971019"/>
            <a:ext cx="2758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Notary Project Notation</a:t>
            </a:r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OCI artifact signing, trust store management, X.509 cert chains.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95627" y="3288916"/>
            <a:ext cx="3280432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270636" y="3342494"/>
            <a:ext cx="20574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56374" y="334963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5" name="Text 33"/>
          <p:cNvSpPr/>
          <p:nvPr/>
        </p:nvSpPr>
        <p:spPr>
          <a:xfrm>
            <a:off x="5642111" y="3342494"/>
            <a:ext cx="2868667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 Verification at Admission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42111" y="3463937"/>
            <a:ext cx="2758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Cosign verify + Kyverno ImagePolicy</a:t>
            </a:r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admission webhook blocks unsigned images, verified via Rekor.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95627" y="3781834"/>
            <a:ext cx="3280432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270636" y="3835412"/>
            <a:ext cx="20574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56374" y="384255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40" name="Text 38"/>
          <p:cNvSpPr/>
          <p:nvPr/>
        </p:nvSpPr>
        <p:spPr>
          <a:xfrm>
            <a:off x="5642111" y="3835412"/>
            <a:ext cx="2758939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Rekor Transparency Log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42111" y="3956856"/>
            <a:ext cx="2758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Rekor</a:t>
            </a:r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immutable record of signed artifacts, inclusion proof, Set API for verification.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4350" y="4754166"/>
            <a:ext cx="361116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139803" y="4750594"/>
            <a:ext cx="316133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315423" y="4750594"/>
            <a:ext cx="139308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IMAGE SIGNING &amp; VERIFICATION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709892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38530" y="457200"/>
            <a:ext cx="581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78656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53678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Container Runtime Security.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185081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481547"/>
            <a:ext cx="4377668" cy="2821781"/>
          </a:xfrm>
          <a:prstGeom prst="roundRect">
            <a:avLst>
              <a:gd name="adj" fmla="val 405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2944" y="1642281"/>
            <a:ext cx="27753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482578" y="1642281"/>
            <a:ext cx="12379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 · CONFIG · ARCH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692944" y="1835162"/>
            <a:ext cx="4027624" cy="2151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container runtime security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92944" y="4006291"/>
            <a:ext cx="93315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2944" y="4014006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11821" y="4024722"/>
            <a:ext cx="300874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SUB-SERVICES →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45608" y="1481547"/>
            <a:ext cx="3580470" cy="2821781"/>
          </a:xfrm>
          <a:prstGeom prst="roundRect">
            <a:avLst>
              <a:gd name="adj" fmla="val 405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92055" y="1613706"/>
            <a:ext cx="29121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105917" y="1613706"/>
            <a:ext cx="3863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ITEMS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195627" y="1810159"/>
            <a:ext cx="3280432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70636" y="1863737"/>
            <a:ext cx="20574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56374" y="187088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5642111" y="1863737"/>
            <a:ext cx="2868667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Falco Runtime Threat Detection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42111" y="1985181"/>
            <a:ext cx="2758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Falco (CNCF)</a:t>
            </a:r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kernel syscalls via eBPF / kernel module, Falco Ruleset for MITRE ATT&amp;CK detection.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95627" y="2303078"/>
            <a:ext cx="3280432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70636" y="2356656"/>
            <a:ext cx="20574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56374" y="23638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5642111" y="2356656"/>
            <a:ext cx="2758939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Tetragon eBPF Security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42111" y="2478100"/>
            <a:ext cx="2758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Isovalent Tetragon</a:t>
            </a:r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eBPF-enforced policies, real-time policy enforcement (not just detection), k8s-aware filtering.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95627" y="2795997"/>
            <a:ext cx="3280432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70636" y="2849575"/>
            <a:ext cx="20574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56374" y="28567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0" name="Text 28"/>
          <p:cNvSpPr/>
          <p:nvPr/>
        </p:nvSpPr>
        <p:spPr>
          <a:xfrm>
            <a:off x="5642111" y="2849575"/>
            <a:ext cx="2758939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Aqua Tracee Runtime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42111" y="2971019"/>
            <a:ext cx="2758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Aqua Tracee</a:t>
            </a:r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eBPF-based event capture, OPA rego policies, capture of suspicious syscalls.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95627" y="3288916"/>
            <a:ext cx="3280432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270636" y="3342494"/>
            <a:ext cx="20574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56374" y="334963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5" name="Text 33"/>
          <p:cNvSpPr/>
          <p:nvPr/>
        </p:nvSpPr>
        <p:spPr>
          <a:xfrm>
            <a:off x="5642111" y="3342494"/>
            <a:ext cx="2758939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Sysdig Secure Runtime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42111" y="3463937"/>
            <a:ext cx="2758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Sysdig Secure</a:t>
            </a:r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runtime defense, image scanning, posture management (CIS Benchmark for k8s / Docker).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95627" y="3781834"/>
            <a:ext cx="3280432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270636" y="3835412"/>
            <a:ext cx="20574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56374" y="384255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40" name="Text 38"/>
          <p:cNvSpPr/>
          <p:nvPr/>
        </p:nvSpPr>
        <p:spPr>
          <a:xfrm>
            <a:off x="5642111" y="3835412"/>
            <a:ext cx="2758939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Aqua Container Security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42111" y="3956856"/>
            <a:ext cx="2758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Aqua Container Security</a:t>
            </a:r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runtime protection, image assurance, KSPM (Kubernetes Security Posture Mgmt).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4350" y="4754166"/>
            <a:ext cx="362467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153309" y="4750594"/>
            <a:ext cx="317472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342324" y="4750594"/>
            <a:ext cx="136456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CONTAINER RUNTIME SECURITY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709892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38530" y="457200"/>
            <a:ext cx="581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78656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53678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Policy &amp; Compliance.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185081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481547"/>
            <a:ext cx="4377668" cy="2821781"/>
          </a:xfrm>
          <a:prstGeom prst="roundRect">
            <a:avLst>
              <a:gd name="adj" fmla="val 405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2944" y="1642281"/>
            <a:ext cx="277534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482578" y="1642281"/>
            <a:ext cx="12379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 · CONFIG · ARCH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692944" y="1835162"/>
            <a:ext cx="4027624" cy="2151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policy &amp; compliance</a:t>
            </a:r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92944" y="4006291"/>
            <a:ext cx="93315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2944" y="4014006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11821" y="4024722"/>
            <a:ext cx="300874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SUB-SERVICES →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45608" y="1481547"/>
            <a:ext cx="3580470" cy="2821781"/>
          </a:xfrm>
          <a:prstGeom prst="roundRect">
            <a:avLst>
              <a:gd name="adj" fmla="val 405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92055" y="1613706"/>
            <a:ext cx="29121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105917" y="1613706"/>
            <a:ext cx="3863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ITEMS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195627" y="1810159"/>
            <a:ext cx="3280432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70636" y="1863737"/>
            <a:ext cx="20574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56374" y="187088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5642111" y="1863737"/>
            <a:ext cx="2868667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OPA Gatekeeper Supply Chain Policies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42111" y="1985181"/>
            <a:ext cx="2758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Gatekeeper</a:t>
            </a:r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image registry allow-list, mandatory labels, ResourceQuota enforcement at admission.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95627" y="2303078"/>
            <a:ext cx="3280432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70636" y="2356656"/>
            <a:ext cx="20574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56374" y="23638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5642111" y="2356656"/>
            <a:ext cx="2758939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Snyk Open Source Scanning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42111" y="2478100"/>
            <a:ext cx="2758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Snyk</a:t>
            </a:r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SCA (Software Composition Analysis), license policies, IaC scanning (Snyk IaC), container scanning (Snyk Container).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95627" y="2795997"/>
            <a:ext cx="3280432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70636" y="2849575"/>
            <a:ext cx="20574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56374" y="28567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0" name="Text 28"/>
          <p:cNvSpPr/>
          <p:nvPr/>
        </p:nvSpPr>
        <p:spPr>
          <a:xfrm>
            <a:off x="5642111" y="2849575"/>
            <a:ext cx="2868667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Anchore Enterprise Policy Engine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42111" y="2971019"/>
            <a:ext cx="2758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Anchore Enterprise</a:t>
            </a:r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image policy, license compliance, secret scanning, vuln threshold gates.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95627" y="3288916"/>
            <a:ext cx="3280432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270636" y="3342494"/>
            <a:ext cx="20574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56374" y="334963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5" name="Text 33"/>
          <p:cNvSpPr/>
          <p:nvPr/>
        </p:nvSpPr>
        <p:spPr>
          <a:xfrm>
            <a:off x="5642111" y="3342494"/>
            <a:ext cx="2868667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GitHub Advanced Security (GHAS)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42111" y="3463937"/>
            <a:ext cx="2758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GitHub Advanced Security</a:t>
            </a:r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Dependabot, CodeQL SAST, secret scanning, code review enforcement.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95627" y="3781834"/>
            <a:ext cx="3280432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270636" y="3835412"/>
            <a:ext cx="205740" cy="141524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742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56374" y="384255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40" name="Text 38"/>
          <p:cNvSpPr/>
          <p:nvPr/>
        </p:nvSpPr>
        <p:spPr>
          <a:xfrm>
            <a:off x="5642111" y="3835412"/>
            <a:ext cx="2868667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Dependency Confusion Protection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42111" y="3956856"/>
            <a:ext cx="27589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Namespacing via Nexus / JFrog Artifactory</a:t>
            </a:r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internal-only scopes (npm scopes, PyPI private indexes), provenance via npm --provenance.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4350" y="4754166"/>
            <a:ext cx="350043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029075" y="4750594"/>
            <a:ext cx="305060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093967" y="4750594"/>
            <a:ext cx="162782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POLICY &amp; COMPLIANCE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709892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38530" y="457200"/>
            <a:ext cx="581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07231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APPLICATIONS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82253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this creates engineering value.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242231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specific engineering scenarios where cloud-native supply chain security &amp; sbom delivers measurable production impact.</a:t>
            </a:r>
            <a:endParaRPr lang="en-US" sz="788" dirty="0"/>
          </a:p>
        </p:txBody>
      </p:sp>
      <p:sp>
        <p:nvSpPr>
          <p:cNvPr id="7" name="Text 5"/>
          <p:cNvSpPr/>
          <p:nvPr/>
        </p:nvSpPr>
        <p:spPr>
          <a:xfrm>
            <a:off x="517922" y="1567272"/>
            <a:ext cx="3993356" cy="1110072"/>
          </a:xfrm>
          <a:prstGeom prst="roundRect">
            <a:avLst>
              <a:gd name="adj" fmla="val 1029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2944" y="172800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969" dirty="0"/>
          </a:p>
        </p:txBody>
      </p:sp>
      <p:sp>
        <p:nvSpPr>
          <p:cNvPr id="9" name="Text 7"/>
          <p:cNvSpPr/>
          <p:nvPr/>
        </p:nvSpPr>
        <p:spPr>
          <a:xfrm>
            <a:off x="4265935" y="1753009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92944" y="1999469"/>
            <a:ext cx="364331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Deployment</a:t>
            </a:r>
            <a:endParaRPr lang="en-US" sz="1238" dirty="0"/>
          </a:p>
        </p:txBody>
      </p:sp>
      <p:sp>
        <p:nvSpPr>
          <p:cNvPr id="11" name="Text 9"/>
          <p:cNvSpPr/>
          <p:nvPr/>
        </p:nvSpPr>
        <p:spPr>
          <a:xfrm>
            <a:off x="692944" y="2259434"/>
            <a:ext cx="36433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prototype to production-grade deployment with real reliability, latency, and cost SLAs.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32722" y="1567272"/>
            <a:ext cx="3993356" cy="1110072"/>
          </a:xfrm>
          <a:prstGeom prst="roundRect">
            <a:avLst>
              <a:gd name="adj" fmla="val 1029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07744" y="172800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969" dirty="0"/>
          </a:p>
        </p:txBody>
      </p:sp>
      <p:sp>
        <p:nvSpPr>
          <p:cNvPr id="14" name="Text 12"/>
          <p:cNvSpPr/>
          <p:nvPr/>
        </p:nvSpPr>
        <p:spPr>
          <a:xfrm>
            <a:off x="8290119" y="1753009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4807744" y="1999469"/>
            <a:ext cx="3753040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&amp; Operations</a:t>
            </a:r>
            <a:endParaRPr lang="en-US" sz="1238" dirty="0"/>
          </a:p>
        </p:txBody>
      </p:sp>
      <p:sp>
        <p:nvSpPr>
          <p:cNvPr id="16" name="Text 14"/>
          <p:cNvSpPr/>
          <p:nvPr/>
        </p:nvSpPr>
        <p:spPr>
          <a:xfrm>
            <a:off x="4807744" y="2259434"/>
            <a:ext cx="36433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monitoring, evaluation, drift detection, and operational runbooks for production systems.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7922" y="2798787"/>
            <a:ext cx="3993356" cy="1110072"/>
          </a:xfrm>
          <a:prstGeom prst="roundRect">
            <a:avLst>
              <a:gd name="adj" fmla="val 1029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2944" y="295952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19" name="Text 17"/>
          <p:cNvSpPr/>
          <p:nvPr/>
        </p:nvSpPr>
        <p:spPr>
          <a:xfrm>
            <a:off x="4103630" y="2984525"/>
            <a:ext cx="2545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692944" y="3230984"/>
            <a:ext cx="364331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&amp; Compliance</a:t>
            </a:r>
            <a:endParaRPr lang="en-US" sz="1238" dirty="0"/>
          </a:p>
        </p:txBody>
      </p:sp>
      <p:sp>
        <p:nvSpPr>
          <p:cNvPr id="21" name="Text 19"/>
          <p:cNvSpPr/>
          <p:nvPr/>
        </p:nvSpPr>
        <p:spPr>
          <a:xfrm>
            <a:off x="692944" y="3490950"/>
            <a:ext cx="36433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engineering, compliance automation, and audit-ready evidence collection built into the pipeline.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32722" y="2798787"/>
            <a:ext cx="3993356" cy="1110072"/>
          </a:xfrm>
          <a:prstGeom prst="roundRect">
            <a:avLst>
              <a:gd name="adj" fmla="val 1029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07744" y="295952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969" dirty="0"/>
          </a:p>
        </p:txBody>
      </p:sp>
      <p:sp>
        <p:nvSpPr>
          <p:cNvPr id="24" name="Text 22"/>
          <p:cNvSpPr/>
          <p:nvPr/>
        </p:nvSpPr>
        <p:spPr>
          <a:xfrm>
            <a:off x="8290119" y="2984525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4807744" y="3230984"/>
            <a:ext cx="364331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 &amp; Optimization</a:t>
            </a:r>
            <a:endParaRPr lang="en-US" sz="1238" dirty="0"/>
          </a:p>
        </p:txBody>
      </p:sp>
      <p:sp>
        <p:nvSpPr>
          <p:cNvPr id="26" name="Text 24"/>
          <p:cNvSpPr/>
          <p:nvPr/>
        </p:nvSpPr>
        <p:spPr>
          <a:xfrm>
            <a:off x="4807744" y="3490950"/>
            <a:ext cx="36433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Scaling from single-tenant to multi-tenant, optimizing cost, latency, and resource utilization.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709892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38530" y="457200"/>
            <a:ext cx="581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78656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53678"/>
            <a:ext cx="8486775" cy="50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production reference architecture for cloud-native supply chain security &amp; sbom.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390799"/>
            <a:ext cx="7000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platform and tool names — not generic architecture diagrams.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687264"/>
            <a:ext cx="8108156" cy="450056"/>
          </a:xfrm>
          <a:prstGeom prst="roundRect">
            <a:avLst>
              <a:gd name="adj" fmla="val 1693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1494" y="1690836"/>
            <a:ext cx="928688" cy="44291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446609" y="1690836"/>
            <a:ext cx="0" cy="4429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506" y="1797993"/>
            <a:ext cx="72151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1506" y="1908721"/>
            <a:ext cx="7215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SBOM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578769" y="1790549"/>
            <a:ext cx="447042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671638" y="1894433"/>
            <a:ext cx="35719" cy="35719"/>
          </a:xfrm>
          <a:prstGeom prst="roundRect">
            <a:avLst>
              <a:gd name="adj" fmla="val 66666"/>
            </a:avLst>
          </a:prstGeom>
          <a:solidFill>
            <a:srgbClr val="4C81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578769" y="1803350"/>
            <a:ext cx="44704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Syft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097249" y="1790549"/>
            <a:ext cx="481422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190117" y="1894433"/>
            <a:ext cx="35719" cy="35719"/>
          </a:xfrm>
          <a:prstGeom prst="roundRect">
            <a:avLst>
              <a:gd name="adj" fmla="val 66666"/>
            </a:avLst>
          </a:prstGeom>
          <a:solidFill>
            <a:srgbClr val="4C81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097249" y="1803350"/>
            <a:ext cx="48142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Trivy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50108" y="1790549"/>
            <a:ext cx="532321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742977" y="1894433"/>
            <a:ext cx="35719" cy="35719"/>
          </a:xfrm>
          <a:prstGeom prst="roundRect">
            <a:avLst>
              <a:gd name="adj" fmla="val 66666"/>
            </a:avLst>
          </a:prstGeom>
          <a:solidFill>
            <a:srgbClr val="4C81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50108" y="1803350"/>
            <a:ext cx="53232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Grype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53867" y="1790549"/>
            <a:ext cx="1080939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46735" y="1894433"/>
            <a:ext cx="35719" cy="35719"/>
          </a:xfrm>
          <a:prstGeom prst="roundRect">
            <a:avLst>
              <a:gd name="adj" fmla="val 66666"/>
            </a:avLst>
          </a:prstGeom>
          <a:solidFill>
            <a:srgbClr val="4C81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253867" y="1803350"/>
            <a:ext cx="108093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Dependency-Track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7922" y="2215902"/>
            <a:ext cx="8108156" cy="450056"/>
          </a:xfrm>
          <a:prstGeom prst="roundRect">
            <a:avLst>
              <a:gd name="adj" fmla="val 1693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1494" y="2219474"/>
            <a:ext cx="928688" cy="44291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1446609" y="2219474"/>
            <a:ext cx="0" cy="4429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506" y="2326630"/>
            <a:ext cx="72151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02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1506" y="2437358"/>
            <a:ext cx="7215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SIGNING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578769" y="2319186"/>
            <a:ext cx="971215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671638" y="2423071"/>
            <a:ext cx="35719" cy="35719"/>
          </a:xfrm>
          <a:prstGeom prst="roundRect">
            <a:avLst>
              <a:gd name="adj" fmla="val 66666"/>
            </a:avLst>
          </a:prstGeom>
          <a:solidFill>
            <a:srgbClr val="4C81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578769" y="2331988"/>
            <a:ext cx="97121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Sigstore Cosign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621421" y="2319186"/>
            <a:ext cx="655439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714290" y="2423071"/>
            <a:ext cx="35719" cy="35719"/>
          </a:xfrm>
          <a:prstGeom prst="roundRect">
            <a:avLst>
              <a:gd name="adj" fmla="val 66666"/>
            </a:avLst>
          </a:prstGeom>
          <a:solidFill>
            <a:srgbClr val="4C81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621421" y="2331988"/>
            <a:ext cx="65543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Notation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48298" y="2319186"/>
            <a:ext cx="524954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441167" y="2423071"/>
            <a:ext cx="35719" cy="35719"/>
          </a:xfrm>
          <a:prstGeom prst="roundRect">
            <a:avLst>
              <a:gd name="adj" fmla="val 66666"/>
            </a:avLst>
          </a:prstGeom>
          <a:solidFill>
            <a:srgbClr val="4C81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348298" y="2331988"/>
            <a:ext cx="52495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Rekor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944689" y="2319186"/>
            <a:ext cx="568486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037558" y="2423071"/>
            <a:ext cx="35719" cy="35719"/>
          </a:xfrm>
          <a:prstGeom prst="roundRect">
            <a:avLst>
              <a:gd name="adj" fmla="val 66666"/>
            </a:avLst>
          </a:prstGeom>
          <a:solidFill>
            <a:srgbClr val="4C81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944689" y="2331988"/>
            <a:ext cx="56848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in-toto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17922" y="2744539"/>
            <a:ext cx="8108156" cy="450056"/>
          </a:xfrm>
          <a:prstGeom prst="roundRect">
            <a:avLst>
              <a:gd name="adj" fmla="val 1693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21494" y="2748111"/>
            <a:ext cx="928688" cy="44291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1446609" y="2748111"/>
            <a:ext cx="0" cy="4429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506" y="2855268"/>
            <a:ext cx="72151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03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21506" y="2965996"/>
            <a:ext cx="7215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RUNTIME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578769" y="2847824"/>
            <a:ext cx="497942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671638" y="2951708"/>
            <a:ext cx="35719" cy="35719"/>
          </a:xfrm>
          <a:prstGeom prst="roundRect">
            <a:avLst>
              <a:gd name="adj" fmla="val 66666"/>
            </a:avLst>
          </a:prstGeom>
          <a:solidFill>
            <a:srgbClr val="4C81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578769" y="2860625"/>
            <a:ext cx="49794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Falco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148148" y="2847824"/>
            <a:ext cx="662694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241017" y="2951708"/>
            <a:ext cx="35719" cy="35719"/>
          </a:xfrm>
          <a:prstGeom prst="roundRect">
            <a:avLst>
              <a:gd name="adj" fmla="val 66666"/>
            </a:avLst>
          </a:prstGeom>
          <a:solidFill>
            <a:srgbClr val="4C81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2148148" y="2860625"/>
            <a:ext cx="66269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Tetragon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882280" y="2847824"/>
            <a:ext cx="816285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2975149" y="2951708"/>
            <a:ext cx="35719" cy="35719"/>
          </a:xfrm>
          <a:prstGeom prst="roundRect">
            <a:avLst>
              <a:gd name="adj" fmla="val 66666"/>
            </a:avLst>
          </a:prstGeom>
          <a:solidFill>
            <a:srgbClr val="4C81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2882280" y="2860625"/>
            <a:ext cx="81628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Aqua Tracee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770002" y="2847824"/>
            <a:ext cx="900447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3862871" y="2951708"/>
            <a:ext cx="35719" cy="35719"/>
          </a:xfrm>
          <a:prstGeom prst="roundRect">
            <a:avLst>
              <a:gd name="adj" fmla="val 66666"/>
            </a:avLst>
          </a:prstGeom>
          <a:solidFill>
            <a:srgbClr val="4C81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3770002" y="2860625"/>
            <a:ext cx="90044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Sysdig Secure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17922" y="3273177"/>
            <a:ext cx="8108156" cy="450056"/>
          </a:xfrm>
          <a:prstGeom prst="roundRect">
            <a:avLst>
              <a:gd name="adj" fmla="val 1693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21494" y="3276749"/>
            <a:ext cx="928688" cy="44291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1446609" y="3276749"/>
            <a:ext cx="0" cy="4429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1506" y="3383905"/>
            <a:ext cx="72151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04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21506" y="3494633"/>
            <a:ext cx="7215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578769" y="3376461"/>
            <a:ext cx="994209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1671638" y="3480346"/>
            <a:ext cx="35719" cy="35719"/>
          </a:xfrm>
          <a:prstGeom prst="roundRect">
            <a:avLst>
              <a:gd name="adj" fmla="val 66666"/>
            </a:avLst>
          </a:prstGeom>
          <a:solidFill>
            <a:srgbClr val="4C81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578769" y="3389263"/>
            <a:ext cx="99420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OPA Gatekeeper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2644415" y="3376461"/>
            <a:ext cx="630213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2737284" y="3480346"/>
            <a:ext cx="35719" cy="35719"/>
          </a:xfrm>
          <a:prstGeom prst="roundRect">
            <a:avLst>
              <a:gd name="adj" fmla="val 66666"/>
            </a:avLst>
          </a:prstGeom>
          <a:solidFill>
            <a:srgbClr val="4C81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2644415" y="3389263"/>
            <a:ext cx="63021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Kyverno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346066" y="3376461"/>
            <a:ext cx="1132396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3438934" y="3480346"/>
            <a:ext cx="35719" cy="35719"/>
          </a:xfrm>
          <a:prstGeom prst="roundRect">
            <a:avLst>
              <a:gd name="adj" fmla="val 66666"/>
            </a:avLst>
          </a:prstGeom>
          <a:solidFill>
            <a:srgbClr val="4C81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3346066" y="3389263"/>
            <a:ext cx="113239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Anchore Enterprise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549899" y="3376461"/>
            <a:ext cx="483543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4642768" y="3480346"/>
            <a:ext cx="35719" cy="35719"/>
          </a:xfrm>
          <a:prstGeom prst="roundRect">
            <a:avLst>
              <a:gd name="adj" fmla="val 66666"/>
            </a:avLst>
          </a:prstGeom>
          <a:solidFill>
            <a:srgbClr val="4C81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4549899" y="3389263"/>
            <a:ext cx="48354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Snyk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17922" y="3801814"/>
            <a:ext cx="8108156" cy="450056"/>
          </a:xfrm>
          <a:prstGeom prst="roundRect">
            <a:avLst>
              <a:gd name="adj" fmla="val 1693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521494" y="3805386"/>
            <a:ext cx="928688" cy="44291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Shape 75"/>
          <p:cNvSpPr/>
          <p:nvPr/>
        </p:nvSpPr>
        <p:spPr>
          <a:xfrm>
            <a:off x="1446609" y="3805386"/>
            <a:ext cx="0" cy="4429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1506" y="3912543"/>
            <a:ext cx="72151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05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92833" y="4023271"/>
            <a:ext cx="7788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COMPLIANCE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1578769" y="3905099"/>
            <a:ext cx="855018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1671638" y="4008983"/>
            <a:ext cx="35719" cy="35719"/>
          </a:xfrm>
          <a:prstGeom prst="roundRect">
            <a:avLst>
              <a:gd name="adj" fmla="val 66666"/>
            </a:avLst>
          </a:prstGeom>
          <a:solidFill>
            <a:srgbClr val="4C81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1578769" y="3917900"/>
            <a:ext cx="85501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GitHub GHAS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2505224" y="3905099"/>
            <a:ext cx="813271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2598093" y="4008983"/>
            <a:ext cx="35719" cy="35719"/>
          </a:xfrm>
          <a:prstGeom prst="roundRect">
            <a:avLst>
              <a:gd name="adj" fmla="val 66666"/>
            </a:avLst>
          </a:prstGeom>
          <a:solidFill>
            <a:srgbClr val="4C81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2505224" y="3917900"/>
            <a:ext cx="81327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Dependabot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3389933" y="3905099"/>
            <a:ext cx="607219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3482801" y="4008983"/>
            <a:ext cx="35719" cy="35719"/>
          </a:xfrm>
          <a:prstGeom prst="roundRect">
            <a:avLst>
              <a:gd name="adj" fmla="val 66666"/>
            </a:avLst>
          </a:prstGeom>
          <a:solidFill>
            <a:srgbClr val="4C81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3389933" y="3917900"/>
            <a:ext cx="60721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CodeQL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4068589" y="3905099"/>
            <a:ext cx="1019994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Text 88"/>
          <p:cNvSpPr/>
          <p:nvPr/>
        </p:nvSpPr>
        <p:spPr>
          <a:xfrm>
            <a:off x="4161458" y="4008983"/>
            <a:ext cx="35719" cy="35719"/>
          </a:xfrm>
          <a:prstGeom prst="roundRect">
            <a:avLst>
              <a:gd name="adj" fmla="val 66666"/>
            </a:avLst>
          </a:prstGeom>
          <a:solidFill>
            <a:srgbClr val="4C81B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4068589" y="3917900"/>
            <a:ext cx="101999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SLSA Framework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709892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38530" y="457200"/>
            <a:ext cx="581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78656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IMPLEMENTATION ROADMAP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53678"/>
            <a:ext cx="862965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phased engineering roadmap from assessment to production.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514350" y="1168003"/>
            <a:ext cx="67151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phase carries concrete engineering deliverables, technical milestones, and exit criteria.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464469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1506" y="1582341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21506" y="1757363"/>
            <a:ext cx="1728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Assessment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621506" y="1943100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1506" y="2164556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1506" y="2314575"/>
            <a:ext cx="1832515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1506" y="2453878"/>
            <a:ext cx="172878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 audit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 landscape assessment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Gap analysis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roadmap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21506" y="3864769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506" y="3861197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75322" y="1464469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78906" y="1582341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78906" y="1757363"/>
            <a:ext cx="1728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Foundation Engineering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2678906" y="1943100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3-6 WEEKS · FIXED FEE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78906" y="2164556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678906" y="2314575"/>
            <a:ext cx="1832515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78906" y="2453878"/>
            <a:ext cx="172878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platform setup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 pipeline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stack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baseline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678906" y="3864769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8906" y="3861197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32722" y="1464469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36306" y="1582341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36306" y="1757363"/>
            <a:ext cx="1728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Build</a:t>
            </a:r>
            <a:endParaRPr lang="en-US" sz="844" dirty="0"/>
          </a:p>
        </p:txBody>
      </p:sp>
      <p:sp>
        <p:nvSpPr>
          <p:cNvPr id="28" name="Text 26"/>
          <p:cNvSpPr/>
          <p:nvPr/>
        </p:nvSpPr>
        <p:spPr>
          <a:xfrm>
            <a:off x="4736306" y="1943100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36306" y="2164556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36306" y="2314575"/>
            <a:ext cx="1832515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36306" y="2453878"/>
            <a:ext cx="172878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validation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hardening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 + handover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36306" y="3864769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306" y="3861197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690122" y="1464469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793706" y="1582341"/>
            <a:ext cx="172878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93706" y="1757363"/>
            <a:ext cx="17287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Engineering</a:t>
            </a:r>
            <a:endParaRPr lang="en-US" sz="844" dirty="0"/>
          </a:p>
        </p:txBody>
      </p:sp>
      <p:sp>
        <p:nvSpPr>
          <p:cNvPr id="37" name="Text 35"/>
          <p:cNvSpPr/>
          <p:nvPr/>
        </p:nvSpPr>
        <p:spPr>
          <a:xfrm>
            <a:off x="6793706" y="1943100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93706" y="2164556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793706" y="2314575"/>
            <a:ext cx="1832515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93706" y="2453878"/>
            <a:ext cx="172878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operations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architecture reviews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engineering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793706" y="3864769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93706" y="3861197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43F0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4350" y="4754166"/>
            <a:ext cx="406724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95887" y="4750594"/>
            <a:ext cx="361730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220112" y="4750594"/>
            <a:ext cx="4169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ROADMAP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709892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38530" y="457200"/>
            <a:ext cx="5814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707231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BEST PRACTICES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82253"/>
            <a:ext cx="8629650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Principles that separate production from prototype.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242231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theoretical — these are the engineering disciplines we enforce on every engagement.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4350" y="1563700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14350" y="156727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6991" y="1563700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4350" y="2631691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8638" y="1563700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0088" y="1699431"/>
            <a:ext cx="34790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· PRINCIPLE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93381" y="170300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700088" y="1906600"/>
            <a:ext cx="3745897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requirements first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0088" y="2106625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with latency, throughput, reliability, cost, and compliance SLAs. Engineer backward from constraints, not forward from tools.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43438" y="1563700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43438" y="156727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26078" y="1563700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43438" y="2631691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57725" y="1563700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9175" y="1699431"/>
            <a:ext cx="34790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PRINCIPLE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322469" y="170300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406" dirty="0"/>
          </a:p>
        </p:txBody>
      </p:sp>
      <p:sp>
        <p:nvSpPr>
          <p:cNvPr id="23" name="Text 21"/>
          <p:cNvSpPr/>
          <p:nvPr/>
        </p:nvSpPr>
        <p:spPr>
          <a:xfrm>
            <a:off x="4829175" y="1906600"/>
            <a:ext cx="3745897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is not optional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29175" y="2106625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system ships with distributed tracing, metrics, and logging from day one. If you can't measure it, you can't operate it.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4350" y="2778137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14350" y="278170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96991" y="2778137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4350" y="384612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8638" y="2778137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0088" y="2913869"/>
            <a:ext cx="34790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PRINCIPLE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193381" y="291744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32" name="Text 30"/>
          <p:cNvSpPr/>
          <p:nvPr/>
        </p:nvSpPr>
        <p:spPr>
          <a:xfrm>
            <a:off x="700088" y="3121037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in the pipeline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0088" y="3321062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scanning, SBOM, and compliance checks embedded in CI/CD — not a separate audit after launch.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43438" y="2778137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643438" y="278170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26078" y="2778137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43438" y="384612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57725" y="2778137"/>
            <a:ext cx="0" cy="1071563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9175" y="2913869"/>
            <a:ext cx="34790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D43F0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PRINCIPLE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322469" y="291744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↶</a:t>
            </a:r>
            <a:endParaRPr lang="en-US" sz="1406" dirty="0"/>
          </a:p>
        </p:txBody>
      </p:sp>
      <p:sp>
        <p:nvSpPr>
          <p:cNvPr id="41" name="Text 39"/>
          <p:cNvSpPr/>
          <p:nvPr/>
        </p:nvSpPr>
        <p:spPr>
          <a:xfrm>
            <a:off x="4829175" y="3121037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 for rollback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29175" y="3321062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deployment must be reversible. Feature flags, blue-green, canary — not big-bang deployments.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4350" y="4754166"/>
            <a:ext cx="392917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457812" y="4750594"/>
            <a:ext cx="347922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951329" y="4750594"/>
            <a:ext cx="67832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 PRACTICES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80903" y="3443288"/>
            <a:ext cx="4663097" cy="1700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0"/>
              </a:lnSpc>
              <a:buNone/>
            </a:pPr>
            <a:r>
              <a:rPr lang="en-US" sz="20250" b="1" spc="-1012" kern="0" dirty="0">
                <a:solidFill>
                  <a:srgbClr val="004C97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20250" dirty="0"/>
          </a:p>
        </p:txBody>
      </p:sp>
      <p:pic>
        <p:nvPicPr>
          <p:cNvPr id="4" name="Image 1" descr="/tmp/h2p-fit-1790857407246-q8p7d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0" y="714375"/>
            <a:ext cx="7144" cy="342900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742950" y="1714500"/>
            <a:ext cx="71597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8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742950" y="1975247"/>
            <a:ext cx="5400675" cy="4211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8" name="Text 4"/>
          <p:cNvSpPr/>
          <p:nvPr/>
        </p:nvSpPr>
        <p:spPr>
          <a:xfrm>
            <a:off x="742950" y="2423852"/>
            <a:ext cx="6233922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i="1" spc="-79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9" name="Text 5"/>
          <p:cNvSpPr/>
          <p:nvPr/>
        </p:nvSpPr>
        <p:spPr>
          <a:xfrm>
            <a:off x="742950" y="3043907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742950" y="3236788"/>
            <a:ext cx="5554980" cy="166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</a:t>
            </a:r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www.kefitech.com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42950" y="3431009"/>
            <a:ext cx="5554980" cy="20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</a:t>
            </a:r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Hyderabad, India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474903" y="1714500"/>
            <a:ext cx="320040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034973" y="1864519"/>
            <a:ext cx="2640330" cy="28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47"/>
              </a:lnSpc>
              <a:buNone/>
            </a:pPr>
            <a:r>
              <a:rPr lang="en-US" sz="1575" spc="63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1575" dirty="0"/>
          </a:p>
        </p:txBody>
      </p:sp>
      <p:sp>
        <p:nvSpPr>
          <p:cNvPr id="14" name="Text 10"/>
          <p:cNvSpPr/>
          <p:nvPr/>
        </p:nvSpPr>
        <p:spPr>
          <a:xfrm>
            <a:off x="5474903" y="2381659"/>
            <a:ext cx="320040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034973" y="2531678"/>
            <a:ext cx="2640330" cy="28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47"/>
              </a:lnSpc>
              <a:buNone/>
            </a:pPr>
            <a:r>
              <a:rPr lang="en-US" sz="1575" spc="63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1575" dirty="0"/>
          </a:p>
        </p:txBody>
      </p:sp>
      <p:sp>
        <p:nvSpPr>
          <p:cNvPr id="16" name="Text 12"/>
          <p:cNvSpPr/>
          <p:nvPr/>
        </p:nvSpPr>
        <p:spPr>
          <a:xfrm>
            <a:off x="5474903" y="3048819"/>
            <a:ext cx="320040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034973" y="3198837"/>
            <a:ext cx="2640330" cy="28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47"/>
              </a:lnSpc>
              <a:buNone/>
            </a:pPr>
            <a:r>
              <a:rPr lang="en-US" sz="1575" spc="63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1575" dirty="0"/>
          </a:p>
        </p:txBody>
      </p:sp>
      <p:sp>
        <p:nvSpPr>
          <p:cNvPr id="18" name="Shape 1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2026-10-01T12:23:27Z</dcterms:created>
  <dcterms:modified xsi:type="dcterms:W3CDTF">2026-10-01T12:23:27Z</dcterms:modified>
</cp:coreProperties>
</file>