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kefi_decks/data_analytics__bfsi/assets/kefi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457200"/>
            <a:ext cx="9143554" cy="15470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49106" y="628650"/>
            <a:ext cx="36637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ANALYTICS AND DATA ENGINEERING SERVICES · 2026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1714500"/>
            <a:ext cx="43157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BFSI &amp; INSURANCE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1975247"/>
            <a:ext cx="3657600" cy="1398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4"/>
              </a:lnSpc>
              <a:buNone/>
            </a:pPr>
            <a:r>
              <a:rPr lang="en-US" sz="3600" b="1" spc="-7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Analytics &amp; Data Engineering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42950" y="3401430"/>
            <a:ext cx="3657600" cy="1026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44"/>
              </a:lnSpc>
              <a:buNone/>
            </a:pPr>
            <a:r>
              <a:rPr lang="en-US" sz="3600" b="1" spc="-7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BFSI &amp; Insurance.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42950" y="4637968"/>
            <a:ext cx="3657600" cy="505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4"/>
              </a:lnSpc>
              <a:buNone/>
            </a:pPr>
            <a:r>
              <a:rPr lang="en-US" sz="1238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capability brief on Kefi Tech Data Analytics &amp; Data Engineering Services for BFSI &amp; Insurance.</a:t>
            </a:r>
            <a:endParaRPr lang="en-US" sz="1238" dirty="0"/>
          </a:p>
        </p:txBody>
      </p:sp>
      <p:sp>
        <p:nvSpPr>
          <p:cNvPr id="8" name="Text 5"/>
          <p:cNvSpPr/>
          <p:nvPr/>
        </p:nvSpPr>
        <p:spPr>
          <a:xfrm>
            <a:off x="4972050" y="1771650"/>
            <a:ext cx="4171950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DATA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972050" y="1939528"/>
            <a:ext cx="3703320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Strategy, governance, engineering &amp; platforms.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972050" y="2316696"/>
            <a:ext cx="4171950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DATA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972050" y="2484574"/>
            <a:ext cx="3703320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Analytics, BI, advanced analytics &amp; AI.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972050" y="2861742"/>
            <a:ext cx="4171950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DATA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972050" y="3029620"/>
            <a:ext cx="3703320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Engineered for BFSI &amp; insurance realities.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27199" y="14288"/>
            <a:ext cx="3500996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DATA ANALYTICS AND DATA ENGINEERING SERVICES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4714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69647" y="457200"/>
            <a:ext cx="4879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950" y="885825"/>
            <a:ext cx="84010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 · BFSI &amp; INSURANCE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2950" y="1075134"/>
            <a:ext cx="7572375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BFSI &amp; Insurance operates in a regulated, document-intensive, high-stakes environment.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742950" y="1646634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trust, regulatory compliance, transaction integrity and operational resilience define competitive position.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14400" y="2071688"/>
            <a:ext cx="42709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BFSI &amp; INSURANCE NEEDS THIS NOW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14413" y="237886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06" dirty="0"/>
          </a:p>
        </p:txBody>
      </p:sp>
      <p:sp>
        <p:nvSpPr>
          <p:cNvPr id="9" name="Text 7"/>
          <p:cNvSpPr/>
          <p:nvPr/>
        </p:nvSpPr>
        <p:spPr>
          <a:xfrm>
            <a:off x="1257300" y="2364581"/>
            <a:ext cx="3471863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transformation pressure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57300" y="2502098"/>
            <a:ext cx="3214688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digital adoption accelerating across the industry.</a:t>
            </a:r>
            <a:endParaRPr lang="en-US" sz="619" dirty="0"/>
          </a:p>
        </p:txBody>
      </p:sp>
      <p:sp>
        <p:nvSpPr>
          <p:cNvPr id="11" name="Text 9"/>
          <p:cNvSpPr/>
          <p:nvPr/>
        </p:nvSpPr>
        <p:spPr>
          <a:xfrm>
            <a:off x="1014413" y="287312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2" name="Text 10"/>
          <p:cNvSpPr/>
          <p:nvPr/>
        </p:nvSpPr>
        <p:spPr>
          <a:xfrm>
            <a:off x="1257300" y="2858839"/>
            <a:ext cx="3471863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&amp; compliance demands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257300" y="2996357"/>
            <a:ext cx="3214688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regulations require continuous compliance technology.</a:t>
            </a:r>
            <a:endParaRPr lang="en-US" sz="619" dirty="0"/>
          </a:p>
        </p:txBody>
      </p:sp>
      <p:sp>
        <p:nvSpPr>
          <p:cNvPr id="14" name="Text 12"/>
          <p:cNvSpPr/>
          <p:nvPr/>
        </p:nvSpPr>
        <p:spPr>
          <a:xfrm>
            <a:off x="1014413" y="336738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5" name="Text 13"/>
          <p:cNvSpPr/>
          <p:nvPr/>
        </p:nvSpPr>
        <p:spPr>
          <a:xfrm>
            <a:off x="1257300" y="3353098"/>
            <a:ext cx="3471863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efficiency mandate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257300" y="3490615"/>
            <a:ext cx="3214688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Cost-to-serve reduction while maintaining quality and resilience.</a:t>
            </a:r>
            <a:endParaRPr lang="en-US" sz="619" dirty="0"/>
          </a:p>
        </p:txBody>
      </p:sp>
      <p:sp>
        <p:nvSpPr>
          <p:cNvPr id="17" name="Text 15"/>
          <p:cNvSpPr/>
          <p:nvPr/>
        </p:nvSpPr>
        <p:spPr>
          <a:xfrm>
            <a:off x="1014413" y="386164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406" dirty="0"/>
          </a:p>
        </p:txBody>
      </p:sp>
      <p:sp>
        <p:nvSpPr>
          <p:cNvPr id="18" name="Text 16"/>
          <p:cNvSpPr/>
          <p:nvPr/>
        </p:nvSpPr>
        <p:spPr>
          <a:xfrm>
            <a:off x="1257300" y="3847356"/>
            <a:ext cx="3471863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&amp; employee expectations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257300" y="3984873"/>
            <a:ext cx="3214688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 digital experiences are now table stakes, not differentiation.</a:t>
            </a:r>
            <a:endParaRPr lang="en-US" sz="619" dirty="0"/>
          </a:p>
        </p:txBody>
      </p:sp>
      <p:sp>
        <p:nvSpPr>
          <p:cNvPr id="20" name="Text 18"/>
          <p:cNvSpPr/>
          <p:nvPr/>
        </p:nvSpPr>
        <p:spPr>
          <a:xfrm>
            <a:off x="5086350" y="2071688"/>
            <a:ext cx="37797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MEANS FOR DATA ANALYTICS &amp; DATA ENGINEERING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86350" y="2293144"/>
            <a:ext cx="3143250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Analytics &amp; Data Engineering applied to bfsi &amp; insurance requires industry-specific capability, not generic technology. The right approach connects data analytics &amp; data engineering to the regulatory, operational and customer realities that define bfsi &amp; insurance.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86350" y="4086225"/>
            <a:ext cx="1912779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APPROACH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5647" y="14288"/>
            <a:ext cx="1353594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4714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69647" y="457200"/>
            <a:ext cx="4879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950" y="842963"/>
            <a:ext cx="84010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2950" y="1017984"/>
            <a:ext cx="8401050" cy="529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Analytics &amp; Data Engineering across the complete lifecycle.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742950" y="1575197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capability pillars covering the full data analytics &amp; data engineering spectrum.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1538" y="172878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8" name="Text 6"/>
          <p:cNvSpPr/>
          <p:nvPr/>
        </p:nvSpPr>
        <p:spPr>
          <a:xfrm>
            <a:off x="1128713" y="1739503"/>
            <a:ext cx="12287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1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503884" y="1718072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2843213" y="172878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688" dirty="0"/>
          </a:p>
        </p:txBody>
      </p:sp>
      <p:sp>
        <p:nvSpPr>
          <p:cNvPr id="11" name="Text 9"/>
          <p:cNvSpPr/>
          <p:nvPr/>
        </p:nvSpPr>
        <p:spPr>
          <a:xfrm>
            <a:off x="3100388" y="1739503"/>
            <a:ext cx="12287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1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75559" y="1718072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3" name="Text 11"/>
          <p:cNvSpPr/>
          <p:nvPr/>
        </p:nvSpPr>
        <p:spPr>
          <a:xfrm>
            <a:off x="4814888" y="172878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4" name="Text 12"/>
          <p:cNvSpPr/>
          <p:nvPr/>
        </p:nvSpPr>
        <p:spPr>
          <a:xfrm>
            <a:off x="5072063" y="1739503"/>
            <a:ext cx="12287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1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47234" y="1718072"/>
            <a:ext cx="192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6" name="Text 14"/>
          <p:cNvSpPr/>
          <p:nvPr/>
        </p:nvSpPr>
        <p:spPr>
          <a:xfrm>
            <a:off x="6786563" y="172878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688" dirty="0"/>
          </a:p>
        </p:txBody>
      </p:sp>
      <p:sp>
        <p:nvSpPr>
          <p:cNvPr id="17" name="Text 15"/>
          <p:cNvSpPr/>
          <p:nvPr/>
        </p:nvSpPr>
        <p:spPr>
          <a:xfrm>
            <a:off x="7043738" y="1739503"/>
            <a:ext cx="12287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1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57250" y="252888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19" name="Text 17"/>
          <p:cNvSpPr/>
          <p:nvPr/>
        </p:nvSpPr>
        <p:spPr>
          <a:xfrm>
            <a:off x="2983743" y="2544961"/>
            <a:ext cx="2246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57250" y="2743200"/>
            <a:ext cx="24482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 &amp; Governance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57250" y="2911078"/>
            <a:ext cx="2266913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strategy, maturity assessment, architecture, governance, lineage, MDM.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438488" y="252888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23" name="Text 21"/>
          <p:cNvSpPr/>
          <p:nvPr/>
        </p:nvSpPr>
        <p:spPr>
          <a:xfrm>
            <a:off x="5564981" y="2544961"/>
            <a:ext cx="2246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438488" y="2743200"/>
            <a:ext cx="24482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Engineering &amp; Integration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38488" y="2911078"/>
            <a:ext cx="2266913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pipelines, ETL/ELT, APIs, integration, migration, data quality.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019726" y="252888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688" dirty="0"/>
          </a:p>
        </p:txBody>
      </p:sp>
      <p:sp>
        <p:nvSpPr>
          <p:cNvPr id="27" name="Text 25"/>
          <p:cNvSpPr/>
          <p:nvPr/>
        </p:nvSpPr>
        <p:spPr>
          <a:xfrm>
            <a:off x="8146331" y="2544961"/>
            <a:ext cx="2246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19726" y="2743200"/>
            <a:ext cx="244838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Platforms &amp; Modernization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019726" y="2911078"/>
            <a:ext cx="2267024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lakes, warehouses, lakehouses, cloud data platforms, legacy modernization.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57250" y="352901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31" name="Text 29"/>
          <p:cNvSpPr/>
          <p:nvPr/>
        </p:nvSpPr>
        <p:spPr>
          <a:xfrm>
            <a:off x="2983743" y="3545086"/>
            <a:ext cx="2246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57250" y="3743325"/>
            <a:ext cx="24482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 &amp; Decision Intelligence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57250" y="3911203"/>
            <a:ext cx="2266913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dashboards, reporting, KPI frameworks, self-service BI, executive analytics.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438488" y="352901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688" dirty="0"/>
          </a:p>
        </p:txBody>
      </p:sp>
      <p:sp>
        <p:nvSpPr>
          <p:cNvPr id="35" name="Text 33"/>
          <p:cNvSpPr/>
          <p:nvPr/>
        </p:nvSpPr>
        <p:spPr>
          <a:xfrm>
            <a:off x="5564981" y="3545086"/>
            <a:ext cx="2246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438488" y="3743325"/>
            <a:ext cx="24482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Advanced Analytics &amp; Data Science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438488" y="3911203"/>
            <a:ext cx="2266913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analytics, forecasting, segmentation, optimization, statistical modelling.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019726" y="352901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39" name="Text 37"/>
          <p:cNvSpPr/>
          <p:nvPr/>
        </p:nvSpPr>
        <p:spPr>
          <a:xfrm>
            <a:off x="8146331" y="3545086"/>
            <a:ext cx="2246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019726" y="3743325"/>
            <a:ext cx="238037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AI-Powered Analytics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019726" y="3911203"/>
            <a:ext cx="2267024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Conversational analytics, GenAI over enterprise data, NL querying, decision support.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86738" y="14288"/>
            <a:ext cx="1043468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4714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69647" y="457200"/>
            <a:ext cx="4879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950" y="842963"/>
            <a:ext cx="84010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2950" y="1017984"/>
            <a:ext cx="8401050" cy="278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 &amp; Governance.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2950" y="1323715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strategy, maturity assessment, architecture, governance, lineage, MDM.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14400" y="1871663"/>
            <a:ext cx="48010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" y="2078831"/>
            <a:ext cx="3657600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data strategy &amp; governance capability is engineered for bfsi &amp; insurance environments. We bring together the data analytics &amp; data engineering discipline, the bfsi &amp; insurance domain context, and the engineering rigor required to ship production-grade solutions.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4029075"/>
            <a:ext cx="123899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2063" y="1857375"/>
            <a:ext cx="40719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157788" y="213598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57813" y="214312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13" name="Text 11"/>
          <p:cNvSpPr/>
          <p:nvPr/>
        </p:nvSpPr>
        <p:spPr>
          <a:xfrm>
            <a:off x="5557838" y="2135981"/>
            <a:ext cx="304758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557838" y="2257425"/>
            <a:ext cx="2600325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bfsi &amp; insurance.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5157788" y="256103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57813" y="256817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5557838" y="2561034"/>
            <a:ext cx="304758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57838" y="2682478"/>
            <a:ext cx="2600325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bfsi &amp; insurance.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5157788" y="298608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357813" y="299323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557838" y="2986088"/>
            <a:ext cx="304758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557838" y="3107531"/>
            <a:ext cx="2600325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bfsi &amp; insurance.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157788" y="341114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357813" y="341828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5557838" y="3411141"/>
            <a:ext cx="304758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57838" y="3532584"/>
            <a:ext cx="2600325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bfsi &amp; insurance.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5157788" y="383619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57813" y="384333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5557838" y="3836194"/>
            <a:ext cx="304758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57838" y="3957638"/>
            <a:ext cx="2600325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bfsi &amp; insurance.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5647" y="14288"/>
            <a:ext cx="2031883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 &amp; GOVERNANCE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4714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69647" y="457200"/>
            <a:ext cx="4879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950" y="842963"/>
            <a:ext cx="84010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2950" y="1017984"/>
            <a:ext cx="8401050" cy="278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Engineering &amp; Integration.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2950" y="1323715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pipelines, ETL/ELT, APIs, integration, migration, data quality.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14400" y="1871663"/>
            <a:ext cx="48010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" y="2078831"/>
            <a:ext cx="3657600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data engineering &amp; integration capability is engineered for bfsi &amp; insurance environments. We bring together the data analytics &amp; data engineering discipline, the bfsi &amp; insurance domain context, and the engineering rigor required to ship production-grade solutions.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4029075"/>
            <a:ext cx="123899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2063" y="1857375"/>
            <a:ext cx="40719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157788" y="213598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57813" y="214312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3" name="Text 11"/>
          <p:cNvSpPr/>
          <p:nvPr/>
        </p:nvSpPr>
        <p:spPr>
          <a:xfrm>
            <a:off x="5557838" y="2135981"/>
            <a:ext cx="304758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557838" y="2257425"/>
            <a:ext cx="2600325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bfsi &amp; insurance.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5157788" y="256103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57813" y="256817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5557838" y="2561034"/>
            <a:ext cx="304758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57838" y="2682478"/>
            <a:ext cx="2600325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bfsi &amp; insurance.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5157788" y="298608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357813" y="299323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557838" y="2986088"/>
            <a:ext cx="304758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557838" y="3107531"/>
            <a:ext cx="2600325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bfsi &amp; insurance.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157788" y="341114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357813" y="341828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5557838" y="3411141"/>
            <a:ext cx="304758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57838" y="3532584"/>
            <a:ext cx="2600325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bfsi &amp; insurance.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5157788" y="383619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57813" y="384333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5557838" y="3836194"/>
            <a:ext cx="304758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57838" y="3957638"/>
            <a:ext cx="2600325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bfsi &amp; insurance.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5647" y="14288"/>
            <a:ext cx="2227658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ENGINEERING &amp; INTEGRATION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4714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69647" y="457200"/>
            <a:ext cx="4879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950" y="842963"/>
            <a:ext cx="84010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2950" y="1017984"/>
            <a:ext cx="8401050" cy="278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Platforms &amp; Modernization.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2950" y="1323715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lakes, warehouses, lakehouses, cloud data platforms, legacy modernization.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14400" y="1871663"/>
            <a:ext cx="48010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" y="2078831"/>
            <a:ext cx="3657600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data platforms &amp; modernization capability is engineered for bfsi &amp; insurance environments. We bring together the data analytics &amp; data engineering discipline, the bfsi &amp; insurance domain context, and the engineering rigor required to ship production-grade solutions.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4029075"/>
            <a:ext cx="123899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2063" y="1857375"/>
            <a:ext cx="40719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157788" y="213598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57813" y="214312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13" name="Text 11"/>
          <p:cNvSpPr/>
          <p:nvPr/>
        </p:nvSpPr>
        <p:spPr>
          <a:xfrm>
            <a:off x="5557838" y="2135981"/>
            <a:ext cx="304758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557838" y="2257425"/>
            <a:ext cx="2600325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bfsi &amp; insurance.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5157788" y="256103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57813" y="256817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5557838" y="2561034"/>
            <a:ext cx="304758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57838" y="2682478"/>
            <a:ext cx="2600325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bfsi &amp; insurance.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5157788" y="298608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357813" y="299323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557838" y="2986088"/>
            <a:ext cx="304758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557838" y="3107531"/>
            <a:ext cx="2600325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bfsi &amp; insurance.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157788" y="341114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357813" y="341828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5557838" y="3411141"/>
            <a:ext cx="304758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57838" y="3532584"/>
            <a:ext cx="2600325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bfsi &amp; insurance.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5157788" y="383619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57813" y="384333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5557838" y="3836194"/>
            <a:ext cx="304758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57838" y="3957638"/>
            <a:ext cx="2600325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bfsi &amp; insurance.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5647" y="14288"/>
            <a:ext cx="2319156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PLATFORMS &amp; MODERNIZATION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4714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69647" y="457200"/>
            <a:ext cx="4879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950" y="842963"/>
            <a:ext cx="84010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2950" y="1017984"/>
            <a:ext cx="8401050" cy="278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 &amp; Decision Intelligence.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2950" y="1323715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dashboards, reporting, KPI frameworks, self-service BI, executive analytics.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14400" y="1871663"/>
            <a:ext cx="48010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" y="2078831"/>
            <a:ext cx="3657600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bi &amp; decision intelligence capability is engineered for bfsi &amp; insurance environments. We bring together the data analytics &amp; data engineering discipline, the bfsi &amp; insurance domain context, and the engineering rigor required to ship production-grade solutions.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4029075"/>
            <a:ext cx="123899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2063" y="1857375"/>
            <a:ext cx="40719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157788" y="213598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57813" y="214312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3" name="Text 11"/>
          <p:cNvSpPr/>
          <p:nvPr/>
        </p:nvSpPr>
        <p:spPr>
          <a:xfrm>
            <a:off x="5557838" y="2135981"/>
            <a:ext cx="304758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557838" y="2257425"/>
            <a:ext cx="2600325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bfsi &amp; insurance.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5157788" y="256103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57813" y="256817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5557838" y="2561034"/>
            <a:ext cx="304758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57838" y="2682478"/>
            <a:ext cx="2600325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bfsi &amp; insurance.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5157788" y="298608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357813" y="299323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557838" y="2986088"/>
            <a:ext cx="304758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557838" y="3107531"/>
            <a:ext cx="2600325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bfsi &amp; insurance.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157788" y="341114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357813" y="341828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5557838" y="3411141"/>
            <a:ext cx="304758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57838" y="3532584"/>
            <a:ext cx="2600325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bfsi &amp; insurance.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5157788" y="383619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57813" y="384333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5557838" y="3836194"/>
            <a:ext cx="304758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57838" y="3957638"/>
            <a:ext cx="2600325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bfsi &amp; insurance.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5647" y="14288"/>
            <a:ext cx="1821281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 &amp; DECISION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4714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69647" y="457200"/>
            <a:ext cx="4879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950" y="842963"/>
            <a:ext cx="84010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APPLICATIONS · BFSI &amp; INSURANCE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2950" y="1017984"/>
            <a:ext cx="8401050" cy="529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data analytics &amp; data engineering applies to bfsi &amp; insurance.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742950" y="1575197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industry-specific applications where data analytics &amp; data engineering creates measurable value.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14400" y="207168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969" dirty="0"/>
          </a:p>
        </p:txBody>
      </p:sp>
      <p:sp>
        <p:nvSpPr>
          <p:cNvPr id="8" name="Text 6"/>
          <p:cNvSpPr/>
          <p:nvPr/>
        </p:nvSpPr>
        <p:spPr>
          <a:xfrm>
            <a:off x="4292947" y="2096691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2343150"/>
            <a:ext cx="3592949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 Intelligence</a:t>
            </a:r>
            <a:endParaRPr lang="en-US" sz="1238" dirty="0"/>
          </a:p>
        </p:txBody>
      </p:sp>
      <p:sp>
        <p:nvSpPr>
          <p:cNvPr id="10" name="Text 8"/>
          <p:cNvSpPr/>
          <p:nvPr/>
        </p:nvSpPr>
        <p:spPr>
          <a:xfrm>
            <a:off x="914400" y="2603116"/>
            <a:ext cx="3421856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Claims, underwriting, KYC, policy and contract document processing at scale.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4807744" y="207168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969" dirty="0"/>
          </a:p>
        </p:txBody>
      </p:sp>
      <p:sp>
        <p:nvSpPr>
          <p:cNvPr id="12" name="Text 10"/>
          <p:cNvSpPr/>
          <p:nvPr/>
        </p:nvSpPr>
        <p:spPr>
          <a:xfrm>
            <a:off x="8121627" y="2096691"/>
            <a:ext cx="1813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4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II</a:t>
            </a:r>
            <a:endParaRPr lang="en-US" sz="788" dirty="0"/>
          </a:p>
        </p:txBody>
      </p:sp>
      <p:sp>
        <p:nvSpPr>
          <p:cNvPr id="13" name="Text 11"/>
          <p:cNvSpPr/>
          <p:nvPr/>
        </p:nvSpPr>
        <p:spPr>
          <a:xfrm>
            <a:off x="4807744" y="2343150"/>
            <a:ext cx="3592949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Fraud Detection</a:t>
            </a:r>
            <a:endParaRPr lang="en-US" sz="1238" dirty="0"/>
          </a:p>
        </p:txBody>
      </p:sp>
      <p:sp>
        <p:nvSpPr>
          <p:cNvPr id="14" name="Text 12"/>
          <p:cNvSpPr/>
          <p:nvPr/>
        </p:nvSpPr>
        <p:spPr>
          <a:xfrm>
            <a:off x="4807744" y="2603116"/>
            <a:ext cx="3421856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Anomaly identification, predictive risk scoring, real-time transaction monitoring.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14400" y="331168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969" dirty="0"/>
          </a:p>
        </p:txBody>
      </p:sp>
      <p:sp>
        <p:nvSpPr>
          <p:cNvPr id="16" name="Text 14"/>
          <p:cNvSpPr/>
          <p:nvPr/>
        </p:nvSpPr>
        <p:spPr>
          <a:xfrm>
            <a:off x="4183060" y="3336689"/>
            <a:ext cx="254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4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III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914400" y="3583149"/>
            <a:ext cx="3592949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Intelligence</a:t>
            </a:r>
            <a:endParaRPr lang="en-US" sz="1238" dirty="0"/>
          </a:p>
        </p:txBody>
      </p:sp>
      <p:sp>
        <p:nvSpPr>
          <p:cNvPr id="18" name="Text 16"/>
          <p:cNvSpPr/>
          <p:nvPr/>
        </p:nvSpPr>
        <p:spPr>
          <a:xfrm>
            <a:off x="914400" y="3843114"/>
            <a:ext cx="3421856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360, next-best-action, retention modeling, personalized servicing.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4807744" y="331168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969" dirty="0"/>
          </a:p>
        </p:txBody>
      </p:sp>
      <p:sp>
        <p:nvSpPr>
          <p:cNvPr id="20" name="Text 18"/>
          <p:cNvSpPr/>
          <p:nvPr/>
        </p:nvSpPr>
        <p:spPr>
          <a:xfrm>
            <a:off x="8102910" y="3336689"/>
            <a:ext cx="2027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IV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07744" y="3583149"/>
            <a:ext cx="3592949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Operations</a:t>
            </a:r>
            <a:endParaRPr lang="en-US" sz="1238" dirty="0"/>
          </a:p>
        </p:txBody>
      </p:sp>
      <p:sp>
        <p:nvSpPr>
          <p:cNvPr id="22" name="Text 20"/>
          <p:cNvSpPr/>
          <p:nvPr/>
        </p:nvSpPr>
        <p:spPr>
          <a:xfrm>
            <a:off x="4807744" y="3843114"/>
            <a:ext cx="3421856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Compliance reporting, audit trails, transaction surveillance, regulatory change management.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5647" y="14288"/>
            <a:ext cx="1496906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APPLICATIONS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4714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69647" y="457200"/>
            <a:ext cx="4879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950" y="842963"/>
            <a:ext cx="84010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2950" y="1017984"/>
            <a:ext cx="8401050" cy="272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reference architecture for data analytics &amp; data engineering.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742950" y="1318022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from foundation through consumption.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42950" y="1643063"/>
            <a:ext cx="840105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CONSUMPTION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2950" y="1828800"/>
            <a:ext cx="796563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Dashboards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58999" y="1828800"/>
            <a:ext cx="561213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Reports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33835" y="1828800"/>
            <a:ext cx="379882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10656" y="1828800"/>
            <a:ext cx="1525932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Conversational Analytics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2950" y="2228850"/>
            <a:ext cx="840105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SEMANTIC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2950" y="2414588"/>
            <a:ext cx="1044466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Semantic Layer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48540" y="2414588"/>
            <a:ext cx="946358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Metrics Layer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76872" y="2414588"/>
            <a:ext cx="876886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Catalog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61457" y="2414588"/>
            <a:ext cx="577501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Lineage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2950" y="2814638"/>
            <a:ext cx="840105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PROCESSING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9627" y="3000375"/>
            <a:ext cx="60243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ETL/ELT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13545" y="3000375"/>
            <a:ext cx="1242658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Stream Processing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310222" y="3000375"/>
            <a:ext cx="1142974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Batch Processing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04318" y="3000375"/>
            <a:ext cx="876224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Quality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2950" y="3400425"/>
            <a:ext cx="840105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STORAGE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2950" y="3586163"/>
            <a:ext cx="736521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Lake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54745" y="3586163"/>
            <a:ext cx="813102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Warehouse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026369" y="3586163"/>
            <a:ext cx="78195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Lakehouse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73660" y="3586163"/>
            <a:ext cx="602979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NoSQL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2950" y="3986213"/>
            <a:ext cx="840105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2950" y="4171950"/>
            <a:ext cx="1352678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 Data Platform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33501" y="4171950"/>
            <a:ext cx="914693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50344" y="4171950"/>
            <a:ext cx="80820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469438" y="4171950"/>
            <a:ext cx="614568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58624" y="14288"/>
            <a:ext cx="1043468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4714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69647" y="457200"/>
            <a:ext cx="4879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950" y="842963"/>
            <a:ext cx="84010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2950" y="1017984"/>
            <a:ext cx="8401050" cy="272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four-stage pathway from discovery to operations.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742950" y="1318022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stage carries concrete deliverables, a fixed duration, and a transparent commercial frame.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42950" y="1685925"/>
            <a:ext cx="2340864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2950" y="1857375"/>
            <a:ext cx="2340864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2950" y="2028825"/>
            <a:ext cx="192024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2950" y="2243138"/>
            <a:ext cx="2351665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9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42950" y="2382441"/>
            <a:ext cx="1828800" cy="782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Analytics &amp; Data Engineering maturity assessment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Opportunity prioritization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90-day roadmap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 business case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42950" y="3080296"/>
            <a:ext cx="2340864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$25K-$75K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86050" y="1685925"/>
            <a:ext cx="2340864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86050" y="1857375"/>
            <a:ext cx="192024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 Design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86050" y="2028825"/>
            <a:ext cx="192024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3-4 WEEKS · FIXED FEE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86050" y="2243138"/>
            <a:ext cx="2351665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9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86050" y="2382441"/>
            <a:ext cx="1828800" cy="66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architecture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CoE charter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 framework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plan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86050" y="2966442"/>
            <a:ext cx="2143354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$50K-$150K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29150" y="1685925"/>
            <a:ext cx="2340864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29150" y="1857375"/>
            <a:ext cx="2340864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29150" y="2028825"/>
            <a:ext cx="192024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8-24 WEEKS · T&amp;M OR FIXED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29150" y="2243138"/>
            <a:ext cx="2351665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9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29150" y="2382441"/>
            <a:ext cx="1828800" cy="66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complete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transfer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29150" y="2966442"/>
            <a:ext cx="2340864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$300K-$1M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72250" y="1685925"/>
            <a:ext cx="2340864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72250" y="1857375"/>
            <a:ext cx="192024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Operations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72250" y="2028825"/>
            <a:ext cx="192024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72250" y="2243138"/>
            <a:ext cx="2351665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9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572250" y="2382441"/>
            <a:ext cx="1828800" cy="66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services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reviews</a:t>
            </a:r>
            <a:endParaRPr lang="en-US" sz="800" dirty="0"/>
          </a:p>
          <a:p>
            <a:pPr algn="l" marL="342900" indent="-342900">
              <a:lnSpc>
                <a:spcPts val="897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operations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572250" y="2966442"/>
            <a:ext cx="192024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$50K-$500K / mo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5647" y="14288"/>
            <a:ext cx="1447329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4714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69647" y="457200"/>
            <a:ext cx="4879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950" y="842963"/>
            <a:ext cx="84010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2950" y="1017984"/>
            <a:ext cx="8401050" cy="289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reasons enterprises work with us.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2950" y="1335100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generic services. Specific differentiators for bfsi &amp; insurance.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42950" y="1914525"/>
            <a:ext cx="601218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2950" y="2085975"/>
            <a:ext cx="394549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Decision-grade data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2950" y="2257425"/>
            <a:ext cx="3757613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engineered to be operational, governed, and decision-grade.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43438" y="1914525"/>
            <a:ext cx="450056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43438" y="2085975"/>
            <a:ext cx="394549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Lakehouse first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43438" y="2257425"/>
            <a:ext cx="375761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 lakehouse architecture converging warehouse and lake.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2950" y="3200400"/>
            <a:ext cx="601218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42950" y="3371850"/>
            <a:ext cx="394549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AI-powered analytics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2950" y="3543300"/>
            <a:ext cx="375761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GenAI over enterprise data — natural-language querying.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43438" y="3200400"/>
            <a:ext cx="450056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43438" y="3371850"/>
            <a:ext cx="394549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 embedded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43438" y="3543300"/>
            <a:ext cx="3757613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quality, lineage, and MDM as a discipline, not an afterthought.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5647" y="14288"/>
            <a:ext cx="1049961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kefi_decks/data_analytics__bfsi/assets/kefi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685800"/>
            <a:ext cx="9143554" cy="15470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1714500"/>
            <a:ext cx="68726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2003822"/>
            <a:ext cx="5376649" cy="3925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742950" y="2423852"/>
            <a:ext cx="6001364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6" name="Text 3"/>
          <p:cNvSpPr/>
          <p:nvPr/>
        </p:nvSpPr>
        <p:spPr>
          <a:xfrm>
            <a:off x="742950" y="3243932"/>
            <a:ext cx="5530267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42950" y="3458245"/>
            <a:ext cx="5530267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697837" y="2593181"/>
            <a:ext cx="928241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Discover.</a:t>
            </a:r>
            <a:endParaRPr lang="en-US" sz="1013" dirty="0"/>
          </a:p>
        </p:txBody>
      </p:sp>
      <p:sp>
        <p:nvSpPr>
          <p:cNvPr id="9" name="Text 6"/>
          <p:cNvSpPr/>
          <p:nvPr/>
        </p:nvSpPr>
        <p:spPr>
          <a:xfrm>
            <a:off x="7679308" y="2986088"/>
            <a:ext cx="95269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Engineer.</a:t>
            </a:r>
            <a:endParaRPr lang="en-US" sz="1013" dirty="0"/>
          </a:p>
        </p:txBody>
      </p:sp>
      <p:sp>
        <p:nvSpPr>
          <p:cNvPr id="10" name="Text 7"/>
          <p:cNvSpPr/>
          <p:nvPr/>
        </p:nvSpPr>
        <p:spPr>
          <a:xfrm>
            <a:off x="7934362" y="3378994"/>
            <a:ext cx="61602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Scale.</a:t>
            </a:r>
            <a:endParaRPr lang="en-US" sz="1013" dirty="0"/>
          </a:p>
        </p:txBody>
      </p:sp>
      <p:sp>
        <p:nvSpPr>
          <p:cNvPr id="11" name="Text 8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65647" y="14288"/>
            <a:ext cx="2780745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2026-10-01T03:57:42Z</dcterms:created>
  <dcterms:modified xsi:type="dcterms:W3CDTF">2026-10-01T03:57:42Z</dcterms:modified>
</cp:coreProperties>
</file>