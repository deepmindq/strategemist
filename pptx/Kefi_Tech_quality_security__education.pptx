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206597-zexdk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03503" y="628650"/>
            <a:ext cx="324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&amp; SECURITY ENGINEERING SERVICES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542925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949476"/>
            <a:ext cx="5700713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62947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779490"/>
            <a:ext cx="47148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Quality &amp; Security Engineering Services for Education.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7004447" y="1771650"/>
            <a:ext cx="0" cy="2428875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9469" y="3214688"/>
            <a:ext cx="17662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61300" y="3214688"/>
            <a:ext cx="75820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179469" y="3471863"/>
            <a:ext cx="125015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79469" y="3643313"/>
            <a:ext cx="17662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361300" y="3643313"/>
            <a:ext cx="353080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179469" y="3900488"/>
            <a:ext cx="125015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79469" y="4071938"/>
            <a:ext cx="1766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361300" y="4071938"/>
            <a:ext cx="7582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7715250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36088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71638"/>
            <a:ext cx="43648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818084"/>
            <a:ext cx="4153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2228" y="2039541"/>
            <a:ext cx="4036219" cy="415677"/>
          </a:xfrm>
          <a:prstGeom prst="roundRect">
            <a:avLst>
              <a:gd name="adj" fmla="val 274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813" y="21216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14413" y="2121694"/>
            <a:ext cx="253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4413" y="2259211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82228" y="2533799"/>
            <a:ext cx="4036219" cy="415677"/>
          </a:xfrm>
          <a:prstGeom prst="roundRect">
            <a:avLst>
              <a:gd name="adj" fmla="val 274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5813" y="26159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14413" y="2615952"/>
            <a:ext cx="305065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4413" y="2753469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82228" y="3028057"/>
            <a:ext cx="4036219" cy="415677"/>
          </a:xfrm>
          <a:prstGeom prst="roundRect">
            <a:avLst>
              <a:gd name="adj" fmla="val 274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5813" y="31102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14413" y="3110210"/>
            <a:ext cx="274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4413" y="3247727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682228" y="3522315"/>
            <a:ext cx="4036219" cy="415677"/>
          </a:xfrm>
          <a:prstGeom prst="roundRect">
            <a:avLst>
              <a:gd name="adj" fmla="val 274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5813" y="36044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14413" y="3604468"/>
            <a:ext cx="290358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4413" y="3741986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5061347" y="1671638"/>
            <a:ext cx="35647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36369" y="1832372"/>
            <a:ext cx="3214688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36369" y="2182416"/>
            <a:ext cx="321468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education requires industry-specific capability, not generic technology. The right approach connects quality &amp; security engineering to the regulatory, operational and customer realities that define education.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6369" y="4082653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36369" y="4082653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1144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quality &amp; security engineering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96603"/>
            <a:ext cx="1850231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500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878681" y="1510903"/>
            <a:ext cx="1371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89584" y="14894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2603897" y="1396603"/>
            <a:ext cx="1850231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1769" y="1500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2964656" y="1510903"/>
            <a:ext cx="1371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75559" y="14894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4689872" y="1396603"/>
            <a:ext cx="1850231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7744" y="1500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050631" y="1510903"/>
            <a:ext cx="1371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61534" y="14894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6775847" y="1396603"/>
            <a:ext cx="1850231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93719" y="1500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136606" y="1510903"/>
            <a:ext cx="1371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7922" y="1910953"/>
            <a:ext cx="2640732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2014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2906304" y="2035969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35794" y="2228850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794" y="2391705"/>
            <a:ext cx="24049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51522" y="1910953"/>
            <a:ext cx="2640843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9394" y="2014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5640016" y="2035969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369394" y="2228850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9394" y="2391705"/>
            <a:ext cx="2405100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5235" y="1910953"/>
            <a:ext cx="2640732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03107" y="2014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8373617" y="2035969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103107" y="2228850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3107" y="2391705"/>
            <a:ext cx="24049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922" y="2911078"/>
            <a:ext cx="2640732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794" y="30146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2906304" y="30360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35794" y="3228975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794" y="3391830"/>
            <a:ext cx="24049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51522" y="2911078"/>
            <a:ext cx="2640843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69394" y="30146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4" name="Text 42"/>
          <p:cNvSpPr/>
          <p:nvPr/>
        </p:nvSpPr>
        <p:spPr>
          <a:xfrm>
            <a:off x="5640016" y="30360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3369394" y="3228975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69394" y="3391830"/>
            <a:ext cx="2405100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testing, GenAI/LLM testing, bias assessment, prompt/response validation.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85235" y="2911078"/>
            <a:ext cx="2640732" cy="907256"/>
          </a:xfrm>
          <a:prstGeom prst="roundRect">
            <a:avLst>
              <a:gd name="adj" fmla="val 83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03107" y="30146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8373617" y="30360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103107" y="3228975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3107" y="3391830"/>
            <a:ext cx="24049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strategy, QA process assessment, quality governance, release readiness, metrics.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3942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50181"/>
            <a:ext cx="43648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10916"/>
            <a:ext cx="4014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43088"/>
            <a:ext cx="401478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education environments. We bring together the quality &amp; security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0084" y="385348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386119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61347" y="1450181"/>
            <a:ext cx="35647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22081" y="1596628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25653" y="1818084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950" y="1933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4975" y="1928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15000" y="1885950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0" y="2003041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25653" y="2231641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3472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14975" y="2341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15000" y="2299506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0" y="2416597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5653" y="2645197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14950" y="276083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4975" y="27554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15000" y="2713062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15000" y="2830153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25653" y="3058753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14950" y="317439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4975" y="3169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15000" y="3126618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3243709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25653" y="3472309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14950" y="358794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14975" y="35825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15000" y="3540175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3657265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521065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3942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50181"/>
            <a:ext cx="43648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10916"/>
            <a:ext cx="4014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43088"/>
            <a:ext cx="40147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education environments. We bring together the quality &amp; security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0084" y="385348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386119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61347" y="1450181"/>
            <a:ext cx="35647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22081" y="1596628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25653" y="1818084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950" y="1933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4975" y="1928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15000" y="1885950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0" y="2003041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25653" y="2231641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3472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14975" y="2341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15000" y="2299506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0" y="2416597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5653" y="2645197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14950" y="276083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4975" y="27554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15000" y="2713062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15000" y="2830153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25653" y="3058753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14950" y="317439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4975" y="3169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15000" y="3126618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3243709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25653" y="3472309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14950" y="358794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14975" y="35825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15000" y="3540175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3657265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3942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50181"/>
            <a:ext cx="43648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10916"/>
            <a:ext cx="4014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43088"/>
            <a:ext cx="40147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education environments. We bring together the quality &amp; security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0084" y="385348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386119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61347" y="1450181"/>
            <a:ext cx="35647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22081" y="1596628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25653" y="1818084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950" y="1933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4975" y="1928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15000" y="1885950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0" y="2003041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25653" y="2231641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3472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14975" y="2341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15000" y="2299506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0" y="2416597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5653" y="2645197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14950" y="276083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4975" y="27554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15000" y="2713062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15000" y="2830153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25653" y="3058753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14950" y="317439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4975" y="3169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15000" y="3126618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3243709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25653" y="3472309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14950" y="358794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14975" y="35825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15000" y="3540175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3657265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3942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50181"/>
            <a:ext cx="43648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10916"/>
            <a:ext cx="4014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43088"/>
            <a:ext cx="401478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education environments. We bring together the quality &amp; security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0084" y="385348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386119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61347" y="1450181"/>
            <a:ext cx="3564731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22081" y="1596628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25653" y="1818084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950" y="1933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4975" y="1928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15000" y="1885950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0" y="2003041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25653" y="2231641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3472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14975" y="2341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15000" y="2299506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0" y="2416597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5653" y="2645197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14950" y="276083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4975" y="27554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15000" y="2713062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15000" y="2830153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25653" y="3058753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14950" y="317439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4975" y="3169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15000" y="3126618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3243709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25653" y="3472309"/>
            <a:ext cx="3236119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14950" y="358794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14975" y="35825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15000" y="3540175"/>
            <a:ext cx="2657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3657265"/>
            <a:ext cx="27672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education.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1144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quality &amp; security engineering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25178"/>
            <a:ext cx="3993356" cy="1178719"/>
          </a:xfrm>
          <a:prstGeom prst="roundRect">
            <a:avLst>
              <a:gd name="adj" fmla="val 96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573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84241" y="158234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828800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088766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for student services, faculty support, research help, academic advising.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32722" y="1425178"/>
            <a:ext cx="3993356" cy="1178719"/>
          </a:xfrm>
          <a:prstGeom prst="roundRect">
            <a:avLst>
              <a:gd name="adj" fmla="val 96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5573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08425" y="1582341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793456" y="1828800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793456" y="208876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search, RAG, document intelligence across academic and administrative systems.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725341"/>
            <a:ext cx="3993356" cy="1178719"/>
          </a:xfrm>
          <a:prstGeom prst="roundRect">
            <a:avLst>
              <a:gd name="adj" fmla="val 96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8575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23945" y="2882503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312896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388928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Admissions, enrollment, progression, retention, alumni — unified digital experience.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32722" y="2725341"/>
            <a:ext cx="3993356" cy="1178719"/>
          </a:xfrm>
          <a:prstGeom prst="roundRect">
            <a:avLst>
              <a:gd name="adj" fmla="val 96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8575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08425" y="2882503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793456" y="312896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93456" y="3388928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student identification, enrollment forecasting, resource planning, outcomes analytics.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762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91385" y="4750594"/>
            <a:ext cx="33129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18586" y="4750594"/>
            <a:ext cx="10110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1144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1089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41446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46609" y="141446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219" y="1575197"/>
            <a:ext cx="828675" cy="29427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7135" y="1632347"/>
            <a:ext cx="5284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0033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535906" y="1585913"/>
            <a:ext cx="40317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33888" y="1596628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81944" y="1585913"/>
            <a:ext cx="46546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19953" y="1596628"/>
            <a:ext cx="5894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NIST CSF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90267" y="1585913"/>
            <a:ext cx="6684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91324" y="1596628"/>
            <a:ext cx="8663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1628" y="1585913"/>
            <a:ext cx="5155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27530" y="1596628"/>
            <a:ext cx="66377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60068" y="1585913"/>
            <a:ext cx="3625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58115" y="1596628"/>
            <a:ext cx="3664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7922" y="203954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494" y="204311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446609" y="204311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219" y="2203847"/>
            <a:ext cx="828675" cy="29427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5359" y="2207419"/>
            <a:ext cx="45195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033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35906" y="2214563"/>
            <a:ext cx="3274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33213" y="2225278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6265" y="2214563"/>
            <a:ext cx="3345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06265" y="2225278"/>
            <a:ext cx="33452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3656" y="2214563"/>
            <a:ext cx="2869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283656" y="2225278"/>
            <a:ext cx="2869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13496" y="2214563"/>
            <a:ext cx="3228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08459" y="2225278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79167" y="2214563"/>
            <a:ext cx="54649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94154" y="2225278"/>
            <a:ext cx="7165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 Testing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922" y="266819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1494" y="267176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1446609" y="267176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219" y="2832497"/>
            <a:ext cx="828675" cy="29427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1387" y="2889647"/>
            <a:ext cx="6398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0033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535906" y="2843213"/>
            <a:ext cx="3143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535906" y="2853928"/>
            <a:ext cx="3143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93094" y="2843213"/>
            <a:ext cx="3624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63511" y="2853928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298390" y="2843213"/>
            <a:ext cx="33620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286863" y="2853928"/>
            <a:ext cx="3592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77455" y="2843213"/>
            <a:ext cx="4550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631853" y="2853928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75397" y="2843213"/>
            <a:ext cx="3627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175397" y="2853928"/>
            <a:ext cx="3627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7922" y="329684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21494" y="330041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1446609" y="330041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7219" y="3461147"/>
            <a:ext cx="828675" cy="29427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9261" y="3518297"/>
            <a:ext cx="58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0033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535906" y="3471863"/>
            <a:ext cx="21632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535906" y="3482578"/>
            <a:ext cx="2163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795090" y="3471863"/>
            <a:ext cx="25594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793788" y="3482578"/>
            <a:ext cx="2585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093900" y="3471863"/>
            <a:ext cx="3772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071740" y="3482578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514042" y="3471863"/>
            <a:ext cx="30193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514042" y="3482578"/>
            <a:ext cx="3019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BDD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858839" y="3471863"/>
            <a:ext cx="53477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751781" y="3482578"/>
            <a:ext cx="7488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7922" y="392549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21494" y="392906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1446609" y="392906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7219" y="4089797"/>
            <a:ext cx="828675" cy="29427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39261" y="4146947"/>
            <a:ext cx="58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0033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1535906" y="4100513"/>
            <a:ext cx="3427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513885" y="4111228"/>
            <a:ext cx="38683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921557" y="4100513"/>
            <a:ext cx="52495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848551" y="4111228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489374" y="4100513"/>
            <a:ext cx="79675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2489374" y="4111228"/>
            <a:ext cx="7967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328988" y="4100513"/>
            <a:ext cx="57384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3280426" y="4111228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1144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25178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543050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718072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19038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110978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2467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443163"/>
            <a:ext cx="1728788" cy="73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825478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821906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425178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8906" y="1543050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8906" y="1718072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8906" y="19038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8906" y="2110978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8906" y="22467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8906" y="2443163"/>
            <a:ext cx="17287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8906" y="3825478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8906" y="3821906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425178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6306" y="1543050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1718072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36306" y="19038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306" y="2110978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6306" y="22467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306" y="2443163"/>
            <a:ext cx="17287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36306" y="3825478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306" y="3821906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425178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93706" y="1543050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3706" y="1718072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93706" y="19038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93706" y="2110978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93706" y="2246709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93706" y="2443163"/>
            <a:ext cx="17287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93706" y="3825478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706" y="3821906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2987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58510" y="457200"/>
            <a:ext cx="54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9391"/>
            <a:ext cx="8629650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1144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421606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4251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421606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324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421606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088" y="155733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76450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Dual-focus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0088" y="1964531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performance tested together — one team, two disciplines.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3438" y="1421606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3438" y="14251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421606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3438" y="26324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7725" y="1421606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9175" y="155733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9175" y="176450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Certified expertise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9175" y="1964531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CEH, CISM, CISO, CASP, eCPPT, CAP, CVE contributor, Google Bug Bounty.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4350" y="2778919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7824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6991" y="2778919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9897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778919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088" y="2914650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0088" y="3121819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0088" y="3321844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gate.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43438" y="2778919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3438" y="27824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2778919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3438" y="39897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7725" y="2778919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9175" y="2914650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9175" y="3121819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systems testing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9175" y="3321844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capability — LLM eval, bias, prompt/response validation.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214755-mm0b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914525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203847"/>
            <a:ext cx="5700713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635821"/>
            <a:ext cx="6363081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29639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474988"/>
            <a:ext cx="542925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426053" y="1914525"/>
            <a:ext cx="0" cy="2143125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9033" y="3150394"/>
            <a:ext cx="6319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619033" y="3529013"/>
            <a:ext cx="6319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829662" y="3907631"/>
            <a:ext cx="4213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2026-10-01T04:00:14Z</dcterms:created>
  <dcterms:modified xsi:type="dcterms:W3CDTF">2026-10-01T04:00:14Z</dcterms:modified>
</cp:coreProperties>
</file>