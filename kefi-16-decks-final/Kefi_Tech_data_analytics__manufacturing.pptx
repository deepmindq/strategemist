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ata_analytics__manufacturing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4572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26596" y="571500"/>
            <a:ext cx="32800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AND DATA ENGINEERING SERVICES · 2026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742950" y="1714500"/>
            <a:ext cx="50812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1960959"/>
            <a:ext cx="4400550" cy="256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6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</a:t>
            </a:r>
            <a:endParaRPr lang="en-US" sz="900" dirty="0"/>
          </a:p>
          <a:p>
            <a:pPr algn="l" indent="0" marL="0">
              <a:lnSpc>
                <a:spcPts val="936"/>
              </a:lnSpc>
              <a:buNone/>
            </a:pPr>
            <a:r>
              <a:rPr lang="en-US" sz="9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42950" y="2455664"/>
            <a:ext cx="4000500" cy="357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capability brief on Kefi Tech Data Analytics &amp; Data Engineering Services for Manufacturing.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75426" y="1743075"/>
            <a:ext cx="4638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875426" y="1850231"/>
            <a:ext cx="4638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75426" y="2200275"/>
            <a:ext cx="4638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875426" y="2307431"/>
            <a:ext cx="4638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875426" y="2657475"/>
            <a:ext cx="4638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875426" y="2764631"/>
            <a:ext cx="4638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4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7199" y="14288"/>
            <a:ext cx="3500996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DATA ANALYTICS AND DATA ENGINEERING SERVICES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2950" y="757238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932259"/>
            <a:ext cx="8401050" cy="53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742950" y="149505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928813"/>
            <a:ext cx="42593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14413" y="225742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1243013" y="2250281"/>
            <a:ext cx="253506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43013" y="2387798"/>
            <a:ext cx="234728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0" name="Text 8"/>
          <p:cNvSpPr/>
          <p:nvPr/>
        </p:nvSpPr>
        <p:spPr>
          <a:xfrm>
            <a:off x="1014413" y="275168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1" name="Text 9"/>
          <p:cNvSpPr/>
          <p:nvPr/>
        </p:nvSpPr>
        <p:spPr>
          <a:xfrm>
            <a:off x="1243013" y="2744539"/>
            <a:ext cx="3050658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43013" y="2882057"/>
            <a:ext cx="282468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1014413" y="32459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1243013" y="3238798"/>
            <a:ext cx="274506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43013" y="3376315"/>
            <a:ext cx="2541724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1014413" y="374020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1243013" y="3733056"/>
            <a:ext cx="2903586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43013" y="3870573"/>
            <a:ext cx="268850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5172075" y="1928813"/>
            <a:ext cx="367667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DATA ANALYTICS &amp; DATA ENGINEERING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72075" y="2271713"/>
            <a:ext cx="3057525" cy="93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applied to manufacturing requires industry-specific capability, not generic technology. The right approach connects data analytics &amp; data engineering to the regulatory, operational and customer realities that define manufacturing.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2075" y="4029075"/>
            <a:ext cx="1912779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14288"/>
            <a:ext cx="135359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2950" y="757238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932259"/>
            <a:ext cx="8401050" cy="251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575" b="1" spc="-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across the complete lifecycle.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742950" y="1211089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covering the full data analytics &amp; data engineering spectrum.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71538" y="17716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7" name="Text 5"/>
          <p:cNvSpPr/>
          <p:nvPr/>
        </p:nvSpPr>
        <p:spPr>
          <a:xfrm>
            <a:off x="1114425" y="1782366"/>
            <a:ext cx="12545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54672" y="1760934"/>
            <a:ext cx="9889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2839306" y="17716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3082193" y="1782366"/>
            <a:ext cx="125462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22552" y="1760934"/>
            <a:ext cx="9889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4807186" y="17716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13" name="Text 11"/>
          <p:cNvSpPr/>
          <p:nvPr/>
        </p:nvSpPr>
        <p:spPr>
          <a:xfrm>
            <a:off x="5050073" y="1782366"/>
            <a:ext cx="12545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90320" y="1760934"/>
            <a:ext cx="9889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774954" y="17716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7017841" y="1782366"/>
            <a:ext cx="125462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2963" y="23431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3007770" y="2369939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842963" y="2557463"/>
            <a:ext cx="24052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42963" y="2720318"/>
            <a:ext cx="2295488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maturity assessment, architecture, governance, lineage, MDM.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4200" y="23431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5589008" y="2369939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3424200" y="2557463"/>
            <a:ext cx="24052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24200" y="2720318"/>
            <a:ext cx="2295488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pipelines, ETL/ELT, APIs, integration, migration, data quality.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05438" y="234315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26" name="Text 24"/>
          <p:cNvSpPr/>
          <p:nvPr/>
        </p:nvSpPr>
        <p:spPr>
          <a:xfrm>
            <a:off x="8170358" y="2369939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6005438" y="2557463"/>
            <a:ext cx="2405327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05438" y="2720318"/>
            <a:ext cx="2295599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lakes, warehouses, lakehouses, cloud data platforms, legacy modernization.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42963" y="32861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3007770" y="3312914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842963" y="3500438"/>
            <a:ext cx="24052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2963" y="3663293"/>
            <a:ext cx="2295488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dashboards, reporting, KPI frameworks, self-service BI, executive analytics.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24200" y="32861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688" dirty="0"/>
          </a:p>
        </p:txBody>
      </p:sp>
      <p:sp>
        <p:nvSpPr>
          <p:cNvPr id="34" name="Text 32"/>
          <p:cNvSpPr/>
          <p:nvPr/>
        </p:nvSpPr>
        <p:spPr>
          <a:xfrm>
            <a:off x="5589008" y="3312914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19" dirty="0"/>
          </a:p>
        </p:txBody>
      </p:sp>
      <p:sp>
        <p:nvSpPr>
          <p:cNvPr id="35" name="Text 33"/>
          <p:cNvSpPr/>
          <p:nvPr/>
        </p:nvSpPr>
        <p:spPr>
          <a:xfrm>
            <a:off x="3424200" y="3500438"/>
            <a:ext cx="24052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 &amp; Data Science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424200" y="3663293"/>
            <a:ext cx="2295488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analytics, forecasting, segmentation, optimization, statistical modelling.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05438" y="328612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8170358" y="3312914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7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19" dirty="0"/>
          </a:p>
        </p:txBody>
      </p:sp>
      <p:sp>
        <p:nvSpPr>
          <p:cNvPr id="39" name="Text 37"/>
          <p:cNvSpPr/>
          <p:nvPr/>
        </p:nvSpPr>
        <p:spPr>
          <a:xfrm>
            <a:off x="6005438" y="3500438"/>
            <a:ext cx="2295599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05438" y="3663293"/>
            <a:ext cx="2295599" cy="30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 analytics, GenAI over enterprise data, NL querying, decision support.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86738" y="14288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946547"/>
            <a:ext cx="84010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2950" y="125908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maturity assessment, architecture, governance, lineage, MDM.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28688" y="1943100"/>
            <a:ext cx="47635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28688" y="2178844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strategy &amp; governance capability is engineered for manufacturing environments. We bring together the data analytics &amp; data engineering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28688" y="4014788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57788" y="1943100"/>
            <a:ext cx="3986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43513" y="226948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72113" y="22641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672138" y="2221706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72138" y="2338797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243513" y="2683036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72113" y="26776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72138" y="2635262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72138" y="2752353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43513" y="3096592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72113" y="30912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72138" y="3048819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72138" y="3165909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243513" y="3510149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72113" y="35047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672138" y="3462375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72138" y="3579465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243513" y="392370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72113" y="39183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672138" y="3875931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72138" y="3993021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14288"/>
            <a:ext cx="2031883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946547"/>
            <a:ext cx="84010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2950" y="125908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pipelines, ETL/ELT, APIs, integration, migration, data quality.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28688" y="1943100"/>
            <a:ext cx="47635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28688" y="2178844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engineering &amp; integration capability is engineered for manufacturing environments. We bring together the data analytics &amp; data engineering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28688" y="4014788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57788" y="1943100"/>
            <a:ext cx="3986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43513" y="226948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72113" y="22641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672138" y="2221706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72138" y="2338797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243513" y="2683036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72113" y="26776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72138" y="2635262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72138" y="2752353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43513" y="3096592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72113" y="30912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72138" y="3048819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72138" y="3165909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243513" y="3510149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72113" y="35047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672138" y="3462375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72138" y="3579465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243513" y="392370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72113" y="39183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672138" y="3875931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72138" y="3993021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14288"/>
            <a:ext cx="2227658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946547"/>
            <a:ext cx="84010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2950" y="125908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lakes, warehouses, lakehouses, cloud data platforms, legacy modernization.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28688" y="1943100"/>
            <a:ext cx="47635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28688" y="2178844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platforms &amp; modernization capability is engineered for manufacturing environments. We bring together the data analytics &amp; data engineering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28688" y="4014788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57788" y="1943100"/>
            <a:ext cx="3986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43513" y="226948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72113" y="22641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672138" y="2221706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72138" y="2338797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243513" y="2683036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72113" y="26776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72138" y="2635262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72138" y="2752353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43513" y="3096592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72113" y="30912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72138" y="3048819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72138" y="3165909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243513" y="3510149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72113" y="35047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672138" y="3462375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72138" y="3579465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243513" y="392370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72113" y="39183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672138" y="3875931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72138" y="3993021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14288"/>
            <a:ext cx="2319156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946547"/>
            <a:ext cx="8401050" cy="28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2950" y="1259086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dashboards, reporting, KPI frameworks, self-service BI, executive analytics.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28688" y="1943100"/>
            <a:ext cx="47635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28688" y="2178844"/>
            <a:ext cx="3629025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bi &amp; decision intelligence capability is engineered for manufacturing environments. We bring together the data analytics &amp; data engineering discipline, the manufacturing domain context, and the engineering rigor required to ship production-grade solutions.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28688" y="4014788"/>
            <a:ext cx="123899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57788" y="1943100"/>
            <a:ext cx="3986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43513" y="2269480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72113" y="226412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2" name="Text 10"/>
          <p:cNvSpPr/>
          <p:nvPr/>
        </p:nvSpPr>
        <p:spPr>
          <a:xfrm>
            <a:off x="5672138" y="2221706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72138" y="2338797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1 for manufacturing.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243513" y="2683036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72113" y="26776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672138" y="2635262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72138" y="2752353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2 for manufacturing.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243513" y="3096592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72113" y="309123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5672138" y="3048819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72138" y="3165909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3 for manufacturing.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5243513" y="3510149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72113" y="35047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5672138" y="3462375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72138" y="3579465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4 for manufacturing.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243513" y="3923705"/>
            <a:ext cx="2514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72113" y="39183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672138" y="3875931"/>
            <a:ext cx="24860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Component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72138" y="3993021"/>
            <a:ext cx="2486025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component 5 for manufacturing.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5647" y="14288"/>
            <a:ext cx="1821281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946547"/>
            <a:ext cx="8401050" cy="521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data analytics &amp; data engineering applies to manufacturing.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742950" y="1495053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where data analytics &amp; data engineering creates measurable value.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00113" y="19859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4315606" y="2016323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5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00113" y="2257425"/>
            <a:ext cx="345757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00113" y="2465933"/>
            <a:ext cx="3457575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Defect detection, visual inspection, safety monitoring, production line analytics.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786313" y="19859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1" name="Text 9"/>
          <p:cNvSpPr/>
          <p:nvPr/>
        </p:nvSpPr>
        <p:spPr>
          <a:xfrm>
            <a:off x="8121362" y="2016323"/>
            <a:ext cx="1683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4786313" y="2257425"/>
            <a:ext cx="345757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86313" y="2465933"/>
            <a:ext cx="3457575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 health monitoring, failure prediction, maintenance scheduling optimization.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00113" y="317182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15" name="Text 13"/>
          <p:cNvSpPr/>
          <p:nvPr/>
        </p:nvSpPr>
        <p:spPr>
          <a:xfrm>
            <a:off x="4176511" y="3202186"/>
            <a:ext cx="2363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III</a:t>
            </a:r>
            <a:endParaRPr lang="en-US" sz="731" dirty="0"/>
          </a:p>
        </p:txBody>
      </p:sp>
      <p:sp>
        <p:nvSpPr>
          <p:cNvPr id="16" name="Text 14"/>
          <p:cNvSpPr/>
          <p:nvPr/>
        </p:nvSpPr>
        <p:spPr>
          <a:xfrm>
            <a:off x="900113" y="3443288"/>
            <a:ext cx="3567303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0113" y="3651796"/>
            <a:ext cx="3457575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forecasting, inventory optimization, supplier risk, logistics visibility.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786313" y="3171825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8099027" y="3202186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5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IV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4786313" y="3443288"/>
            <a:ext cx="345757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Copilots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86313" y="3651796"/>
            <a:ext cx="3457575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Floor-worker assistants, knowledge access, workflow automation, quality intelligence.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65647" y="14288"/>
            <a:ext cx="149690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946547"/>
            <a:ext cx="8401050" cy="2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data analytics &amp; data engineering.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742950" y="124223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from foundation through consumption.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42950" y="1714500"/>
            <a:ext cx="7658100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1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CONSUMPTION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2950" y="1985963"/>
            <a:ext cx="79656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58999" y="1985963"/>
            <a:ext cx="56121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33835" y="1985963"/>
            <a:ext cx="37988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10656" y="1985963"/>
            <a:ext cx="1525932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Conversational Analytics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2950" y="2343150"/>
            <a:ext cx="7658100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2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2950" y="2614613"/>
            <a:ext cx="104446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 Layer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8540" y="2614613"/>
            <a:ext cx="94635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Metrics Layer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76872" y="2614613"/>
            <a:ext cx="876886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Catalog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61457" y="2614613"/>
            <a:ext cx="57750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Lineage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2950" y="2971800"/>
            <a:ext cx="7658100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3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19627" y="3243263"/>
            <a:ext cx="60243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ETL/ELT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13545" y="3243263"/>
            <a:ext cx="124265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10222" y="3243263"/>
            <a:ext cx="114297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Batch Processing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04318" y="3243263"/>
            <a:ext cx="876224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2950" y="3600450"/>
            <a:ext cx="7658100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4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2950" y="3871913"/>
            <a:ext cx="73652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Lake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54745" y="3871913"/>
            <a:ext cx="813102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Warehouse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26369" y="3871913"/>
            <a:ext cx="78195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73660" y="3871913"/>
            <a:ext cx="60297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NoSQL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2950" y="4229100"/>
            <a:ext cx="7658100" cy="229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LAYER 5</a:t>
            </a:r>
            <a:endParaRPr lang="en-US" sz="800" dirty="0"/>
          </a:p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2950" y="4500563"/>
            <a:ext cx="135267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Data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33501" y="4500563"/>
            <a:ext cx="914693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50344" y="4500563"/>
            <a:ext cx="808205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69438" y="4500563"/>
            <a:ext cx="6145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8624" y="14288"/>
            <a:ext cx="1043468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946547"/>
            <a:ext cx="8401050" cy="2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operations.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742950" y="124223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57250" y="1900238"/>
            <a:ext cx="2172021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7250" y="2046684"/>
            <a:ext cx="2048256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857250" y="2229520"/>
            <a:ext cx="1965446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57250" y="2408113"/>
            <a:ext cx="205770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7250" y="2561704"/>
            <a:ext cx="1600200" cy="235324"/>
          </a:xfrm>
          <a:prstGeom prst="rect">
            <a:avLst/>
          </a:prstGeom>
          <a:noFill/>
          <a:ln/>
        </p:spPr>
        <p:txBody>
          <a:bodyPr wrap="squar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maturity assessment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7250" y="2824460"/>
            <a:ext cx="1600200" cy="125377"/>
          </a:xfrm>
          <a:prstGeom prst="rect">
            <a:avLst/>
          </a:prstGeom>
          <a:noFill/>
          <a:ln/>
        </p:spPr>
        <p:txBody>
          <a:bodyPr wrap="squar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57250" y="2977269"/>
            <a:ext cx="1600200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57250" y="3130079"/>
            <a:ext cx="1600200" cy="153526"/>
          </a:xfrm>
          <a:prstGeom prst="rect">
            <a:avLst/>
          </a:prstGeom>
          <a:noFill/>
          <a:ln/>
        </p:spPr>
        <p:txBody>
          <a:bodyPr wrap="none" lIns="71438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7250" y="3240025"/>
            <a:ext cx="2048256" cy="248998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00350" y="1900238"/>
            <a:ext cx="2172021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800350" y="2046684"/>
            <a:ext cx="1680210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2800350" y="2229520"/>
            <a:ext cx="1965446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3–4 WEEKS · FIXED FEE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00350" y="2408113"/>
            <a:ext cx="205770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00350" y="2561704"/>
            <a:ext cx="1600200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00350" y="2714513"/>
            <a:ext cx="1600200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800350" y="2867323"/>
            <a:ext cx="1600200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800350" y="3020132"/>
            <a:ext cx="1600200" cy="153526"/>
          </a:xfrm>
          <a:prstGeom prst="rect">
            <a:avLst/>
          </a:prstGeom>
          <a:noFill/>
          <a:ln/>
        </p:spPr>
        <p:txBody>
          <a:bodyPr wrap="none" lIns="71438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00350" y="3130079"/>
            <a:ext cx="1875434" cy="248998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43450" y="1900238"/>
            <a:ext cx="2172021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43450" y="2046684"/>
            <a:ext cx="2048256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4743450" y="2229520"/>
            <a:ext cx="1850231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 OR FIXED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43450" y="2408113"/>
            <a:ext cx="205770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43450" y="2561704"/>
            <a:ext cx="1600200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43450" y="2714513"/>
            <a:ext cx="1600200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43450" y="2867323"/>
            <a:ext cx="1600200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43450" y="3020132"/>
            <a:ext cx="1600200" cy="153526"/>
          </a:xfrm>
          <a:prstGeom prst="rect">
            <a:avLst/>
          </a:prstGeom>
          <a:noFill/>
          <a:ln/>
        </p:spPr>
        <p:txBody>
          <a:bodyPr wrap="none" lIns="71438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43450" y="3130079"/>
            <a:ext cx="2048256" cy="248998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86550" y="1900238"/>
            <a:ext cx="2172021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86550" y="2046684"/>
            <a:ext cx="1680210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1013" dirty="0"/>
          </a:p>
        </p:txBody>
      </p:sp>
      <p:sp>
        <p:nvSpPr>
          <p:cNvPr id="35" name="Text 33"/>
          <p:cNvSpPr/>
          <p:nvPr/>
        </p:nvSpPr>
        <p:spPr>
          <a:xfrm>
            <a:off x="6686550" y="2229520"/>
            <a:ext cx="1965446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86550" y="2408113"/>
            <a:ext cx="2057707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86550" y="2561704"/>
            <a:ext cx="1600200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686550" y="2714513"/>
            <a:ext cx="1600200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86550" y="2867323"/>
            <a:ext cx="1600200" cy="125377"/>
          </a:xfrm>
          <a:prstGeom prst="rect">
            <a:avLst/>
          </a:prstGeom>
          <a:noFill/>
          <a:ln/>
        </p:spPr>
        <p:txBody>
          <a:bodyPr wrap="none" lIns="71438" tIns="0" rIns="0" bIns="0" rtlCol="0" anchor="t">
            <a:normAutofit/>
          </a:bodyPr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86550" y="3020132"/>
            <a:ext cx="1600200" cy="153526"/>
          </a:xfrm>
          <a:prstGeom prst="rect">
            <a:avLst/>
          </a:prstGeom>
          <a:noFill/>
          <a:ln/>
        </p:spPr>
        <p:txBody>
          <a:bodyPr wrap="none" lIns="71438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686550" y="3130079"/>
            <a:ext cx="1680210" cy="248998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5647" y="14288"/>
            <a:ext cx="1447329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950" y="4714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2950" y="771525"/>
            <a:ext cx="84010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2950" y="946547"/>
            <a:ext cx="8401050" cy="268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17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742950" y="1242231"/>
            <a:ext cx="7658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manufacturing.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2000250"/>
            <a:ext cx="546354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14400" y="2182416"/>
            <a:ext cx="358544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Decision-grade data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914400" y="2393826"/>
            <a:ext cx="3414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engineered to be operational, governed, and decision-grade.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4814888" y="2000250"/>
            <a:ext cx="432911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14888" y="2182416"/>
            <a:ext cx="358544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 first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4814888" y="2393826"/>
            <a:ext cx="3414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lakehouse architecture converging warehouse and lake.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3214688"/>
            <a:ext cx="546354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14400" y="3396853"/>
            <a:ext cx="358544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914400" y="3608263"/>
            <a:ext cx="3414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over enterprise data — natural-language querying.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14888" y="3214688"/>
            <a:ext cx="4329113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14888" y="3396853"/>
            <a:ext cx="3585448" cy="16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embedded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4814888" y="3608263"/>
            <a:ext cx="3414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quality, lineage, and MDM as a discipline, not an afterthought.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65647" y="14288"/>
            <a:ext cx="1049961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kefi_decks/data_analytics__manufacturing/assets/kef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685800"/>
            <a:ext cx="9143554" cy="15470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714500"/>
            <a:ext cx="45677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1989534"/>
            <a:ext cx="3743660" cy="91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39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  <a:p>
            <a:pPr algn="l" indent="0" marL="0">
              <a:lnSpc>
                <a:spcPts val="3339"/>
              </a:lnSpc>
              <a:buNone/>
            </a:pPr>
            <a:r>
              <a:rPr lang="en-US" sz="3150" b="1" spc="-63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742950" y="3051944"/>
            <a:ext cx="3675593" cy="155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42950" y="3234779"/>
            <a:ext cx="3675593" cy="19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277249" y="1757363"/>
            <a:ext cx="1134517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spc="5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Discover.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7254590" y="2220255"/>
            <a:ext cx="1164427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spc="5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Engineer.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7566347" y="2683148"/>
            <a:ext cx="752907" cy="237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spc="5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Scale.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0" y="14288"/>
            <a:ext cx="756237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7199" y="14288"/>
            <a:ext cx="546800" cy="14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65647" y="14288"/>
            <a:ext cx="2780745" cy="146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2026-10-01T03:58:33Z</dcterms:created>
  <dcterms:modified xsi:type="dcterms:W3CDTF">2026-10-01T03:58:33Z</dcterms:modified>
</cp:coreProperties>
</file>