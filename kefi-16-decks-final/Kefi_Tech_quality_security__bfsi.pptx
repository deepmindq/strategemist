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2863" cy="5143500"/>
          </a:xfrm>
          <a:prstGeom prst="rect">
            <a:avLst/>
          </a:prstGeom>
        </p:spPr>
      </p:pic>
      <p:pic>
        <p:nvPicPr>
          <p:cNvPr id="3" name="Image 1" descr="/tmp/h2p-fit-1790827190420-1lvdx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457200"/>
            <a:ext cx="1714500" cy="28999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574134" y="600075"/>
            <a:ext cx="339364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11" kern="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QUALITY &amp; SECURITY ENGINEERING SERVICES · 2026</a:t>
            </a:r>
            <a:endParaRPr lang="en-US" sz="800" dirty="0"/>
          </a:p>
        </p:txBody>
      </p:sp>
      <p:sp>
        <p:nvSpPr>
          <p:cNvPr id="5" name="Text 1"/>
          <p:cNvSpPr/>
          <p:nvPr/>
        </p:nvSpPr>
        <p:spPr>
          <a:xfrm>
            <a:off x="742950" y="1714500"/>
            <a:ext cx="724911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36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 · BFSI &amp; INSURANCE</a:t>
            </a:r>
            <a:endParaRPr lang="en-US" sz="800" dirty="0"/>
          </a:p>
        </p:txBody>
      </p:sp>
      <p:sp>
        <p:nvSpPr>
          <p:cNvPr id="6" name="Text 2"/>
          <p:cNvSpPr/>
          <p:nvPr/>
        </p:nvSpPr>
        <p:spPr>
          <a:xfrm>
            <a:off x="742950" y="1989534"/>
            <a:ext cx="6757988" cy="14581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44"/>
              </a:lnSpc>
              <a:buNone/>
            </a:pPr>
            <a:r>
              <a:rPr lang="en-US" sz="3375" b="1" spc="-84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Quality &amp; Security Engineering</a:t>
            </a:r>
            <a:endParaRPr lang="en-US" sz="3375" dirty="0"/>
          </a:p>
          <a:p>
            <a:pPr algn="l" indent="0" marL="0">
              <a:lnSpc>
                <a:spcPts val="3544"/>
              </a:lnSpc>
              <a:buNone/>
            </a:pPr>
            <a:r>
              <a:rPr lang="en-US" sz="3375" b="1" spc="-84" kern="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for BFSI &amp; Insurance.</a:t>
            </a:r>
            <a:endParaRPr lang="en-US" sz="3375" dirty="0"/>
          </a:p>
        </p:txBody>
      </p:sp>
      <p:sp>
        <p:nvSpPr>
          <p:cNvPr id="7" name="Text 3"/>
          <p:cNvSpPr/>
          <p:nvPr/>
        </p:nvSpPr>
        <p:spPr>
          <a:xfrm>
            <a:off x="742950" y="3539728"/>
            <a:ext cx="342900" cy="21431"/>
          </a:xfrm>
          <a:prstGeom prst="roundRect">
            <a:avLst>
              <a:gd name="adj" fmla="val 88890"/>
            </a:avLst>
          </a:prstGeom>
          <a:solidFill>
            <a:srgbClr val="FF6C0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742950" y="3718322"/>
            <a:ext cx="5429250" cy="453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4"/>
              </a:lnSpc>
              <a:buNone/>
            </a:pPr>
            <a:r>
              <a:rPr lang="en-US" sz="1181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capability brief on Kefi Tech Quality &amp; Security Engineering Services for BFSI &amp; Insurance.</a:t>
            </a:r>
            <a:endParaRPr lang="en-US" sz="1181" dirty="0"/>
          </a:p>
        </p:txBody>
      </p:sp>
      <p:sp>
        <p:nvSpPr>
          <p:cNvPr id="9" name="Text 5"/>
          <p:cNvSpPr/>
          <p:nvPr/>
        </p:nvSpPr>
        <p:spPr>
          <a:xfrm>
            <a:off x="7000875" y="1714500"/>
            <a:ext cx="7144" cy="2257425"/>
          </a:xfrm>
          <a:prstGeom prst="rect">
            <a:avLst/>
          </a:prstGeom>
          <a:solidFill>
            <a:srgbClr val="94A3B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7057242" y="1757363"/>
            <a:ext cx="134380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097"/>
              </a:lnSpc>
              <a:buNone/>
            </a:pPr>
            <a:r>
              <a:rPr lang="en-US" sz="800" spc="102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 Application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6945600" y="2182416"/>
            <a:ext cx="14554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097"/>
              </a:lnSpc>
              <a:buNone/>
            </a:pPr>
            <a:r>
              <a:rPr lang="en-US" sz="800" spc="102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 VAPT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7057242" y="2607469"/>
            <a:ext cx="134380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097"/>
              </a:lnSpc>
              <a:buNone/>
            </a:pPr>
            <a:r>
              <a:rPr lang="en-US" sz="800" spc="102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 Performance</a:t>
            </a:r>
            <a:endParaRPr lang="en-US" sz="800" dirty="0"/>
          </a:p>
        </p:txBody>
      </p:sp>
      <p:sp>
        <p:nvSpPr>
          <p:cNvPr id="13" name="Shape 9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14350" y="4754166"/>
            <a:ext cx="5854080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6382717" y="4750594"/>
            <a:ext cx="2356661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01 / 12 · QUALITY &amp; SECURITY ENGINEERING SERVICES</a:t>
            </a:r>
            <a:endParaRPr lang="en-US" sz="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57200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685800"/>
            <a:ext cx="28007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 CONTEXT · BFSI &amp; INSURANCE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857250"/>
            <a:ext cx="8629650" cy="564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9"/>
              </a:lnSpc>
              <a:buNone/>
            </a:pPr>
            <a:r>
              <a:rPr lang="en-US" sz="1688" b="1" spc="-20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BFSI &amp; Insurance operates in a regulated, document-intensive, high-stakes environment.</a:t>
            </a:r>
            <a:endParaRPr lang="en-US" sz="1688" dirty="0"/>
          </a:p>
        </p:txBody>
      </p:sp>
      <p:sp>
        <p:nvSpPr>
          <p:cNvPr id="5" name="Text 3"/>
          <p:cNvSpPr/>
          <p:nvPr/>
        </p:nvSpPr>
        <p:spPr>
          <a:xfrm>
            <a:off x="514350" y="1628775"/>
            <a:ext cx="7858125" cy="16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Customer trust, regulatory compliance, transaction integrity and operational resilience define competitive position.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17922" y="2018109"/>
            <a:ext cx="4361148" cy="2450306"/>
          </a:xfrm>
          <a:prstGeom prst="roundRect">
            <a:avLst>
              <a:gd name="adj" fmla="val 4665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92944" y="2178844"/>
            <a:ext cx="4120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 BFSI &amp; INSURANCE NEEDS THIS NOW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96516" y="2375297"/>
            <a:ext cx="4003960" cy="410989"/>
          </a:xfrm>
          <a:prstGeom prst="roundRect">
            <a:avLst>
              <a:gd name="adj" fmla="val 18541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00100" y="2457450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↗</a:t>
            </a:r>
            <a:endParaRPr lang="en-US" sz="1406" dirty="0"/>
          </a:p>
        </p:txBody>
      </p:sp>
      <p:sp>
        <p:nvSpPr>
          <p:cNvPr id="10" name="Text 8"/>
          <p:cNvSpPr/>
          <p:nvPr/>
        </p:nvSpPr>
        <p:spPr>
          <a:xfrm>
            <a:off x="1028700" y="2457450"/>
            <a:ext cx="3677920" cy="1053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Digital transformation pressure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028700" y="2590279"/>
            <a:ext cx="3568192" cy="113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Enterprise digital adoption accelerating across the industry.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96516" y="2879154"/>
            <a:ext cx="4003960" cy="410989"/>
          </a:xfrm>
          <a:prstGeom prst="roundRect">
            <a:avLst>
              <a:gd name="adj" fmla="val 18541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00100" y="2961308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406" dirty="0"/>
          </a:p>
        </p:txBody>
      </p:sp>
      <p:sp>
        <p:nvSpPr>
          <p:cNvPr id="14" name="Text 12"/>
          <p:cNvSpPr/>
          <p:nvPr/>
        </p:nvSpPr>
        <p:spPr>
          <a:xfrm>
            <a:off x="1028700" y="2961308"/>
            <a:ext cx="3677920" cy="1053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Regulatory &amp; compliance demands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28700" y="3094137"/>
            <a:ext cx="3568192" cy="113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619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regulations require continuous compliance technology.</a:t>
            </a:r>
            <a:endParaRPr lang="en-US" sz="619" dirty="0"/>
          </a:p>
        </p:txBody>
      </p:sp>
      <p:sp>
        <p:nvSpPr>
          <p:cNvPr id="16" name="Text 14"/>
          <p:cNvSpPr/>
          <p:nvPr/>
        </p:nvSpPr>
        <p:spPr>
          <a:xfrm>
            <a:off x="696516" y="3383012"/>
            <a:ext cx="4003960" cy="410989"/>
          </a:xfrm>
          <a:prstGeom prst="roundRect">
            <a:avLst>
              <a:gd name="adj" fmla="val 18541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00100" y="3465165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406" dirty="0"/>
          </a:p>
        </p:txBody>
      </p:sp>
      <p:sp>
        <p:nvSpPr>
          <p:cNvPr id="18" name="Text 16"/>
          <p:cNvSpPr/>
          <p:nvPr/>
        </p:nvSpPr>
        <p:spPr>
          <a:xfrm>
            <a:off x="1028700" y="3465165"/>
            <a:ext cx="3677920" cy="1053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Operational efficiency mandate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28700" y="3597994"/>
            <a:ext cx="3568192" cy="113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619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Cost-to-serve reduction while maintaining quality and resilience.</a:t>
            </a:r>
            <a:endParaRPr lang="en-US" sz="619" dirty="0"/>
          </a:p>
        </p:txBody>
      </p:sp>
      <p:sp>
        <p:nvSpPr>
          <p:cNvPr id="20" name="Text 18"/>
          <p:cNvSpPr/>
          <p:nvPr/>
        </p:nvSpPr>
        <p:spPr>
          <a:xfrm>
            <a:off x="696516" y="3886870"/>
            <a:ext cx="4003960" cy="410989"/>
          </a:xfrm>
          <a:prstGeom prst="roundRect">
            <a:avLst>
              <a:gd name="adj" fmla="val 18541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800100" y="3969023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♟</a:t>
            </a:r>
            <a:endParaRPr lang="en-US" sz="1406" dirty="0"/>
          </a:p>
        </p:txBody>
      </p:sp>
      <p:sp>
        <p:nvSpPr>
          <p:cNvPr id="22" name="Text 20"/>
          <p:cNvSpPr/>
          <p:nvPr/>
        </p:nvSpPr>
        <p:spPr>
          <a:xfrm>
            <a:off x="1028700" y="3969023"/>
            <a:ext cx="3677920" cy="1053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Customer &amp; employee expectations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028700" y="4101852"/>
            <a:ext cx="3568192" cy="113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619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Modern digital experiences are now table stakes, not differentiation.</a:t>
            </a:r>
            <a:endParaRPr lang="en-US" sz="619" dirty="0"/>
          </a:p>
        </p:txBody>
      </p:sp>
      <p:sp>
        <p:nvSpPr>
          <p:cNvPr id="24" name="Text 22"/>
          <p:cNvSpPr/>
          <p:nvPr/>
        </p:nvSpPr>
        <p:spPr>
          <a:xfrm>
            <a:off x="5057663" y="2018109"/>
            <a:ext cx="3568415" cy="2450306"/>
          </a:xfrm>
          <a:prstGeom prst="roundRect">
            <a:avLst>
              <a:gd name="adj" fmla="val 4665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232685" y="2178844"/>
            <a:ext cx="321837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b="1" spc="101" kern="0" dirty="0">
                <a:solidFill>
                  <a:srgbClr val="D43F0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THIS MEANS FOR QUALITY &amp; SECURITY ENGINEERING</a:t>
            </a:r>
            <a:endParaRPr lang="en-US" sz="600" dirty="0"/>
          </a:p>
        </p:txBody>
      </p:sp>
      <p:sp>
        <p:nvSpPr>
          <p:cNvPr id="26" name="Text 24"/>
          <p:cNvSpPr/>
          <p:nvPr/>
        </p:nvSpPr>
        <p:spPr>
          <a:xfrm>
            <a:off x="5232685" y="2386013"/>
            <a:ext cx="3218371" cy="745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Quality &amp; Security Engineering applied to bfsi &amp; insurance requires industry-specific capability, not generic technology. The right approach connects quality &amp; security engineering to the regulatory, operational and customer realities that define bfsi &amp; insurance.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232685" y="4171950"/>
            <a:ext cx="1477194" cy="128588"/>
          </a:xfrm>
          <a:prstGeom prst="roundRect">
            <a:avLst>
              <a:gd name="adj" fmla="val 29630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232685" y="4171950"/>
            <a:ext cx="1477194" cy="135731"/>
          </a:xfrm>
          <a:prstGeom prst="rect">
            <a:avLst/>
          </a:prstGeom>
          <a:noFill/>
          <a:ln/>
        </p:spPr>
        <p:txBody>
          <a:bodyPr wrap="none" lIns="57150" tIns="21431" rIns="57150" bIns="21431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600" spc="3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APPROACH</a:t>
            </a:r>
            <a:endParaRPr lang="en-US" sz="600" dirty="0"/>
          </a:p>
        </p:txBody>
      </p:sp>
      <p:sp>
        <p:nvSpPr>
          <p:cNvPr id="29" name="Shape 27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4350" y="4754166"/>
            <a:ext cx="3861643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390281" y="4750594"/>
            <a:ext cx="3411699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 / 12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7816267" y="4750594"/>
            <a:ext cx="813383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 CONTEXT</a:t>
            </a:r>
            <a:endParaRPr lang="en-US" sz="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57200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685800"/>
            <a:ext cx="103467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CAPABILITIES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857250"/>
            <a:ext cx="8629650" cy="282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9"/>
              </a:lnSpc>
              <a:buNone/>
            </a:pPr>
            <a:r>
              <a:rPr lang="en-US" sz="1688" b="1" spc="-20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Quality &amp; Security Engineering across the complete lifecycle.</a:t>
            </a:r>
            <a:endParaRPr lang="en-US" sz="1688" dirty="0"/>
          </a:p>
        </p:txBody>
      </p:sp>
      <p:sp>
        <p:nvSpPr>
          <p:cNvPr id="5" name="Text 3"/>
          <p:cNvSpPr/>
          <p:nvPr/>
        </p:nvSpPr>
        <p:spPr>
          <a:xfrm>
            <a:off x="514350" y="1343025"/>
            <a:ext cx="7858125" cy="16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Six capability pillars covering the full quality &amp; security engineering spectrum.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17922" y="1646634"/>
            <a:ext cx="1850231" cy="521494"/>
          </a:xfrm>
          <a:prstGeom prst="roundRect">
            <a:avLst>
              <a:gd name="adj" fmla="val 14612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50081" y="1821656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688" dirty="0"/>
          </a:p>
        </p:txBody>
      </p:sp>
      <p:sp>
        <p:nvSpPr>
          <p:cNvPr id="8" name="Text 6"/>
          <p:cNvSpPr/>
          <p:nvPr/>
        </p:nvSpPr>
        <p:spPr>
          <a:xfrm>
            <a:off x="907256" y="1832372"/>
            <a:ext cx="132873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47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STRATEGY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378869" y="1800225"/>
            <a:ext cx="2143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F6C0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▶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2603897" y="1646634"/>
            <a:ext cx="1850231" cy="521494"/>
          </a:xfrm>
          <a:prstGeom prst="roundRect">
            <a:avLst>
              <a:gd name="adj" fmla="val 14612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736056" y="1821656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⚒</a:t>
            </a:r>
            <a:endParaRPr lang="en-US" sz="1688" dirty="0"/>
          </a:p>
        </p:txBody>
      </p:sp>
      <p:sp>
        <p:nvSpPr>
          <p:cNvPr id="12" name="Text 10"/>
          <p:cNvSpPr/>
          <p:nvPr/>
        </p:nvSpPr>
        <p:spPr>
          <a:xfrm>
            <a:off x="2993231" y="1832372"/>
            <a:ext cx="132873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47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BUILD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464844" y="1800225"/>
            <a:ext cx="2143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F6C0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▶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4689872" y="1646634"/>
            <a:ext cx="1850231" cy="521494"/>
          </a:xfrm>
          <a:prstGeom prst="roundRect">
            <a:avLst>
              <a:gd name="adj" fmla="val 14612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822031" y="1821656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688" dirty="0"/>
          </a:p>
        </p:txBody>
      </p:sp>
      <p:sp>
        <p:nvSpPr>
          <p:cNvPr id="16" name="Text 14"/>
          <p:cNvSpPr/>
          <p:nvPr/>
        </p:nvSpPr>
        <p:spPr>
          <a:xfrm>
            <a:off x="5079206" y="1832372"/>
            <a:ext cx="132873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47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INTEGRATE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550819" y="1800225"/>
            <a:ext cx="2143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F6C0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▶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6775847" y="1646634"/>
            <a:ext cx="1850231" cy="521494"/>
          </a:xfrm>
          <a:prstGeom prst="roundRect">
            <a:avLst>
              <a:gd name="adj" fmla="val 14612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908006" y="1821656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⌇</a:t>
            </a:r>
            <a:endParaRPr lang="en-US" sz="1688" dirty="0"/>
          </a:p>
        </p:txBody>
      </p:sp>
      <p:sp>
        <p:nvSpPr>
          <p:cNvPr id="20" name="Text 18"/>
          <p:cNvSpPr/>
          <p:nvPr/>
        </p:nvSpPr>
        <p:spPr>
          <a:xfrm>
            <a:off x="7165181" y="1832372"/>
            <a:ext cx="132873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47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OPERATE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17922" y="2361009"/>
            <a:ext cx="2640732" cy="835819"/>
          </a:xfrm>
          <a:prstGeom prst="roundRect">
            <a:avLst>
              <a:gd name="adj" fmla="val 9117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35794" y="2464594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688" dirty="0"/>
          </a:p>
        </p:txBody>
      </p:sp>
      <p:sp>
        <p:nvSpPr>
          <p:cNvPr id="23" name="Text 21"/>
          <p:cNvSpPr/>
          <p:nvPr/>
        </p:nvSpPr>
        <p:spPr>
          <a:xfrm>
            <a:off x="2896926" y="2480667"/>
            <a:ext cx="1683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spc="29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731" dirty="0"/>
          </a:p>
        </p:txBody>
      </p:sp>
      <p:sp>
        <p:nvSpPr>
          <p:cNvPr id="24" name="Text 22"/>
          <p:cNvSpPr/>
          <p:nvPr/>
        </p:nvSpPr>
        <p:spPr>
          <a:xfrm>
            <a:off x="635794" y="2693194"/>
            <a:ext cx="2514716" cy="131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Application Security &amp; DevSecOps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35794" y="2856049"/>
            <a:ext cx="2404988" cy="237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SAST, DAST, SCA, secure code review, CI/CD pipeline security, OWASP, NIST, SANS.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251522" y="2361009"/>
            <a:ext cx="2640843" cy="835819"/>
          </a:xfrm>
          <a:prstGeom prst="roundRect">
            <a:avLst>
              <a:gd name="adj" fmla="val 9117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3369394" y="2464594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688" dirty="0"/>
          </a:p>
        </p:txBody>
      </p:sp>
      <p:sp>
        <p:nvSpPr>
          <p:cNvPr id="28" name="Text 26"/>
          <p:cNvSpPr/>
          <p:nvPr/>
        </p:nvSpPr>
        <p:spPr>
          <a:xfrm>
            <a:off x="5630638" y="2480667"/>
            <a:ext cx="1683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spc="29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731" dirty="0"/>
          </a:p>
        </p:txBody>
      </p:sp>
      <p:sp>
        <p:nvSpPr>
          <p:cNvPr id="29" name="Text 27"/>
          <p:cNvSpPr/>
          <p:nvPr/>
        </p:nvSpPr>
        <p:spPr>
          <a:xfrm>
            <a:off x="3369394" y="2693194"/>
            <a:ext cx="2405100" cy="131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VAPT &amp; Risk Assessment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369394" y="2856049"/>
            <a:ext cx="2405100" cy="237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Web, API, mobile, IoT, cloud, container VAPT. MITRE ATT&amp;CK, CIS frameworks.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985235" y="2361009"/>
            <a:ext cx="2640732" cy="835819"/>
          </a:xfrm>
          <a:prstGeom prst="roundRect">
            <a:avLst>
              <a:gd name="adj" fmla="val 9117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6103107" y="2464594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688" dirty="0"/>
          </a:p>
        </p:txBody>
      </p:sp>
      <p:sp>
        <p:nvSpPr>
          <p:cNvPr id="33" name="Text 31"/>
          <p:cNvSpPr/>
          <p:nvPr/>
        </p:nvSpPr>
        <p:spPr>
          <a:xfrm>
            <a:off x="8364238" y="2480667"/>
            <a:ext cx="1683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spc="29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731" dirty="0"/>
          </a:p>
        </p:txBody>
      </p:sp>
      <p:sp>
        <p:nvSpPr>
          <p:cNvPr id="34" name="Text 32"/>
          <p:cNvSpPr/>
          <p:nvPr/>
        </p:nvSpPr>
        <p:spPr>
          <a:xfrm>
            <a:off x="6103107" y="2693194"/>
            <a:ext cx="2404988" cy="131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Performance Engineering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103107" y="2856049"/>
            <a:ext cx="2404988" cy="237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Load, stress, spike, soak testing. Capacity planning, bottleneck analysis, tuning.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17922" y="3289697"/>
            <a:ext cx="2640732" cy="835819"/>
          </a:xfrm>
          <a:prstGeom prst="roundRect">
            <a:avLst>
              <a:gd name="adj" fmla="val 9117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635794" y="3393281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1688" dirty="0"/>
          </a:p>
        </p:txBody>
      </p:sp>
      <p:sp>
        <p:nvSpPr>
          <p:cNvPr id="38" name="Text 36"/>
          <p:cNvSpPr/>
          <p:nvPr/>
        </p:nvSpPr>
        <p:spPr>
          <a:xfrm>
            <a:off x="2896926" y="3409355"/>
            <a:ext cx="1683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spc="29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731" dirty="0"/>
          </a:p>
        </p:txBody>
      </p:sp>
      <p:sp>
        <p:nvSpPr>
          <p:cNvPr id="39" name="Text 37"/>
          <p:cNvSpPr/>
          <p:nvPr/>
        </p:nvSpPr>
        <p:spPr>
          <a:xfrm>
            <a:off x="635794" y="3621881"/>
            <a:ext cx="2514716" cy="131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Test Automation &amp; Continuous Testing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35794" y="3784736"/>
            <a:ext cx="2404988" cy="237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UI, web, mobile, API automation, BDD, codeless/AI-assisted, CI/CD integration.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3251522" y="3289697"/>
            <a:ext cx="2640843" cy="835819"/>
          </a:xfrm>
          <a:prstGeom prst="roundRect">
            <a:avLst>
              <a:gd name="adj" fmla="val 9117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3369394" y="3393281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◯</a:t>
            </a:r>
            <a:endParaRPr lang="en-US" sz="1688" dirty="0"/>
          </a:p>
        </p:txBody>
      </p:sp>
      <p:sp>
        <p:nvSpPr>
          <p:cNvPr id="43" name="Text 41"/>
          <p:cNvSpPr/>
          <p:nvPr/>
        </p:nvSpPr>
        <p:spPr>
          <a:xfrm>
            <a:off x="5630638" y="3409355"/>
            <a:ext cx="1683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spc="29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731" dirty="0"/>
          </a:p>
        </p:txBody>
      </p:sp>
      <p:sp>
        <p:nvSpPr>
          <p:cNvPr id="44" name="Text 42"/>
          <p:cNvSpPr/>
          <p:nvPr/>
        </p:nvSpPr>
        <p:spPr>
          <a:xfrm>
            <a:off x="3369394" y="3621881"/>
            <a:ext cx="2514828" cy="131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&amp; Intelligent Systems Testing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3369394" y="3784736"/>
            <a:ext cx="2405100" cy="237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AI/ML model testing, GenAI/LLM testing, bias assessment, prompt/response validation.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5985235" y="3289697"/>
            <a:ext cx="2640732" cy="835819"/>
          </a:xfrm>
          <a:prstGeom prst="roundRect">
            <a:avLst>
              <a:gd name="adj" fmla="val 9117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6103107" y="3393281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⚖</a:t>
            </a:r>
            <a:endParaRPr lang="en-US" sz="1688" dirty="0"/>
          </a:p>
        </p:txBody>
      </p:sp>
      <p:sp>
        <p:nvSpPr>
          <p:cNvPr id="48" name="Text 46"/>
          <p:cNvSpPr/>
          <p:nvPr/>
        </p:nvSpPr>
        <p:spPr>
          <a:xfrm>
            <a:off x="8364238" y="3409355"/>
            <a:ext cx="1683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spc="29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</a:t>
            </a:r>
            <a:endParaRPr lang="en-US" sz="731" dirty="0"/>
          </a:p>
        </p:txBody>
      </p:sp>
      <p:sp>
        <p:nvSpPr>
          <p:cNvPr id="49" name="Text 47"/>
          <p:cNvSpPr/>
          <p:nvPr/>
        </p:nvSpPr>
        <p:spPr>
          <a:xfrm>
            <a:off x="6103107" y="3621881"/>
            <a:ext cx="2514716" cy="131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Quality Consulting &amp; Assurance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103107" y="3784736"/>
            <a:ext cx="2404988" cy="237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Test strategy, QA process assessment, quality governance, release readiness, metrics.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14350" y="4754166"/>
            <a:ext cx="3997821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4526459" y="4750594"/>
            <a:ext cx="3547988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 / 12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8011370" y="4750594"/>
            <a:ext cx="69564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CAPABILITIES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57200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685800"/>
            <a:ext cx="112723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857250"/>
            <a:ext cx="8629650" cy="309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7"/>
              </a:lnSpc>
              <a:buNone/>
            </a:pPr>
            <a:r>
              <a:rPr lang="en-US" sz="1913" b="1" spc="-23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Application Security &amp; DevSecOps.</a:t>
            </a:r>
            <a:endParaRPr lang="en-US" sz="1913" dirty="0"/>
          </a:p>
        </p:txBody>
      </p:sp>
      <p:sp>
        <p:nvSpPr>
          <p:cNvPr id="5" name="Text 3"/>
          <p:cNvSpPr/>
          <p:nvPr/>
        </p:nvSpPr>
        <p:spPr>
          <a:xfrm>
            <a:off x="514350" y="1343025"/>
            <a:ext cx="7858125" cy="16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SAST, DAST, SCA, secure code review, CI/CD pipeline security, OWASP, NIST, SANS.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17922" y="1646634"/>
            <a:ext cx="4361483" cy="2821781"/>
          </a:xfrm>
          <a:prstGeom prst="roundRect">
            <a:avLst>
              <a:gd name="adj" fmla="val 4051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07231" y="1821656"/>
            <a:ext cx="398286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WE DO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07231" y="2028825"/>
            <a:ext cx="3982864" cy="745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application security &amp; devsecops capability is engineered for bfsi &amp; insurance environments. We bring together the quality &amp; security engineering discipline, the bfsi &amp; insurance domain context, and the engineering rigor required to ship production-grade solutions.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84371" y="4149947"/>
            <a:ext cx="978872" cy="144018"/>
          </a:xfrm>
          <a:prstGeom prst="roundRect">
            <a:avLst>
              <a:gd name="adj" fmla="val 26455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07231" y="4157663"/>
            <a:ext cx="93315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675"/>
              </a:lnSpc>
              <a:buNone/>
            </a:pPr>
            <a:r>
              <a:rPr lang="en-US" sz="800" spc="3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1 OF 6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057998" y="1646634"/>
            <a:ext cx="3568080" cy="2821781"/>
          </a:xfrm>
          <a:prstGeom prst="roundRect">
            <a:avLst>
              <a:gd name="adj" fmla="val 4051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233020" y="1807369"/>
            <a:ext cx="3218036" cy="151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4C81B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COMPONENTS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236592" y="1989534"/>
            <a:ext cx="3210892" cy="352834"/>
          </a:xfrm>
          <a:prstGeom prst="roundRect">
            <a:avLst>
              <a:gd name="adj" fmla="val 21597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325889" y="2057400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525914" y="205740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266" dirty="0"/>
          </a:p>
        </p:txBody>
      </p:sp>
      <p:sp>
        <p:nvSpPr>
          <p:cNvPr id="16" name="Text 14"/>
          <p:cNvSpPr/>
          <p:nvPr/>
        </p:nvSpPr>
        <p:spPr>
          <a:xfrm>
            <a:off x="5725939" y="2057400"/>
            <a:ext cx="2632249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1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725939" y="2174491"/>
            <a:ext cx="2632249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6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1 for bfsi &amp; insurance.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5236592" y="2420950"/>
            <a:ext cx="3210892" cy="352834"/>
          </a:xfrm>
          <a:prstGeom prst="roundRect">
            <a:avLst>
              <a:gd name="adj" fmla="val 21597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325889" y="2488816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525914" y="248881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266" dirty="0"/>
          </a:p>
        </p:txBody>
      </p:sp>
      <p:sp>
        <p:nvSpPr>
          <p:cNvPr id="21" name="Text 19"/>
          <p:cNvSpPr/>
          <p:nvPr/>
        </p:nvSpPr>
        <p:spPr>
          <a:xfrm>
            <a:off x="5725939" y="2488816"/>
            <a:ext cx="2632249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2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725939" y="2605906"/>
            <a:ext cx="2632249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6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2 for bfsi &amp; insurance.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5236592" y="2852365"/>
            <a:ext cx="3210892" cy="352834"/>
          </a:xfrm>
          <a:prstGeom prst="roundRect">
            <a:avLst>
              <a:gd name="adj" fmla="val 21597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325889" y="2920231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525914" y="292023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266" dirty="0"/>
          </a:p>
        </p:txBody>
      </p:sp>
      <p:sp>
        <p:nvSpPr>
          <p:cNvPr id="26" name="Text 24"/>
          <p:cNvSpPr/>
          <p:nvPr/>
        </p:nvSpPr>
        <p:spPr>
          <a:xfrm>
            <a:off x="5725939" y="2920231"/>
            <a:ext cx="2632249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3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725939" y="3037322"/>
            <a:ext cx="2632249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6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3 for bfsi &amp; insurance.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5236592" y="3283781"/>
            <a:ext cx="3210892" cy="352834"/>
          </a:xfrm>
          <a:prstGeom prst="roundRect">
            <a:avLst>
              <a:gd name="adj" fmla="val 21597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325889" y="3351647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525914" y="3351647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266" dirty="0"/>
          </a:p>
        </p:txBody>
      </p:sp>
      <p:sp>
        <p:nvSpPr>
          <p:cNvPr id="31" name="Text 29"/>
          <p:cNvSpPr/>
          <p:nvPr/>
        </p:nvSpPr>
        <p:spPr>
          <a:xfrm>
            <a:off x="5725939" y="3351647"/>
            <a:ext cx="2632249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4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725939" y="3468737"/>
            <a:ext cx="2632249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6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4 for bfsi &amp; insurance.</a:t>
            </a:r>
            <a:endParaRPr lang="en-US" sz="600" dirty="0"/>
          </a:p>
        </p:txBody>
      </p:sp>
      <p:sp>
        <p:nvSpPr>
          <p:cNvPr id="33" name="Text 31"/>
          <p:cNvSpPr/>
          <p:nvPr/>
        </p:nvSpPr>
        <p:spPr>
          <a:xfrm>
            <a:off x="5236592" y="3715196"/>
            <a:ext cx="3210892" cy="352834"/>
          </a:xfrm>
          <a:prstGeom prst="roundRect">
            <a:avLst>
              <a:gd name="adj" fmla="val 21597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5325889" y="3783062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525914" y="3783062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266" dirty="0"/>
          </a:p>
        </p:txBody>
      </p:sp>
      <p:sp>
        <p:nvSpPr>
          <p:cNvPr id="36" name="Text 34"/>
          <p:cNvSpPr/>
          <p:nvPr/>
        </p:nvSpPr>
        <p:spPr>
          <a:xfrm>
            <a:off x="5725939" y="3783062"/>
            <a:ext cx="2632249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5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725939" y="3900153"/>
            <a:ext cx="2632249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6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5 for bfsi &amp; insurance.</a:t>
            </a:r>
            <a:endParaRPr lang="en-US" sz="600" dirty="0"/>
          </a:p>
        </p:txBody>
      </p:sp>
      <p:sp>
        <p:nvSpPr>
          <p:cNvPr id="38" name="Shape 36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4350" y="4754166"/>
            <a:ext cx="3490838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019476" y="4750594"/>
            <a:ext cx="3041005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 / 12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7074768" y="4750594"/>
            <a:ext cx="1648175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APPLICATION SECURITY &amp; DEVSECOPS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57200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685800"/>
            <a:ext cx="112723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857250"/>
            <a:ext cx="8251031" cy="309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7"/>
              </a:lnSpc>
              <a:buNone/>
            </a:pPr>
            <a:r>
              <a:rPr lang="en-US" sz="1913" b="1" spc="-23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VAPT &amp; Risk Assessment.</a:t>
            </a:r>
            <a:endParaRPr lang="en-US" sz="1913" dirty="0"/>
          </a:p>
        </p:txBody>
      </p:sp>
      <p:sp>
        <p:nvSpPr>
          <p:cNvPr id="5" name="Text 3"/>
          <p:cNvSpPr/>
          <p:nvPr/>
        </p:nvSpPr>
        <p:spPr>
          <a:xfrm>
            <a:off x="514350" y="1343025"/>
            <a:ext cx="7858125" cy="16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Web, API, mobile, IoT, cloud, container VAPT. MITRE ATT&amp;CK, CIS frameworks.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17922" y="1646634"/>
            <a:ext cx="4361483" cy="2821781"/>
          </a:xfrm>
          <a:prstGeom prst="roundRect">
            <a:avLst>
              <a:gd name="adj" fmla="val 4051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07231" y="1821656"/>
            <a:ext cx="398286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WE DO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07231" y="2028825"/>
            <a:ext cx="3982864" cy="745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vapt &amp; risk assessment capability is engineered for bfsi &amp; insurance environments. We bring together the quality &amp; security engineering discipline, the bfsi &amp; insurance domain context, and the engineering rigor required to ship production-grade solutions.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84371" y="4149947"/>
            <a:ext cx="978872" cy="144018"/>
          </a:xfrm>
          <a:prstGeom prst="roundRect">
            <a:avLst>
              <a:gd name="adj" fmla="val 26455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07231" y="4157663"/>
            <a:ext cx="93315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675"/>
              </a:lnSpc>
              <a:buNone/>
            </a:pPr>
            <a:r>
              <a:rPr lang="en-US" sz="800" spc="3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2 OF 6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057998" y="1646634"/>
            <a:ext cx="3568080" cy="2821781"/>
          </a:xfrm>
          <a:prstGeom prst="roundRect">
            <a:avLst>
              <a:gd name="adj" fmla="val 4051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233020" y="1807369"/>
            <a:ext cx="3218036" cy="151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4C81B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COMPONENTS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236592" y="1989534"/>
            <a:ext cx="3210892" cy="352834"/>
          </a:xfrm>
          <a:prstGeom prst="roundRect">
            <a:avLst>
              <a:gd name="adj" fmla="val 21597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325889" y="2057400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525914" y="205740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266" dirty="0"/>
          </a:p>
        </p:txBody>
      </p:sp>
      <p:sp>
        <p:nvSpPr>
          <p:cNvPr id="16" name="Text 14"/>
          <p:cNvSpPr/>
          <p:nvPr/>
        </p:nvSpPr>
        <p:spPr>
          <a:xfrm>
            <a:off x="5725939" y="2057400"/>
            <a:ext cx="2632249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1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725939" y="2174491"/>
            <a:ext cx="2632249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6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1 for bfsi &amp; insurance.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5236592" y="2420950"/>
            <a:ext cx="3210892" cy="352834"/>
          </a:xfrm>
          <a:prstGeom prst="roundRect">
            <a:avLst>
              <a:gd name="adj" fmla="val 21597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325889" y="2488816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525914" y="248881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266" dirty="0"/>
          </a:p>
        </p:txBody>
      </p:sp>
      <p:sp>
        <p:nvSpPr>
          <p:cNvPr id="21" name="Text 19"/>
          <p:cNvSpPr/>
          <p:nvPr/>
        </p:nvSpPr>
        <p:spPr>
          <a:xfrm>
            <a:off x="5725939" y="2488816"/>
            <a:ext cx="2632249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2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725939" y="2605906"/>
            <a:ext cx="2632249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6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2 for bfsi &amp; insurance.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5236592" y="2852365"/>
            <a:ext cx="3210892" cy="352834"/>
          </a:xfrm>
          <a:prstGeom prst="roundRect">
            <a:avLst>
              <a:gd name="adj" fmla="val 21597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325889" y="2920231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525914" y="292023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266" dirty="0"/>
          </a:p>
        </p:txBody>
      </p:sp>
      <p:sp>
        <p:nvSpPr>
          <p:cNvPr id="26" name="Text 24"/>
          <p:cNvSpPr/>
          <p:nvPr/>
        </p:nvSpPr>
        <p:spPr>
          <a:xfrm>
            <a:off x="5725939" y="2920231"/>
            <a:ext cx="2632249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3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725939" y="3037322"/>
            <a:ext cx="2632249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6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3 for bfsi &amp; insurance.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5236592" y="3283781"/>
            <a:ext cx="3210892" cy="352834"/>
          </a:xfrm>
          <a:prstGeom prst="roundRect">
            <a:avLst>
              <a:gd name="adj" fmla="val 21597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325889" y="3351647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525914" y="3351647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266" dirty="0"/>
          </a:p>
        </p:txBody>
      </p:sp>
      <p:sp>
        <p:nvSpPr>
          <p:cNvPr id="31" name="Text 29"/>
          <p:cNvSpPr/>
          <p:nvPr/>
        </p:nvSpPr>
        <p:spPr>
          <a:xfrm>
            <a:off x="5725939" y="3351647"/>
            <a:ext cx="2632249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4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725939" y="3468737"/>
            <a:ext cx="2632249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6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4 for bfsi &amp; insurance.</a:t>
            </a:r>
            <a:endParaRPr lang="en-US" sz="600" dirty="0"/>
          </a:p>
        </p:txBody>
      </p:sp>
      <p:sp>
        <p:nvSpPr>
          <p:cNvPr id="33" name="Text 31"/>
          <p:cNvSpPr/>
          <p:nvPr/>
        </p:nvSpPr>
        <p:spPr>
          <a:xfrm>
            <a:off x="5236592" y="3715196"/>
            <a:ext cx="3210892" cy="352834"/>
          </a:xfrm>
          <a:prstGeom prst="roundRect">
            <a:avLst>
              <a:gd name="adj" fmla="val 21597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5325889" y="3783062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525914" y="3783062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266" dirty="0"/>
          </a:p>
        </p:txBody>
      </p:sp>
      <p:sp>
        <p:nvSpPr>
          <p:cNvPr id="36" name="Text 34"/>
          <p:cNvSpPr/>
          <p:nvPr/>
        </p:nvSpPr>
        <p:spPr>
          <a:xfrm>
            <a:off x="5725939" y="3783062"/>
            <a:ext cx="2632249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5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725939" y="3900153"/>
            <a:ext cx="2632249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6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5 for bfsi &amp; insurance.</a:t>
            </a:r>
            <a:endParaRPr lang="en-US" sz="600" dirty="0"/>
          </a:p>
        </p:txBody>
      </p:sp>
      <p:sp>
        <p:nvSpPr>
          <p:cNvPr id="38" name="Shape 36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4350" y="4754166"/>
            <a:ext cx="3732498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261135" y="4750594"/>
            <a:ext cx="3282553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 / 12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7557976" y="4750594"/>
            <a:ext cx="1071674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VAPT &amp; RISK ASSESSMENT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57200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685800"/>
            <a:ext cx="112723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857250"/>
            <a:ext cx="8629650" cy="309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7"/>
              </a:lnSpc>
              <a:buNone/>
            </a:pPr>
            <a:r>
              <a:rPr lang="en-US" sz="1913" b="1" spc="-23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Performance Engineering.</a:t>
            </a:r>
            <a:endParaRPr lang="en-US" sz="1913" dirty="0"/>
          </a:p>
        </p:txBody>
      </p:sp>
      <p:sp>
        <p:nvSpPr>
          <p:cNvPr id="5" name="Text 3"/>
          <p:cNvSpPr/>
          <p:nvPr/>
        </p:nvSpPr>
        <p:spPr>
          <a:xfrm>
            <a:off x="514350" y="1343025"/>
            <a:ext cx="7858125" cy="16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Load, stress, spike, soak testing. Capacity planning, bottleneck analysis, tuning.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17922" y="1646634"/>
            <a:ext cx="4361483" cy="2821781"/>
          </a:xfrm>
          <a:prstGeom prst="roundRect">
            <a:avLst>
              <a:gd name="adj" fmla="val 4051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07231" y="1821656"/>
            <a:ext cx="398286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WE DO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07231" y="2028825"/>
            <a:ext cx="3982864" cy="745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performance engineering capability is engineered for bfsi &amp; insurance environments. We bring together the quality &amp; security engineering discipline, the bfsi &amp; insurance domain context, and the engineering rigor required to ship production-grade solutions.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84371" y="4149947"/>
            <a:ext cx="978872" cy="144018"/>
          </a:xfrm>
          <a:prstGeom prst="roundRect">
            <a:avLst>
              <a:gd name="adj" fmla="val 26455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07231" y="4157663"/>
            <a:ext cx="93315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675"/>
              </a:lnSpc>
              <a:buNone/>
            </a:pPr>
            <a:r>
              <a:rPr lang="en-US" sz="800" spc="3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3 OF 6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057998" y="1646634"/>
            <a:ext cx="3568080" cy="2821781"/>
          </a:xfrm>
          <a:prstGeom prst="roundRect">
            <a:avLst>
              <a:gd name="adj" fmla="val 4051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233020" y="1807369"/>
            <a:ext cx="3218036" cy="151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4C81B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COMPONENTS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236592" y="1989534"/>
            <a:ext cx="3210892" cy="352834"/>
          </a:xfrm>
          <a:prstGeom prst="roundRect">
            <a:avLst>
              <a:gd name="adj" fmla="val 21597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325889" y="2057400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525914" y="205740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16" name="Text 14"/>
          <p:cNvSpPr/>
          <p:nvPr/>
        </p:nvSpPr>
        <p:spPr>
          <a:xfrm>
            <a:off x="5725939" y="2057400"/>
            <a:ext cx="2632249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1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725939" y="2174491"/>
            <a:ext cx="2632249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6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1 for bfsi &amp; insurance.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5236592" y="2420950"/>
            <a:ext cx="3210892" cy="352834"/>
          </a:xfrm>
          <a:prstGeom prst="roundRect">
            <a:avLst>
              <a:gd name="adj" fmla="val 21597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325889" y="2488816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525914" y="248881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21" name="Text 19"/>
          <p:cNvSpPr/>
          <p:nvPr/>
        </p:nvSpPr>
        <p:spPr>
          <a:xfrm>
            <a:off x="5725939" y="2488816"/>
            <a:ext cx="2632249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2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725939" y="2605906"/>
            <a:ext cx="2632249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6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2 for bfsi &amp; insurance.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5236592" y="2852365"/>
            <a:ext cx="3210892" cy="352834"/>
          </a:xfrm>
          <a:prstGeom prst="roundRect">
            <a:avLst>
              <a:gd name="adj" fmla="val 21597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325889" y="2920231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525914" y="292023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26" name="Text 24"/>
          <p:cNvSpPr/>
          <p:nvPr/>
        </p:nvSpPr>
        <p:spPr>
          <a:xfrm>
            <a:off x="5725939" y="2920231"/>
            <a:ext cx="2632249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3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725939" y="3037322"/>
            <a:ext cx="2632249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6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3 for bfsi &amp; insurance.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5236592" y="3283781"/>
            <a:ext cx="3210892" cy="352834"/>
          </a:xfrm>
          <a:prstGeom prst="roundRect">
            <a:avLst>
              <a:gd name="adj" fmla="val 21597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325889" y="3351647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525914" y="3351647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31" name="Text 29"/>
          <p:cNvSpPr/>
          <p:nvPr/>
        </p:nvSpPr>
        <p:spPr>
          <a:xfrm>
            <a:off x="5725939" y="3351647"/>
            <a:ext cx="2632249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4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725939" y="3468737"/>
            <a:ext cx="2632249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6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4 for bfsi &amp; insurance.</a:t>
            </a:r>
            <a:endParaRPr lang="en-US" sz="600" dirty="0"/>
          </a:p>
        </p:txBody>
      </p:sp>
      <p:sp>
        <p:nvSpPr>
          <p:cNvPr id="33" name="Text 31"/>
          <p:cNvSpPr/>
          <p:nvPr/>
        </p:nvSpPr>
        <p:spPr>
          <a:xfrm>
            <a:off x="5236592" y="3715196"/>
            <a:ext cx="3210892" cy="352834"/>
          </a:xfrm>
          <a:prstGeom prst="roundRect">
            <a:avLst>
              <a:gd name="adj" fmla="val 21597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5325889" y="3783062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525914" y="3783062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36" name="Text 34"/>
          <p:cNvSpPr/>
          <p:nvPr/>
        </p:nvSpPr>
        <p:spPr>
          <a:xfrm>
            <a:off x="5725939" y="3783062"/>
            <a:ext cx="2632249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5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725939" y="3900153"/>
            <a:ext cx="2632249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6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5 for bfsi &amp; insurance.</a:t>
            </a:r>
            <a:endParaRPr lang="en-US" sz="600" dirty="0"/>
          </a:p>
        </p:txBody>
      </p:sp>
      <p:sp>
        <p:nvSpPr>
          <p:cNvPr id="38" name="Shape 36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4350" y="4754166"/>
            <a:ext cx="3670213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198851" y="4750594"/>
            <a:ext cx="3220269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 / 12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7433407" y="4750594"/>
            <a:ext cx="1196243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PERFORMANCE ENGINEERING</a:t>
            </a:r>
            <a:endParaRPr lang="en-US" sz="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57200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685800"/>
            <a:ext cx="112723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857250"/>
            <a:ext cx="8629650" cy="309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7"/>
              </a:lnSpc>
              <a:buNone/>
            </a:pPr>
            <a:r>
              <a:rPr lang="en-US" sz="1913" b="1" spc="-23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Test Automation &amp; Continuous Testing.</a:t>
            </a:r>
            <a:endParaRPr lang="en-US" sz="1913" dirty="0"/>
          </a:p>
        </p:txBody>
      </p:sp>
      <p:sp>
        <p:nvSpPr>
          <p:cNvPr id="5" name="Text 3"/>
          <p:cNvSpPr/>
          <p:nvPr/>
        </p:nvSpPr>
        <p:spPr>
          <a:xfrm>
            <a:off x="514350" y="1343025"/>
            <a:ext cx="7858125" cy="16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UI, web, mobile, API automation, BDD, codeless/AI-assisted, CI/CD integration.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17922" y="1646634"/>
            <a:ext cx="4361483" cy="2821781"/>
          </a:xfrm>
          <a:prstGeom prst="roundRect">
            <a:avLst>
              <a:gd name="adj" fmla="val 4051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07231" y="1821656"/>
            <a:ext cx="398286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WE DO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07231" y="2028825"/>
            <a:ext cx="3982864" cy="745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test automation &amp; continuous testing capability is engineered for bfsi &amp; insurance environments. We bring together the quality &amp; security engineering discipline, the bfsi &amp; insurance domain context, and the engineering rigor required to ship production-grade solutions.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84371" y="4149947"/>
            <a:ext cx="978872" cy="144018"/>
          </a:xfrm>
          <a:prstGeom prst="roundRect">
            <a:avLst>
              <a:gd name="adj" fmla="val 26455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07231" y="4157663"/>
            <a:ext cx="93315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675"/>
              </a:lnSpc>
              <a:buNone/>
            </a:pPr>
            <a:r>
              <a:rPr lang="en-US" sz="800" spc="3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4 OF 6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057998" y="1646634"/>
            <a:ext cx="3568080" cy="2821781"/>
          </a:xfrm>
          <a:prstGeom prst="roundRect">
            <a:avLst>
              <a:gd name="adj" fmla="val 4051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233020" y="1807369"/>
            <a:ext cx="3218036" cy="151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4C81B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COMPONENTS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236592" y="1989534"/>
            <a:ext cx="3210892" cy="352834"/>
          </a:xfrm>
          <a:prstGeom prst="roundRect">
            <a:avLst>
              <a:gd name="adj" fmla="val 21597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325889" y="2057400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525914" y="205740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1266" dirty="0"/>
          </a:p>
        </p:txBody>
      </p:sp>
      <p:sp>
        <p:nvSpPr>
          <p:cNvPr id="16" name="Text 14"/>
          <p:cNvSpPr/>
          <p:nvPr/>
        </p:nvSpPr>
        <p:spPr>
          <a:xfrm>
            <a:off x="5725939" y="2057400"/>
            <a:ext cx="2632249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1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725939" y="2174491"/>
            <a:ext cx="2632249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6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1 for bfsi &amp; insurance.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5236592" y="2420950"/>
            <a:ext cx="3210892" cy="352834"/>
          </a:xfrm>
          <a:prstGeom prst="roundRect">
            <a:avLst>
              <a:gd name="adj" fmla="val 21597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325889" y="2488816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525914" y="248881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1266" dirty="0"/>
          </a:p>
        </p:txBody>
      </p:sp>
      <p:sp>
        <p:nvSpPr>
          <p:cNvPr id="21" name="Text 19"/>
          <p:cNvSpPr/>
          <p:nvPr/>
        </p:nvSpPr>
        <p:spPr>
          <a:xfrm>
            <a:off x="5725939" y="2488816"/>
            <a:ext cx="2632249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2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725939" y="2605906"/>
            <a:ext cx="2632249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6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2 for bfsi &amp; insurance.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5236592" y="2852365"/>
            <a:ext cx="3210892" cy="352834"/>
          </a:xfrm>
          <a:prstGeom prst="roundRect">
            <a:avLst>
              <a:gd name="adj" fmla="val 21597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325889" y="2920231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525914" y="292023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1266" dirty="0"/>
          </a:p>
        </p:txBody>
      </p:sp>
      <p:sp>
        <p:nvSpPr>
          <p:cNvPr id="26" name="Text 24"/>
          <p:cNvSpPr/>
          <p:nvPr/>
        </p:nvSpPr>
        <p:spPr>
          <a:xfrm>
            <a:off x="5725939" y="2920231"/>
            <a:ext cx="2632249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3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725939" y="3037322"/>
            <a:ext cx="2632249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6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3 for bfsi &amp; insurance.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5236592" y="3283781"/>
            <a:ext cx="3210892" cy="352834"/>
          </a:xfrm>
          <a:prstGeom prst="roundRect">
            <a:avLst>
              <a:gd name="adj" fmla="val 21597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325889" y="3351647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525914" y="3351647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1266" dirty="0"/>
          </a:p>
        </p:txBody>
      </p:sp>
      <p:sp>
        <p:nvSpPr>
          <p:cNvPr id="31" name="Text 29"/>
          <p:cNvSpPr/>
          <p:nvPr/>
        </p:nvSpPr>
        <p:spPr>
          <a:xfrm>
            <a:off x="5725939" y="3351647"/>
            <a:ext cx="2632249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4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725939" y="3468737"/>
            <a:ext cx="2632249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6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4 for bfsi &amp; insurance.</a:t>
            </a:r>
            <a:endParaRPr lang="en-US" sz="600" dirty="0"/>
          </a:p>
        </p:txBody>
      </p:sp>
      <p:sp>
        <p:nvSpPr>
          <p:cNvPr id="33" name="Text 31"/>
          <p:cNvSpPr/>
          <p:nvPr/>
        </p:nvSpPr>
        <p:spPr>
          <a:xfrm>
            <a:off x="5236592" y="3715196"/>
            <a:ext cx="3210892" cy="352834"/>
          </a:xfrm>
          <a:prstGeom prst="roundRect">
            <a:avLst>
              <a:gd name="adj" fmla="val 21597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5325889" y="3783062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525914" y="3783062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1266" dirty="0"/>
          </a:p>
        </p:txBody>
      </p:sp>
      <p:sp>
        <p:nvSpPr>
          <p:cNvPr id="36" name="Text 34"/>
          <p:cNvSpPr/>
          <p:nvPr/>
        </p:nvSpPr>
        <p:spPr>
          <a:xfrm>
            <a:off x="5725939" y="3783062"/>
            <a:ext cx="2632249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5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725939" y="3900153"/>
            <a:ext cx="2632249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6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5 for bfsi &amp; insurance.</a:t>
            </a:r>
            <a:endParaRPr lang="en-US" sz="600" dirty="0"/>
          </a:p>
        </p:txBody>
      </p:sp>
      <p:sp>
        <p:nvSpPr>
          <p:cNvPr id="38" name="Shape 36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4350" y="4754166"/>
            <a:ext cx="3367385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3896023" y="4750594"/>
            <a:ext cx="2917441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07 / 12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827751" y="4750594"/>
            <a:ext cx="1910013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TEST AUTOMATION &amp; CONTINUOUS TESTING</a:t>
            </a:r>
            <a:endParaRPr lang="en-US" sz="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57200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685800"/>
            <a:ext cx="32112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 APPLICATIONS · BFSI &amp; INSURANCE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857250"/>
            <a:ext cx="8629650" cy="282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9"/>
              </a:lnSpc>
              <a:buNone/>
            </a:pPr>
            <a:r>
              <a:rPr lang="en-US" sz="1688" b="1" spc="-20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How quality &amp; security engineering applies to bfsi &amp; insurance.</a:t>
            </a:r>
            <a:endParaRPr lang="en-US" sz="1688" dirty="0"/>
          </a:p>
        </p:txBody>
      </p:sp>
      <p:sp>
        <p:nvSpPr>
          <p:cNvPr id="5" name="Text 3"/>
          <p:cNvSpPr/>
          <p:nvPr/>
        </p:nvSpPr>
        <p:spPr>
          <a:xfrm>
            <a:off x="514350" y="1343025"/>
            <a:ext cx="7858125" cy="16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Four industry-specific applications where quality &amp; security engineering creates measurable value.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17922" y="1646634"/>
            <a:ext cx="3993356" cy="1335881"/>
          </a:xfrm>
          <a:prstGeom prst="roundRect">
            <a:avLst>
              <a:gd name="adj" fmla="val 8556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78656" y="1778794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969" dirty="0"/>
          </a:p>
        </p:txBody>
      </p:sp>
      <p:sp>
        <p:nvSpPr>
          <p:cNvPr id="8" name="Text 6"/>
          <p:cNvSpPr/>
          <p:nvPr/>
        </p:nvSpPr>
        <p:spPr>
          <a:xfrm>
            <a:off x="4284241" y="1803797"/>
            <a:ext cx="914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spc="47" kern="0" dirty="0">
                <a:solidFill>
                  <a:srgbClr val="FF6C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78656" y="2050256"/>
            <a:ext cx="3671888" cy="203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spc="-6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Document Intelligence</a:t>
            </a:r>
            <a:endParaRPr lang="en-US" sz="1238" dirty="0"/>
          </a:p>
        </p:txBody>
      </p:sp>
      <p:sp>
        <p:nvSpPr>
          <p:cNvPr id="10" name="Text 8"/>
          <p:cNvSpPr/>
          <p:nvPr/>
        </p:nvSpPr>
        <p:spPr>
          <a:xfrm>
            <a:off x="678656" y="2310222"/>
            <a:ext cx="3671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Claims, underwriting, KYC, policy and contract document processing at scale.</a:t>
            </a:r>
            <a:endParaRPr lang="en-US" sz="675" dirty="0"/>
          </a:p>
        </p:txBody>
      </p:sp>
      <p:sp>
        <p:nvSpPr>
          <p:cNvPr id="11" name="Text 9"/>
          <p:cNvSpPr/>
          <p:nvPr/>
        </p:nvSpPr>
        <p:spPr>
          <a:xfrm>
            <a:off x="4632722" y="1646634"/>
            <a:ext cx="3993356" cy="1335881"/>
          </a:xfrm>
          <a:prstGeom prst="roundRect">
            <a:avLst>
              <a:gd name="adj" fmla="val 8556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793456" y="1778794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969" dirty="0"/>
          </a:p>
        </p:txBody>
      </p:sp>
      <p:sp>
        <p:nvSpPr>
          <p:cNvPr id="13" name="Text 11"/>
          <p:cNvSpPr/>
          <p:nvPr/>
        </p:nvSpPr>
        <p:spPr>
          <a:xfrm>
            <a:off x="8308425" y="1803797"/>
            <a:ext cx="18134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b="1" spc="47" kern="0" dirty="0">
                <a:solidFill>
                  <a:srgbClr val="FF6C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II</a:t>
            </a:r>
            <a:endParaRPr lang="en-US" sz="788" dirty="0"/>
          </a:p>
        </p:txBody>
      </p:sp>
      <p:sp>
        <p:nvSpPr>
          <p:cNvPr id="14" name="Text 12"/>
          <p:cNvSpPr/>
          <p:nvPr/>
        </p:nvSpPr>
        <p:spPr>
          <a:xfrm>
            <a:off x="4793456" y="2050256"/>
            <a:ext cx="3671888" cy="203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spc="-6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Fraud Detection</a:t>
            </a:r>
            <a:endParaRPr lang="en-US" sz="1238" dirty="0"/>
          </a:p>
        </p:txBody>
      </p:sp>
      <p:sp>
        <p:nvSpPr>
          <p:cNvPr id="15" name="Text 13"/>
          <p:cNvSpPr/>
          <p:nvPr/>
        </p:nvSpPr>
        <p:spPr>
          <a:xfrm>
            <a:off x="4793456" y="2310222"/>
            <a:ext cx="3671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Anomaly identification, predictive risk scoring, real-time transaction monitoring.</a:t>
            </a:r>
            <a:endParaRPr lang="en-US" sz="675" dirty="0"/>
          </a:p>
        </p:txBody>
      </p:sp>
      <p:sp>
        <p:nvSpPr>
          <p:cNvPr id="16" name="Text 14"/>
          <p:cNvSpPr/>
          <p:nvPr/>
        </p:nvSpPr>
        <p:spPr>
          <a:xfrm>
            <a:off x="517922" y="3103959"/>
            <a:ext cx="3993356" cy="1335881"/>
          </a:xfrm>
          <a:prstGeom prst="roundRect">
            <a:avLst>
              <a:gd name="adj" fmla="val 8556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78656" y="3236119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♟</a:t>
            </a:r>
            <a:endParaRPr lang="en-US" sz="1969" dirty="0"/>
          </a:p>
        </p:txBody>
      </p:sp>
      <p:sp>
        <p:nvSpPr>
          <p:cNvPr id="18" name="Text 16"/>
          <p:cNvSpPr/>
          <p:nvPr/>
        </p:nvSpPr>
        <p:spPr>
          <a:xfrm>
            <a:off x="4123945" y="3261122"/>
            <a:ext cx="25451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b="1" spc="47" kern="0" dirty="0">
                <a:solidFill>
                  <a:srgbClr val="FF6C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III</a:t>
            </a:r>
            <a:endParaRPr lang="en-US" sz="788" dirty="0"/>
          </a:p>
        </p:txBody>
      </p:sp>
      <p:sp>
        <p:nvSpPr>
          <p:cNvPr id="19" name="Text 17"/>
          <p:cNvSpPr/>
          <p:nvPr/>
        </p:nvSpPr>
        <p:spPr>
          <a:xfrm>
            <a:off x="678656" y="3507581"/>
            <a:ext cx="3671888" cy="203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spc="-6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Customer Intelligence</a:t>
            </a:r>
            <a:endParaRPr lang="en-US" sz="1238" dirty="0"/>
          </a:p>
        </p:txBody>
      </p:sp>
      <p:sp>
        <p:nvSpPr>
          <p:cNvPr id="20" name="Text 18"/>
          <p:cNvSpPr/>
          <p:nvPr/>
        </p:nvSpPr>
        <p:spPr>
          <a:xfrm>
            <a:off x="678656" y="3767547"/>
            <a:ext cx="3671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Customer 360, next-best-action, retention modeling, personalized servicing.</a:t>
            </a:r>
            <a:endParaRPr lang="en-US" sz="675" dirty="0"/>
          </a:p>
        </p:txBody>
      </p:sp>
      <p:sp>
        <p:nvSpPr>
          <p:cNvPr id="21" name="Text 19"/>
          <p:cNvSpPr/>
          <p:nvPr/>
        </p:nvSpPr>
        <p:spPr>
          <a:xfrm>
            <a:off x="4632722" y="3103959"/>
            <a:ext cx="3993356" cy="1335881"/>
          </a:xfrm>
          <a:prstGeom prst="roundRect">
            <a:avLst>
              <a:gd name="adj" fmla="val 8556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793456" y="3236119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⚖</a:t>
            </a:r>
            <a:endParaRPr lang="en-US" sz="1969" dirty="0"/>
          </a:p>
        </p:txBody>
      </p:sp>
      <p:sp>
        <p:nvSpPr>
          <p:cNvPr id="23" name="Text 21"/>
          <p:cNvSpPr/>
          <p:nvPr/>
        </p:nvSpPr>
        <p:spPr>
          <a:xfrm>
            <a:off x="8308425" y="3261122"/>
            <a:ext cx="18134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b="1" spc="47" kern="0" dirty="0">
                <a:solidFill>
                  <a:srgbClr val="FF6C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IV</a:t>
            </a:r>
            <a:endParaRPr lang="en-US" sz="788" dirty="0"/>
          </a:p>
        </p:txBody>
      </p:sp>
      <p:sp>
        <p:nvSpPr>
          <p:cNvPr id="24" name="Text 22"/>
          <p:cNvSpPr/>
          <p:nvPr/>
        </p:nvSpPr>
        <p:spPr>
          <a:xfrm>
            <a:off x="4793456" y="3507581"/>
            <a:ext cx="3671888" cy="203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spc="-6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Regulatory Operations</a:t>
            </a:r>
            <a:endParaRPr lang="en-US" sz="1238" dirty="0"/>
          </a:p>
        </p:txBody>
      </p:sp>
      <p:sp>
        <p:nvSpPr>
          <p:cNvPr id="25" name="Text 23"/>
          <p:cNvSpPr/>
          <p:nvPr/>
        </p:nvSpPr>
        <p:spPr>
          <a:xfrm>
            <a:off x="4793456" y="3767547"/>
            <a:ext cx="3671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Compliance reporting, audit trails, transaction surveillance, regulatory change management.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4350" y="4754166"/>
            <a:ext cx="3762747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291385" y="4750594"/>
            <a:ext cx="3312914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08 / 12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618586" y="4750594"/>
            <a:ext cx="1011064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 APPLICATIONS</a:t>
            </a:r>
            <a:endParaRPr lang="en-US" sz="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57200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685800"/>
            <a:ext cx="195299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REFERENCE ARCHITECTURE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857250"/>
            <a:ext cx="8629650" cy="282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9"/>
              </a:lnSpc>
              <a:buNone/>
            </a:pPr>
            <a:r>
              <a:rPr lang="en-US" sz="1688" b="1" spc="-20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reference architecture for quality &amp; security engineering.</a:t>
            </a:r>
            <a:endParaRPr lang="en-US" sz="1688" dirty="0"/>
          </a:p>
        </p:txBody>
      </p:sp>
      <p:sp>
        <p:nvSpPr>
          <p:cNvPr id="5" name="Text 3"/>
          <p:cNvSpPr/>
          <p:nvPr/>
        </p:nvSpPr>
        <p:spPr>
          <a:xfrm>
            <a:off x="514350" y="1343025"/>
            <a:ext cx="7858125" cy="16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Five layers from foundation through consumption.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17922" y="1689497"/>
            <a:ext cx="8108156" cy="492919"/>
          </a:xfrm>
          <a:prstGeom prst="roundRect">
            <a:avLst>
              <a:gd name="adj" fmla="val 15459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21494" y="1693069"/>
            <a:ext cx="928688" cy="485775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1446609" y="1693069"/>
            <a:ext cx="0" cy="485775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1494" y="1693069"/>
            <a:ext cx="928688" cy="485775"/>
          </a:xfrm>
          <a:prstGeom prst="rect">
            <a:avLst/>
          </a:prstGeom>
          <a:noFill/>
          <a:ln/>
        </p:spPr>
        <p:txBody>
          <a:bodyPr wrap="none" lIns="85725" tIns="71438" rIns="85725" bIns="71438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STANDARDS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535906" y="1835944"/>
            <a:ext cx="403175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533888" y="1846659"/>
            <a:ext cx="407213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OWASP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981944" y="1835944"/>
            <a:ext cx="465460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919953" y="1846659"/>
            <a:ext cx="589443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NIST CSF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490267" y="1835944"/>
            <a:ext cx="668499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391324" y="1846659"/>
            <a:ext cx="866384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MITRE ATT&amp;CK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201628" y="1835944"/>
            <a:ext cx="515578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127530" y="1846659"/>
            <a:ext cx="663773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ISO 27001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760068" y="1835944"/>
            <a:ext cx="362545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758115" y="1846659"/>
            <a:ext cx="366451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SOC 2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17922" y="2260997"/>
            <a:ext cx="8108156" cy="492919"/>
          </a:xfrm>
          <a:prstGeom prst="roundRect">
            <a:avLst>
              <a:gd name="adj" fmla="val 15459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21494" y="2264569"/>
            <a:ext cx="928688" cy="485775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1446609" y="2264569"/>
            <a:ext cx="0" cy="485775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1494" y="2264569"/>
            <a:ext cx="928688" cy="485775"/>
          </a:xfrm>
          <a:prstGeom prst="rect">
            <a:avLst/>
          </a:prstGeom>
          <a:noFill/>
          <a:ln/>
        </p:spPr>
        <p:txBody>
          <a:bodyPr wrap="none" lIns="85725" tIns="71438" rIns="85725" bIns="71438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SECURITY TESTING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535906" y="2407444"/>
            <a:ext cx="327496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1533213" y="2418159"/>
            <a:ext cx="332882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SAST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906265" y="2407444"/>
            <a:ext cx="334528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1906265" y="2418159"/>
            <a:ext cx="334528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DAST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2283656" y="2407444"/>
            <a:ext cx="286978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2283656" y="2418159"/>
            <a:ext cx="286978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SCA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613496" y="2407444"/>
            <a:ext cx="322808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2608459" y="2418159"/>
            <a:ext cx="332882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VAPT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2979167" y="2407444"/>
            <a:ext cx="546497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2894154" y="2418159"/>
            <a:ext cx="716524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Pen Testing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17922" y="2832497"/>
            <a:ext cx="8108156" cy="492919"/>
          </a:xfrm>
          <a:prstGeom prst="roundRect">
            <a:avLst>
              <a:gd name="adj" fmla="val 15459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521494" y="2836069"/>
            <a:ext cx="928688" cy="485775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1446609" y="2836069"/>
            <a:ext cx="0" cy="485775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21494" y="2836069"/>
            <a:ext cx="928688" cy="485775"/>
          </a:xfrm>
          <a:prstGeom prst="rect">
            <a:avLst/>
          </a:prstGeom>
          <a:noFill/>
          <a:ln/>
        </p:spPr>
        <p:txBody>
          <a:bodyPr wrap="none" lIns="85725" tIns="71438" rIns="85725" bIns="71438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PERFORMANCE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1535906" y="2978944"/>
            <a:ext cx="314325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1535906" y="2989659"/>
            <a:ext cx="314325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Load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1893094" y="2978944"/>
            <a:ext cx="362434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1863511" y="2989659"/>
            <a:ext cx="421599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Stress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2298390" y="2978944"/>
            <a:ext cx="336203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2286863" y="2989659"/>
            <a:ext cx="359258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Spike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2677455" y="2978944"/>
            <a:ext cx="455079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2631853" y="2989659"/>
            <a:ext cx="546283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Capacity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3175397" y="2978944"/>
            <a:ext cx="362769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3175397" y="2989659"/>
            <a:ext cx="362769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Chaos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517922" y="3403997"/>
            <a:ext cx="8108156" cy="492919"/>
          </a:xfrm>
          <a:prstGeom prst="roundRect">
            <a:avLst>
              <a:gd name="adj" fmla="val 15459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521494" y="3407569"/>
            <a:ext cx="928688" cy="485775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Shape 48"/>
          <p:cNvSpPr/>
          <p:nvPr/>
        </p:nvSpPr>
        <p:spPr>
          <a:xfrm>
            <a:off x="1446609" y="3407569"/>
            <a:ext cx="0" cy="485775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21494" y="3407569"/>
            <a:ext cx="928688" cy="485775"/>
          </a:xfrm>
          <a:prstGeom prst="rect">
            <a:avLst/>
          </a:prstGeom>
          <a:noFill/>
          <a:ln/>
        </p:spPr>
        <p:txBody>
          <a:bodyPr wrap="none" lIns="85725" tIns="71438" rIns="85725" bIns="71438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AUTOMATION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1535906" y="3550444"/>
            <a:ext cx="216322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1535906" y="3561159"/>
            <a:ext cx="216322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UI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1795090" y="3550444"/>
            <a:ext cx="255947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1793788" y="3561159"/>
            <a:ext cx="258552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API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2093900" y="3550444"/>
            <a:ext cx="377279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2071740" y="3561159"/>
            <a:ext cx="421599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Mobile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2514042" y="3550444"/>
            <a:ext cx="301935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2514042" y="3561159"/>
            <a:ext cx="301935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BDD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2858839" y="3550444"/>
            <a:ext cx="534777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2751781" y="3561159"/>
            <a:ext cx="748894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AI-Assisted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517922" y="3975497"/>
            <a:ext cx="8108156" cy="492919"/>
          </a:xfrm>
          <a:prstGeom prst="roundRect">
            <a:avLst>
              <a:gd name="adj" fmla="val 15459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61"/>
          <p:cNvSpPr/>
          <p:nvPr/>
        </p:nvSpPr>
        <p:spPr>
          <a:xfrm>
            <a:off x="521494" y="3979069"/>
            <a:ext cx="928688" cy="485775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Shape 62"/>
          <p:cNvSpPr/>
          <p:nvPr/>
        </p:nvSpPr>
        <p:spPr>
          <a:xfrm>
            <a:off x="1446609" y="3979069"/>
            <a:ext cx="0" cy="485775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21494" y="3979069"/>
            <a:ext cx="928688" cy="485775"/>
          </a:xfrm>
          <a:prstGeom prst="rect">
            <a:avLst/>
          </a:prstGeom>
          <a:noFill/>
          <a:ln/>
        </p:spPr>
        <p:txBody>
          <a:bodyPr wrap="none" lIns="85725" tIns="71438" rIns="85725" bIns="71438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OPERATIONS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1535906" y="4121944"/>
            <a:ext cx="342788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7" name="Text 65"/>
          <p:cNvSpPr/>
          <p:nvPr/>
        </p:nvSpPr>
        <p:spPr>
          <a:xfrm>
            <a:off x="1513885" y="4132659"/>
            <a:ext cx="386832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CI/CD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1921557" y="4121944"/>
            <a:ext cx="524954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Text 67"/>
          <p:cNvSpPr/>
          <p:nvPr/>
        </p:nvSpPr>
        <p:spPr>
          <a:xfrm>
            <a:off x="1848551" y="4132659"/>
            <a:ext cx="670966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Monitoring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2489374" y="4121944"/>
            <a:ext cx="796751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1" name="Text 69"/>
          <p:cNvSpPr/>
          <p:nvPr/>
        </p:nvSpPr>
        <p:spPr>
          <a:xfrm>
            <a:off x="2489374" y="4132659"/>
            <a:ext cx="796751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Incident Response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3328988" y="4121944"/>
            <a:ext cx="573844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3" name="Text 71"/>
          <p:cNvSpPr/>
          <p:nvPr/>
        </p:nvSpPr>
        <p:spPr>
          <a:xfrm>
            <a:off x="3280426" y="4132659"/>
            <a:ext cx="670966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Governance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14350" y="4754166"/>
            <a:ext cx="3959535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4488173" y="4750594"/>
            <a:ext cx="3509590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09 / 12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7973028" y="4750594"/>
            <a:ext cx="69564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ARCHITECTURE</a:t>
            </a:r>
            <a:endParaRPr lang="en-US" sz="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57200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685800"/>
            <a:ext cx="178073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ENGAGEMENT PATHWAY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857250"/>
            <a:ext cx="8629650" cy="282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9"/>
              </a:lnSpc>
              <a:buNone/>
            </a:pPr>
            <a:r>
              <a:rPr lang="en-US" sz="1688" b="1" spc="-20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four-stage pathway from discovery to operations.</a:t>
            </a:r>
            <a:endParaRPr lang="en-US" sz="1688" dirty="0"/>
          </a:p>
        </p:txBody>
      </p:sp>
      <p:sp>
        <p:nvSpPr>
          <p:cNvPr id="5" name="Text 3"/>
          <p:cNvSpPr/>
          <p:nvPr/>
        </p:nvSpPr>
        <p:spPr>
          <a:xfrm>
            <a:off x="514350" y="1343025"/>
            <a:ext cx="7858125" cy="16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Each stage carries concrete deliverables, a fixed duration, and a transparent commercial frame.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17922" y="1646634"/>
            <a:ext cx="1935956" cy="2707481"/>
          </a:xfrm>
          <a:prstGeom prst="roundRect">
            <a:avLst>
              <a:gd name="adj" fmla="val 492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21506" y="1764506"/>
            <a:ext cx="1728788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21506" y="1939528"/>
            <a:ext cx="1728788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44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Discovery</a:t>
            </a:r>
            <a:endParaRPr lang="en-US" sz="844" dirty="0"/>
          </a:p>
        </p:txBody>
      </p:sp>
      <p:sp>
        <p:nvSpPr>
          <p:cNvPr id="9" name="Text 7"/>
          <p:cNvSpPr/>
          <p:nvPr/>
        </p:nvSpPr>
        <p:spPr>
          <a:xfrm>
            <a:off x="621506" y="2125266"/>
            <a:ext cx="17287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 WEEKS · FIXED FEE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21506" y="2318147"/>
            <a:ext cx="1728788" cy="7144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21506" y="2425303"/>
            <a:ext cx="1728788" cy="154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81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DELIVERABLES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21506" y="2607469"/>
            <a:ext cx="1728788" cy="782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897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Quality &amp; Security Engineering maturity assessment</a:t>
            </a:r>
            <a:endParaRPr lang="en-US" sz="800" dirty="0"/>
          </a:p>
          <a:p>
            <a:pPr algn="l" marL="342900" indent="-342900">
              <a:lnSpc>
                <a:spcPts val="897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Opportunity prioritization</a:t>
            </a:r>
            <a:endParaRPr lang="en-US" sz="800" dirty="0"/>
          </a:p>
          <a:p>
            <a:pPr algn="l" marL="342900" indent="-342900">
              <a:lnSpc>
                <a:spcPts val="897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90-day roadmap</a:t>
            </a:r>
            <a:endParaRPr lang="en-US" sz="800" dirty="0"/>
          </a:p>
          <a:p>
            <a:pPr algn="l" marL="342900" indent="-342900">
              <a:lnSpc>
                <a:spcPts val="897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ROI business case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21506" y="4046934"/>
            <a:ext cx="1728788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506" y="4043363"/>
            <a:ext cx="1728788" cy="192881"/>
          </a:xfrm>
          <a:prstGeom prst="rect">
            <a:avLst/>
          </a:prstGeom>
          <a:noFill/>
          <a:ln/>
        </p:spPr>
        <p:txBody>
          <a:bodyPr wrap="none" lIns="0" tIns="5715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$25K-$75K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575322" y="1646634"/>
            <a:ext cx="1935956" cy="2707481"/>
          </a:xfrm>
          <a:prstGeom prst="roundRect">
            <a:avLst>
              <a:gd name="adj" fmla="val 492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678906" y="1764506"/>
            <a:ext cx="1728787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678906" y="1939528"/>
            <a:ext cx="1728787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44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Solution Design</a:t>
            </a:r>
            <a:endParaRPr lang="en-US" sz="844" dirty="0"/>
          </a:p>
        </p:txBody>
      </p:sp>
      <p:sp>
        <p:nvSpPr>
          <p:cNvPr id="18" name="Text 16"/>
          <p:cNvSpPr/>
          <p:nvPr/>
        </p:nvSpPr>
        <p:spPr>
          <a:xfrm>
            <a:off x="2678906" y="2125266"/>
            <a:ext cx="17287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3-4 WEEKS · FIXED FEE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678906" y="2318147"/>
            <a:ext cx="1728788" cy="7144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2678906" y="2425303"/>
            <a:ext cx="1728788" cy="154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81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DELIVERABLES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678906" y="2607469"/>
            <a:ext cx="1728788" cy="661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897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Target architecture</a:t>
            </a:r>
            <a:endParaRPr lang="en-US" sz="800" dirty="0"/>
          </a:p>
          <a:p>
            <a:pPr algn="l" marL="342900" indent="-342900">
              <a:lnSpc>
                <a:spcPts val="897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CoE charter</a:t>
            </a:r>
            <a:endParaRPr lang="en-US" sz="800" dirty="0"/>
          </a:p>
          <a:p>
            <a:pPr algn="l" marL="342900" indent="-342900">
              <a:lnSpc>
                <a:spcPts val="897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Governance framework</a:t>
            </a:r>
            <a:endParaRPr lang="en-US" sz="800" dirty="0"/>
          </a:p>
          <a:p>
            <a:pPr algn="l" marL="342900" indent="-342900">
              <a:lnSpc>
                <a:spcPts val="897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Build plan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678906" y="4046934"/>
            <a:ext cx="1728788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78906" y="4043363"/>
            <a:ext cx="1728788" cy="192881"/>
          </a:xfrm>
          <a:prstGeom prst="rect">
            <a:avLst/>
          </a:prstGeom>
          <a:noFill/>
          <a:ln/>
        </p:spPr>
        <p:txBody>
          <a:bodyPr wrap="none" lIns="0" tIns="5715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$50K-$150K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632722" y="1646634"/>
            <a:ext cx="1935956" cy="2707481"/>
          </a:xfrm>
          <a:prstGeom prst="roundRect">
            <a:avLst>
              <a:gd name="adj" fmla="val 492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736306" y="1764506"/>
            <a:ext cx="1728787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736306" y="1939528"/>
            <a:ext cx="1728788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44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Delivery</a:t>
            </a:r>
            <a:endParaRPr lang="en-US" sz="844" dirty="0"/>
          </a:p>
        </p:txBody>
      </p:sp>
      <p:sp>
        <p:nvSpPr>
          <p:cNvPr id="27" name="Text 25"/>
          <p:cNvSpPr/>
          <p:nvPr/>
        </p:nvSpPr>
        <p:spPr>
          <a:xfrm>
            <a:off x="4736306" y="2125266"/>
            <a:ext cx="17287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8-24 WEEKS · T&amp;M OR FIXED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736306" y="2318147"/>
            <a:ext cx="1728788" cy="7144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736306" y="2425303"/>
            <a:ext cx="1728788" cy="154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81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DELIVERABLES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736306" y="2607469"/>
            <a:ext cx="1728788" cy="661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897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Production system</a:t>
            </a:r>
            <a:endParaRPr lang="en-US" sz="800" dirty="0"/>
          </a:p>
          <a:p>
            <a:pPr algn="l" marL="342900" indent="-342900">
              <a:lnSpc>
                <a:spcPts val="897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Integration complete</a:t>
            </a:r>
            <a:endParaRPr lang="en-US" sz="800" dirty="0"/>
          </a:p>
          <a:p>
            <a:pPr algn="l" marL="342900" indent="-342900">
              <a:lnSpc>
                <a:spcPts val="897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Documentation</a:t>
            </a:r>
            <a:endParaRPr lang="en-US" sz="800" dirty="0"/>
          </a:p>
          <a:p>
            <a:pPr algn="l" marL="342900" indent="-342900">
              <a:lnSpc>
                <a:spcPts val="897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Knowledge transfer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736306" y="4046934"/>
            <a:ext cx="1728788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36306" y="4043363"/>
            <a:ext cx="1728788" cy="192881"/>
          </a:xfrm>
          <a:prstGeom prst="rect">
            <a:avLst/>
          </a:prstGeom>
          <a:noFill/>
          <a:ln/>
        </p:spPr>
        <p:txBody>
          <a:bodyPr wrap="none" lIns="0" tIns="5715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$300K-$1M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690122" y="1646634"/>
            <a:ext cx="1935956" cy="2707481"/>
          </a:xfrm>
          <a:prstGeom prst="roundRect">
            <a:avLst>
              <a:gd name="adj" fmla="val 492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6793706" y="1764506"/>
            <a:ext cx="1728787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793706" y="1939528"/>
            <a:ext cx="1728788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44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Managed Operations</a:t>
            </a:r>
            <a:endParaRPr lang="en-US" sz="844" dirty="0"/>
          </a:p>
        </p:txBody>
      </p:sp>
      <p:sp>
        <p:nvSpPr>
          <p:cNvPr id="36" name="Text 34"/>
          <p:cNvSpPr/>
          <p:nvPr/>
        </p:nvSpPr>
        <p:spPr>
          <a:xfrm>
            <a:off x="6793706" y="2125266"/>
            <a:ext cx="17287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ONGOING · RETAINER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793706" y="2318147"/>
            <a:ext cx="1728788" cy="7144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6793706" y="2425303"/>
            <a:ext cx="1728788" cy="154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81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DELIVERABLES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793706" y="2607469"/>
            <a:ext cx="1728788" cy="661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897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Managed services</a:t>
            </a:r>
            <a:endParaRPr lang="en-US" sz="800" dirty="0"/>
          </a:p>
          <a:p>
            <a:pPr algn="l" marL="342900" indent="-342900">
              <a:lnSpc>
                <a:spcPts val="897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Continuous optimization</a:t>
            </a:r>
            <a:endParaRPr lang="en-US" sz="800" dirty="0"/>
          </a:p>
          <a:p>
            <a:pPr algn="l" marL="342900" indent="-342900">
              <a:lnSpc>
                <a:spcPts val="897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Quarterly reviews</a:t>
            </a:r>
            <a:endParaRPr lang="en-US" sz="800" dirty="0"/>
          </a:p>
          <a:p>
            <a:pPr algn="l" marL="342900" indent="-342900">
              <a:lnSpc>
                <a:spcPts val="897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SLA-backed operations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793706" y="4046934"/>
            <a:ext cx="1728788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793706" y="4043363"/>
            <a:ext cx="1728788" cy="192881"/>
          </a:xfrm>
          <a:prstGeom prst="rect">
            <a:avLst/>
          </a:prstGeom>
          <a:noFill/>
          <a:ln/>
        </p:spPr>
        <p:txBody>
          <a:bodyPr wrap="none" lIns="0" tIns="5715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$50K-$500K / mo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14350" y="4754166"/>
            <a:ext cx="3786076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314713" y="4750594"/>
            <a:ext cx="3336243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 / 12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7665244" y="4750594"/>
            <a:ext cx="96440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ENGAGEMENT PATHWAY</a:t>
            </a:r>
            <a:endParaRPr lang="en-US" sz="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57200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685800"/>
            <a:ext cx="118957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 KEFI TECH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857250"/>
            <a:ext cx="8629650" cy="282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9"/>
              </a:lnSpc>
              <a:buNone/>
            </a:pPr>
            <a:r>
              <a:rPr lang="en-US" sz="1688" b="1" spc="-20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Four reasons enterprises work with us.</a:t>
            </a:r>
            <a:endParaRPr lang="en-US" sz="1688" dirty="0"/>
          </a:p>
        </p:txBody>
      </p:sp>
      <p:sp>
        <p:nvSpPr>
          <p:cNvPr id="5" name="Text 3"/>
          <p:cNvSpPr/>
          <p:nvPr/>
        </p:nvSpPr>
        <p:spPr>
          <a:xfrm>
            <a:off x="514350" y="1343025"/>
            <a:ext cx="7858125" cy="16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Not generic services. Specific differentiators for bfsi &amp; insurance.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14350" y="1714500"/>
            <a:ext cx="3986213" cy="1214438"/>
          </a:xfrm>
          <a:prstGeom prst="roundRect">
            <a:avLst>
              <a:gd name="adj" fmla="val 6275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14350" y="1718072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96991" y="1714500"/>
            <a:ext cx="0" cy="1214438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4350" y="2925366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28638" y="1714500"/>
            <a:ext cx="0" cy="1214438"/>
          </a:xfrm>
          <a:prstGeom prst="line">
            <a:avLst/>
          </a:prstGeom>
          <a:noFill/>
          <a:ln w="28575">
            <a:solidFill>
              <a:srgbClr val="004C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0088" y="1850231"/>
            <a:ext cx="36361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79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00088" y="2057400"/>
            <a:ext cx="3636169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Dual-focus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00088" y="2257425"/>
            <a:ext cx="363616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Security and performance tested together — one team, two disciplines.</a:t>
            </a:r>
            <a:endParaRPr lang="en-US" sz="675" dirty="0"/>
          </a:p>
        </p:txBody>
      </p:sp>
      <p:sp>
        <p:nvSpPr>
          <p:cNvPr id="14" name="Text 12"/>
          <p:cNvSpPr/>
          <p:nvPr/>
        </p:nvSpPr>
        <p:spPr>
          <a:xfrm>
            <a:off x="4643438" y="1714500"/>
            <a:ext cx="3986213" cy="1214438"/>
          </a:xfrm>
          <a:prstGeom prst="roundRect">
            <a:avLst>
              <a:gd name="adj" fmla="val 6275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643438" y="1718072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26078" y="1714500"/>
            <a:ext cx="0" cy="1214438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43438" y="2925366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57725" y="1714500"/>
            <a:ext cx="0" cy="1214438"/>
          </a:xfrm>
          <a:prstGeom prst="line">
            <a:avLst/>
          </a:prstGeom>
          <a:noFill/>
          <a:ln w="28575">
            <a:solidFill>
              <a:srgbClr val="004C9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29175" y="1850231"/>
            <a:ext cx="36361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79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829175" y="2057400"/>
            <a:ext cx="3636169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Certified expertise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29175" y="2257425"/>
            <a:ext cx="363616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CEH, CISM, CISO, CASP, eCPPT, CAP, CVE contributor, Google Bug Bounty.</a:t>
            </a:r>
            <a:endParaRPr lang="en-US" sz="675" dirty="0"/>
          </a:p>
        </p:txBody>
      </p:sp>
      <p:sp>
        <p:nvSpPr>
          <p:cNvPr id="22" name="Text 20"/>
          <p:cNvSpPr/>
          <p:nvPr/>
        </p:nvSpPr>
        <p:spPr>
          <a:xfrm>
            <a:off x="514350" y="3071813"/>
            <a:ext cx="3986213" cy="1214438"/>
          </a:xfrm>
          <a:prstGeom prst="roundRect">
            <a:avLst>
              <a:gd name="adj" fmla="val 6275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514350" y="3075384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96991" y="3071813"/>
            <a:ext cx="0" cy="1214438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14350" y="4282678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28638" y="3071813"/>
            <a:ext cx="0" cy="1214438"/>
          </a:xfrm>
          <a:prstGeom prst="line">
            <a:avLst/>
          </a:prstGeom>
          <a:noFill/>
          <a:ln w="28575">
            <a:solidFill>
              <a:srgbClr val="004C9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0088" y="3207544"/>
            <a:ext cx="36361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79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00088" y="3414713"/>
            <a:ext cx="3636169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Shift-everywhere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00088" y="3614738"/>
            <a:ext cx="363616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Testing in every sprint, every pipeline, every release — not a gate.</a:t>
            </a:r>
            <a:endParaRPr lang="en-US" sz="675" dirty="0"/>
          </a:p>
        </p:txBody>
      </p:sp>
      <p:sp>
        <p:nvSpPr>
          <p:cNvPr id="30" name="Text 28"/>
          <p:cNvSpPr/>
          <p:nvPr/>
        </p:nvSpPr>
        <p:spPr>
          <a:xfrm>
            <a:off x="4643438" y="3071813"/>
            <a:ext cx="3986213" cy="1214438"/>
          </a:xfrm>
          <a:prstGeom prst="roundRect">
            <a:avLst>
              <a:gd name="adj" fmla="val 6275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4643438" y="3075384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626078" y="3071813"/>
            <a:ext cx="0" cy="1214438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43438" y="4282678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57725" y="3071813"/>
            <a:ext cx="0" cy="1214438"/>
          </a:xfrm>
          <a:prstGeom prst="line">
            <a:avLst/>
          </a:prstGeom>
          <a:noFill/>
          <a:ln w="28575">
            <a:solidFill>
              <a:srgbClr val="FF6C0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29175" y="3207544"/>
            <a:ext cx="36361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79" kern="0" dirty="0">
                <a:solidFill>
                  <a:srgbClr val="D43F0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829175" y="3414713"/>
            <a:ext cx="3636169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systems testing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829175" y="3614738"/>
            <a:ext cx="363616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Dedicated AI testing capability — LLM eval, bias, prompt/response validation.</a:t>
            </a:r>
            <a:endParaRPr lang="en-US" sz="675" dirty="0"/>
          </a:p>
        </p:txBody>
      </p:sp>
      <p:sp>
        <p:nvSpPr>
          <p:cNvPr id="38" name="Shape 36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4350" y="4754166"/>
            <a:ext cx="3951163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479801" y="4750594"/>
            <a:ext cx="3501330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11 / 12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7967409" y="4750594"/>
            <a:ext cx="690250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 KEFI TECH</a:t>
            </a:r>
            <a:endParaRPr lang="en-US" sz="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2863" cy="5143500"/>
          </a:xfrm>
          <a:prstGeom prst="rect">
            <a:avLst/>
          </a:prstGeom>
        </p:spPr>
      </p:pic>
      <p:pic>
        <p:nvPicPr>
          <p:cNvPr id="3" name="Image 1" descr="/tmp/h2p-fit-1790827197347-icki9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685800"/>
            <a:ext cx="1714500" cy="28999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42950" y="1714500"/>
            <a:ext cx="786218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36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GET IN TOUCH</a:t>
            </a:r>
            <a:endParaRPr lang="en-US" sz="800" dirty="0"/>
          </a:p>
        </p:txBody>
      </p:sp>
      <p:sp>
        <p:nvSpPr>
          <p:cNvPr id="5" name="Text 1"/>
          <p:cNvSpPr/>
          <p:nvPr/>
        </p:nvSpPr>
        <p:spPr>
          <a:xfrm>
            <a:off x="742950" y="2003822"/>
            <a:ext cx="6443663" cy="907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7"/>
              </a:lnSpc>
              <a:buNone/>
            </a:pPr>
            <a:r>
              <a:rPr lang="en-US" sz="3150" b="1" spc="-79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Let us engineer</a:t>
            </a:r>
            <a:endParaRPr lang="en-US" sz="3150" dirty="0"/>
          </a:p>
          <a:p>
            <a:pPr algn="l" indent="0" marL="0">
              <a:lnSpc>
                <a:spcPts val="3307"/>
              </a:lnSpc>
              <a:buNone/>
            </a:pPr>
            <a:r>
              <a:rPr lang="en-US" sz="3150" b="1" spc="-79" kern="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is next.</a:t>
            </a:r>
            <a:endParaRPr lang="en-US" sz="3150" dirty="0"/>
          </a:p>
        </p:txBody>
      </p:sp>
      <p:sp>
        <p:nvSpPr>
          <p:cNvPr id="6" name="Text 2"/>
          <p:cNvSpPr/>
          <p:nvPr/>
        </p:nvSpPr>
        <p:spPr>
          <a:xfrm>
            <a:off x="742950" y="3072482"/>
            <a:ext cx="6326505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info@kefitech.com · www.kefitech.com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742950" y="3301082"/>
            <a:ext cx="6326505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Bengaluru, India · Hyderabad, India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6572250" y="1714500"/>
            <a:ext cx="7144" cy="2143125"/>
          </a:xfrm>
          <a:prstGeom prst="rect">
            <a:avLst/>
          </a:prstGeom>
          <a:solidFill>
            <a:srgbClr val="94A3B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7454035" y="2850356"/>
            <a:ext cx="94701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181"/>
              </a:lnSpc>
              <a:buNone/>
            </a:pPr>
            <a:r>
              <a:rPr lang="en-US" sz="800" spc="110" kern="0" dirty="0">
                <a:solidFill>
                  <a:srgbClr val="004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Discover.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7454035" y="3257550"/>
            <a:ext cx="94701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181"/>
              </a:lnSpc>
              <a:buNone/>
            </a:pPr>
            <a:r>
              <a:rPr lang="en-US" sz="800" spc="110" kern="0" dirty="0">
                <a:solidFill>
                  <a:srgbClr val="004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Engineer.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7769601" y="3664744"/>
            <a:ext cx="63144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181"/>
              </a:lnSpc>
              <a:buNone/>
            </a:pPr>
            <a:r>
              <a:rPr lang="en-US" sz="800" spc="110" kern="0" dirty="0">
                <a:solidFill>
                  <a:srgbClr val="FF6C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Scale.</a:t>
            </a:r>
            <a:endParaRPr lang="en-US" sz="800" dirty="0"/>
          </a:p>
        </p:txBody>
      </p:sp>
      <p:sp>
        <p:nvSpPr>
          <p:cNvPr id="12" name="Shape 8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14350" y="4754166"/>
            <a:ext cx="3360800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3889437" y="4750594"/>
            <a:ext cx="2910855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12 / 12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6814579" y="4750594"/>
            <a:ext cx="1923975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INFO@KEFITECH.COM · WWW.KEFITECH.COM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2026-10-01T03:59:57Z</dcterms:created>
  <dcterms:modified xsi:type="dcterms:W3CDTF">2026-10-01T03:59:57Z</dcterms:modified>
</cp:coreProperties>
</file>