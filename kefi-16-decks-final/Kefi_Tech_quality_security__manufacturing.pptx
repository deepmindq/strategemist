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27240338-s42at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714500" cy="289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31086" y="571500"/>
            <a:ext cx="30383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&amp; SECURITY ENGINEERING SERVICES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68959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MANUFACTURING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60959"/>
            <a:ext cx="5972175" cy="1540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</a:t>
            </a:r>
            <a:endParaRPr lang="en-US" sz="3600" dirty="0"/>
          </a:p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Manufacturing.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3515730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665748"/>
            <a:ext cx="4000500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capability brief on Kefi Tech Quality &amp; Security Engineering Services for Manufacturing.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7436867" y="1743075"/>
            <a:ext cx="116550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436867" y="1850231"/>
            <a:ext cx="8967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900429" y="2200275"/>
            <a:ext cx="42380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900429" y="2307431"/>
            <a:ext cx="423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VAPT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436867" y="2657475"/>
            <a:ext cx="116550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436867" y="2764631"/>
            <a:ext cx="8967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393906" y="1714500"/>
            <a:ext cx="7144" cy="17145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4350" y="4754166"/>
            <a:ext cx="585408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382717" y="4750594"/>
            <a:ext cx="23566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QUALITY &amp; SECURITY ENGINEERING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57238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32259"/>
            <a:ext cx="8401050" cy="53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is converging physical operations with digital intelligence.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742950" y="1495053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operations, predictive maintenance, supply chain visibility and quality at scale define the modern factory.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775222"/>
            <a:ext cx="399335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21544" y="1935956"/>
            <a:ext cx="37530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MANUFACTURING NEEDS THIS NOW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25116" y="2175272"/>
            <a:ext cx="3636169" cy="429964"/>
          </a:xfrm>
          <a:prstGeom prst="roundRect">
            <a:avLst>
              <a:gd name="adj" fmla="val 1772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028700" y="22717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1257300" y="2264569"/>
            <a:ext cx="2535062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257300" y="2402086"/>
            <a:ext cx="234728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3" name="Text 10"/>
          <p:cNvSpPr/>
          <p:nvPr/>
        </p:nvSpPr>
        <p:spPr>
          <a:xfrm>
            <a:off x="925116" y="2683818"/>
            <a:ext cx="3636169" cy="429964"/>
          </a:xfrm>
          <a:prstGeom prst="roundRect">
            <a:avLst>
              <a:gd name="adj" fmla="val 1772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028700" y="278025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1257300" y="2773114"/>
            <a:ext cx="3050658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257300" y="2910632"/>
            <a:ext cx="282468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925116" y="3192363"/>
            <a:ext cx="3636169" cy="429964"/>
          </a:xfrm>
          <a:prstGeom prst="roundRect">
            <a:avLst>
              <a:gd name="adj" fmla="val 1772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028700" y="328880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1257300" y="3281660"/>
            <a:ext cx="2745062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257300" y="3419177"/>
            <a:ext cx="2541724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21" name="Text 18"/>
          <p:cNvSpPr/>
          <p:nvPr/>
        </p:nvSpPr>
        <p:spPr>
          <a:xfrm>
            <a:off x="925116" y="3700909"/>
            <a:ext cx="3636169" cy="429964"/>
          </a:xfrm>
          <a:prstGeom prst="roundRect">
            <a:avLst>
              <a:gd name="adj" fmla="val 1772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028700" y="379735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1257300" y="3790206"/>
            <a:ext cx="2903586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257300" y="3927723"/>
            <a:ext cx="2688506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5004197" y="1775222"/>
            <a:ext cx="3393281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179219" y="1935956"/>
            <a:ext cx="304323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QUALITY &amp; SECURITY ENGINEERING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179219" y="2278856"/>
            <a:ext cx="3043238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applied to manufacturing requires industry-specific capability, not generic technology. The right approach connects quality &amp; security engineering to the regulatory, operational and customer realities that define manufacturing.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179219" y="4043363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179219" y="4043363"/>
            <a:ext cx="1477194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4350" y="4754166"/>
            <a:ext cx="386164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390281" y="4750594"/>
            <a:ext cx="341169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816267" y="4750594"/>
            <a:ext cx="8133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57238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32259"/>
            <a:ext cx="8401050" cy="251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9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across the complete lifecycle.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42950" y="1211089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covering the full quality &amp; security engineering spectrum.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668066"/>
            <a:ext cx="1747428" cy="378619"/>
          </a:xfrm>
          <a:prstGeom prst="roundRect">
            <a:avLst>
              <a:gd name="adj" fmla="val 2012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78681" y="17716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9" name="Text 6"/>
          <p:cNvSpPr/>
          <p:nvPr/>
        </p:nvSpPr>
        <p:spPr>
          <a:xfrm>
            <a:off x="1121569" y="1782366"/>
            <a:ext cx="124022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554672" y="1760934"/>
            <a:ext cx="9889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2714290" y="1668066"/>
            <a:ext cx="1747540" cy="378619"/>
          </a:xfrm>
          <a:prstGeom prst="roundRect">
            <a:avLst>
              <a:gd name="adj" fmla="val 2012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846450" y="17716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3" name="Text 10"/>
          <p:cNvSpPr/>
          <p:nvPr/>
        </p:nvSpPr>
        <p:spPr>
          <a:xfrm>
            <a:off x="3089337" y="1782366"/>
            <a:ext cx="124033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22552" y="1760934"/>
            <a:ext cx="9889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5" name="Text 12"/>
          <p:cNvSpPr/>
          <p:nvPr/>
        </p:nvSpPr>
        <p:spPr>
          <a:xfrm>
            <a:off x="4682170" y="1668066"/>
            <a:ext cx="1747428" cy="378619"/>
          </a:xfrm>
          <a:prstGeom prst="roundRect">
            <a:avLst>
              <a:gd name="adj" fmla="val 2012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14329" y="17716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17" name="Text 14"/>
          <p:cNvSpPr/>
          <p:nvPr/>
        </p:nvSpPr>
        <p:spPr>
          <a:xfrm>
            <a:off x="5057217" y="1782366"/>
            <a:ext cx="124022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90320" y="1760934"/>
            <a:ext cx="9889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9" name="Text 16"/>
          <p:cNvSpPr/>
          <p:nvPr/>
        </p:nvSpPr>
        <p:spPr>
          <a:xfrm>
            <a:off x="6649938" y="1668066"/>
            <a:ext cx="1747540" cy="378619"/>
          </a:xfrm>
          <a:prstGeom prst="roundRect">
            <a:avLst>
              <a:gd name="adj" fmla="val 2012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782098" y="17716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1" name="Text 18"/>
          <p:cNvSpPr/>
          <p:nvPr/>
        </p:nvSpPr>
        <p:spPr>
          <a:xfrm>
            <a:off x="7024985" y="1782366"/>
            <a:ext cx="124033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46522" y="2260997"/>
            <a:ext cx="2488369" cy="850106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50106" y="23502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4" name="Text 21"/>
          <p:cNvSpPr/>
          <p:nvPr/>
        </p:nvSpPr>
        <p:spPr>
          <a:xfrm>
            <a:off x="3007994" y="2377083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850106" y="2564606"/>
            <a:ext cx="23909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50106" y="2727461"/>
            <a:ext cx="2281200" cy="29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SAST, DAST, SCA, secure code review, CI/CD pipeline security, OWASP, NIST, SANS.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327760" y="2260997"/>
            <a:ext cx="2488369" cy="850106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431344" y="23502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9" name="Text 26"/>
          <p:cNvSpPr/>
          <p:nvPr/>
        </p:nvSpPr>
        <p:spPr>
          <a:xfrm>
            <a:off x="5589231" y="2377083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19" dirty="0"/>
          </a:p>
        </p:txBody>
      </p:sp>
      <p:sp>
        <p:nvSpPr>
          <p:cNvPr id="30" name="Text 27"/>
          <p:cNvSpPr/>
          <p:nvPr/>
        </p:nvSpPr>
        <p:spPr>
          <a:xfrm>
            <a:off x="3431344" y="2564606"/>
            <a:ext cx="2281200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431344" y="2727461"/>
            <a:ext cx="2281200" cy="29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Web, API, mobile, IoT, cloud, container VAPT. MITRE ATT&amp;CK, CIS frameworks.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908997" y="2260997"/>
            <a:ext cx="2488481" cy="850106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012582" y="23502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688" dirty="0"/>
          </a:p>
        </p:txBody>
      </p:sp>
      <p:sp>
        <p:nvSpPr>
          <p:cNvPr id="34" name="Text 31"/>
          <p:cNvSpPr/>
          <p:nvPr/>
        </p:nvSpPr>
        <p:spPr>
          <a:xfrm>
            <a:off x="8170581" y="2377083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19" dirty="0"/>
          </a:p>
        </p:txBody>
      </p:sp>
      <p:sp>
        <p:nvSpPr>
          <p:cNvPr id="35" name="Text 32"/>
          <p:cNvSpPr/>
          <p:nvPr/>
        </p:nvSpPr>
        <p:spPr>
          <a:xfrm>
            <a:off x="6012582" y="2564606"/>
            <a:ext cx="2281312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012582" y="2727461"/>
            <a:ext cx="2281312" cy="29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Load, stress, spike, soak testing. Capacity planning, bottleneck analysis, tuning.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46522" y="3203972"/>
            <a:ext cx="2488369" cy="850106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850106" y="32932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688" dirty="0"/>
          </a:p>
        </p:txBody>
      </p:sp>
      <p:sp>
        <p:nvSpPr>
          <p:cNvPr id="39" name="Text 36"/>
          <p:cNvSpPr/>
          <p:nvPr/>
        </p:nvSpPr>
        <p:spPr>
          <a:xfrm>
            <a:off x="3007994" y="3320058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19" dirty="0"/>
          </a:p>
        </p:txBody>
      </p:sp>
      <p:sp>
        <p:nvSpPr>
          <p:cNvPr id="40" name="Text 37"/>
          <p:cNvSpPr/>
          <p:nvPr/>
        </p:nvSpPr>
        <p:spPr>
          <a:xfrm>
            <a:off x="850106" y="3507581"/>
            <a:ext cx="23909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50106" y="3670436"/>
            <a:ext cx="2281200" cy="29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UI, web, mobile, API automation, BDD, codeless/AI-assisted, CI/CD integration.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327760" y="3203972"/>
            <a:ext cx="2488369" cy="850106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3431344" y="32932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44" name="Text 41"/>
          <p:cNvSpPr/>
          <p:nvPr/>
        </p:nvSpPr>
        <p:spPr>
          <a:xfrm>
            <a:off x="5589231" y="3320058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19" dirty="0"/>
          </a:p>
        </p:txBody>
      </p:sp>
      <p:sp>
        <p:nvSpPr>
          <p:cNvPr id="45" name="Text 42"/>
          <p:cNvSpPr/>
          <p:nvPr/>
        </p:nvSpPr>
        <p:spPr>
          <a:xfrm>
            <a:off x="3431344" y="3507581"/>
            <a:ext cx="23909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&amp; Intelligent Systems Testing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431344" y="3670436"/>
            <a:ext cx="2281200" cy="29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model testing, GenAI/LLM testing, bias assessment, prompt/response validation.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908997" y="3203972"/>
            <a:ext cx="2488481" cy="850106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012582" y="32932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688" dirty="0"/>
          </a:p>
        </p:txBody>
      </p:sp>
      <p:sp>
        <p:nvSpPr>
          <p:cNvPr id="49" name="Text 46"/>
          <p:cNvSpPr/>
          <p:nvPr/>
        </p:nvSpPr>
        <p:spPr>
          <a:xfrm>
            <a:off x="8170581" y="3320058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19" dirty="0"/>
          </a:p>
        </p:txBody>
      </p:sp>
      <p:sp>
        <p:nvSpPr>
          <p:cNvPr id="50" name="Text 47"/>
          <p:cNvSpPr/>
          <p:nvPr/>
        </p:nvSpPr>
        <p:spPr>
          <a:xfrm>
            <a:off x="6012582" y="3507581"/>
            <a:ext cx="2391040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Consulting &amp; Assurance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6012582" y="3670436"/>
            <a:ext cx="2281312" cy="29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strategy, QA process assessment, quality governance, release readiness, metrics.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46547"/>
            <a:ext cx="8401050" cy="28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259086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SAST, DAST, SCA, secure code review, CI/CD pipeline security, OWASP, NIST, SANS.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775222"/>
            <a:ext cx="399335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35831" y="1950244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35831" y="2185988"/>
            <a:ext cx="361473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security &amp; devsecops capability is engineered for manufacturing environments. We bring together the quality &amp; security engineering discipline, the manufacturing domain context, and the engineering rigor required to ship production-grade solutions.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12971" y="402136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35831" y="402907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04197" y="1775222"/>
            <a:ext cx="3393281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64931" y="1950244"/>
            <a:ext cx="30718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68503" y="2160984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57800" y="2283768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6400" y="227841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686425" y="2235994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86425" y="2353084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manufacturing.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168503" y="2588828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57800" y="2711611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86400" y="27062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686425" y="2663837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86425" y="2780928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manufacturing.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68503" y="3016672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57800" y="3139455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86400" y="31340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686425" y="3091681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86425" y="3208772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manufacturing.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168503" y="3444515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57800" y="3567299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86400" y="35619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686425" y="3519525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86425" y="3636615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manufacturing.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5168503" y="3872359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57800" y="3995142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86400" y="39897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686425" y="3947368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86425" y="4064459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manufacturing.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4908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19476" y="4750594"/>
            <a:ext cx="30410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074768" y="4750594"/>
            <a:ext cx="16481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46547"/>
            <a:ext cx="8041005" cy="2851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259086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Web, API, mobile, IoT, cloud, container VAPT. MITRE ATT&amp;CK, CIS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775222"/>
            <a:ext cx="399335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35831" y="1950244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35831" y="2185988"/>
            <a:ext cx="361473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vapt &amp; risk assessment capability is engineered for manufacturing environments. We bring together the quality &amp; security engineering discipline, the manufacturing domain context, and the engineering rigor required to ship production-grade solutions.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12971" y="402136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35831" y="402907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04197" y="1775222"/>
            <a:ext cx="3393281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64931" y="1950244"/>
            <a:ext cx="30718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68503" y="2160984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57800" y="2283768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6400" y="227841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686425" y="2235994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86425" y="2353084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manufacturing.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168503" y="2588828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57800" y="2711611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86400" y="27062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686425" y="2663837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86425" y="2780928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manufacturing.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68503" y="3016672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57800" y="3139455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86400" y="31340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686425" y="3091681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86425" y="3208772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manufacturing.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168503" y="3444515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57800" y="3567299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86400" y="35619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686425" y="3519525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86425" y="3636615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manufacturing.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5168503" y="3872359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57800" y="3995142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86400" y="39897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686425" y="3947368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86425" y="4064459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manufacturing.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73249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261135" y="4750594"/>
            <a:ext cx="328255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557976" y="4750594"/>
            <a:ext cx="107167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46547"/>
            <a:ext cx="8401050" cy="28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259086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Load, stress, spike, soak testing. Capacity planning, bottleneck analysis, tuning.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775222"/>
            <a:ext cx="399335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35831" y="1950244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35831" y="2185988"/>
            <a:ext cx="361473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performance engineering capability is engineered for manufacturing environments. We bring together the quality &amp; security engineering discipline, the manufacturing domain context, and the engineering rigor required to ship production-grade solutions.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12971" y="402136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35831" y="402907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04197" y="1775222"/>
            <a:ext cx="3393281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64931" y="1950244"/>
            <a:ext cx="30718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68503" y="2160984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57800" y="2283768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6400" y="227841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686425" y="2235994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86425" y="2353084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manufacturing.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168503" y="2588828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57800" y="2711611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86400" y="27062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686425" y="2663837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86425" y="2780928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manufacturing.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68503" y="3016672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57800" y="3139455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86400" y="31340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686425" y="3091681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86425" y="3208772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manufacturing.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168503" y="3444515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57800" y="3567299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86400" y="35619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686425" y="3519525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86425" y="3636615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manufacturing.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5168503" y="3872359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57800" y="3995142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86400" y="39897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686425" y="3947368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86425" y="4064459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manufacturing.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67021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98851" y="4750594"/>
            <a:ext cx="322026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433407" y="4750594"/>
            <a:ext cx="119624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46547"/>
            <a:ext cx="8401050" cy="268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742950" y="1242231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UI, web, mobile, API automation, BDD, codeless/AI-assisted, CI/CD integration.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775222"/>
            <a:ext cx="399335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35831" y="1950244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35831" y="2185988"/>
            <a:ext cx="361473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test automation &amp; continuous testing capability is engineered for manufacturing environments. We bring together the quality &amp; security engineering discipline, the manufacturing domain context, and the engineering rigor required to ship production-grade solutions.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12971" y="402136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35831" y="402907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04197" y="1775222"/>
            <a:ext cx="3393281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64931" y="1950244"/>
            <a:ext cx="30718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68503" y="2160984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57800" y="2283768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6400" y="227841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686425" y="2235994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86425" y="2353084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manufacturing.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168503" y="2588828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57800" y="2711611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86400" y="27062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686425" y="2663837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86425" y="2780928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manufacturing.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68503" y="3016672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57800" y="3139455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86400" y="31340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686425" y="3091681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86425" y="3208772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manufacturing.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168503" y="3444515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57800" y="3567299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86400" y="35619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686425" y="3519525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86425" y="3636615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manufacturing.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5168503" y="3872359"/>
            <a:ext cx="3064669" cy="363550"/>
          </a:xfrm>
          <a:prstGeom prst="roundRect">
            <a:avLst>
              <a:gd name="adj" fmla="val 2096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57800" y="3995142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86400" y="39897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686425" y="3947368"/>
            <a:ext cx="2457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86425" y="4064459"/>
            <a:ext cx="24574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manufacturing.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36738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896023" y="4750594"/>
            <a:ext cx="291744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827751" y="4750594"/>
            <a:ext cx="191001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46547"/>
            <a:ext cx="8401050" cy="268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quality &amp; security engineering applies to manufacturing.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742950" y="1242231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where quality &amp; security engineering creates measurable value.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860947"/>
            <a:ext cx="3764756" cy="1064419"/>
          </a:xfrm>
          <a:prstGeom prst="roundRect">
            <a:avLst>
              <a:gd name="adj" fmla="val 894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07256" y="199310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287143" y="2023467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07256" y="2264569"/>
            <a:ext cx="34432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Computer Vision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907256" y="2524534"/>
            <a:ext cx="3443288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Defect detection, visual inspection, safety monitoring, production line analytics.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4632722" y="1860947"/>
            <a:ext cx="3764756" cy="1064419"/>
          </a:xfrm>
          <a:prstGeom prst="roundRect">
            <a:avLst>
              <a:gd name="adj" fmla="val 894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93456" y="199310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089204" y="202346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31" dirty="0"/>
          </a:p>
        </p:txBody>
      </p:sp>
      <p:sp>
        <p:nvSpPr>
          <p:cNvPr id="15" name="Text 12"/>
          <p:cNvSpPr/>
          <p:nvPr/>
        </p:nvSpPr>
        <p:spPr>
          <a:xfrm>
            <a:off x="4793456" y="2264569"/>
            <a:ext cx="34432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Maintenance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793456" y="2524534"/>
            <a:ext cx="3443288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Equipment health monitoring, failure prediction, maintenance scheduling optimization.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46522" y="3046809"/>
            <a:ext cx="3764756" cy="1064419"/>
          </a:xfrm>
          <a:prstGeom prst="roundRect">
            <a:avLst>
              <a:gd name="adj" fmla="val 894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07256" y="31789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137332" y="3209330"/>
            <a:ext cx="2363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31" dirty="0"/>
          </a:p>
        </p:txBody>
      </p:sp>
      <p:sp>
        <p:nvSpPr>
          <p:cNvPr id="20" name="Text 17"/>
          <p:cNvSpPr/>
          <p:nvPr/>
        </p:nvSpPr>
        <p:spPr>
          <a:xfrm>
            <a:off x="907256" y="3450431"/>
            <a:ext cx="35530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Intelligence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907256" y="3710397"/>
            <a:ext cx="3443288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Demand forecasting, inventory optimization, supplier risk, logistics visibility.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4632722" y="3046809"/>
            <a:ext cx="3764756" cy="1064419"/>
          </a:xfrm>
          <a:prstGeom prst="roundRect">
            <a:avLst>
              <a:gd name="adj" fmla="val 894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93456" y="31789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089204" y="3209330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31" dirty="0"/>
          </a:p>
        </p:txBody>
      </p:sp>
      <p:sp>
        <p:nvSpPr>
          <p:cNvPr id="25" name="Text 22"/>
          <p:cNvSpPr/>
          <p:nvPr/>
        </p:nvSpPr>
        <p:spPr>
          <a:xfrm>
            <a:off x="4793456" y="3450431"/>
            <a:ext cx="34432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Copilots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793456" y="3710397"/>
            <a:ext cx="3443288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Floor-worker assistants, knowledge access, workflow automation, quality intelligence.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7627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291385" y="4750594"/>
            <a:ext cx="33129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618586" y="4750594"/>
            <a:ext cx="101106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46547"/>
            <a:ext cx="8401050" cy="268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quality &amp; security engineering.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742950" y="1242231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from foundation through consumption.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718072"/>
            <a:ext cx="76509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50094" y="1721644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675209" y="1721644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0094" y="1721644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1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764506" y="1885950"/>
            <a:ext cx="40317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762488" y="1896666"/>
            <a:ext cx="40721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OWASP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210544" y="1885950"/>
            <a:ext cx="46546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148553" y="1896666"/>
            <a:ext cx="5894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NIST CSF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718867" y="1885950"/>
            <a:ext cx="66849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619924" y="1896666"/>
            <a:ext cx="86638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MITRE ATT&amp;CK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430228" y="1885950"/>
            <a:ext cx="51557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356130" y="1896666"/>
            <a:ext cx="66377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ISO 27001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988668" y="1885950"/>
            <a:ext cx="36254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986715" y="1896666"/>
            <a:ext cx="36645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SOC 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46522" y="2346722"/>
            <a:ext cx="76509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50094" y="2350294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1675209" y="2350294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0094" y="2350294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2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764506" y="2514600"/>
            <a:ext cx="32749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761813" y="2525316"/>
            <a:ext cx="33288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134865" y="2514600"/>
            <a:ext cx="33452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134865" y="2525316"/>
            <a:ext cx="33452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512256" y="2514600"/>
            <a:ext cx="28697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2512256" y="2525316"/>
            <a:ext cx="28697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842096" y="2514600"/>
            <a:ext cx="32280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2837059" y="2525316"/>
            <a:ext cx="33288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207767" y="2514600"/>
            <a:ext cx="54649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122754" y="2525316"/>
            <a:ext cx="71652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 Testing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46522" y="2975372"/>
            <a:ext cx="76509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750094" y="2978944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1675209" y="2978944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0094" y="2978944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3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1764506" y="3143250"/>
            <a:ext cx="31432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1764506" y="3153966"/>
            <a:ext cx="31432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2121694" y="3143250"/>
            <a:ext cx="36243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2092111" y="3153966"/>
            <a:ext cx="42159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Stress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2526990" y="3143250"/>
            <a:ext cx="33620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2515463" y="3153966"/>
            <a:ext cx="35925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Spike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2906055" y="3143250"/>
            <a:ext cx="45507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2860453" y="3153966"/>
            <a:ext cx="54628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Capacity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3403997" y="3143250"/>
            <a:ext cx="36276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3403997" y="3153966"/>
            <a:ext cx="36276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Chaos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46522" y="3604022"/>
            <a:ext cx="76509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750094" y="3607594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8"/>
          <p:cNvSpPr/>
          <p:nvPr/>
        </p:nvSpPr>
        <p:spPr>
          <a:xfrm>
            <a:off x="1675209" y="3607594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50094" y="3607594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4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1764506" y="3771900"/>
            <a:ext cx="21632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1764506" y="3782616"/>
            <a:ext cx="21632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2023690" y="3771900"/>
            <a:ext cx="25594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2022388" y="3782616"/>
            <a:ext cx="25855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2322500" y="3771900"/>
            <a:ext cx="37727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2300340" y="3782616"/>
            <a:ext cx="42159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2742642" y="3771900"/>
            <a:ext cx="30193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2742642" y="3782616"/>
            <a:ext cx="30193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BDD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3087439" y="3771900"/>
            <a:ext cx="53477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980381" y="3782616"/>
            <a:ext cx="7488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AI-Assisted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746522" y="4232672"/>
            <a:ext cx="76509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750094" y="4236244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2"/>
          <p:cNvSpPr/>
          <p:nvPr/>
        </p:nvSpPr>
        <p:spPr>
          <a:xfrm>
            <a:off x="1675209" y="4236244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50094" y="4236244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5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1764506" y="4400550"/>
            <a:ext cx="34278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1742485" y="4411266"/>
            <a:ext cx="38683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2150157" y="4400550"/>
            <a:ext cx="52495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2077151" y="4411266"/>
            <a:ext cx="6709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2717974" y="4400550"/>
            <a:ext cx="79675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2717974" y="4411266"/>
            <a:ext cx="79675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Incident Response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3557588" y="4400550"/>
            <a:ext cx="57384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3509026" y="4411266"/>
            <a:ext cx="6709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46547"/>
            <a:ext cx="8401050" cy="268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operations.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742950" y="1242231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775222"/>
            <a:ext cx="1821656" cy="224347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64394" y="1907381"/>
            <a:ext cx="1585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4394" y="2110978"/>
            <a:ext cx="1585913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1013" dirty="0"/>
          </a:p>
        </p:txBody>
      </p:sp>
      <p:sp>
        <p:nvSpPr>
          <p:cNvPr id="10" name="Text 7"/>
          <p:cNvSpPr/>
          <p:nvPr/>
        </p:nvSpPr>
        <p:spPr>
          <a:xfrm>
            <a:off x="864394" y="2350963"/>
            <a:ext cx="1585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64394" y="2586707"/>
            <a:ext cx="15859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64394" y="2722438"/>
            <a:ext cx="1585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64394" y="2933179"/>
            <a:ext cx="1585913" cy="235324"/>
          </a:xfrm>
          <a:prstGeom prst="rect">
            <a:avLst/>
          </a:prstGeom>
          <a:noFill/>
          <a:ln/>
        </p:spPr>
        <p:txBody>
          <a:bodyPr wrap="squar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maturity assessment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64394" y="3195935"/>
            <a:ext cx="1585913" cy="125377"/>
          </a:xfrm>
          <a:prstGeom prst="rect">
            <a:avLst/>
          </a:prstGeom>
          <a:noFill/>
          <a:ln/>
        </p:spPr>
        <p:txBody>
          <a:bodyPr wrap="squar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64394" y="3348744"/>
            <a:ext cx="1585913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64394" y="3501554"/>
            <a:ext cx="1585913" cy="153526"/>
          </a:xfrm>
          <a:prstGeom prst="rect">
            <a:avLst/>
          </a:prstGeom>
          <a:noFill/>
          <a:ln/>
        </p:spPr>
        <p:txBody>
          <a:bodyPr wrap="none" lIns="71438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64394" y="3672222"/>
            <a:ext cx="15859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4394" y="3668650"/>
            <a:ext cx="1585913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689622" y="1775222"/>
            <a:ext cx="1821656" cy="224347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807494" y="1907381"/>
            <a:ext cx="1585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807494" y="2110978"/>
            <a:ext cx="1585912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1013" dirty="0"/>
          </a:p>
        </p:txBody>
      </p:sp>
      <p:sp>
        <p:nvSpPr>
          <p:cNvPr id="22" name="Text 19"/>
          <p:cNvSpPr/>
          <p:nvPr/>
        </p:nvSpPr>
        <p:spPr>
          <a:xfrm>
            <a:off x="2807494" y="2350963"/>
            <a:ext cx="1585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3–4 WEEKS · FIXED FEE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807494" y="2586707"/>
            <a:ext cx="15859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807494" y="2722438"/>
            <a:ext cx="15859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807494" y="2933179"/>
            <a:ext cx="1585913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807494" y="3085988"/>
            <a:ext cx="1585913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807494" y="3238798"/>
            <a:ext cx="1585913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807494" y="3391607"/>
            <a:ext cx="1585913" cy="153526"/>
          </a:xfrm>
          <a:prstGeom prst="rect">
            <a:avLst/>
          </a:prstGeom>
          <a:noFill/>
          <a:ln/>
        </p:spPr>
        <p:txBody>
          <a:bodyPr wrap="none" lIns="71438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807494" y="3672222"/>
            <a:ext cx="15859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807494" y="3668650"/>
            <a:ext cx="1585913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32722" y="1775222"/>
            <a:ext cx="1821656" cy="224347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750594" y="1907381"/>
            <a:ext cx="1585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750594" y="2110978"/>
            <a:ext cx="1585912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1013" dirty="0"/>
          </a:p>
        </p:txBody>
      </p:sp>
      <p:sp>
        <p:nvSpPr>
          <p:cNvPr id="34" name="Text 31"/>
          <p:cNvSpPr/>
          <p:nvPr/>
        </p:nvSpPr>
        <p:spPr>
          <a:xfrm>
            <a:off x="4750594" y="2350963"/>
            <a:ext cx="1585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 OR FIXED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750594" y="2586707"/>
            <a:ext cx="15859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750594" y="2722438"/>
            <a:ext cx="15859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750594" y="2933179"/>
            <a:ext cx="1585913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750594" y="3085988"/>
            <a:ext cx="1585913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750594" y="3238798"/>
            <a:ext cx="1585913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750594" y="3391607"/>
            <a:ext cx="1585913" cy="153526"/>
          </a:xfrm>
          <a:prstGeom prst="rect">
            <a:avLst/>
          </a:prstGeom>
          <a:noFill/>
          <a:ln/>
        </p:spPr>
        <p:txBody>
          <a:bodyPr wrap="none" lIns="71438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750594" y="3672222"/>
            <a:ext cx="15859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50594" y="3668650"/>
            <a:ext cx="1585912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575822" y="1775222"/>
            <a:ext cx="1821656" cy="2243472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6693694" y="1907381"/>
            <a:ext cx="1585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693694" y="2110978"/>
            <a:ext cx="1585913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1013" dirty="0"/>
          </a:p>
        </p:txBody>
      </p:sp>
      <p:sp>
        <p:nvSpPr>
          <p:cNvPr id="46" name="Text 43"/>
          <p:cNvSpPr/>
          <p:nvPr/>
        </p:nvSpPr>
        <p:spPr>
          <a:xfrm>
            <a:off x="6693694" y="2350963"/>
            <a:ext cx="1585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6693694" y="2586707"/>
            <a:ext cx="15859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693694" y="2722438"/>
            <a:ext cx="15859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693694" y="2933179"/>
            <a:ext cx="1585913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693694" y="3085988"/>
            <a:ext cx="1585913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6693694" y="3238798"/>
            <a:ext cx="1585913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693694" y="3391607"/>
            <a:ext cx="1585913" cy="153526"/>
          </a:xfrm>
          <a:prstGeom prst="rect">
            <a:avLst/>
          </a:prstGeom>
          <a:noFill/>
          <a:ln/>
        </p:spPr>
        <p:txBody>
          <a:bodyPr wrap="none" lIns="71438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6693694" y="3672222"/>
            <a:ext cx="15859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693694" y="3668650"/>
            <a:ext cx="1585913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46547"/>
            <a:ext cx="8401050" cy="268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742950" y="1242231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manufacturing.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2950" y="1857375"/>
            <a:ext cx="37576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42950" y="1860947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6991" y="1857375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2950" y="2925366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7238" y="1857375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2975" y="2007394"/>
            <a:ext cx="33789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42975" y="2246709"/>
            <a:ext cx="3378994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Dual-focus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42975" y="2498080"/>
            <a:ext cx="3378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and performance tested together — one team, two disciplines.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4643438" y="1857375"/>
            <a:ext cx="37576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43438" y="1860947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97478" y="1857375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3438" y="2925366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57725" y="1857375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3463" y="2007394"/>
            <a:ext cx="33789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43463" y="2246709"/>
            <a:ext cx="3378994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Certified expertise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43463" y="2498080"/>
            <a:ext cx="3378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CEH, CISM, CISO, CASP, eCPPT, CAP, CVE contributor, Google Bug Bounty.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742950" y="3071813"/>
            <a:ext cx="37576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742950" y="3075384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96991" y="3071813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2950" y="4139803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7238" y="3071813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2975" y="3221831"/>
            <a:ext cx="33789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942975" y="3461147"/>
            <a:ext cx="3378994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Shift-everywhere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42975" y="3712518"/>
            <a:ext cx="3378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Testing in every sprint, every pipeline, every release — not a gate.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4643438" y="3071813"/>
            <a:ext cx="37576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643438" y="3075384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397478" y="3071813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43438" y="4139803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57725" y="3071813"/>
            <a:ext cx="0" cy="10715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43463" y="3221831"/>
            <a:ext cx="33789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43463" y="3461147"/>
            <a:ext cx="3378994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systems testing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43463" y="3712518"/>
            <a:ext cx="3378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Dedicated AI testing capability — LLM eval, bias, prompt/response validation.</a:t>
            </a:r>
            <a:endParaRPr lang="en-US" sz="675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27248340-z2leb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714500" cy="289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14500"/>
            <a:ext cx="45677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989534"/>
            <a:ext cx="3743660" cy="91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39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  <a:p>
            <a:pPr algn="l" indent="0" marL="0">
              <a:lnSpc>
                <a:spcPts val="3339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3051944"/>
            <a:ext cx="3675593" cy="15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42950" y="3234779"/>
            <a:ext cx="3675593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228470" y="1757363"/>
            <a:ext cx="1198904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spc="5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7228470" y="2220255"/>
            <a:ext cx="1198904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spc="5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7531187" y="2683148"/>
            <a:ext cx="799319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spc="50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1238" dirty="0"/>
          </a:p>
        </p:txBody>
      </p:sp>
      <p:sp>
        <p:nvSpPr>
          <p:cNvPr id="11" name="Text 7"/>
          <p:cNvSpPr/>
          <p:nvPr/>
        </p:nvSpPr>
        <p:spPr>
          <a:xfrm>
            <a:off x="8393906" y="1714500"/>
            <a:ext cx="7144" cy="17145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2026-10-01T04:00:48Z</dcterms:created>
  <dcterms:modified xsi:type="dcterms:W3CDTF">2026-10-01T04:00:48Z</dcterms:modified>
</cp:coreProperties>
</file>