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26988091-4j0sr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57200"/>
            <a:ext cx="1714500" cy="289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04508" y="628650"/>
            <a:ext cx="203755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90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AI TRANSFORMATION SERVICES · 2026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742950" y="1771650"/>
            <a:ext cx="64061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BFSI &amp; INSURANCE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742950" y="1989534"/>
            <a:ext cx="5700713" cy="4479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744"/>
              </a:lnSpc>
              <a:buNone/>
            </a:pPr>
            <a:r>
              <a:rPr lang="en-US" sz="3600" b="1" spc="-9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742950" y="2464929"/>
            <a:ext cx="5700713" cy="513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44"/>
              </a:lnSpc>
              <a:buNone/>
            </a:pPr>
            <a:r>
              <a:rPr lang="en-US" sz="3600" b="1" spc="-90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BFSI &amp; Insurance.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742950" y="3097485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42950" y="3276079"/>
            <a:ext cx="4143375" cy="492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4"/>
              </a:lnSpc>
              <a:buNone/>
            </a:pPr>
            <a:r>
              <a:rPr lang="en-US" sz="123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capability brief on Kefi Tech AI Transformation Services for BFSI &amp; Insurance.</a:t>
            </a:r>
            <a:endParaRPr lang="en-US" sz="1238" dirty="0"/>
          </a:p>
        </p:txBody>
      </p:sp>
      <p:sp>
        <p:nvSpPr>
          <p:cNvPr id="10" name="Shape 6"/>
          <p:cNvSpPr/>
          <p:nvPr/>
        </p:nvSpPr>
        <p:spPr>
          <a:xfrm>
            <a:off x="6975872" y="1771650"/>
            <a:ext cx="0" cy="171450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179469" y="1993106"/>
            <a:ext cx="12215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2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GENERATIVE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179469" y="2564606"/>
            <a:ext cx="12215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2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AGENTIC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179469" y="3136106"/>
            <a:ext cx="12215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22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ENTERPRISE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4350" y="4754166"/>
            <a:ext cx="644957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978216" y="4750594"/>
            <a:ext cx="175052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/ 12 · AI TRANSFORMATION SERVICES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85800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 · BFSI &amp; INSURANCE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75109"/>
            <a:ext cx="8629650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8"/>
              </a:lnSpc>
              <a:buNone/>
            </a:pPr>
            <a:r>
              <a:rPr lang="en-US" sz="1463" b="1" spc="-1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BFSI &amp; Insurance operates in a regulated, document-intensive, high-stakes environment.</a:t>
            </a:r>
            <a:endParaRPr lang="en-US" sz="1463" dirty="0"/>
          </a:p>
        </p:txBody>
      </p:sp>
      <p:sp>
        <p:nvSpPr>
          <p:cNvPr id="6" name="Text 3"/>
          <p:cNvSpPr/>
          <p:nvPr/>
        </p:nvSpPr>
        <p:spPr>
          <a:xfrm>
            <a:off x="514350" y="1396603"/>
            <a:ext cx="7715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trust, regulatory compliance, transaction integrity and operational resilience define competitive position.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32347"/>
            <a:ext cx="4456249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78656" y="1778794"/>
            <a:ext cx="42445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BFSI &amp; INSURANCE NEEDS THIS NOW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82228" y="2003822"/>
            <a:ext cx="4127636" cy="389558"/>
          </a:xfrm>
          <a:prstGeom prst="roundRect">
            <a:avLst>
              <a:gd name="adj" fmla="val 1956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71525" y="208597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406" dirty="0"/>
          </a:p>
        </p:txBody>
      </p:sp>
      <p:sp>
        <p:nvSpPr>
          <p:cNvPr id="11" name="Text 8"/>
          <p:cNvSpPr/>
          <p:nvPr/>
        </p:nvSpPr>
        <p:spPr>
          <a:xfrm>
            <a:off x="985838" y="2078831"/>
            <a:ext cx="2535062" cy="98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transformation pressure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985838" y="2204517"/>
            <a:ext cx="2347280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digital adoption accelerating across the industry.</a:t>
            </a:r>
            <a:endParaRPr lang="en-US" sz="619" dirty="0"/>
          </a:p>
        </p:txBody>
      </p:sp>
      <p:sp>
        <p:nvSpPr>
          <p:cNvPr id="13" name="Text 10"/>
          <p:cNvSpPr/>
          <p:nvPr/>
        </p:nvSpPr>
        <p:spPr>
          <a:xfrm>
            <a:off x="682228" y="2471961"/>
            <a:ext cx="4127636" cy="389558"/>
          </a:xfrm>
          <a:prstGeom prst="roundRect">
            <a:avLst>
              <a:gd name="adj" fmla="val 1956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71525" y="255411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5" name="Text 12"/>
          <p:cNvSpPr/>
          <p:nvPr/>
        </p:nvSpPr>
        <p:spPr>
          <a:xfrm>
            <a:off x="985838" y="2546970"/>
            <a:ext cx="3050658" cy="98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&amp; compliance demands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985838" y="2672655"/>
            <a:ext cx="2824683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regulations require continuous compliance technology.</a:t>
            </a:r>
            <a:endParaRPr lang="en-US" sz="619" dirty="0"/>
          </a:p>
        </p:txBody>
      </p:sp>
      <p:sp>
        <p:nvSpPr>
          <p:cNvPr id="17" name="Text 14"/>
          <p:cNvSpPr/>
          <p:nvPr/>
        </p:nvSpPr>
        <p:spPr>
          <a:xfrm>
            <a:off x="682228" y="2940100"/>
            <a:ext cx="4127636" cy="389558"/>
          </a:xfrm>
          <a:prstGeom prst="roundRect">
            <a:avLst>
              <a:gd name="adj" fmla="val 1956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771525" y="302225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6" dirty="0"/>
          </a:p>
        </p:txBody>
      </p:sp>
      <p:sp>
        <p:nvSpPr>
          <p:cNvPr id="19" name="Text 16"/>
          <p:cNvSpPr/>
          <p:nvPr/>
        </p:nvSpPr>
        <p:spPr>
          <a:xfrm>
            <a:off x="985838" y="3015109"/>
            <a:ext cx="2745062" cy="98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efficiency mandate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985838" y="3140794"/>
            <a:ext cx="2541724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Cost-to-serve reduction while maintaining quality and resilience.</a:t>
            </a:r>
            <a:endParaRPr lang="en-US" sz="619" dirty="0"/>
          </a:p>
        </p:txBody>
      </p:sp>
      <p:sp>
        <p:nvSpPr>
          <p:cNvPr id="21" name="Text 18"/>
          <p:cNvSpPr/>
          <p:nvPr/>
        </p:nvSpPr>
        <p:spPr>
          <a:xfrm>
            <a:off x="682228" y="3408238"/>
            <a:ext cx="4127636" cy="389558"/>
          </a:xfrm>
          <a:prstGeom prst="roundRect">
            <a:avLst>
              <a:gd name="adj" fmla="val 1956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771525" y="349039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406" dirty="0"/>
          </a:p>
        </p:txBody>
      </p:sp>
      <p:sp>
        <p:nvSpPr>
          <p:cNvPr id="23" name="Text 20"/>
          <p:cNvSpPr/>
          <p:nvPr/>
        </p:nvSpPr>
        <p:spPr>
          <a:xfrm>
            <a:off x="985838" y="3483248"/>
            <a:ext cx="2903586" cy="98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&amp; employee expectations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985838" y="3608933"/>
            <a:ext cx="2688506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 digital experiences are now table stakes, not differentiation.</a:t>
            </a:r>
            <a:endParaRPr lang="en-US" sz="619" dirty="0"/>
          </a:p>
        </p:txBody>
      </p:sp>
      <p:sp>
        <p:nvSpPr>
          <p:cNvPr id="25" name="Text 22"/>
          <p:cNvSpPr/>
          <p:nvPr/>
        </p:nvSpPr>
        <p:spPr>
          <a:xfrm>
            <a:off x="5152765" y="1632347"/>
            <a:ext cx="3644652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313499" y="1778794"/>
            <a:ext cx="343291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THIS MEANS FOR AI TRANSFORMATION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313499" y="2000250"/>
            <a:ext cx="3323183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 applied to BFSI &amp; Insurance requires industry-specific capability, not generic technology. The right approach connects AI Transformation to the regulatory, operational and customer realities that define BFSI &amp; Insurance.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313499" y="3914775"/>
            <a:ext cx="1477194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313499" y="3914775"/>
            <a:ext cx="1477194" cy="135731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APPROACH</a:t>
            </a:r>
            <a:endParaRPr lang="en-US" sz="600" dirty="0"/>
          </a:p>
        </p:txBody>
      </p:sp>
      <p:sp>
        <p:nvSpPr>
          <p:cNvPr id="30" name="Shape 2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4350" y="4754166"/>
            <a:ext cx="386164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390281" y="4750594"/>
            <a:ext cx="341169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7816267" y="4750594"/>
            <a:ext cx="81338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8580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75109"/>
            <a:ext cx="8629650" cy="250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buNone/>
            </a:pPr>
            <a:r>
              <a:rPr lang="en-US" sz="1463" b="1" spc="-1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 across the complete lifecycle.</a:t>
            </a:r>
            <a:endParaRPr lang="en-US" sz="1463" dirty="0"/>
          </a:p>
        </p:txBody>
      </p:sp>
      <p:sp>
        <p:nvSpPr>
          <p:cNvPr id="6" name="Text 3"/>
          <p:cNvSpPr/>
          <p:nvPr/>
        </p:nvSpPr>
        <p:spPr>
          <a:xfrm>
            <a:off x="514350" y="1164431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capability pillars covering the full AI Transformation spectrum.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560909"/>
            <a:ext cx="1860947" cy="378619"/>
          </a:xfrm>
          <a:prstGeom prst="roundRect">
            <a:avLst>
              <a:gd name="adj" fmla="val 2515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50081" y="166449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9" name="Text 6"/>
          <p:cNvSpPr/>
          <p:nvPr/>
        </p:nvSpPr>
        <p:spPr>
          <a:xfrm>
            <a:off x="892969" y="1675209"/>
            <a:ext cx="135374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411016" y="1671638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11" name="Text 8"/>
          <p:cNvSpPr/>
          <p:nvPr/>
        </p:nvSpPr>
        <p:spPr>
          <a:xfrm>
            <a:off x="2600325" y="1560909"/>
            <a:ext cx="1860947" cy="378619"/>
          </a:xfrm>
          <a:prstGeom prst="roundRect">
            <a:avLst>
              <a:gd name="adj" fmla="val 2515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732484" y="166449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688" dirty="0"/>
          </a:p>
        </p:txBody>
      </p:sp>
      <p:sp>
        <p:nvSpPr>
          <p:cNvPr id="13" name="Text 10"/>
          <p:cNvSpPr/>
          <p:nvPr/>
        </p:nvSpPr>
        <p:spPr>
          <a:xfrm>
            <a:off x="2975372" y="1675209"/>
            <a:ext cx="135374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493419" y="1671638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15" name="Text 12"/>
          <p:cNvSpPr/>
          <p:nvPr/>
        </p:nvSpPr>
        <p:spPr>
          <a:xfrm>
            <a:off x="4682728" y="1560909"/>
            <a:ext cx="1860947" cy="378619"/>
          </a:xfrm>
          <a:prstGeom prst="roundRect">
            <a:avLst>
              <a:gd name="adj" fmla="val 2515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814888" y="166449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688" dirty="0"/>
          </a:p>
        </p:txBody>
      </p:sp>
      <p:sp>
        <p:nvSpPr>
          <p:cNvPr id="17" name="Text 14"/>
          <p:cNvSpPr/>
          <p:nvPr/>
        </p:nvSpPr>
        <p:spPr>
          <a:xfrm>
            <a:off x="5057775" y="1675209"/>
            <a:ext cx="135374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575822" y="1671638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19" name="Text 16"/>
          <p:cNvSpPr/>
          <p:nvPr/>
        </p:nvSpPr>
        <p:spPr>
          <a:xfrm>
            <a:off x="6765131" y="1560909"/>
            <a:ext cx="1860947" cy="378619"/>
          </a:xfrm>
          <a:prstGeom prst="roundRect">
            <a:avLst>
              <a:gd name="adj" fmla="val 2515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897291" y="166449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688" dirty="0"/>
          </a:p>
        </p:txBody>
      </p:sp>
      <p:sp>
        <p:nvSpPr>
          <p:cNvPr id="21" name="Text 18"/>
          <p:cNvSpPr/>
          <p:nvPr/>
        </p:nvSpPr>
        <p:spPr>
          <a:xfrm>
            <a:off x="7140178" y="1675209"/>
            <a:ext cx="135374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17922" y="2403872"/>
            <a:ext cx="2640732" cy="850106"/>
          </a:xfrm>
          <a:prstGeom prst="roundRect">
            <a:avLst>
              <a:gd name="adj" fmla="val 1120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35794" y="250745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688" dirty="0"/>
          </a:p>
        </p:txBody>
      </p:sp>
      <p:sp>
        <p:nvSpPr>
          <p:cNvPr id="24" name="Text 21"/>
          <p:cNvSpPr/>
          <p:nvPr/>
        </p:nvSpPr>
        <p:spPr>
          <a:xfrm>
            <a:off x="2914343" y="2534245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62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619" dirty="0"/>
          </a:p>
        </p:txBody>
      </p:sp>
      <p:sp>
        <p:nvSpPr>
          <p:cNvPr id="25" name="Text 22"/>
          <p:cNvSpPr/>
          <p:nvPr/>
        </p:nvSpPr>
        <p:spPr>
          <a:xfrm>
            <a:off x="635794" y="2721769"/>
            <a:ext cx="2404988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Generative AI Solutions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35794" y="2884624"/>
            <a:ext cx="2404988" cy="26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Copilots, knowledge assistants, conversational AI, document intelligence, multimodal AI.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3251522" y="2403872"/>
            <a:ext cx="2640843" cy="850106"/>
          </a:xfrm>
          <a:prstGeom prst="roundRect">
            <a:avLst>
              <a:gd name="adj" fmla="val 1120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3369394" y="250745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1688" dirty="0"/>
          </a:p>
        </p:txBody>
      </p:sp>
      <p:sp>
        <p:nvSpPr>
          <p:cNvPr id="29" name="Text 26"/>
          <p:cNvSpPr/>
          <p:nvPr/>
        </p:nvSpPr>
        <p:spPr>
          <a:xfrm>
            <a:off x="5648056" y="2534245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62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619" dirty="0"/>
          </a:p>
        </p:txBody>
      </p:sp>
      <p:sp>
        <p:nvSpPr>
          <p:cNvPr id="30" name="Text 27"/>
          <p:cNvSpPr/>
          <p:nvPr/>
        </p:nvSpPr>
        <p:spPr>
          <a:xfrm>
            <a:off x="3369394" y="2721769"/>
            <a:ext cx="2405100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Agentic AI &amp; Automation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3369394" y="2884624"/>
            <a:ext cx="2405100" cy="26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agents, multi-agent systems, autonomous workflows, human-in-the-loop processes.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985235" y="2403872"/>
            <a:ext cx="2640732" cy="850106"/>
          </a:xfrm>
          <a:prstGeom prst="roundRect">
            <a:avLst>
              <a:gd name="adj" fmla="val 1120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6103107" y="250745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688" dirty="0"/>
          </a:p>
        </p:txBody>
      </p:sp>
      <p:sp>
        <p:nvSpPr>
          <p:cNvPr id="34" name="Text 31"/>
          <p:cNvSpPr/>
          <p:nvPr/>
        </p:nvSpPr>
        <p:spPr>
          <a:xfrm>
            <a:off x="8381656" y="2534245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62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619" dirty="0"/>
          </a:p>
        </p:txBody>
      </p:sp>
      <p:sp>
        <p:nvSpPr>
          <p:cNvPr id="35" name="Text 32"/>
          <p:cNvSpPr/>
          <p:nvPr/>
        </p:nvSpPr>
        <p:spPr>
          <a:xfrm>
            <a:off x="6103107" y="2721769"/>
            <a:ext cx="2514716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Knowledge &amp; RAG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103107" y="2884624"/>
            <a:ext cx="2404988" cy="26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applications, enterprise search, vector search, knowledge assistants.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17922" y="3346847"/>
            <a:ext cx="2640732" cy="850106"/>
          </a:xfrm>
          <a:prstGeom prst="roundRect">
            <a:avLst>
              <a:gd name="adj" fmla="val 1120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635794" y="345043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39" name="Text 36"/>
          <p:cNvSpPr/>
          <p:nvPr/>
        </p:nvSpPr>
        <p:spPr>
          <a:xfrm>
            <a:off x="2914343" y="3477220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62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619" dirty="0"/>
          </a:p>
        </p:txBody>
      </p:sp>
      <p:sp>
        <p:nvSpPr>
          <p:cNvPr id="40" name="Text 37"/>
          <p:cNvSpPr/>
          <p:nvPr/>
        </p:nvSpPr>
        <p:spPr>
          <a:xfrm>
            <a:off x="635794" y="3664744"/>
            <a:ext cx="2514716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AI/ML &amp; Predictive Intelligence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635794" y="3827599"/>
            <a:ext cx="2404988" cy="26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analytics, forecasting, classification, recommendation engines, anomaly detection.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3251522" y="3346847"/>
            <a:ext cx="2640843" cy="850106"/>
          </a:xfrm>
          <a:prstGeom prst="roundRect">
            <a:avLst>
              <a:gd name="adj" fmla="val 1120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3369394" y="345043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44" name="Text 41"/>
          <p:cNvSpPr/>
          <p:nvPr/>
        </p:nvSpPr>
        <p:spPr>
          <a:xfrm>
            <a:off x="5648056" y="3477220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62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619" dirty="0"/>
          </a:p>
        </p:txBody>
      </p:sp>
      <p:sp>
        <p:nvSpPr>
          <p:cNvPr id="45" name="Text 42"/>
          <p:cNvSpPr/>
          <p:nvPr/>
        </p:nvSpPr>
        <p:spPr>
          <a:xfrm>
            <a:off x="3369394" y="3664744"/>
            <a:ext cx="2405100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Engineering &amp; LLMOps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3369394" y="3827599"/>
            <a:ext cx="2405100" cy="26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 lifecycle, versioning, monitoring, evaluation, observability, scalable infrastructure.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5985235" y="3346847"/>
            <a:ext cx="2640732" cy="850106"/>
          </a:xfrm>
          <a:prstGeom prst="roundRect">
            <a:avLst>
              <a:gd name="adj" fmla="val 1120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6103107" y="345043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688" dirty="0"/>
          </a:p>
        </p:txBody>
      </p:sp>
      <p:sp>
        <p:nvSpPr>
          <p:cNvPr id="49" name="Text 46"/>
          <p:cNvSpPr/>
          <p:nvPr/>
        </p:nvSpPr>
        <p:spPr>
          <a:xfrm>
            <a:off x="8381656" y="3477220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62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619" dirty="0"/>
          </a:p>
        </p:txBody>
      </p:sp>
      <p:sp>
        <p:nvSpPr>
          <p:cNvPr id="50" name="Text 47"/>
          <p:cNvSpPr/>
          <p:nvPr/>
        </p:nvSpPr>
        <p:spPr>
          <a:xfrm>
            <a:off x="6103107" y="3664744"/>
            <a:ext cx="2514716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Responsible AI &amp; Governance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6103107" y="3827599"/>
            <a:ext cx="2404988" cy="26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governance, privacy, security, guardrails, bias assessment, explainability.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14350" y="4754166"/>
            <a:ext cx="399782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4526459" y="4750594"/>
            <a:ext cx="35479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801137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8580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75109"/>
            <a:ext cx="8521065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Generative AI Solutions.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514350" y="1189434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Copilots, knowledge assistants, conversational AI, document intelligence, multimodal AI.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46634"/>
            <a:ext cx="4456249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807369"/>
            <a:ext cx="410620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2944" y="2043113"/>
            <a:ext cx="4106205" cy="55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generative AI solutions capability is engineered for BFSI &amp; Insurance environments. We bring together the AI Transformation discipline, the BFSI &amp; Insurance domain context, and the engineering rigor required to ship production-grade solutions.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70084" y="3907060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92944" y="3914775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152765" y="1646634"/>
            <a:ext cx="3644652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327786" y="1807369"/>
            <a:ext cx="32946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331358" y="2018109"/>
            <a:ext cx="3287464" cy="338547"/>
          </a:xfrm>
          <a:prstGeom prst="roundRect">
            <a:avLst>
              <a:gd name="adj" fmla="val 2250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420655" y="2128391"/>
            <a:ext cx="205740" cy="1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620680" y="212303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820705" y="2085975"/>
            <a:ext cx="21759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820705" y="2195922"/>
            <a:ext cx="1856594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BFSI &amp; Insurance.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5331358" y="2420950"/>
            <a:ext cx="3287464" cy="338547"/>
          </a:xfrm>
          <a:prstGeom prst="roundRect">
            <a:avLst>
              <a:gd name="adj" fmla="val 2250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420655" y="2531232"/>
            <a:ext cx="205740" cy="1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620680" y="252587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820705" y="2488816"/>
            <a:ext cx="21759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820705" y="2598762"/>
            <a:ext cx="1856594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BFSI &amp; Insurance.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5331358" y="2823790"/>
            <a:ext cx="3287464" cy="338547"/>
          </a:xfrm>
          <a:prstGeom prst="roundRect">
            <a:avLst>
              <a:gd name="adj" fmla="val 2250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420655" y="2934072"/>
            <a:ext cx="205740" cy="1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620680" y="292871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820705" y="2891656"/>
            <a:ext cx="21759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820705" y="3001603"/>
            <a:ext cx="1856594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BFSI &amp; Insurance.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5331358" y="3226631"/>
            <a:ext cx="3287464" cy="338547"/>
          </a:xfrm>
          <a:prstGeom prst="roundRect">
            <a:avLst>
              <a:gd name="adj" fmla="val 2250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420655" y="3336913"/>
            <a:ext cx="205740" cy="1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620680" y="333155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820705" y="3294497"/>
            <a:ext cx="21759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820705" y="3404443"/>
            <a:ext cx="1856594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BFSI &amp; Insurance.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5331358" y="3629471"/>
            <a:ext cx="3287464" cy="338547"/>
          </a:xfrm>
          <a:prstGeom prst="roundRect">
            <a:avLst>
              <a:gd name="adj" fmla="val 2250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420655" y="3739753"/>
            <a:ext cx="205740" cy="1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620680" y="373439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820705" y="3697337"/>
            <a:ext cx="21759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820705" y="3807284"/>
            <a:ext cx="1856594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BFSI &amp; Insurance.</a:t>
            </a:r>
            <a:endParaRPr lang="en-US" sz="6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71608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244727" y="4750594"/>
            <a:ext cx="326614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525159" y="4750594"/>
            <a:ext cx="110449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GENERATIVE AI SOLUTIONS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8580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75109"/>
            <a:ext cx="8521065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Agentic AI &amp; Automation.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514350" y="1189434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agents, multi-agent systems, autonomous workflows, human-in-the-loop processes.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46634"/>
            <a:ext cx="4456249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807369"/>
            <a:ext cx="410620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2944" y="2043113"/>
            <a:ext cx="4106205" cy="55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agentic AI &amp; automation capability is engineered for BFSI &amp; Insurance environments. We bring together the AI Transformation discipline, the BFSI &amp; Insurance domain context, and the engineering rigor required to ship production-grade solutions.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70084" y="3907060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92944" y="3914775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152765" y="1646634"/>
            <a:ext cx="3644652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327786" y="1807369"/>
            <a:ext cx="32946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331358" y="2018109"/>
            <a:ext cx="3287464" cy="338547"/>
          </a:xfrm>
          <a:prstGeom prst="roundRect">
            <a:avLst>
              <a:gd name="adj" fmla="val 2250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420655" y="2128391"/>
            <a:ext cx="205740" cy="1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620680" y="212303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820705" y="2085975"/>
            <a:ext cx="21759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820705" y="2195922"/>
            <a:ext cx="1856594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BFSI &amp; Insurance.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5331358" y="2420950"/>
            <a:ext cx="3287464" cy="338547"/>
          </a:xfrm>
          <a:prstGeom prst="roundRect">
            <a:avLst>
              <a:gd name="adj" fmla="val 2250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420655" y="2531232"/>
            <a:ext cx="205740" cy="1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620680" y="252587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820705" y="2488816"/>
            <a:ext cx="21759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820705" y="2598762"/>
            <a:ext cx="1856594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BFSI &amp; Insurance.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5331358" y="2823790"/>
            <a:ext cx="3287464" cy="338547"/>
          </a:xfrm>
          <a:prstGeom prst="roundRect">
            <a:avLst>
              <a:gd name="adj" fmla="val 2250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420655" y="2934072"/>
            <a:ext cx="205740" cy="1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620680" y="292871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820705" y="2891656"/>
            <a:ext cx="21759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820705" y="3001603"/>
            <a:ext cx="1856594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BFSI &amp; Insurance.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5331358" y="3226631"/>
            <a:ext cx="3287464" cy="338547"/>
          </a:xfrm>
          <a:prstGeom prst="roundRect">
            <a:avLst>
              <a:gd name="adj" fmla="val 2250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420655" y="3336913"/>
            <a:ext cx="205740" cy="1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620680" y="333155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820705" y="3294497"/>
            <a:ext cx="21759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820705" y="3404443"/>
            <a:ext cx="1856594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BFSI &amp; Insurance.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5331358" y="3629471"/>
            <a:ext cx="3287464" cy="338547"/>
          </a:xfrm>
          <a:prstGeom prst="roundRect">
            <a:avLst>
              <a:gd name="adj" fmla="val 2250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420655" y="3739753"/>
            <a:ext cx="205740" cy="1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620680" y="373439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820705" y="3697337"/>
            <a:ext cx="21759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820705" y="3807284"/>
            <a:ext cx="1856594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BFSI &amp; Insurance.</a:t>
            </a:r>
            <a:endParaRPr lang="en-US" sz="6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70738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236021" y="4750594"/>
            <a:ext cx="325755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507858" y="4750594"/>
            <a:ext cx="112179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AGENTIC AI &amp; AUTOMATION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8580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75109"/>
            <a:ext cx="862965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Knowledge &amp; RAG.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514350" y="1189434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applications, enterprise search, vector search, knowledge assistants.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46634"/>
            <a:ext cx="4456249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807369"/>
            <a:ext cx="410620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2944" y="2043113"/>
            <a:ext cx="4106205" cy="55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enterprise knowledge &amp; RAG capability is engineered for BFSI &amp; Insurance environments. We bring together the AI Transformation discipline, the BFSI &amp; Insurance domain context, and the engineering rigor required to ship production-grade solutions.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70084" y="3907060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92944" y="3914775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152765" y="1646634"/>
            <a:ext cx="3644652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327786" y="1807369"/>
            <a:ext cx="32946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331358" y="2018109"/>
            <a:ext cx="3287464" cy="338547"/>
          </a:xfrm>
          <a:prstGeom prst="roundRect">
            <a:avLst>
              <a:gd name="adj" fmla="val 2250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420655" y="2128391"/>
            <a:ext cx="205740" cy="1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620680" y="212303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820705" y="2085975"/>
            <a:ext cx="21759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820705" y="2195922"/>
            <a:ext cx="1856594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BFSI &amp; Insurance.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5331358" y="2420950"/>
            <a:ext cx="3287464" cy="338547"/>
          </a:xfrm>
          <a:prstGeom prst="roundRect">
            <a:avLst>
              <a:gd name="adj" fmla="val 2250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420655" y="2531232"/>
            <a:ext cx="205740" cy="1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620680" y="252587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820705" y="2488816"/>
            <a:ext cx="21759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820705" y="2598762"/>
            <a:ext cx="1856594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BFSI &amp; Insurance.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5331358" y="2823790"/>
            <a:ext cx="3287464" cy="338547"/>
          </a:xfrm>
          <a:prstGeom prst="roundRect">
            <a:avLst>
              <a:gd name="adj" fmla="val 2250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420655" y="2934072"/>
            <a:ext cx="205740" cy="1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620680" y="292871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820705" y="2891656"/>
            <a:ext cx="21759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820705" y="3001603"/>
            <a:ext cx="1856594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BFSI &amp; Insurance.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5331358" y="3226631"/>
            <a:ext cx="3287464" cy="338547"/>
          </a:xfrm>
          <a:prstGeom prst="roundRect">
            <a:avLst>
              <a:gd name="adj" fmla="val 2250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420655" y="3336913"/>
            <a:ext cx="205740" cy="1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620680" y="333155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820705" y="3294497"/>
            <a:ext cx="21759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820705" y="3404443"/>
            <a:ext cx="1856594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BFSI &amp; Insurance.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5331358" y="3629471"/>
            <a:ext cx="3287464" cy="338547"/>
          </a:xfrm>
          <a:prstGeom prst="roundRect">
            <a:avLst>
              <a:gd name="adj" fmla="val 2250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420655" y="3739753"/>
            <a:ext cx="205740" cy="1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620680" y="373439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820705" y="3697337"/>
            <a:ext cx="21759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820705" y="3807284"/>
            <a:ext cx="1856594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BFSI &amp; Insurance.</a:t>
            </a:r>
            <a:endParaRPr lang="en-US" sz="6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60279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131432" y="4750594"/>
            <a:ext cx="315296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298680" y="4750594"/>
            <a:ext cx="141082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KNOWLEDGE &amp; RAG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8580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75109"/>
            <a:ext cx="862965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AI/ML &amp; Predictive Intelligence.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514350" y="1189434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analytics, forecasting, classification, recommendation engines, anomaly detection.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46634"/>
            <a:ext cx="4456249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807369"/>
            <a:ext cx="410620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2944" y="2043113"/>
            <a:ext cx="4106205" cy="55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AI/ML &amp; predictive intelligence capability is engineered for BFSI &amp; Insurance environments. We bring together the AI Transformation discipline, the BFSI &amp; Insurance domain context, and the engineering rigor required to ship production-grade solutions.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70084" y="3907060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92944" y="3914775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152765" y="1646634"/>
            <a:ext cx="3644652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327786" y="1807369"/>
            <a:ext cx="32946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331358" y="2018109"/>
            <a:ext cx="3287464" cy="338547"/>
          </a:xfrm>
          <a:prstGeom prst="roundRect">
            <a:avLst>
              <a:gd name="adj" fmla="val 2250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420655" y="2128391"/>
            <a:ext cx="205740" cy="1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620680" y="212303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820705" y="2085975"/>
            <a:ext cx="21759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820705" y="2195922"/>
            <a:ext cx="1856594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BFSI &amp; Insurance.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5331358" y="2420950"/>
            <a:ext cx="3287464" cy="338547"/>
          </a:xfrm>
          <a:prstGeom prst="roundRect">
            <a:avLst>
              <a:gd name="adj" fmla="val 2250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420655" y="2531232"/>
            <a:ext cx="205740" cy="1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620680" y="252587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820705" y="2488816"/>
            <a:ext cx="21759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820705" y="2598762"/>
            <a:ext cx="1856594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BFSI &amp; Insurance.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5331358" y="2823790"/>
            <a:ext cx="3287464" cy="338547"/>
          </a:xfrm>
          <a:prstGeom prst="roundRect">
            <a:avLst>
              <a:gd name="adj" fmla="val 2250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420655" y="2934072"/>
            <a:ext cx="205740" cy="1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620680" y="292871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820705" y="2891656"/>
            <a:ext cx="21759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820705" y="3001603"/>
            <a:ext cx="1856594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BFSI &amp; Insurance.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5331358" y="3226631"/>
            <a:ext cx="3287464" cy="338547"/>
          </a:xfrm>
          <a:prstGeom prst="roundRect">
            <a:avLst>
              <a:gd name="adj" fmla="val 2250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420655" y="3336913"/>
            <a:ext cx="205740" cy="1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620680" y="333155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820705" y="3294497"/>
            <a:ext cx="21759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820705" y="3404443"/>
            <a:ext cx="1856594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BFSI &amp; Insurance.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5331358" y="3629471"/>
            <a:ext cx="3287464" cy="338547"/>
          </a:xfrm>
          <a:prstGeom prst="roundRect">
            <a:avLst>
              <a:gd name="adj" fmla="val 2250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420655" y="3739753"/>
            <a:ext cx="205740" cy="1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620680" y="373439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820705" y="3697337"/>
            <a:ext cx="21759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820705" y="3807284"/>
            <a:ext cx="1856594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BFSI &amp; Insurance.</a:t>
            </a:r>
            <a:endParaRPr lang="en-US" sz="6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55234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080979" y="4750594"/>
            <a:ext cx="310250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197775" y="4750594"/>
            <a:ext cx="15177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AI/ML &amp; PREDICTIVE INTELLIGENCE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85800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APPLICATIONS · BFSI &amp; INSURANCE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75109"/>
            <a:ext cx="8629650" cy="270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9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AI Transformation applies to BFSI &amp; Insurance.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514350" y="1182291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industry-specific applications where AI Transformation creates measurable value.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718072"/>
            <a:ext cx="3993356" cy="1064419"/>
          </a:xfrm>
          <a:prstGeom prst="roundRect">
            <a:avLst>
              <a:gd name="adj" fmla="val 894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87880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969" dirty="0"/>
          </a:p>
        </p:txBody>
      </p:sp>
      <p:sp>
        <p:nvSpPr>
          <p:cNvPr id="9" name="Text 6"/>
          <p:cNvSpPr/>
          <p:nvPr/>
        </p:nvSpPr>
        <p:spPr>
          <a:xfrm>
            <a:off x="4270958" y="1909167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92944" y="2150269"/>
            <a:ext cx="3643313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 Intelligence</a:t>
            </a:r>
            <a:endParaRPr lang="en-US" sz="1238" dirty="0"/>
          </a:p>
        </p:txBody>
      </p:sp>
      <p:sp>
        <p:nvSpPr>
          <p:cNvPr id="11" name="Text 8"/>
          <p:cNvSpPr/>
          <p:nvPr/>
        </p:nvSpPr>
        <p:spPr>
          <a:xfrm>
            <a:off x="692944" y="2410234"/>
            <a:ext cx="36433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Claims, underwriting, KYC, policy and contract document processing at scale.</a:t>
            </a:r>
            <a:endParaRPr lang="en-US" sz="675" dirty="0"/>
          </a:p>
        </p:txBody>
      </p:sp>
      <p:sp>
        <p:nvSpPr>
          <p:cNvPr id="12" name="Text 9"/>
          <p:cNvSpPr/>
          <p:nvPr/>
        </p:nvSpPr>
        <p:spPr>
          <a:xfrm>
            <a:off x="4632722" y="1718072"/>
            <a:ext cx="3993356" cy="1064419"/>
          </a:xfrm>
          <a:prstGeom prst="roundRect">
            <a:avLst>
              <a:gd name="adj" fmla="val 894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07744" y="187880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969" dirty="0"/>
          </a:p>
        </p:txBody>
      </p:sp>
      <p:sp>
        <p:nvSpPr>
          <p:cNvPr id="14" name="Text 11"/>
          <p:cNvSpPr/>
          <p:nvPr/>
        </p:nvSpPr>
        <p:spPr>
          <a:xfrm>
            <a:off x="8301619" y="1909167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73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</a:t>
            </a:r>
            <a:endParaRPr lang="en-US" sz="731" dirty="0"/>
          </a:p>
        </p:txBody>
      </p:sp>
      <p:sp>
        <p:nvSpPr>
          <p:cNvPr id="15" name="Text 12"/>
          <p:cNvSpPr/>
          <p:nvPr/>
        </p:nvSpPr>
        <p:spPr>
          <a:xfrm>
            <a:off x="4807744" y="2150269"/>
            <a:ext cx="3643313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Fraud Detection</a:t>
            </a:r>
            <a:endParaRPr lang="en-US" sz="1238" dirty="0"/>
          </a:p>
        </p:txBody>
      </p:sp>
      <p:sp>
        <p:nvSpPr>
          <p:cNvPr id="16" name="Text 13"/>
          <p:cNvSpPr/>
          <p:nvPr/>
        </p:nvSpPr>
        <p:spPr>
          <a:xfrm>
            <a:off x="4807744" y="2410234"/>
            <a:ext cx="36433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Anomaly identification, predictive risk scoring, real-time transaction monitoring.</a:t>
            </a:r>
            <a:endParaRPr lang="en-US" sz="675" dirty="0"/>
          </a:p>
        </p:txBody>
      </p:sp>
      <p:sp>
        <p:nvSpPr>
          <p:cNvPr id="17" name="Text 14"/>
          <p:cNvSpPr/>
          <p:nvPr/>
        </p:nvSpPr>
        <p:spPr>
          <a:xfrm>
            <a:off x="517922" y="2903934"/>
            <a:ext cx="3993356" cy="1064419"/>
          </a:xfrm>
          <a:prstGeom prst="roundRect">
            <a:avLst>
              <a:gd name="adj" fmla="val 894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92944" y="306466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969" dirty="0"/>
          </a:p>
        </p:txBody>
      </p:sp>
      <p:sp>
        <p:nvSpPr>
          <p:cNvPr id="19" name="Text 16"/>
          <p:cNvSpPr/>
          <p:nvPr/>
        </p:nvSpPr>
        <p:spPr>
          <a:xfrm>
            <a:off x="4120254" y="3095030"/>
            <a:ext cx="2363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73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</a:t>
            </a:r>
            <a:endParaRPr lang="en-US" sz="731" dirty="0"/>
          </a:p>
        </p:txBody>
      </p:sp>
      <p:sp>
        <p:nvSpPr>
          <p:cNvPr id="20" name="Text 17"/>
          <p:cNvSpPr/>
          <p:nvPr/>
        </p:nvSpPr>
        <p:spPr>
          <a:xfrm>
            <a:off x="692944" y="3336131"/>
            <a:ext cx="3643313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Intelligence</a:t>
            </a:r>
            <a:endParaRPr lang="en-US" sz="1238" dirty="0"/>
          </a:p>
        </p:txBody>
      </p:sp>
      <p:sp>
        <p:nvSpPr>
          <p:cNvPr id="21" name="Text 18"/>
          <p:cNvSpPr/>
          <p:nvPr/>
        </p:nvSpPr>
        <p:spPr>
          <a:xfrm>
            <a:off x="692944" y="3596097"/>
            <a:ext cx="36433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360, next-best-action, retention modeling, personalized servicing.</a:t>
            </a:r>
            <a:endParaRPr lang="en-US" sz="675" dirty="0"/>
          </a:p>
        </p:txBody>
      </p:sp>
      <p:sp>
        <p:nvSpPr>
          <p:cNvPr id="22" name="Text 19"/>
          <p:cNvSpPr/>
          <p:nvPr/>
        </p:nvSpPr>
        <p:spPr>
          <a:xfrm>
            <a:off x="4632722" y="2903934"/>
            <a:ext cx="3993356" cy="1064419"/>
          </a:xfrm>
          <a:prstGeom prst="roundRect">
            <a:avLst>
              <a:gd name="adj" fmla="val 894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807744" y="306466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969" dirty="0"/>
          </a:p>
        </p:txBody>
      </p:sp>
      <p:sp>
        <p:nvSpPr>
          <p:cNvPr id="24" name="Text 21"/>
          <p:cNvSpPr/>
          <p:nvPr/>
        </p:nvSpPr>
        <p:spPr>
          <a:xfrm>
            <a:off x="8301619" y="3095030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73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</a:t>
            </a:r>
            <a:endParaRPr lang="en-US" sz="731" dirty="0"/>
          </a:p>
        </p:txBody>
      </p:sp>
      <p:sp>
        <p:nvSpPr>
          <p:cNvPr id="25" name="Text 22"/>
          <p:cNvSpPr/>
          <p:nvPr/>
        </p:nvSpPr>
        <p:spPr>
          <a:xfrm>
            <a:off x="4807744" y="3336131"/>
            <a:ext cx="3643313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Operations</a:t>
            </a:r>
            <a:endParaRPr lang="en-US" sz="1238" dirty="0"/>
          </a:p>
        </p:txBody>
      </p:sp>
      <p:sp>
        <p:nvSpPr>
          <p:cNvPr id="26" name="Text 23"/>
          <p:cNvSpPr/>
          <p:nvPr/>
        </p:nvSpPr>
        <p:spPr>
          <a:xfrm>
            <a:off x="4807744" y="3596097"/>
            <a:ext cx="3643313" cy="211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Compliance reporting, audit trails, transaction surveillance, regulatory change management.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4350" y="4754166"/>
            <a:ext cx="376274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291385" y="4750594"/>
            <a:ext cx="331291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618586" y="4750594"/>
            <a:ext cx="101106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APPLICATIONS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8580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75109"/>
            <a:ext cx="8629650" cy="270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9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reference architecture for AI Transformation.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514350" y="1182291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from foundation through consumption.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560909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21494" y="1564481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1446609" y="1564481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1494" y="1564481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4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535906" y="1708842"/>
            <a:ext cx="530870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528200" y="1721644"/>
            <a:ext cx="54628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Copilots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109639" y="1708842"/>
            <a:ext cx="620948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084630" y="1721644"/>
            <a:ext cx="67096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Assistants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773449" y="1708842"/>
            <a:ext cx="484212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773449" y="1721644"/>
            <a:ext cx="4842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300524" y="1708842"/>
            <a:ext cx="624074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300524" y="1721644"/>
            <a:ext cx="62407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Workflows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17922" y="2189559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21494" y="2193131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1446609" y="2193131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1494" y="2193131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4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ORCHESTRATION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535906" y="2337492"/>
            <a:ext cx="365447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1535906" y="2350294"/>
            <a:ext cx="36544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944216" y="2337492"/>
            <a:ext cx="870198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1944216" y="2350294"/>
            <a:ext cx="87019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Function Calling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2860849" y="2353866"/>
            <a:ext cx="1283531" cy="221456"/>
          </a:xfrm>
          <a:prstGeom prst="roundRect">
            <a:avLst>
              <a:gd name="adj" fmla="val 1720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2857277" y="2350294"/>
            <a:ext cx="1312106" cy="292608"/>
          </a:xfrm>
          <a:prstGeom prst="rect">
            <a:avLst/>
          </a:prstGeom>
          <a:noFill/>
          <a:ln/>
        </p:spPr>
        <p:txBody>
          <a:bodyPr wrap="square" lIns="85725" tIns="42863" rIns="85725" bIns="42863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Multi-Agent Orchestration</a:t>
            </a:r>
            <a:endParaRPr lang="en-US" sz="675" dirty="0"/>
          </a:p>
        </p:txBody>
      </p:sp>
      <p:sp>
        <p:nvSpPr>
          <p:cNvPr id="29" name="Text 26"/>
          <p:cNvSpPr/>
          <p:nvPr/>
        </p:nvSpPr>
        <p:spPr>
          <a:xfrm>
            <a:off x="4190814" y="2337492"/>
            <a:ext cx="1109849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190814" y="2350294"/>
            <a:ext cx="110984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Evaluation Harnesses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17922" y="2818209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21494" y="2821781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1446609" y="2821781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21494" y="2821781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4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MODELS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1535906" y="2966142"/>
            <a:ext cx="399938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1535906" y="2978944"/>
            <a:ext cx="3999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LLMs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1978707" y="2966142"/>
            <a:ext cx="1001353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1978707" y="2978944"/>
            <a:ext cx="100135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Embedding Models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3022922" y="2966142"/>
            <a:ext cx="636798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3022922" y="2978944"/>
            <a:ext cx="63679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 Models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3702583" y="2966142"/>
            <a:ext cx="967308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3702583" y="2978944"/>
            <a:ext cx="96730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Fine-Tuned Models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517922" y="3446859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521494" y="3450431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2"/>
          <p:cNvSpPr/>
          <p:nvPr/>
        </p:nvSpPr>
        <p:spPr>
          <a:xfrm>
            <a:off x="1446609" y="3450431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21494" y="3450431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4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1535906" y="3594792"/>
            <a:ext cx="757461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1494033" y="3607594"/>
            <a:ext cx="8412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Vector Stores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2336229" y="3594792"/>
            <a:ext cx="937729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2336229" y="3607594"/>
            <a:ext cx="93772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Knowledge Bases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3316821" y="3594792"/>
            <a:ext cx="858701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3316821" y="3607594"/>
            <a:ext cx="85870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Data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4218384" y="3594792"/>
            <a:ext cx="1037295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4218384" y="3607594"/>
            <a:ext cx="10372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 Pipelines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517922" y="4075509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521494" y="4079081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4"/>
          <p:cNvSpPr/>
          <p:nvPr/>
        </p:nvSpPr>
        <p:spPr>
          <a:xfrm>
            <a:off x="1446609" y="4079081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21494" y="4079081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4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1535906" y="4223442"/>
            <a:ext cx="521829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1535906" y="4236244"/>
            <a:ext cx="52182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LLMOps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2100597" y="4223442"/>
            <a:ext cx="644165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2087197" y="4236244"/>
            <a:ext cx="67096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Monitoring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2787625" y="4223442"/>
            <a:ext cx="702990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1"/>
          <p:cNvSpPr/>
          <p:nvPr/>
        </p:nvSpPr>
        <p:spPr>
          <a:xfrm>
            <a:off x="2787625" y="4236244"/>
            <a:ext cx="70299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3533477" y="4223442"/>
            <a:ext cx="537790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3"/>
          <p:cNvSpPr/>
          <p:nvPr/>
        </p:nvSpPr>
        <p:spPr>
          <a:xfrm>
            <a:off x="3529231" y="4236244"/>
            <a:ext cx="54628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</a:t>
            </a:r>
            <a:endParaRPr lang="en-US" sz="800" dirty="0"/>
          </a:p>
        </p:txBody>
      </p:sp>
      <p:sp>
        <p:nvSpPr>
          <p:cNvPr id="67" name="Shape 6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14350" y="4754166"/>
            <a:ext cx="395953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4488173" y="4750594"/>
            <a:ext cx="350959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7973028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8580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75109"/>
            <a:ext cx="8629650" cy="270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9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four-stage pathway from discovery to operations.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514350" y="1182291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stage carries concrete deliverables, a fixed duration, and a transparent commercial frame.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18059"/>
            <a:ext cx="1935956" cy="262175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21506" y="1735931"/>
            <a:ext cx="17287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21506" y="1910953"/>
            <a:ext cx="17287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Discovery</a:t>
            </a:r>
            <a:endParaRPr lang="en-US" sz="844" dirty="0"/>
          </a:p>
        </p:txBody>
      </p:sp>
      <p:sp>
        <p:nvSpPr>
          <p:cNvPr id="10" name="Text 7"/>
          <p:cNvSpPr/>
          <p:nvPr/>
        </p:nvSpPr>
        <p:spPr>
          <a:xfrm>
            <a:off x="621506" y="2096691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21506" y="2303859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21506" y="2425303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9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21506" y="2621756"/>
            <a:ext cx="1728788" cy="585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 maturity assessment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Opportunity prioritization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90-day roadmap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ROI business case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21506" y="3932634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506" y="3929063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$25K–$75K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575322" y="1618059"/>
            <a:ext cx="1935956" cy="262175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678906" y="1735931"/>
            <a:ext cx="17287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678906" y="1910953"/>
            <a:ext cx="1728787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 Design</a:t>
            </a:r>
            <a:endParaRPr lang="en-US" sz="844" dirty="0"/>
          </a:p>
        </p:txBody>
      </p:sp>
      <p:sp>
        <p:nvSpPr>
          <p:cNvPr id="19" name="Text 16"/>
          <p:cNvSpPr/>
          <p:nvPr/>
        </p:nvSpPr>
        <p:spPr>
          <a:xfrm>
            <a:off x="2678906" y="2096691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3–4 WEEKS · FIXED FEE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678906" y="2303859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2678906" y="2425303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9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678906" y="2621756"/>
            <a:ext cx="1728788" cy="585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architecture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CoE charter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 framework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plan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2678906" y="3932634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678906" y="3929063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$50K–$150K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632722" y="1618059"/>
            <a:ext cx="1935956" cy="262175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736306" y="1735931"/>
            <a:ext cx="17287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736306" y="1910953"/>
            <a:ext cx="17287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Delivery</a:t>
            </a:r>
            <a:endParaRPr lang="en-US" sz="844" dirty="0"/>
          </a:p>
        </p:txBody>
      </p:sp>
      <p:sp>
        <p:nvSpPr>
          <p:cNvPr id="28" name="Text 25"/>
          <p:cNvSpPr/>
          <p:nvPr/>
        </p:nvSpPr>
        <p:spPr>
          <a:xfrm>
            <a:off x="4736306" y="2096691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8–24 WEEKS · T&amp;M OR FIXED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736306" y="2303859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736306" y="2425303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9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736306" y="2621756"/>
            <a:ext cx="1728788" cy="585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complete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Knowledge transfer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4736306" y="3932634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36306" y="3929063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$300K–$1M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690122" y="1618059"/>
            <a:ext cx="1935956" cy="262175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6793706" y="1735931"/>
            <a:ext cx="1728787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D43F0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793706" y="1910953"/>
            <a:ext cx="17287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Operations</a:t>
            </a:r>
            <a:endParaRPr lang="en-US" sz="844" dirty="0"/>
          </a:p>
        </p:txBody>
      </p:sp>
      <p:sp>
        <p:nvSpPr>
          <p:cNvPr id="37" name="Text 34"/>
          <p:cNvSpPr/>
          <p:nvPr/>
        </p:nvSpPr>
        <p:spPr>
          <a:xfrm>
            <a:off x="6793706" y="2096691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793706" y="2303859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793706" y="2425303"/>
            <a:ext cx="17287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91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6793706" y="2621756"/>
            <a:ext cx="1728788" cy="585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services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reviews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operations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6793706" y="3932634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793706" y="3929063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3F0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$50K–$500K / mo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14350" y="4754166"/>
            <a:ext cx="378607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4314713" y="4750594"/>
            <a:ext cx="333624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665244" y="4750594"/>
            <a:ext cx="96440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8580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75109"/>
            <a:ext cx="8629650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9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reasons enterprises work with us.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514350" y="1200150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generic services. Specific differentiators for BFSI &amp; Insurance.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4350" y="1714500"/>
            <a:ext cx="3986213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14350" y="1718072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96991" y="1714500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4350" y="2782491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8638" y="1714500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0088" y="1850231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00088" y="2057400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Production-first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00088" y="2257425"/>
            <a:ext cx="36361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engineered for production from day one, not a model demo.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643438" y="1714500"/>
            <a:ext cx="3986213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643438" y="1718072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26078" y="1714500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43438" y="2782491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57725" y="1714500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29175" y="1850231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829175" y="2057400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Full-stack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829175" y="2257425"/>
            <a:ext cx="36361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Strategy through operations — one team, one operating model.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14350" y="2928938"/>
            <a:ext cx="3986213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514350" y="2932509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496991" y="2928938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14350" y="3996928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28638" y="2928938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00088" y="3064669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00088" y="3271838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depth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00088" y="3471863"/>
            <a:ext cx="36361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capability matched to industry context, not generic AI.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643438" y="2928938"/>
            <a:ext cx="3986213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4643438" y="2932509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626078" y="2928938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643438" y="3996928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657725" y="2928938"/>
            <a:ext cx="0" cy="1071563"/>
          </a:xfrm>
          <a:prstGeom prst="line">
            <a:avLst/>
          </a:prstGeom>
          <a:noFill/>
          <a:ln w="28575">
            <a:solidFill>
              <a:srgbClr val="FF6C0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29175" y="3064669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D43F0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829175" y="3271838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Responsible AI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829175" y="3471863"/>
            <a:ext cx="36361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Governance, security and compliance built in, not bolted on.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95116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479801" y="4750594"/>
            <a:ext cx="350133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967409" y="4750594"/>
            <a:ext cx="6902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26995063-bui5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685800"/>
            <a:ext cx="1714500" cy="289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2950" y="1771650"/>
            <a:ext cx="728690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2003822"/>
            <a:ext cx="5700713" cy="3925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7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</p:txBody>
      </p:sp>
      <p:sp>
        <p:nvSpPr>
          <p:cNvPr id="6" name="Text 2"/>
          <p:cNvSpPr/>
          <p:nvPr/>
        </p:nvSpPr>
        <p:spPr>
          <a:xfrm>
            <a:off x="742950" y="2423852"/>
            <a:ext cx="6363081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79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7" name="Text 3"/>
          <p:cNvSpPr/>
          <p:nvPr/>
        </p:nvSpPr>
        <p:spPr>
          <a:xfrm>
            <a:off x="742950" y="3072482"/>
            <a:ext cx="5863590" cy="155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742950" y="3255318"/>
            <a:ext cx="5863590" cy="19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6975872" y="1771650"/>
            <a:ext cx="0" cy="171450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179469" y="1982391"/>
            <a:ext cx="12215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Discover.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7179469" y="2553891"/>
            <a:ext cx="12215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Engineer.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179469" y="3125391"/>
            <a:ext cx="12215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Scale.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14350" y="4754166"/>
            <a:ext cx="33608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3889437" y="4750594"/>
            <a:ext cx="29108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814579" y="4750594"/>
            <a:ext cx="19239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2026-10-01T03:56:35Z</dcterms:created>
  <dcterms:modified xsi:type="dcterms:W3CDTF">2026-10-01T03:56:35Z</dcterms:modified>
</cp:coreProperties>
</file>